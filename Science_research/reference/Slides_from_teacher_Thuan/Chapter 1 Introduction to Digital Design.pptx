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sldIdLst>
    <p:sldId id="287" r:id="rId2"/>
    <p:sldId id="318" r:id="rId3"/>
    <p:sldId id="284" r:id="rId4"/>
    <p:sldId id="288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59" r:id="rId41"/>
    <p:sldId id="360" r:id="rId42"/>
    <p:sldId id="362" r:id="rId43"/>
    <p:sldId id="361" r:id="rId44"/>
    <p:sldId id="363" r:id="rId45"/>
    <p:sldId id="364" r:id="rId46"/>
    <p:sldId id="365" r:id="rId47"/>
    <p:sldId id="367" r:id="rId48"/>
    <p:sldId id="366" r:id="rId49"/>
    <p:sldId id="368" r:id="rId50"/>
    <p:sldId id="369" r:id="rId51"/>
    <p:sldId id="370" r:id="rId52"/>
    <p:sldId id="371" r:id="rId5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ê Văn Thuận" initials="LVT" lastIdx="1" clrIdx="0">
    <p:extLst>
      <p:ext uri="{19B8F6BF-5375-455C-9EA6-DF929625EA0E}">
        <p15:presenceInfo xmlns:p15="http://schemas.microsoft.com/office/powerpoint/2012/main" userId="S::thuan.levan@phenikaa-uni.edu.vn::c78f3590-89e5-480d-9b95-f74b9503073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7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2" autoAdjust="0"/>
    <p:restoredTop sz="95909" autoAdjust="0"/>
  </p:normalViewPr>
  <p:slideViewPr>
    <p:cSldViewPr snapToGrid="0">
      <p:cViewPr varScale="1">
        <p:scale>
          <a:sx n="107" d="100"/>
          <a:sy n="107" d="100"/>
        </p:scale>
        <p:origin x="876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569D7E1-E5AC-4AB7-95CD-6E57287A7EEF}" type="datetimeFigureOut">
              <a:rPr lang="en-US" smtClean="0"/>
              <a:t>6/30/2024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A20F01A-602A-42CF-8886-814D79988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2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0198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064194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785026" y="3704652"/>
            <a:ext cx="10583741" cy="9974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5026" y="4952857"/>
            <a:ext cx="10583741" cy="3849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7" y="1582451"/>
            <a:ext cx="8678656" cy="17879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D9F73E-492F-4733-959D-A5749AFFFAAF}"/>
              </a:ext>
            </a:extLst>
          </p:cNvPr>
          <p:cNvSpPr txBox="1"/>
          <p:nvPr userDrawn="1"/>
        </p:nvSpPr>
        <p:spPr>
          <a:xfrm>
            <a:off x="9526386" y="6613753"/>
            <a:ext cx="252540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68303B8-D2C5-465B-9346-49A8E22302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37" y="6613753"/>
            <a:ext cx="215444" cy="215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4E5E3D-EAAF-C004-5CDE-2C71CBDADF64}"/>
              </a:ext>
            </a:extLst>
          </p:cNvPr>
          <p:cNvSpPr txBox="1"/>
          <p:nvPr userDrawn="1"/>
        </p:nvSpPr>
        <p:spPr>
          <a:xfrm>
            <a:off x="82794" y="6612032"/>
            <a:ext cx="190394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pail.phenikaa-uni.edu.vn</a:t>
            </a:r>
          </a:p>
        </p:txBody>
      </p:sp>
    </p:spTree>
    <p:extLst>
      <p:ext uri="{BB962C8B-B14F-4D97-AF65-F5344CB8AC3E}">
        <p14:creationId xmlns:p14="http://schemas.microsoft.com/office/powerpoint/2010/main" val="4354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106968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42D89-B98B-F946-A31D-7ACA5974D791}"/>
              </a:ext>
            </a:extLst>
          </p:cNvPr>
          <p:cNvSpPr txBox="1"/>
          <p:nvPr userDrawn="1"/>
        </p:nvSpPr>
        <p:spPr>
          <a:xfrm>
            <a:off x="9583798" y="6612032"/>
            <a:ext cx="252540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7A6886-747B-4528-84CF-32010B2D52E6}"/>
              </a:ext>
            </a:extLst>
          </p:cNvPr>
          <p:cNvSpPr/>
          <p:nvPr userDrawn="1"/>
        </p:nvSpPr>
        <p:spPr>
          <a:xfrm>
            <a:off x="532658" y="0"/>
            <a:ext cx="89641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8F346-4FF9-4D4E-85DE-D92031C6F8EC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98CA0862-FEB0-4A0F-B552-F28AA18E53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356" y="6622794"/>
            <a:ext cx="215444" cy="215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5C5489-17B1-801D-5E86-E7F45820BDA3}"/>
              </a:ext>
            </a:extLst>
          </p:cNvPr>
          <p:cNvSpPr txBox="1"/>
          <p:nvPr userDrawn="1"/>
        </p:nvSpPr>
        <p:spPr>
          <a:xfrm>
            <a:off x="82794" y="6612032"/>
            <a:ext cx="190394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pail.phenikaa-uni.edu.vn</a:t>
            </a:r>
          </a:p>
        </p:txBody>
      </p:sp>
    </p:spTree>
    <p:extLst>
      <p:ext uri="{BB962C8B-B14F-4D97-AF65-F5344CB8AC3E}">
        <p14:creationId xmlns:p14="http://schemas.microsoft.com/office/powerpoint/2010/main" val="351231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0D2DC2-9AD0-46C9-A2CB-FB4AE530CF63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C7BA3-5854-4C1A-AB26-8E83AFDB9C1C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3F1D2-9457-47B7-950E-5B0EDF508580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A6031B82-2D8F-4555-BCC1-3115CFF967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0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36F995-2F29-4E8D-B342-1E962398505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95CFB-1B8A-4CB0-8949-11A244A80C5E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6865C-7183-40E8-9323-035E78C460BB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CEA2A297-F9C3-429B-B54D-7253A946A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8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7F2710-EFA2-4019-B556-CAF8F057FD2D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6CD87-31C4-44B8-B9A0-380487039ED3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82E290-CA2E-48B6-A6AC-DD17E567C209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6FA9A129-6464-4B54-8084-94C471855C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1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TM Avo" panose="02040603050506020204" pitchFamily="18" charset="0"/>
              </a:defRPr>
            </a:lvl1pPr>
          </a:lstStyle>
          <a:p>
            <a:pPr lvl="0"/>
            <a:r>
              <a:rPr lang="en-US" dirty="0"/>
              <a:t>Hình ảnh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A98EF6-B54D-4232-96A3-D7104779651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D486C0A1-B022-43A4-A558-B9E8916BA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3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F674A0-D445-4C14-83CD-38226D1439C8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C1734-67C3-4443-8460-F8DBA3D27FC6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088CD-189D-4350-AE5C-EA4E5DEDE303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C5E0C745-AAEA-42E0-BD19-9FFC173DF7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6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A717A-9473-4D01-AFFA-39323BC3FE1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A6CBD4-D234-414D-AB38-1B0372324231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E9A1D-9908-4963-BBCA-B9603513672F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4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308D8CB6-ADE4-4812-9DD7-2FB15552B4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4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BE6C77-C511-4273-8155-2D048408425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F459F8FB-0B0E-4294-9F5F-555C0C4C97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A9DA5F-F00A-45CE-8679-BE1CD99F449B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A828293-FDB2-4B6D-9623-EEABA0C7C4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1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6/30/2024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0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AE6AC-9427-433F-AC00-F723CA5DD87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154F4D4A-FD71-41E6-BED5-CF551BFDBC37}" type="datetimeFigureOut">
              <a:rPr lang="en-US" smtClean="0"/>
              <a:pPr/>
              <a:t>6/30/2024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086B6608-6F69-448F-99DC-C9E613BFB69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083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3" r:id="rId5"/>
    <p:sldLayoutId id="2147483660" r:id="rId6"/>
    <p:sldLayoutId id="2147483651" r:id="rId7"/>
    <p:sldLayoutId id="2147483652" r:id="rId8"/>
    <p:sldLayoutId id="2147483654" r:id="rId9"/>
    <p:sldLayoutId id="2147483655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FBF3-8459-4CBE-8502-1C0A4CC3B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611" y="4029967"/>
            <a:ext cx="10750482" cy="128058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UTM Avo" panose="02040603050506020204" pitchFamily="18" charset="0"/>
              </a:rPr>
              <a:t>CHAPTER 1: </a:t>
            </a:r>
            <a:r>
              <a:rPr lang="en-US" altLang="en-US" sz="4800" b="1" dirty="0"/>
              <a:t>Introduction to Digital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01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781" y="87823"/>
            <a:ext cx="7728682" cy="55328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D49CA4-8620-3C77-C1E7-164BE046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8F721B-6A10-6C8C-CC4D-8209027AC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615600"/>
              </p:ext>
            </p:extLst>
          </p:nvPr>
        </p:nvGraphicFramePr>
        <p:xfrm>
          <a:off x="2031999" y="1493520"/>
          <a:ext cx="9398001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060">
                  <a:extLst>
                    <a:ext uri="{9D8B030D-6E8A-4147-A177-3AD203B41FA5}">
                      <a16:colId xmlns:a16="http://schemas.microsoft.com/office/drawing/2014/main" val="3085157533"/>
                    </a:ext>
                  </a:extLst>
                </a:gridCol>
                <a:gridCol w="6966310">
                  <a:extLst>
                    <a:ext uri="{9D8B030D-6E8A-4147-A177-3AD203B41FA5}">
                      <a16:colId xmlns:a16="http://schemas.microsoft.com/office/drawing/2014/main" val="1793565155"/>
                    </a:ext>
                  </a:extLst>
                </a:gridCol>
                <a:gridCol w="983631">
                  <a:extLst>
                    <a:ext uri="{9D8B030D-6E8A-4147-A177-3AD203B41FA5}">
                      <a16:colId xmlns:a16="http://schemas.microsoft.com/office/drawing/2014/main" val="1311660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3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0: Course Introduction (1)</a:t>
                      </a:r>
                    </a:p>
                    <a:p>
                      <a:r>
                        <a:rPr lang="en-US" sz="2000" b="1" dirty="0"/>
                        <a:t>Chapter 1: Introduction to Digital Design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40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2: Overview of 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14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3: Basic Language Constructs of VHDL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17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4: Signal Assignment Statements of VHDL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5: Combinational Logic Circuit 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51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Midterm </a:t>
                      </a:r>
                      <a:r>
                        <a:rPr lang="en-US" sz="2000"/>
                        <a:t>Exam (2)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95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6:  </a:t>
                      </a:r>
                      <a:r>
                        <a:rPr lang="en-US" sz="2000"/>
                        <a:t>Sequential Logic Circuit </a:t>
                      </a:r>
                      <a:r>
                        <a:rPr lang="en-US" sz="2000" dirty="0"/>
                        <a:t>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7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9, 10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7: Finite State Machine (FSM) Principle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25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69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98E9A-67CA-41E0-AA43-37E496A0185E}"/>
              </a:ext>
            </a:extLst>
          </p:cNvPr>
          <p:cNvSpPr txBox="1"/>
          <p:nvPr/>
        </p:nvSpPr>
        <p:spPr>
          <a:xfrm>
            <a:off x="867715" y="1159404"/>
            <a:ext cx="10077061" cy="4164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Technology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Representation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of Abstraction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Tasks and EDA Software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Development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C9E1CEC-24D0-BC30-5A74-1E9E2364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8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hardware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experienced drastic expan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sion and improvement in the past 40 years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transistors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a single chip has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 exponentially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 the Moore’s Law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silicon chip now routinely contains </a:t>
            </a: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hundreds of thousands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even </a:t>
            </a: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hundreds of millions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transistors. 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0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6CCE1-5AA0-8240-F925-308255E88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9D41E-FDA2-BD8C-3823-F074E5791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E7529-A3BC-D359-B708-7A4EED1ABD56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past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applications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digital hardware were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systems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as the chip become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smaller, faster, cheaper and more capable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electronic, control, communication and even mechanical systems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been “digitized” internally, using digital circuits to store, process, and transmit information.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become larger and more complex, the task of designing digital circuits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 more difficult.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and producing a digital circuit is a complicated process, 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synthesis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only two of the tasks.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708871D-16CE-C883-5DE0-91330157D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247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2F534-41B2-F477-308B-9932AAFA6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9EBF-37A8-9DB1-C4F7-2ACCBFE7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8B4FB-CCB7-BF2E-3601-A5FE692D33BB}"/>
              </a:ext>
            </a:extLst>
          </p:cNvPr>
          <p:cNvSpPr txBox="1"/>
          <p:nvPr/>
        </p:nvSpPr>
        <p:spPr>
          <a:xfrm>
            <a:off x="827479" y="1056280"/>
            <a:ext cx="109542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we want to build a custom digital system, there are varieties of device technologies to choose.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single best technology.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to consider the trade-offs among various factors, including chip are, speed, power, and cost.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better understand the differences between the device technologies, it is helpful to have a basic idea of the fabrication process of an integrated circuit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A8C18DB-7ABF-2733-4B08-3CC4B3A7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484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6F3C0-A259-4D48-E37D-385C8118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681D9-4D6B-9204-9907-98D939F8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C02A6-E345-C3C2-4E71-1158BCB22817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ASICs – Application Specific Integrated Circuit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IC chip that was designed for solving a specific problem. Example: multiplexer, screen displaying, controller, 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ASICs chip CAN NOT change its functionality production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Full-custom ASIC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Standard-cell ASIC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 array ASIC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PLD – Programmable Logic Devices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 chip that DOES NOT perform any specific function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its function can be changed by users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mplex field-programmable logic device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field-programmable logic device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214054D-1EB1-30BC-0ABA-F17B0DB3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7</a:t>
            </a:fld>
            <a:endParaRPr lang="en-US" dirty="0"/>
          </a:p>
        </p:txBody>
      </p:sp>
      <p:pic>
        <p:nvPicPr>
          <p:cNvPr id="4" name="Google Shape;243;p15" descr="undefined">
            <a:extLst>
              <a:ext uri="{FF2B5EF4-FFF2-40B4-BE49-F238E27FC236}">
                <a16:creationId xmlns:a16="http://schemas.microsoft.com/office/drawing/2014/main" id="{F88AEF7A-FB32-0C3F-8A84-6249064CCB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34516" y="2143083"/>
            <a:ext cx="1713442" cy="1713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5;p15">
            <a:extLst>
              <a:ext uri="{FF2B5EF4-FFF2-40B4-BE49-F238E27FC236}">
                <a16:creationId xmlns:a16="http://schemas.microsoft.com/office/drawing/2014/main" id="{9C0122BA-A9C0-5A77-91F4-F4FF8A7796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7421" y="4268041"/>
            <a:ext cx="1760537" cy="18975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9103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99F2E-5AD8-1D23-04AF-5CCCBF44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D789-4990-0315-BF39-344DC66B8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9640E-E118-590B-E068-91243071208F}"/>
              </a:ext>
            </a:extLst>
          </p:cNvPr>
          <p:cNvSpPr txBox="1"/>
          <p:nvPr/>
        </p:nvSpPr>
        <p:spPr>
          <a:xfrm>
            <a:off x="827479" y="1056280"/>
            <a:ext cx="1095421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Full-custom ASIC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complete control of the circuit and can even craft the layout of a transistor to meet special area or performance needs.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resulting circuit is fully optimized and has th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best possible performance.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Unfortunately, designing a circuit at the transistor level is extremely complex and involved, and is only feasible for a small circuit.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practical to use this approach to design a complete system, which now may contain tens and even hundreds of millions of transistors.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52CFE40-004D-268F-BB03-DE16ABFC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127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A2B3F-9844-433B-303E-18200819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6FDE-751A-0A7C-9D77-763156D2B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891D6-73CD-54AC-2C27-76074395F0CD}"/>
              </a:ext>
            </a:extLst>
          </p:cNvPr>
          <p:cNvSpPr txBox="1"/>
          <p:nvPr/>
        </p:nvSpPr>
        <p:spPr>
          <a:xfrm>
            <a:off x="827479" y="1056280"/>
            <a:ext cx="1095421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Full-custom ASIC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major application of full-custom ASIC technology is to design the basic logic components that can be used as building blocks of a larger system.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application is to design special-purpose “bit-slice” typed circuits, such as a 1-bit memory or 1-bit adder.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circuits have a regular structured are constructed through a cascade of identical slices.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obtain optimal performance, full-custom ASIC technology is frequently used to design a single slice.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slice is then replicated a number of times to form a complete circuit.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0A1DAEC-8D38-CA76-5009-A8F0D1385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44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1056280"/>
            <a:ext cx="1095421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Standard-cell ASIC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circuit is constructed by using a set of predefined logic components, knows as standard cells.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cells are predesigned and their layouts are validated and tested.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Standard-cell ASIC technology allows us to work at the gate level rather than at the transistor level and thus greatly simplifies the design process.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device manufacturer usually provides a library of standard cells as the basic building blocks.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193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Standard-cell ASIC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library normally consists of basic gates, simple combinational components, such as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2-to-1 multiplexer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1-bit full adder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And-or-inverter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basic memory elements, such as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D-type latch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D-type 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lip-flop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libraries may also contain more sophisticated function blocks, such as an adder, barrel shifter and random access memory (RAM).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242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 array ASIC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standard-cell technology, a circuit is made of cell.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types of cells and the interconnection depend on the individual application.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gate array ASIC technology,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circuit is built from an array of predefined cells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standard-cell technology,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gate array chip consists of only one type of cell, known as a base cell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base cell is 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airly simple, resembling a logic gate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cells are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prearranged and placed in fixed positions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aligned as a one- or two-dimensional array.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743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 array ASIC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the location and type are predetermined, the base cells can be prefabricated.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customization of a circuit is done by specifying the interconnect between these cells.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gate array vendor also provides a library of predesigned components, known as macro cells, which are built from base cells.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macro cells have a predefined interconnect and provide the designer with more sophisticated logic blocks.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612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 array ASIC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to standard-cell technology: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fabrication of a gate array device is much simpler, due to its fixed array structure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array is common to all applications, the cell can be fabricated in advanced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construction of a chip,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masks of metal layers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the interconnect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are unique for an application and therefore must be customized.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number of custom layers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10 to 15 layers to 3 to 5 layers and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the fabrication process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266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field-programmable device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now examine several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non-ASIC technologies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versatile non-ASIC technology is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field-programmable device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device consists of an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of generic logic cells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interconnect structure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the logic cells and interconnect structure are prefabricated,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are programmable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programmability is obtained by utilizing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 “fuse” or “switches”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be set as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 or short-circuit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200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field-programmable device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D9644-0B49-DF5C-FA0E-AE34C6230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095" y="1556690"/>
            <a:ext cx="7323809" cy="4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454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field-programmable device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customization is done by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configuring the device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a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fuse pattern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can be accomplished by a simple, inexpensive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programmer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normally constructed as an add-on card or an adaptor cable of a PC.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the customization is done “in the field” rather than “in fab”, this technologies is known as field programmable.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 contrast, ASIC technologies are “programmed” via one or more tailored masks and thus are mask programmable)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116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656947" y="875418"/>
            <a:ext cx="1141226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field-programmable device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structures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 array ASIC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filed-programmable devices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somewhat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interconnection structure of field-programmable devices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predetermined and thus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imposes more constraints on signal routing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amount of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connection, more functionality is built into the logic cells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field-programmable device, making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logic cell much more complex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a base cell of a standard cell of ASIC.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omplexity and structure of logic cells, there are two categories: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Programmable Logic Device (CPLD)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eld-programmable Gate Array (FPGA)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57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field-programmable device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cell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a CPLD device is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sophisticated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normally consisting of a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D-typ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flip-flop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-like unit with configurable product terms.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interconnect structure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a CPLD device tends to be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centralized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few groups of concentrated routing lines.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208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field-programmable device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044442-18FB-7973-DC32-E27BBF85D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837" y="1846914"/>
            <a:ext cx="641032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1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field-programmable device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hand,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cell of an FPGA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 is usually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typically including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D-type flip-flop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look-up table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 set of multiplexers.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interconnect structur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between the cell tends to be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flexible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its distributive nature,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is better suited for large, high-capacity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 field-programmable devices.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608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field-programmable device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81CFD1-F14D-70CD-7DF1-D285881F5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857" y="1526755"/>
            <a:ext cx="10314286" cy="4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66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field-programmable device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CD78A6-547A-0B5D-1D3A-FF856EDF8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714" y="1526755"/>
            <a:ext cx="9828571" cy="4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52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field-programmable device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field-programmable logic devices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programmable devices with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simpler internal structure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devices are generically called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logic devices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(PLDs)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add the word simple to distinguish them from FPGA and CPLD devices.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field-programmable devices are normally constructed as a two-level array, with an AND plane and an OR plane.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interconnect of one or both planes can be programmed to perform a logic function expressed in sum-of-product format.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065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field-programmable device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read only memory (PROM), in which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 plane can be programmed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array logic (PAL), in which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AND plane can be programmed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logic array (PLA), in which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planes can be programmed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755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field-programmable device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422A15-DFB3-8A75-415C-FF577FE84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000" y="1670976"/>
            <a:ext cx="9400000" cy="4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415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Technologies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deciding to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custom hardware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 application, we need to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from the three device technologies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criteria for selection are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area, speed, power, and cos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 area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size) corresponds to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silicon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estate to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particular application.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 array chip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need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to 100% larger silicon area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that of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standard-cell chip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an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chip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require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or five times the area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ASIC chip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 delay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 to chip area,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standard-cell chip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smallest propagation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delay, while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chip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delay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598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Technologies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identical architecture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used,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chip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consists of fewer transistors, usually consumes less power.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standard-cell chip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consumes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amount of power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chip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the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power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and fabricating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standard-cell chip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more involve and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consuming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for other technologies.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301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Device Technologies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Technologies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13079-0ACA-1F7E-3A73-316FA891F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19" y="1688286"/>
            <a:ext cx="11304762" cy="4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77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System Representation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digital syste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quite complex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system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frequently described in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ways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examined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perspectives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views: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 view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view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view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91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System Representation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 view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behavioral view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the functionality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(i.e., “behavior”) of a system.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treats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box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 its internal implementation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view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the input and output signals, defining the output response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particular set of input values is applied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959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System Representation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view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 view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internal implementation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(i.e., structure) of a system.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description is done by explicitly specifying what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used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how these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connected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more or less schematic or the diagram of a system.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3016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System Representation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view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view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describes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physical characteristics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system and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additional information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structural view.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sizes of components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locations of the components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board or a silicon wafer, and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path of each connection line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a physical view is the printed circuit board layout of a system.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007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System Representation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view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Clearly, the physical view of a system provides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detailed information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final specification for the system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fabrication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hand,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view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imposes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fewest constraints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is 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abstract form of description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4465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Levels of Abstraction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chip density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reaches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hundreds of millions of a transistors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 is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impossible for a human being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 a computer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to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this amount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data directly.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method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managing complexity is to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a system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several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 of abstraction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abstractions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simplified model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system, showing only the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features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ignoring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associated details.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an abstraction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amount of data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 manageable level so that only the critical information is presented.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587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Levels of Abstraction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high-level abstraction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focused and contains only the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vital data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low-level abstraction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detailed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takes account of previously ignored information.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Although it is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complex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low-level abstraction model is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closer to the real circuit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process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we normally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with a high-level abstraction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concentrate on the most vital ch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aracteristics.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better understood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then include more details and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low-level abstraction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809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Levels of Abstraction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levels of abstraction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considered in digital system development: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 level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 level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transfer level (RTL)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 level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of abstraction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view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independent dimensions of a system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each level has its own views.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level of abstraction and the views can be combined in a Y-chart, which is shown in Figure 1.2.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561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Levels of Abstraction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458858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chart, each axis represents a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and the levels of abstraction 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from the center to the outside.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1631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Levels of Abstraction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Transistor-level Abstraction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level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abstraction is the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 level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level, the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building blocks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so on.</a:t>
            </a:r>
            <a:endParaRPr lang="en-US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behavior description is usually done by a set of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even by some type of current-voltage diagram.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7852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Levels of Abstraction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Gate-level Abstraction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building blocks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 simple logic gate, such as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AND, OR, XOR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1-bit 2-to-1 multiplexer, and basic memory elements, such as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latch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flip-flop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consider only the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threshold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1 or logic 0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there are only two values, the input-output behavior is described by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equations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2025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Levels of Abstraction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Register-transfer-level (RTL) Abstraction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RTL,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building blocks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constructed from simple gates.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include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units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adders and comparators,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components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registers, and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routing components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multiplexers.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reasonable name would be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module-level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term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transfer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normally used in digital design.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3187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Levels of Abstraction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Processor-level Abstraction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level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abstraction.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building blocks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frequently known as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properties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(IPs), include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modules, bus interfaces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so 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description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system is more like 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coded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conventional programming language, including computation steps and communication processes.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7927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8276038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Levels of Abstraction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9BB4E-51FF-F198-55DC-ABCF16B70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1148793"/>
            <a:ext cx="11400000" cy="4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044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10954214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Development Tasks and EDA Software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custom digital circuit is essentially a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refining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validating process</a:t>
            </a: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is gradually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an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high-level description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final mask layouts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major design tasks of developing a digital system are: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Design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3286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10954214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Development Tasks and EDA Software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is a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refinement process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realizes a description with components from the lower abstraction level.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description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in either 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view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view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resulting description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view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(i.e., netlist) in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abstraction level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1890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10954214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Development Tasks and EDA Software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design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deign includes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major parts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part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refinement process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views, which derives 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netlist.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part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involves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circuit’s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characteristics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tasks in physical design include floor planning placement and routing and circuit extraction.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634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10954214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Development Tasks and EDA Software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is the process of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checking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whether a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meets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goa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concerns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initial design as well as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 of refinement processes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synthesis and physical design.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ation is done in different phases of the design and at different levels of abstraction.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7517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10954214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Development Tasks and EDA Software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has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aspects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verification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whether a system generates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output response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represented as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timing constraints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verification checks whether the response is generated within the given time constraints.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7082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10954214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Development Tasks and EDA Software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27479" y="941980"/>
            <a:ext cx="10954214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meanings of verification and testing are somewhat similar in a dictionary sense.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they are two very different tasks in digital system development.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determining whether a design meets the specification and performance goal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esting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 the physical defects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a die or a package that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occurred during manufacturing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device is being tested, we already know that the design is correct and the purpose of testing is simply to ensure that this part was properly fabricated.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5047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10954214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Flow Development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5A3C0E-7F25-E154-06DE-A21A3D10B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615" y="780449"/>
            <a:ext cx="5077198" cy="578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274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10954214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Flow Development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01102" y="941980"/>
            <a:ext cx="109542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the design file and testbench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design file as the circuit description and perform a simulation to verify that the design functions as desired.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a synthesis.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output netlist file of the synthesizer as the circuit description and perform a simulation and timing analysis to verify the correctness of the synthesis and to check preliminary timing.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placement and routing. </a:t>
            </a:r>
            <a:endParaRPr lang="en-US" alt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733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4436-AC97-595C-B9AA-0A3B6FAF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38-9468-CEAD-8426-ABDA704F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7" y="227160"/>
            <a:ext cx="10954214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Flow Development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19240-F3BF-AE9F-986E-3A9C5CBEF3AD}"/>
              </a:ext>
            </a:extLst>
          </p:cNvPr>
          <p:cNvSpPr txBox="1"/>
          <p:nvPr/>
        </p:nvSpPr>
        <p:spPr>
          <a:xfrm>
            <a:off x="801102" y="941980"/>
            <a:ext cx="109542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eaLnBrk="1" hangingPunct="1">
              <a:buFont typeface="+mj-lt"/>
              <a:buAutoNum type="arabicPeriod" startAt="6"/>
            </a:pPr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Annotate the accurate timing information to the netlist and perform a simulation and timing analysis to verify the correctness of the placement and routing and to check whether the circuit meets the timing constraints.</a:t>
            </a:r>
          </a:p>
          <a:p>
            <a:pPr marL="514350" indent="-514350" eaLnBrk="1" hangingPunct="1">
              <a:buFont typeface="+mj-lt"/>
              <a:buAutoNum type="arabicPeriod" startAt="6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the configuration file and program the device</a:t>
            </a:r>
          </a:p>
          <a:p>
            <a:pPr marL="514350" indent="-514350" eaLnBrk="1" hangingPunct="1">
              <a:buFont typeface="+mj-lt"/>
              <a:buAutoNum type="arabicPeriod" startAt="6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operation of the physical part.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68CF9B-A4DF-1549-47D1-0EBD285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581894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MauDH Thanh Tay</Template>
  <TotalTime>19188</TotalTime>
  <Words>3229</Words>
  <Application>Microsoft Office PowerPoint</Application>
  <PresentationFormat>Widescreen</PresentationFormat>
  <Paragraphs>341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Times New Roman</vt:lpstr>
      <vt:lpstr>UTM Avo</vt:lpstr>
      <vt:lpstr>Wingdings</vt:lpstr>
      <vt:lpstr>Vicostone Template</vt:lpstr>
      <vt:lpstr>CHAPTER 1: Introduction to Digital Design</vt:lpstr>
      <vt:lpstr>Syllabus</vt:lpstr>
      <vt:lpstr>Content</vt:lpstr>
      <vt:lpstr>1. Introduction</vt:lpstr>
      <vt:lpstr>1. Introduction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2. Device Technologies</vt:lpstr>
      <vt:lpstr>3. System Representation</vt:lpstr>
      <vt:lpstr>3. System Representation</vt:lpstr>
      <vt:lpstr>3. System Representation</vt:lpstr>
      <vt:lpstr>3. System Representation</vt:lpstr>
      <vt:lpstr>3. System Representation</vt:lpstr>
      <vt:lpstr>4. Levels of Abstraction</vt:lpstr>
      <vt:lpstr>4. Levels of Abstraction</vt:lpstr>
      <vt:lpstr>4. Levels of Abstraction</vt:lpstr>
      <vt:lpstr>4. Levels of Abstraction</vt:lpstr>
      <vt:lpstr>4. Levels of Abstraction</vt:lpstr>
      <vt:lpstr>4. Levels of Abstraction</vt:lpstr>
      <vt:lpstr>4. Levels of Abstraction</vt:lpstr>
      <vt:lpstr>4. Levels of Abstraction</vt:lpstr>
      <vt:lpstr>4. Levels of Abstraction</vt:lpstr>
      <vt:lpstr>5. Development Tasks and EDA Software</vt:lpstr>
      <vt:lpstr>5. Development Tasks and EDA Software</vt:lpstr>
      <vt:lpstr>5. Development Tasks and EDA Software</vt:lpstr>
      <vt:lpstr>5. Development Tasks and EDA Software</vt:lpstr>
      <vt:lpstr>5. Development Tasks and EDA Software</vt:lpstr>
      <vt:lpstr>5. Development Tasks and EDA Software</vt:lpstr>
      <vt:lpstr>6. Flow Development</vt:lpstr>
      <vt:lpstr>6. Flow Development</vt:lpstr>
      <vt:lpstr>6. Flow Development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Transistors BTJ</dc:title>
  <cp:lastModifiedBy>Le Van Thuan</cp:lastModifiedBy>
  <cp:revision>186</cp:revision>
  <cp:lastPrinted>2022-05-19T08:53:56Z</cp:lastPrinted>
  <dcterms:created xsi:type="dcterms:W3CDTF">2018-07-24T06:18:10Z</dcterms:created>
  <dcterms:modified xsi:type="dcterms:W3CDTF">2024-06-30T09:30:04Z</dcterms:modified>
</cp:coreProperties>
</file>