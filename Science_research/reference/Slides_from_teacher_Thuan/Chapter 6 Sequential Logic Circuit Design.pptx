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2"/>
  </p:notesMasterIdLst>
  <p:sldIdLst>
    <p:sldId id="287" r:id="rId2"/>
    <p:sldId id="318" r:id="rId3"/>
    <p:sldId id="284" r:id="rId4"/>
    <p:sldId id="288" r:id="rId5"/>
    <p:sldId id="575" r:id="rId6"/>
    <p:sldId id="576" r:id="rId7"/>
    <p:sldId id="577" r:id="rId8"/>
    <p:sldId id="578" r:id="rId9"/>
    <p:sldId id="579" r:id="rId10"/>
    <p:sldId id="580" r:id="rId11"/>
    <p:sldId id="581" r:id="rId12"/>
    <p:sldId id="582" r:id="rId13"/>
    <p:sldId id="583" r:id="rId14"/>
    <p:sldId id="584" r:id="rId15"/>
    <p:sldId id="585" r:id="rId16"/>
    <p:sldId id="586" r:id="rId17"/>
    <p:sldId id="587" r:id="rId18"/>
    <p:sldId id="588" r:id="rId19"/>
    <p:sldId id="589" r:id="rId20"/>
    <p:sldId id="590" r:id="rId21"/>
    <p:sldId id="572" r:id="rId22"/>
    <p:sldId id="591" r:id="rId23"/>
    <p:sldId id="592" r:id="rId24"/>
    <p:sldId id="593" r:id="rId25"/>
    <p:sldId id="594" r:id="rId26"/>
    <p:sldId id="595" r:id="rId27"/>
    <p:sldId id="596" r:id="rId28"/>
    <p:sldId id="597" r:id="rId29"/>
    <p:sldId id="598" r:id="rId30"/>
    <p:sldId id="599" r:id="rId31"/>
    <p:sldId id="600" r:id="rId32"/>
    <p:sldId id="601" r:id="rId33"/>
    <p:sldId id="602" r:id="rId34"/>
    <p:sldId id="603" r:id="rId35"/>
    <p:sldId id="604" r:id="rId36"/>
    <p:sldId id="605" r:id="rId37"/>
    <p:sldId id="606" r:id="rId38"/>
    <p:sldId id="608" r:id="rId39"/>
    <p:sldId id="607" r:id="rId40"/>
    <p:sldId id="609" r:id="rId41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ê Văn Thuận" initials="LVT" lastIdx="1" clrIdx="0">
    <p:extLst>
      <p:ext uri="{19B8F6BF-5375-455C-9EA6-DF929625EA0E}">
        <p15:presenceInfo xmlns:p15="http://schemas.microsoft.com/office/powerpoint/2012/main" userId="S::thuan.levan@phenikaa-uni.edu.vn::c78f3590-89e5-480d-9b95-f74b9503073c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237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822" autoAdjust="0"/>
    <p:restoredTop sz="95909" autoAdjust="0"/>
  </p:normalViewPr>
  <p:slideViewPr>
    <p:cSldViewPr snapToGrid="0">
      <p:cViewPr varScale="1">
        <p:scale>
          <a:sx n="107" d="100"/>
          <a:sy n="107" d="100"/>
        </p:scale>
        <p:origin x="876" y="13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commentAuthors" Target="commentAuthor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9569D7E1-E5AC-4AB7-95CD-6E57287A7EEF}" type="datetimeFigureOut">
              <a:rPr lang="en-US" smtClean="0"/>
              <a:t>5/14/2024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EA20F01A-602A-42CF-8886-814D799885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2208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40198" y="6356350"/>
            <a:ext cx="4114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448800" y="6064194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12192000" cy="6486525"/>
          </a:xfrm>
          <a:prstGeom prst="rect">
            <a:avLst/>
          </a:prstGeom>
          <a:solidFill>
            <a:srgbClr val="22377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/>
          <p:cNvSpPr>
            <a:spLocks noGrp="1"/>
          </p:cNvSpPr>
          <p:nvPr>
            <p:ph type="ctrTitle" hasCustomPrompt="1"/>
          </p:nvPr>
        </p:nvSpPr>
        <p:spPr>
          <a:xfrm>
            <a:off x="785026" y="3704652"/>
            <a:ext cx="10583741" cy="997492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4800" b="1" baseline="0">
                <a:solidFill>
                  <a:schemeClr val="bg1"/>
                </a:solidFill>
                <a:latin typeface="UTM Avo" panose="02040603050506020204" pitchFamily="18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CHỦ ĐỀ</a:t>
            </a:r>
          </a:p>
        </p:txBody>
      </p:sp>
      <p:sp>
        <p:nvSpPr>
          <p:cNvPr id="1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85026" y="4952857"/>
            <a:ext cx="10583741" cy="38490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aseline="0">
                <a:solidFill>
                  <a:schemeClr val="bg1"/>
                </a:solidFill>
                <a:latin typeface="UTM Avo" panose="020406030505060202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err="1"/>
              <a:t>Nội</a:t>
            </a:r>
            <a:r>
              <a:rPr lang="en-US" dirty="0"/>
              <a:t> dung</a:t>
            </a: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8397" y="1582451"/>
            <a:ext cx="8678656" cy="178795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DD9F73E-492F-4733-959D-A5749AFFFAAF}"/>
              </a:ext>
            </a:extLst>
          </p:cNvPr>
          <p:cNvSpPr txBox="1"/>
          <p:nvPr userDrawn="1"/>
        </p:nvSpPr>
        <p:spPr>
          <a:xfrm>
            <a:off x="9526386" y="6613753"/>
            <a:ext cx="2525408" cy="21544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UTM Avo" panose="02040603050506020204" pitchFamily="18" charset="0"/>
              </a:rPr>
              <a:t>thuan.levan@phenikaa-uni.edu.vn</a:t>
            </a:r>
          </a:p>
        </p:txBody>
      </p:sp>
      <p:pic>
        <p:nvPicPr>
          <p:cNvPr id="8" name="Picture 7" descr="Shape&#10;&#10;Description automatically generated with low confidence">
            <a:extLst>
              <a:ext uri="{FF2B5EF4-FFF2-40B4-BE49-F238E27FC236}">
                <a16:creationId xmlns:a16="http://schemas.microsoft.com/office/drawing/2014/main" id="{D68303B8-D2C5-465B-9346-49A8E223021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4437" y="6613753"/>
            <a:ext cx="215444" cy="21544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94E5E3D-EAAF-C004-5CDE-2C71CBDADF64}"/>
              </a:ext>
            </a:extLst>
          </p:cNvPr>
          <p:cNvSpPr txBox="1"/>
          <p:nvPr userDrawn="1"/>
        </p:nvSpPr>
        <p:spPr>
          <a:xfrm>
            <a:off x="82794" y="6612032"/>
            <a:ext cx="1903948" cy="21544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UTM Avo" panose="02040603050506020204" pitchFamily="18" charset="0"/>
              </a:rPr>
              <a:t>pail.phenikaa-uni.edu.vn</a:t>
            </a:r>
          </a:p>
        </p:txBody>
      </p:sp>
    </p:spTree>
    <p:extLst>
      <p:ext uri="{BB962C8B-B14F-4D97-AF65-F5344CB8AC3E}">
        <p14:creationId xmlns:p14="http://schemas.microsoft.com/office/powerpoint/2010/main" val="435443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448800" y="6106968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142D89-B98B-F946-A31D-7ACA5974D791}"/>
              </a:ext>
            </a:extLst>
          </p:cNvPr>
          <p:cNvSpPr txBox="1"/>
          <p:nvPr userDrawn="1"/>
        </p:nvSpPr>
        <p:spPr>
          <a:xfrm>
            <a:off x="9583798" y="6612032"/>
            <a:ext cx="2525408" cy="21544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UTM Avo" panose="02040603050506020204" pitchFamily="18" charset="0"/>
              </a:rPr>
              <a:t>thuan.levan@phenikaa-uni.edu.vn</a:t>
            </a:r>
          </a:p>
        </p:txBody>
      </p:sp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656947" y="227160"/>
            <a:ext cx="7728682" cy="55328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300" b="1" baseline="0">
                <a:solidFill>
                  <a:srgbClr val="223771"/>
                </a:solidFill>
                <a:latin typeface="UTM Avo" panose="02040603050506020204" pitchFamily="18" charset="0"/>
              </a:defRPr>
            </a:lvl1pPr>
          </a:lstStyle>
          <a:p>
            <a:r>
              <a:rPr lang="en-US" dirty="0"/>
              <a:t>CHỦ ĐỀ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0418" y="235206"/>
            <a:ext cx="2732129" cy="55022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D57A6886-747B-4528-84CF-32010B2D52E6}"/>
              </a:ext>
            </a:extLst>
          </p:cNvPr>
          <p:cNvSpPr/>
          <p:nvPr userDrawn="1"/>
        </p:nvSpPr>
        <p:spPr>
          <a:xfrm>
            <a:off x="532658" y="0"/>
            <a:ext cx="89641" cy="780449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223771"/>
              </a:highligh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768F346-4FF9-4D4E-85DE-D92031C6F8EC}"/>
              </a:ext>
            </a:extLst>
          </p:cNvPr>
          <p:cNvSpPr/>
          <p:nvPr userDrawn="1"/>
        </p:nvSpPr>
        <p:spPr>
          <a:xfrm>
            <a:off x="408371" y="0"/>
            <a:ext cx="124288" cy="914400"/>
          </a:xfrm>
          <a:prstGeom prst="rect">
            <a:avLst/>
          </a:prstGeom>
          <a:solidFill>
            <a:srgbClr val="223771"/>
          </a:solidFill>
          <a:ln>
            <a:solidFill>
              <a:srgbClr val="2237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223771"/>
              </a:highlight>
            </a:endParaRPr>
          </a:p>
        </p:txBody>
      </p:sp>
      <p:pic>
        <p:nvPicPr>
          <p:cNvPr id="10" name="Picture 9" descr="Shape&#10;&#10;Description automatically generated with low confidence">
            <a:extLst>
              <a:ext uri="{FF2B5EF4-FFF2-40B4-BE49-F238E27FC236}">
                <a16:creationId xmlns:a16="http://schemas.microsoft.com/office/drawing/2014/main" id="{98CA0862-FEB0-4A0F-B552-F28AA18E53F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3356" y="6622794"/>
            <a:ext cx="215444" cy="21544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D5C5489-17B1-801D-5E86-E7F45820BDA3}"/>
              </a:ext>
            </a:extLst>
          </p:cNvPr>
          <p:cNvSpPr txBox="1"/>
          <p:nvPr userDrawn="1"/>
        </p:nvSpPr>
        <p:spPr>
          <a:xfrm>
            <a:off x="82794" y="6612032"/>
            <a:ext cx="1903948" cy="21544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UTM Avo" panose="02040603050506020204" pitchFamily="18" charset="0"/>
              </a:rPr>
              <a:t>pail.phenikaa-uni.edu.vn</a:t>
            </a:r>
          </a:p>
        </p:txBody>
      </p:sp>
    </p:spTree>
    <p:extLst>
      <p:ext uri="{BB962C8B-B14F-4D97-AF65-F5344CB8AC3E}">
        <p14:creationId xmlns:p14="http://schemas.microsoft.com/office/powerpoint/2010/main" val="35123124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F4D4A-FD71-41E6-BED5-CF551BFDBC37}" type="datetimeFigureOut">
              <a:rPr lang="en-US" smtClean="0"/>
              <a:t>5/14/2024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B6608-6F69-448F-99DC-C9E613BFB696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656947" y="227160"/>
            <a:ext cx="7728682" cy="55328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300" b="1" baseline="0">
                <a:solidFill>
                  <a:srgbClr val="223771"/>
                </a:solidFill>
                <a:latin typeface="UTM Avo" panose="02040603050506020204" pitchFamily="18" charset="0"/>
              </a:defRPr>
            </a:lvl1pPr>
          </a:lstStyle>
          <a:p>
            <a:r>
              <a:rPr lang="en-US" dirty="0"/>
              <a:t>CHỦ ĐỀ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0418" y="235206"/>
            <a:ext cx="2732129" cy="55022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70D2DC2-9AD0-46C9-A2CB-FB4AE530CF63}"/>
              </a:ext>
            </a:extLst>
          </p:cNvPr>
          <p:cNvSpPr txBox="1"/>
          <p:nvPr userDrawn="1"/>
        </p:nvSpPr>
        <p:spPr>
          <a:xfrm>
            <a:off x="10209320" y="6613753"/>
            <a:ext cx="1842473" cy="21544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UTM Avo" panose="02040603050506020204" pitchFamily="18" charset="0"/>
              </a:rPr>
              <a:t>phenikaa-uni.edu.vn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03C7BA3-5854-4C1A-AB26-8E83AFDB9C1C}"/>
              </a:ext>
            </a:extLst>
          </p:cNvPr>
          <p:cNvSpPr/>
          <p:nvPr userDrawn="1"/>
        </p:nvSpPr>
        <p:spPr>
          <a:xfrm>
            <a:off x="532659" y="0"/>
            <a:ext cx="124288" cy="780449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223771"/>
              </a:highlight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283F1D2-9457-47B7-950E-5B0EDF508580}"/>
              </a:ext>
            </a:extLst>
          </p:cNvPr>
          <p:cNvSpPr/>
          <p:nvPr userDrawn="1"/>
        </p:nvSpPr>
        <p:spPr>
          <a:xfrm>
            <a:off x="408371" y="0"/>
            <a:ext cx="124288" cy="914400"/>
          </a:xfrm>
          <a:prstGeom prst="rect">
            <a:avLst/>
          </a:prstGeom>
          <a:solidFill>
            <a:srgbClr val="223771"/>
          </a:solidFill>
          <a:ln>
            <a:solidFill>
              <a:srgbClr val="2237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223771"/>
              </a:highlight>
            </a:endParaRPr>
          </a:p>
        </p:txBody>
      </p:sp>
      <p:pic>
        <p:nvPicPr>
          <p:cNvPr id="11" name="Picture 10" descr="Shape&#10;&#10;Description automatically generated with low confidence">
            <a:extLst>
              <a:ext uri="{FF2B5EF4-FFF2-40B4-BE49-F238E27FC236}">
                <a16:creationId xmlns:a16="http://schemas.microsoft.com/office/drawing/2014/main" id="{A6031B82-2D8F-4555-BCC1-3115CFF967F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7809" y="6613291"/>
            <a:ext cx="215444" cy="215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5905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F4D4A-FD71-41E6-BED5-CF551BFDBC37}" type="datetimeFigureOut">
              <a:rPr lang="en-US" smtClean="0"/>
              <a:t>5/14/2024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B6608-6F69-448F-99DC-C9E613BFB696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656947" y="227160"/>
            <a:ext cx="7728682" cy="55328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300" b="1" baseline="0">
                <a:solidFill>
                  <a:srgbClr val="223771"/>
                </a:solidFill>
                <a:latin typeface="UTM Avo" panose="02040603050506020204" pitchFamily="18" charset="0"/>
              </a:defRPr>
            </a:lvl1pPr>
          </a:lstStyle>
          <a:p>
            <a:r>
              <a:rPr lang="en-US" dirty="0"/>
              <a:t>CHỦ ĐỀ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0418" y="235206"/>
            <a:ext cx="2732129" cy="55022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236F995-2F29-4E8D-B342-1E962398505F}"/>
              </a:ext>
            </a:extLst>
          </p:cNvPr>
          <p:cNvSpPr txBox="1"/>
          <p:nvPr userDrawn="1"/>
        </p:nvSpPr>
        <p:spPr>
          <a:xfrm>
            <a:off x="10209320" y="6613753"/>
            <a:ext cx="1842473" cy="21544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UTM Avo" panose="02040603050506020204" pitchFamily="18" charset="0"/>
              </a:rPr>
              <a:t>phenikaa-uni.edu.vn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ED95CFB-1B8A-4CB0-8949-11A244A80C5E}"/>
              </a:ext>
            </a:extLst>
          </p:cNvPr>
          <p:cNvSpPr/>
          <p:nvPr userDrawn="1"/>
        </p:nvSpPr>
        <p:spPr>
          <a:xfrm>
            <a:off x="532659" y="0"/>
            <a:ext cx="124288" cy="780449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223771"/>
              </a:highlight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D36865C-7183-40E8-9323-035E78C460BB}"/>
              </a:ext>
            </a:extLst>
          </p:cNvPr>
          <p:cNvSpPr/>
          <p:nvPr userDrawn="1"/>
        </p:nvSpPr>
        <p:spPr>
          <a:xfrm>
            <a:off x="408371" y="0"/>
            <a:ext cx="124288" cy="914400"/>
          </a:xfrm>
          <a:prstGeom prst="rect">
            <a:avLst/>
          </a:prstGeom>
          <a:solidFill>
            <a:srgbClr val="223771"/>
          </a:solidFill>
          <a:ln>
            <a:solidFill>
              <a:srgbClr val="2237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223771"/>
              </a:highlight>
            </a:endParaRPr>
          </a:p>
        </p:txBody>
      </p:sp>
      <p:pic>
        <p:nvPicPr>
          <p:cNvPr id="11" name="Picture 10" descr="Shape&#10;&#10;Description automatically generated with low confidence">
            <a:extLst>
              <a:ext uri="{FF2B5EF4-FFF2-40B4-BE49-F238E27FC236}">
                <a16:creationId xmlns:a16="http://schemas.microsoft.com/office/drawing/2014/main" id="{CEA2A297-F9C3-429B-B54D-7253A946ADE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7809" y="6613291"/>
            <a:ext cx="215444" cy="215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84886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F4D4A-FD71-41E6-BED5-CF551BFDBC37}" type="datetimeFigureOut">
              <a:rPr lang="en-US" smtClean="0"/>
              <a:t>5/14/2024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B6608-6F69-448F-99DC-C9E613BFB696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>
          <a:xfrm>
            <a:off x="656947" y="227160"/>
            <a:ext cx="7728682" cy="55328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300" b="1" baseline="0">
                <a:solidFill>
                  <a:srgbClr val="223771"/>
                </a:solidFill>
                <a:latin typeface="UTM Avo" panose="02040603050506020204" pitchFamily="18" charset="0"/>
              </a:defRPr>
            </a:lvl1pPr>
          </a:lstStyle>
          <a:p>
            <a:r>
              <a:rPr lang="en-US" dirty="0"/>
              <a:t>CHỦ ĐỀ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0418" y="235206"/>
            <a:ext cx="2732129" cy="55022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47F2710-EFA2-4019-B556-CAF8F057FD2D}"/>
              </a:ext>
            </a:extLst>
          </p:cNvPr>
          <p:cNvSpPr txBox="1"/>
          <p:nvPr userDrawn="1"/>
        </p:nvSpPr>
        <p:spPr>
          <a:xfrm>
            <a:off x="10209320" y="6613753"/>
            <a:ext cx="1842473" cy="21544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UTM Avo" panose="02040603050506020204" pitchFamily="18" charset="0"/>
              </a:rPr>
              <a:t>phenikaa-uni.edu.vn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CC6CD87-31C4-44B8-B9A0-380487039ED3}"/>
              </a:ext>
            </a:extLst>
          </p:cNvPr>
          <p:cNvSpPr/>
          <p:nvPr userDrawn="1"/>
        </p:nvSpPr>
        <p:spPr>
          <a:xfrm>
            <a:off x="532659" y="0"/>
            <a:ext cx="124288" cy="780449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223771"/>
              </a:highlight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B82E290-CA2E-48B6-A6AC-DD17E567C209}"/>
              </a:ext>
            </a:extLst>
          </p:cNvPr>
          <p:cNvSpPr/>
          <p:nvPr userDrawn="1"/>
        </p:nvSpPr>
        <p:spPr>
          <a:xfrm>
            <a:off x="408371" y="0"/>
            <a:ext cx="124288" cy="914400"/>
          </a:xfrm>
          <a:prstGeom prst="rect">
            <a:avLst/>
          </a:prstGeom>
          <a:solidFill>
            <a:srgbClr val="223771"/>
          </a:solidFill>
          <a:ln>
            <a:solidFill>
              <a:srgbClr val="2237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223771"/>
              </a:highlight>
            </a:endParaRPr>
          </a:p>
        </p:txBody>
      </p:sp>
      <p:pic>
        <p:nvPicPr>
          <p:cNvPr id="11" name="Picture 10" descr="Shape&#10;&#10;Description automatically generated with low confidence">
            <a:extLst>
              <a:ext uri="{FF2B5EF4-FFF2-40B4-BE49-F238E27FC236}">
                <a16:creationId xmlns:a16="http://schemas.microsoft.com/office/drawing/2014/main" id="{6FA9A129-6464-4B54-8084-94C471855C7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7809" y="6613291"/>
            <a:ext cx="215444" cy="215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90151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263685" y="2846231"/>
            <a:ext cx="4417452" cy="1460428"/>
          </a:xfrm>
          <a:prstGeom prst="rect">
            <a:avLst/>
          </a:prstGeom>
        </p:spPr>
        <p:txBody>
          <a:bodyPr anchor="b">
            <a:normAutofit/>
          </a:bodyPr>
          <a:lstStyle>
            <a:lvl1pPr algn="r">
              <a:defRPr sz="5600" b="1" baseline="0">
                <a:solidFill>
                  <a:srgbClr val="223771"/>
                </a:solidFill>
                <a:latin typeface="UTM Avo" panose="02040603050506020204" pitchFamily="18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CHỦ ĐỀ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63685" y="4429523"/>
            <a:ext cx="4417452" cy="75007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400" baseline="0">
                <a:latin typeface="UTM Avo" panose="020406030505060202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err="1"/>
              <a:t>Nội</a:t>
            </a:r>
            <a:r>
              <a:rPr lang="en-US" dirty="0"/>
              <a:t> dung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F4D4A-FD71-41E6-BED5-CF551BFDBC37}" type="datetimeFigureOut">
              <a:rPr lang="en-US" smtClean="0"/>
              <a:t>5/14/2024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B6608-6F69-448F-99DC-C9E613BFB696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2"/>
          <p:cNvSpPr>
            <a:spLocks noGrp="1"/>
          </p:cNvSpPr>
          <p:nvPr>
            <p:ph idx="13" hasCustomPrompt="1"/>
          </p:nvPr>
        </p:nvSpPr>
        <p:spPr>
          <a:xfrm>
            <a:off x="1" y="862149"/>
            <a:ext cx="7096258" cy="56319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>
                <a:latin typeface="UTM Avo" panose="02040603050506020204" pitchFamily="18" charset="0"/>
              </a:defRPr>
            </a:lvl1pPr>
          </a:lstStyle>
          <a:p>
            <a:pPr lvl="0"/>
            <a:r>
              <a:rPr lang="en-US" dirty="0"/>
              <a:t>Hình ảnh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0418" y="235206"/>
            <a:ext cx="2732129" cy="55022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4A98EF6-B54D-4232-96A3-D71047796515}"/>
              </a:ext>
            </a:extLst>
          </p:cNvPr>
          <p:cNvSpPr txBox="1"/>
          <p:nvPr userDrawn="1"/>
        </p:nvSpPr>
        <p:spPr>
          <a:xfrm>
            <a:off x="10209320" y="6613753"/>
            <a:ext cx="1842473" cy="21544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UTM Avo" panose="02040603050506020204" pitchFamily="18" charset="0"/>
              </a:rPr>
              <a:t>phenikaa-uni.edu.vn</a:t>
            </a:r>
          </a:p>
        </p:txBody>
      </p:sp>
      <p:pic>
        <p:nvPicPr>
          <p:cNvPr id="12" name="Picture 11" descr="Shape&#10;&#10;Description automatically generated with low confidence">
            <a:extLst>
              <a:ext uri="{FF2B5EF4-FFF2-40B4-BE49-F238E27FC236}">
                <a16:creationId xmlns:a16="http://schemas.microsoft.com/office/drawing/2014/main" id="{D486C0A1-B022-43A4-A558-B9E8916BA8C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7809" y="6613291"/>
            <a:ext cx="215444" cy="215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7389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>
                <a:latin typeface="UTM Avo" panose="020406030505060202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UTM Avo" panose="02040603050506020204" pitchFamily="18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F4D4A-FD71-41E6-BED5-CF551BFDBC37}" type="datetimeFigureOut">
              <a:rPr lang="en-US" smtClean="0"/>
              <a:t>5/14/2024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B6608-6F69-448F-99DC-C9E613BFB696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0418" y="235206"/>
            <a:ext cx="2732129" cy="55022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BF674A0-D445-4C14-83CD-38226D1439C8}"/>
              </a:ext>
            </a:extLst>
          </p:cNvPr>
          <p:cNvSpPr txBox="1"/>
          <p:nvPr userDrawn="1"/>
        </p:nvSpPr>
        <p:spPr>
          <a:xfrm>
            <a:off x="10209320" y="6613753"/>
            <a:ext cx="1842473" cy="21544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UTM Avo" panose="02040603050506020204" pitchFamily="18" charset="0"/>
              </a:rPr>
              <a:t>phenikaa-uni.edu.vn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CDC1734-67C3-4443-8460-F8DBA3D27FC6}"/>
              </a:ext>
            </a:extLst>
          </p:cNvPr>
          <p:cNvSpPr/>
          <p:nvPr userDrawn="1"/>
        </p:nvSpPr>
        <p:spPr>
          <a:xfrm>
            <a:off x="532659" y="0"/>
            <a:ext cx="124288" cy="780449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223771"/>
              </a:highlight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F088CD-189D-4350-AE5C-EA4E5DEDE303}"/>
              </a:ext>
            </a:extLst>
          </p:cNvPr>
          <p:cNvSpPr/>
          <p:nvPr userDrawn="1"/>
        </p:nvSpPr>
        <p:spPr>
          <a:xfrm>
            <a:off x="408371" y="0"/>
            <a:ext cx="124288" cy="914400"/>
          </a:xfrm>
          <a:prstGeom prst="rect">
            <a:avLst/>
          </a:prstGeom>
          <a:solidFill>
            <a:srgbClr val="223771"/>
          </a:solidFill>
          <a:ln>
            <a:solidFill>
              <a:srgbClr val="2237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223771"/>
              </a:highlight>
            </a:endParaRPr>
          </a:p>
        </p:txBody>
      </p:sp>
      <p:pic>
        <p:nvPicPr>
          <p:cNvPr id="12" name="Picture 11" descr="Shape&#10;&#10;Description automatically generated with low confidence">
            <a:extLst>
              <a:ext uri="{FF2B5EF4-FFF2-40B4-BE49-F238E27FC236}">
                <a16:creationId xmlns:a16="http://schemas.microsoft.com/office/drawing/2014/main" id="{C5E0C745-AAEA-42E0-BD19-9FFC173DF75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7809" y="6613291"/>
            <a:ext cx="215444" cy="215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4643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01899" y="351789"/>
            <a:ext cx="8061101" cy="92276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000" b="1">
                <a:solidFill>
                  <a:srgbClr val="223771"/>
                </a:solidFill>
                <a:latin typeface="UTM Avo" panose="02040603050506020204" pitchFamily="18" charset="0"/>
              </a:defRPr>
            </a:lvl1pPr>
          </a:lstStyle>
          <a:p>
            <a:r>
              <a:rPr lang="en-US" dirty="0" err="1"/>
              <a:t>Chủ</a:t>
            </a:r>
            <a:r>
              <a:rPr lang="en-US" dirty="0"/>
              <a:t> </a:t>
            </a:r>
            <a:r>
              <a:rPr lang="en-US" dirty="0" err="1"/>
              <a:t>đề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701899" y="1639781"/>
            <a:ext cx="3336702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UTM Avo" panose="02040603050506020204" pitchFamily="18" charset="0"/>
              </a:defRPr>
            </a:lvl1pPr>
            <a:lvl2pPr>
              <a:defRPr>
                <a:latin typeface="UTM Avo" panose="02040603050506020204" pitchFamily="18" charset="0"/>
              </a:defRPr>
            </a:lvl2pPr>
            <a:lvl3pPr>
              <a:defRPr>
                <a:latin typeface="UTM Avo" panose="02040603050506020204" pitchFamily="18" charset="0"/>
              </a:defRPr>
            </a:lvl3pPr>
            <a:lvl4pPr>
              <a:defRPr>
                <a:latin typeface="UTM Avo" panose="02040603050506020204" pitchFamily="18" charset="0"/>
              </a:defRPr>
            </a:lvl4pPr>
            <a:lvl5pPr>
              <a:defRPr>
                <a:latin typeface="UTM Avo" panose="02040603050506020204" pitchFamily="18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11710" y="1639781"/>
            <a:ext cx="3331872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UTM Avo" panose="02040603050506020204" pitchFamily="18" charset="0"/>
              </a:defRPr>
            </a:lvl1pPr>
            <a:lvl2pPr>
              <a:defRPr>
                <a:latin typeface="UTM Avo" panose="02040603050506020204" pitchFamily="18" charset="0"/>
              </a:defRPr>
            </a:lvl2pPr>
            <a:lvl3pPr>
              <a:defRPr>
                <a:latin typeface="UTM Avo" panose="02040603050506020204" pitchFamily="18" charset="0"/>
              </a:defRPr>
            </a:lvl3pPr>
            <a:lvl4pPr>
              <a:defRPr>
                <a:latin typeface="UTM Avo" panose="02040603050506020204" pitchFamily="18" charset="0"/>
              </a:defRPr>
            </a:lvl4pPr>
            <a:lvl5pPr>
              <a:defRPr>
                <a:latin typeface="UTM Avo" panose="02040603050506020204" pitchFamily="18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F4D4A-FD71-41E6-BED5-CF551BFDBC37}" type="datetimeFigureOut">
              <a:rPr lang="en-US" smtClean="0"/>
              <a:t>5/14/2024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B6608-6F69-448F-99DC-C9E613BFB696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3"/>
          <p:cNvSpPr>
            <a:spLocks noGrp="1"/>
          </p:cNvSpPr>
          <p:nvPr>
            <p:ph sz="half" idx="13" hasCustomPrompt="1"/>
          </p:nvPr>
        </p:nvSpPr>
        <p:spPr>
          <a:xfrm>
            <a:off x="8426539" y="1639781"/>
            <a:ext cx="3331872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UTM Avo" panose="02040603050506020204" pitchFamily="18" charset="0"/>
              </a:defRPr>
            </a:lvl1pPr>
            <a:lvl2pPr>
              <a:defRPr>
                <a:latin typeface="UTM Avo" panose="02040603050506020204" pitchFamily="18" charset="0"/>
              </a:defRPr>
            </a:lvl2pPr>
            <a:lvl3pPr>
              <a:defRPr>
                <a:latin typeface="UTM Avo" panose="02040603050506020204" pitchFamily="18" charset="0"/>
              </a:defRPr>
            </a:lvl3pPr>
            <a:lvl4pPr>
              <a:defRPr>
                <a:latin typeface="UTM Avo" panose="02040603050506020204" pitchFamily="18" charset="0"/>
              </a:defRPr>
            </a:lvl4pPr>
            <a:lvl5pPr>
              <a:defRPr>
                <a:latin typeface="UTM Avo" panose="02040603050506020204" pitchFamily="18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0418" y="235206"/>
            <a:ext cx="2732129" cy="55022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59A717A-9473-4D01-AFFA-39323BC3FE1F}"/>
              </a:ext>
            </a:extLst>
          </p:cNvPr>
          <p:cNvSpPr txBox="1"/>
          <p:nvPr userDrawn="1"/>
        </p:nvSpPr>
        <p:spPr>
          <a:xfrm>
            <a:off x="10209320" y="6613753"/>
            <a:ext cx="1842473" cy="21544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UTM Avo" panose="02040603050506020204" pitchFamily="18" charset="0"/>
              </a:rPr>
              <a:t>phenikaa-uni.edu.vn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CA6CBD4-D234-414D-AB38-1B0372324231}"/>
              </a:ext>
            </a:extLst>
          </p:cNvPr>
          <p:cNvSpPr/>
          <p:nvPr userDrawn="1"/>
        </p:nvSpPr>
        <p:spPr>
          <a:xfrm>
            <a:off x="532659" y="0"/>
            <a:ext cx="124288" cy="780449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223771"/>
              </a:highlight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F5E9A1D-9908-4963-BBCA-B9603513672F}"/>
              </a:ext>
            </a:extLst>
          </p:cNvPr>
          <p:cNvSpPr/>
          <p:nvPr userDrawn="1"/>
        </p:nvSpPr>
        <p:spPr>
          <a:xfrm>
            <a:off x="408371" y="0"/>
            <a:ext cx="124288" cy="914400"/>
          </a:xfrm>
          <a:prstGeom prst="rect">
            <a:avLst/>
          </a:prstGeom>
          <a:solidFill>
            <a:srgbClr val="223771"/>
          </a:solidFill>
          <a:ln>
            <a:solidFill>
              <a:srgbClr val="2237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223771"/>
              </a:highlight>
            </a:endParaRPr>
          </a:p>
        </p:txBody>
      </p:sp>
      <p:pic>
        <p:nvPicPr>
          <p:cNvPr id="14" name="Picture 13" descr="Shape&#10;&#10;Description automatically generated with low confidence">
            <a:extLst>
              <a:ext uri="{FF2B5EF4-FFF2-40B4-BE49-F238E27FC236}">
                <a16:creationId xmlns:a16="http://schemas.microsoft.com/office/drawing/2014/main" id="{308D8CB6-ADE4-4812-9DD7-2FB15552B44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7809" y="6613291"/>
            <a:ext cx="215444" cy="215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95456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F4D4A-FD71-41E6-BED5-CF551BFDBC37}" type="datetimeFigureOut">
              <a:rPr lang="en-US" smtClean="0"/>
              <a:t>5/14/2024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B6608-6F69-448F-99DC-C9E613BFB696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692" y="90029"/>
            <a:ext cx="2539035" cy="51133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2BE6C77-C511-4273-8155-2D0484084255}"/>
              </a:ext>
            </a:extLst>
          </p:cNvPr>
          <p:cNvSpPr txBox="1"/>
          <p:nvPr userDrawn="1"/>
        </p:nvSpPr>
        <p:spPr>
          <a:xfrm>
            <a:off x="10209320" y="6613753"/>
            <a:ext cx="1842473" cy="21544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UTM Avo" panose="02040603050506020204" pitchFamily="18" charset="0"/>
              </a:rPr>
              <a:t>phenikaa-uni.edu.vn</a:t>
            </a:r>
          </a:p>
        </p:txBody>
      </p:sp>
      <p:pic>
        <p:nvPicPr>
          <p:cNvPr id="10" name="Picture 9" descr="Shape&#10;&#10;Description automatically generated with low confidence">
            <a:extLst>
              <a:ext uri="{FF2B5EF4-FFF2-40B4-BE49-F238E27FC236}">
                <a16:creationId xmlns:a16="http://schemas.microsoft.com/office/drawing/2014/main" id="{F459F8FB-0B0E-4294-9F5F-555C0C4C97A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7809" y="6613291"/>
            <a:ext cx="215444" cy="215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9078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F4D4A-FD71-41E6-BED5-CF551BFDBC37}" type="datetimeFigureOut">
              <a:rPr lang="en-US" smtClean="0"/>
              <a:t>5/14/2024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B6608-6F69-448F-99DC-C9E613BFB696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0418" y="235206"/>
            <a:ext cx="2732129" cy="55022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7A9DA5F-F00A-45CE-8679-BE1CD99F449B}"/>
              </a:ext>
            </a:extLst>
          </p:cNvPr>
          <p:cNvSpPr txBox="1"/>
          <p:nvPr userDrawn="1"/>
        </p:nvSpPr>
        <p:spPr>
          <a:xfrm>
            <a:off x="10209320" y="6613753"/>
            <a:ext cx="1842473" cy="21544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UTM Avo" panose="02040603050506020204" pitchFamily="18" charset="0"/>
              </a:rPr>
              <a:t>phenikaa-uni.edu.vn</a:t>
            </a:r>
          </a:p>
        </p:txBody>
      </p:sp>
      <p:pic>
        <p:nvPicPr>
          <p:cNvPr id="8" name="Picture 7" descr="Shape&#10;&#10;Description automatically generated with low confidence">
            <a:extLst>
              <a:ext uri="{FF2B5EF4-FFF2-40B4-BE49-F238E27FC236}">
                <a16:creationId xmlns:a16="http://schemas.microsoft.com/office/drawing/2014/main" id="{DA828293-FDB2-4B6D-9623-EEABA0C7C47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7809" y="6613291"/>
            <a:ext cx="215444" cy="215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33151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UTM Avo" panose="020406030505060202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UTM Avo" panose="02040603050506020204" pitchFamily="18" charset="0"/>
              </a:defRPr>
            </a:lvl1pPr>
            <a:lvl2pPr>
              <a:defRPr>
                <a:latin typeface="UTM Avo" panose="02040603050506020204" pitchFamily="18" charset="0"/>
              </a:defRPr>
            </a:lvl2pPr>
            <a:lvl3pPr>
              <a:defRPr>
                <a:latin typeface="UTM Avo" panose="02040603050506020204" pitchFamily="18" charset="0"/>
              </a:defRPr>
            </a:lvl3pPr>
            <a:lvl4pPr>
              <a:defRPr>
                <a:latin typeface="UTM Avo" panose="02040603050506020204" pitchFamily="18" charset="0"/>
              </a:defRPr>
            </a:lvl4pPr>
            <a:lvl5pPr>
              <a:defRPr>
                <a:latin typeface="UTM Avo" panose="02040603050506020204" pitchFamily="18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F4D4A-FD71-41E6-BED5-CF551BFDBC37}" type="datetimeFigureOut">
              <a:rPr lang="en-US" smtClean="0"/>
              <a:t>5/14/2024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B6608-6F69-448F-99DC-C9E613BFB696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692" y="90029"/>
            <a:ext cx="2539035" cy="511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5300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57AE6AC-9427-433F-AC00-F723CA5DD87C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7" y="0"/>
            <a:ext cx="12187066" cy="68580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1484" y="636252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UTM Avo" panose="02040603050506020204" pitchFamily="18" charset="0"/>
              </a:defRPr>
            </a:lvl1pPr>
          </a:lstStyle>
          <a:p>
            <a:fld id="{154F4D4A-FD71-41E6-BED5-CF551BFDBC37}" type="datetimeFigureOut">
              <a:rPr lang="en-US" smtClean="0"/>
              <a:pPr/>
              <a:t>5/14/2024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UTM Avo" panose="02040603050506020204" pitchFamily="18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UTM Avo" panose="02040603050506020204" pitchFamily="18" charset="0"/>
              </a:defRPr>
            </a:lvl1pPr>
          </a:lstStyle>
          <a:p>
            <a:fld id="{086B6608-6F69-448F-99DC-C9E613BFB696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0" y="6494093"/>
            <a:ext cx="12192000" cy="373091"/>
            <a:chOff x="0" y="1661375"/>
            <a:chExt cx="12192000" cy="373091"/>
          </a:xfrm>
        </p:grpSpPr>
        <p:sp>
          <p:nvSpPr>
            <p:cNvPr id="8" name="Rectangle 7"/>
            <p:cNvSpPr/>
            <p:nvPr/>
          </p:nvSpPr>
          <p:spPr>
            <a:xfrm>
              <a:off x="0" y="1661375"/>
              <a:ext cx="12192000" cy="109728"/>
            </a:xfrm>
            <a:prstGeom prst="rect">
              <a:avLst/>
            </a:prstGeom>
            <a:solidFill>
              <a:srgbClr val="F265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UTM Avo" panose="02040603050506020204" pitchFamily="18" charset="0"/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0" y="1760146"/>
              <a:ext cx="12192000" cy="274320"/>
            </a:xfrm>
            <a:prstGeom prst="rect">
              <a:avLst/>
            </a:prstGeom>
            <a:solidFill>
              <a:srgbClr val="22377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UTM Avo" panose="020406030505060202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70836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2" r:id="rId3"/>
    <p:sldLayoutId id="2147483661" r:id="rId4"/>
    <p:sldLayoutId id="2147483663" r:id="rId5"/>
    <p:sldLayoutId id="2147483660" r:id="rId6"/>
    <p:sldLayoutId id="2147483651" r:id="rId7"/>
    <p:sldLayoutId id="2147483652" r:id="rId8"/>
    <p:sldLayoutId id="2147483654" r:id="rId9"/>
    <p:sldLayoutId id="2147483655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1FBF3-8459-4CBE-8502-1C0A4CC3B8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2611" y="4029967"/>
            <a:ext cx="10750482" cy="1280586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1"/>
                </a:solidFill>
                <a:latin typeface="UTM Avo" panose="02040603050506020204" pitchFamily="18" charset="0"/>
              </a:rPr>
              <a:t>CHAPTER 6: </a:t>
            </a:r>
            <a:r>
              <a:rPr lang="en-US" altLang="en-US" sz="4800" b="1" dirty="0"/>
              <a:t>Sequential Logic Circuit Design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20156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1781" y="87823"/>
            <a:ext cx="7728682" cy="553289"/>
          </a:xfrm>
        </p:spPr>
        <p:txBody>
          <a:bodyPr>
            <a:noAutofit/>
          </a:bodyPr>
          <a:lstStyle/>
          <a:p>
            <a: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Syllabus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BD49CA4-8620-3C77-C1E7-164BE0467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2</a:t>
            </a:fld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48F721B-6A10-6C8C-CC4D-8209027AC6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4092729"/>
              </p:ext>
            </p:extLst>
          </p:nvPr>
        </p:nvGraphicFramePr>
        <p:xfrm>
          <a:off x="2031999" y="1493520"/>
          <a:ext cx="9398001" cy="3870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8060">
                  <a:extLst>
                    <a:ext uri="{9D8B030D-6E8A-4147-A177-3AD203B41FA5}">
                      <a16:colId xmlns:a16="http://schemas.microsoft.com/office/drawing/2014/main" val="3085157533"/>
                    </a:ext>
                  </a:extLst>
                </a:gridCol>
                <a:gridCol w="6966310">
                  <a:extLst>
                    <a:ext uri="{9D8B030D-6E8A-4147-A177-3AD203B41FA5}">
                      <a16:colId xmlns:a16="http://schemas.microsoft.com/office/drawing/2014/main" val="1793565155"/>
                    </a:ext>
                  </a:extLst>
                </a:gridCol>
                <a:gridCol w="983631">
                  <a:extLst>
                    <a:ext uri="{9D8B030D-6E8A-4147-A177-3AD203B41FA5}">
                      <a16:colId xmlns:a16="http://schemas.microsoft.com/office/drawing/2014/main" val="13116603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Week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Content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Notes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00301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dirty="0"/>
                        <a:t>Chapter 0: Course Introduction (1)</a:t>
                      </a:r>
                    </a:p>
                    <a:p>
                      <a:r>
                        <a:rPr lang="en-US" sz="2000" b="0" dirty="0"/>
                        <a:t>Chapter 1: Introduction to Digital Design (2)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94051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dirty="0"/>
                        <a:t>Chapter 2: Overview of HDL (3)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01429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dirty="0"/>
                        <a:t>Chapter 3: Basic Language Constructs of VHDL (3)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81709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4</a:t>
                      </a:r>
                      <a:r>
                        <a:rPr lang="en-US" sz="2000"/>
                        <a:t>, </a:t>
                      </a:r>
                      <a:r>
                        <a:rPr lang="en-US" sz="20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dirty="0"/>
                        <a:t>Chapter 4: Signal Assignment Statements of VHDL (6)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3753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dirty="0"/>
                        <a:t>Chapter 5: Combinational Logic Circuit Design (3)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55189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Midterm Exam (2)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53955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Chapter 6:  Sequential Logic Circuit Design (3)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45709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9, 10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Chapter 7: Finite State Machine (FSM) Principle (6)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22553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06968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298E9A-67CA-41E0-AA43-37E496A0185E}"/>
              </a:ext>
            </a:extLst>
          </p:cNvPr>
          <p:cNvSpPr txBox="1"/>
          <p:nvPr/>
        </p:nvSpPr>
        <p:spPr>
          <a:xfrm>
            <a:off x="867715" y="1159404"/>
            <a:ext cx="10077061" cy="34718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571500">
              <a:lnSpc>
                <a:spcPct val="150000"/>
              </a:lnSpc>
              <a:buFont typeface="+mj-lt"/>
              <a:buAutoNum type="arabicPeriod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 of Sequential Circuits</a:t>
            </a:r>
          </a:p>
          <a:p>
            <a:pPr indent="-571500">
              <a:lnSpc>
                <a:spcPct val="150000"/>
              </a:lnSpc>
              <a:buFont typeface="+mj-lt"/>
              <a:buAutoNum type="arabicPeriod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Synchronous Circuits</a:t>
            </a:r>
          </a:p>
          <a:p>
            <a:pPr indent="-571500">
              <a:lnSpc>
                <a:spcPct val="150000"/>
              </a:lnSpc>
              <a:buFont typeface="+mj-lt"/>
              <a:buAutoNum type="arabicPeriod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Inference of Basic Memory Elements</a:t>
            </a:r>
          </a:p>
          <a:p>
            <a:pPr indent="-571500">
              <a:lnSpc>
                <a:spcPct val="150000"/>
              </a:lnSpc>
              <a:buFont typeface="+mj-lt"/>
              <a:buAutoNum type="arabicPeriod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Design Examples</a:t>
            </a:r>
          </a:p>
          <a:p>
            <a:pPr indent="-571500">
              <a:lnSpc>
                <a:spcPct val="150000"/>
              </a:lnSpc>
              <a:buFont typeface="+mj-lt"/>
              <a:buAutoNum type="arabicPeriod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Timing Analysis of A Synchronous Sequential Circuits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8C9E1CEC-24D0-BC30-5A74-1E9E2364C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24893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29826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Overview of Sequential Circuits 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C21000-77FD-48CB-9804-FF113B305C0D}"/>
              </a:ext>
            </a:extLst>
          </p:cNvPr>
          <p:cNvSpPr txBox="1"/>
          <p:nvPr/>
        </p:nvSpPr>
        <p:spPr>
          <a:xfrm>
            <a:off x="827479" y="1056280"/>
            <a:ext cx="1095421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en-US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combinational circuit</a:t>
            </a: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by definition, is a circuit </a:t>
            </a:r>
            <a:r>
              <a:rPr lang="en-US" altLang="en-US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whose output</a:t>
            </a: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after the initial transient period, is a </a:t>
            </a:r>
            <a:r>
              <a:rPr lang="en-US" altLang="en-US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 of current input</a:t>
            </a: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has </a:t>
            </a: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internal state 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therefore is “memoryless” about the past events (or past inputs).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sequential circuit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on the other hand, has an </a:t>
            </a: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internal state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or </a:t>
            </a: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Its output is a </a:t>
            </a: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of current input 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well as the </a:t>
            </a: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internal state.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32041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29826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Overview of Sequential Circuits 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C21000-77FD-48CB-9804-FF113B305C0D}"/>
              </a:ext>
            </a:extLst>
          </p:cNvPr>
          <p:cNvSpPr txBox="1"/>
          <p:nvPr/>
        </p:nvSpPr>
        <p:spPr>
          <a:xfrm>
            <a:off x="827479" y="1056280"/>
            <a:ext cx="10954214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internal state </a:t>
            </a: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essentially “memorizes” the </a:t>
            </a:r>
            <a:r>
              <a:rPr lang="en-US" altLang="en-US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effect of the past input values.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output thus is affected by current input value as well as past input values (or the entire sequence of input values).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That is why we call a circuit with internal state is a sequential circuit.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elements can be divided into two broad categories: </a:t>
            </a: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latch and flip-flop (FF).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review the basic characteristics of a D-type latch (or just D latch) and D-type FF (or just D-FF).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16537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29826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Overview of Sequential Circuits 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6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46BA08-2E35-9264-8CC8-07A073E129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964" y="954916"/>
            <a:ext cx="10014072" cy="544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6722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29826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Overview of Sequential Circuits 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C21000-77FD-48CB-9804-FF113B305C0D}"/>
              </a:ext>
            </a:extLst>
          </p:cNvPr>
          <p:cNvSpPr txBox="1"/>
          <p:nvPr/>
        </p:nvSpPr>
        <p:spPr>
          <a:xfrm>
            <a:off x="827479" y="1056280"/>
            <a:ext cx="10954214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clock signal of FFs plays a key role sequential circuit design.</a:t>
            </a:r>
            <a:endParaRPr lang="en-US" alt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According to the arrangement of the clock, we can divide the sequential circuits into the following classes: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Globally synchronous circuit (or simply synchronous circuit)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Globally asynchronous locally synchronous circuit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Globally asynchronous circuit</a:t>
            </a:r>
            <a:endParaRPr lang="en-US" altLang="en-US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09847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29826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Overview of Sequential Circuits 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C21000-77FD-48CB-9804-FF113B305C0D}"/>
              </a:ext>
            </a:extLst>
          </p:cNvPr>
          <p:cNvSpPr txBox="1"/>
          <p:nvPr/>
        </p:nvSpPr>
        <p:spPr>
          <a:xfrm>
            <a:off x="827479" y="1056280"/>
            <a:ext cx="10954214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Globally asynchronous locally synchronous circuit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Sometimes physical constraints, such as the distance between components, prevent the distribution of a single clock signal.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this case, a system may be divided into several smaller </a:t>
            </a:r>
            <a:r>
              <a:rPr lang="en-US" altLang="en-US" sz="3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sybsystems</a:t>
            </a: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Since a subsystem is smaller, it can follow the synchronous design principle.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Thus, subsystems are synchronous internally.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Since each subsystem utilizes its own clock, operation between the subsystems is asynchronous.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90133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29826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Overview of Sequential Circuits 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C21000-77FD-48CB-9804-FF113B305C0D}"/>
              </a:ext>
            </a:extLst>
          </p:cNvPr>
          <p:cNvSpPr txBox="1"/>
          <p:nvPr/>
        </p:nvSpPr>
        <p:spPr>
          <a:xfrm>
            <a:off x="827479" y="1056280"/>
            <a:ext cx="10954214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Globally asynchronous circuit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globally asynchronous circuit does not use a clock signal to coordinate the memory operation.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state of a memory element changes independently.</a:t>
            </a:r>
            <a:endParaRPr lang="en-US" alt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Globally asynchronous circuits can be divided into two categories.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21421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29826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Synchronous Circuits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C21000-77FD-48CB-9804-FF113B305C0D}"/>
              </a:ext>
            </a:extLst>
          </p:cNvPr>
          <p:cNvSpPr txBox="1"/>
          <p:nvPr/>
        </p:nvSpPr>
        <p:spPr>
          <a:xfrm>
            <a:off x="827479" y="1056280"/>
            <a:ext cx="10954214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basic diagram of a synchronous circuit is shown as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endParaRPr lang="en-US" alt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endParaRPr lang="en-US" alt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endParaRPr lang="en-US" alt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endParaRPr lang="en-US" alt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memory element, frequently known as state register, is a collection of D-FFs, synchronized by a common global clock signal.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output of the register (i.e., the content stored in the register), the </a:t>
            </a:r>
            <a:r>
              <a:rPr lang="en-US" alt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State_reg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signal, represents the internal state of the system.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10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E020F8-047F-3728-6759-EF932CF0C2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2312" y="1610278"/>
            <a:ext cx="5667375" cy="151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03406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29826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Synchronous Circuits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C21000-77FD-48CB-9804-FF113B305C0D}"/>
              </a:ext>
            </a:extLst>
          </p:cNvPr>
          <p:cNvSpPr txBox="1"/>
          <p:nvPr/>
        </p:nvSpPr>
        <p:spPr>
          <a:xfrm>
            <a:off x="827479" y="1056280"/>
            <a:ext cx="10954214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endParaRPr lang="en-US" alt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endParaRPr lang="en-US" alt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endParaRPr lang="en-US" alt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en-US" alt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Next-state logic is a combinational circuit that determines the next state of the system.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output logic is another combinational circuit that generates the external output signal.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 that the output depends on the external input signal and the current state of the register.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11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E020F8-047F-3728-6759-EF932CF0C2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2312" y="1161870"/>
            <a:ext cx="5667375" cy="151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91569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29826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Synchronous Circuits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C21000-77FD-48CB-9804-FF113B305C0D}"/>
              </a:ext>
            </a:extLst>
          </p:cNvPr>
          <p:cNvSpPr txBox="1"/>
          <p:nvPr/>
        </p:nvSpPr>
        <p:spPr>
          <a:xfrm>
            <a:off x="827479" y="1056280"/>
            <a:ext cx="10954214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circuit operates as follows: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endParaRPr lang="en-US" alt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endParaRPr lang="en-US" alt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endParaRPr lang="en-US" alt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endParaRPr lang="en-US" alt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the edge of the clock (rising or falling), the value of the </a:t>
            </a:r>
            <a:r>
              <a:rPr lang="en-US" altLang="en-US" sz="3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State_next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signal (appearing at the </a:t>
            </a: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 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port) is sampled and propagated to the </a:t>
            </a: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port, which becomes the new value of the </a:t>
            </a:r>
            <a:r>
              <a:rPr lang="en-US" altLang="en-US" sz="3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State_reg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signal.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value is also stored in FFs and remains unchanged for the rest of the clock period. It represent the </a:t>
            </a: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state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system.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12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E020F8-047F-3728-6759-EF932CF0C2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2312" y="1610278"/>
            <a:ext cx="5667375" cy="151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72721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29826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Synchronous Circuits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C21000-77FD-48CB-9804-FF113B305C0D}"/>
              </a:ext>
            </a:extLst>
          </p:cNvPr>
          <p:cNvSpPr txBox="1"/>
          <p:nvPr/>
        </p:nvSpPr>
        <p:spPr>
          <a:xfrm>
            <a:off x="827479" y="1056280"/>
            <a:ext cx="10954214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endParaRPr lang="en-US" alt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endParaRPr lang="en-US" alt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endParaRPr lang="en-US" alt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endParaRPr lang="en-US" alt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 on the value of the </a:t>
            </a:r>
            <a:r>
              <a:rPr lang="en-US" altLang="en-US" sz="3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State_reg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signal and external input, the Next-state logic computes the value of the </a:t>
            </a:r>
            <a:r>
              <a:rPr lang="en-US" altLang="en-US" sz="3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State_next</a:t>
            </a: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signal the output logic computes the value of external output.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the next edge of the clock, the new value of the </a:t>
            </a:r>
            <a:r>
              <a:rPr lang="en-US" altLang="en-US" sz="3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State_next</a:t>
            </a: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signal is sampled and the </a:t>
            </a:r>
            <a:r>
              <a:rPr lang="en-US" altLang="en-US" sz="3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State_reg</a:t>
            </a: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signal is updated.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process then repeats.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13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E020F8-047F-3728-6759-EF932CF0C2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2312" y="1232209"/>
            <a:ext cx="5667375" cy="151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0088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29826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Synchronous Circuits</a:t>
            </a:r>
            <a:endParaRPr lang="en-US" sz="40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C21000-77FD-48CB-9804-FF113B305C0D}"/>
              </a:ext>
            </a:extLst>
          </p:cNvPr>
          <p:cNvSpPr txBox="1"/>
          <p:nvPr/>
        </p:nvSpPr>
        <p:spPr>
          <a:xfrm>
            <a:off x="827479" y="1056280"/>
            <a:ext cx="10954214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satisfy the timing constraints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FFs, the </a:t>
            </a: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clock period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must be </a:t>
            </a: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enough to accommodate the propagation delay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</a:t>
            </a: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Next-state logic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clock-to-q delay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FFs and </a:t>
            </a: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setup time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FFs.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several advantages of synchronous design.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First, it simplifies circuit timing.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Satisfying the timing constraints (i.e., avoiding setup time and hold time violation) is one of the most difficult design tasks.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a circuit has hundreds or even thousands of FFs and each FF is driven by an individual clock, the design and analysis will be overwhelming.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57065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29826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Synchronous Circuits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C21000-77FD-48CB-9804-FF113B305C0D}"/>
              </a:ext>
            </a:extLst>
          </p:cNvPr>
          <p:cNvSpPr txBox="1"/>
          <p:nvPr/>
        </p:nvSpPr>
        <p:spPr>
          <a:xfrm>
            <a:off x="827479" y="1056280"/>
            <a:ext cx="10954214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a circuit has hundreds or even thousands of FFs and each FF is driven by an individual clock, the design and analysis will be overwhelming.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Since in a synchronous circuit, all FFs are driven by the identical clock signal, the sampling of the clock edge occurs simultaneously.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only need to consider the timing constraints of a single memory component.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20699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29826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Synchronous Circuits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C21000-77FD-48CB-9804-FF113B305C0D}"/>
              </a:ext>
            </a:extLst>
          </p:cNvPr>
          <p:cNvSpPr txBox="1"/>
          <p:nvPr/>
        </p:nvSpPr>
        <p:spPr>
          <a:xfrm>
            <a:off x="827479" y="1056280"/>
            <a:ext cx="10954214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Second, the synchronous model clearly separates the combinational circuits and the memory elements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can easily isolate the combinational part of the system, and design and analyze it as a regular combinational circuit.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Third, the synchronous design can easily accommodate the timing hazards.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timing hazards are unavoidable in a large synthesized combinational circuit.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Instead of considering all the possible timing scenarios, we only need to focus on the worst-case propagation delays of the combinational circuit.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66772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29826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Synchronous Circuits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C21000-77FD-48CB-9804-FF113B305C0D}"/>
              </a:ext>
            </a:extLst>
          </p:cNvPr>
          <p:cNvSpPr txBox="1"/>
          <p:nvPr/>
        </p:nvSpPr>
        <p:spPr>
          <a:xfrm>
            <a:off x="827479" y="1056280"/>
            <a:ext cx="10954214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 on the “representation and transition pattern” of state, we divide synchronous circuits into three types.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divisions are informal, just for clarity of coding.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types are: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 sequential circuit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sequential circuit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Combined sequential circuit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29342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29826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Synchronous Circuits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C21000-77FD-48CB-9804-FF113B305C0D}"/>
              </a:ext>
            </a:extLst>
          </p:cNvPr>
          <p:cNvSpPr txBox="1"/>
          <p:nvPr/>
        </p:nvSpPr>
        <p:spPr>
          <a:xfrm>
            <a:off x="827479" y="1056280"/>
            <a:ext cx="10954214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 sequential circuit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state representation and state transitions have a simple, regular pattern, as in a counter and a shift register.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Similarly, the next-state logic can be implemented by regular, structural components, such as an incrementor and shifter.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sequential circuit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state transitions are more complicated and there is no special relation between the states and their binary representations.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next-state logic must be constructed from scratch (i.e., by random logic).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kind of circuit is known as a finite state machine (FSM).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86830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29826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Synchronous Circuits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C21000-77FD-48CB-9804-FF113B305C0D}"/>
              </a:ext>
            </a:extLst>
          </p:cNvPr>
          <p:cNvSpPr txBox="1"/>
          <p:nvPr/>
        </p:nvSpPr>
        <p:spPr>
          <a:xfrm>
            <a:off x="827479" y="1056280"/>
            <a:ext cx="10954214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Combined sequential circuit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combined sequential circuit consists of both regular sequential circuit and an FSM.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FSM is used to control operation of the regular sequential circuit.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kind of circuit is based on the register transfer methodology and is sometimes known as finite state machine with data path (FSMD).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will discuss the design and description of FSM and FSMD in next Chapter.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55127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29826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Inference of Basic Memory Elements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C21000-77FD-48CB-9804-FF113B305C0D}"/>
              </a:ext>
            </a:extLst>
          </p:cNvPr>
          <p:cNvSpPr txBox="1"/>
          <p:nvPr/>
        </p:nvSpPr>
        <p:spPr>
          <a:xfrm>
            <a:off x="827479" y="1056280"/>
            <a:ext cx="10954214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function table of a D latch was shown in Figure.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endParaRPr lang="en-US" alt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endParaRPr lang="en-US" alt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endParaRPr lang="en-US" alt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endParaRPr lang="en-US" alt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endParaRPr lang="en-US" alt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endParaRPr lang="en-US" alt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the standard description.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Synthesis software should infer a predesigned D latch from the device library.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20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522ED74-F96F-0AF7-82A0-57A79042BC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3133" y="1702044"/>
            <a:ext cx="4476750" cy="2609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7824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29826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Inference of Basic Memory Elements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C21000-77FD-48CB-9804-FF113B305C0D}"/>
              </a:ext>
            </a:extLst>
          </p:cNvPr>
          <p:cNvSpPr txBox="1"/>
          <p:nvPr/>
        </p:nvSpPr>
        <p:spPr>
          <a:xfrm>
            <a:off x="827479" y="1056280"/>
            <a:ext cx="1095421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corresponding VHDL code of D latch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21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C1EB1F9-90A9-46FE-4D78-F82BFAE027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6537" y="1826763"/>
            <a:ext cx="6638925" cy="415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27259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29826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Inference of Basic Memory Elements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C21000-77FD-48CB-9804-FF113B305C0D}"/>
              </a:ext>
            </a:extLst>
          </p:cNvPr>
          <p:cNvSpPr txBox="1"/>
          <p:nvPr/>
        </p:nvSpPr>
        <p:spPr>
          <a:xfrm>
            <a:off x="827479" y="1056280"/>
            <a:ext cx="10954214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Positive-edge-triggered DFF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endParaRPr lang="en-US" alt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endParaRPr lang="en-US" alt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endParaRPr lang="en-US" alt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endParaRPr lang="en-US" alt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endParaRPr lang="en-US" alt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endParaRPr lang="en-US" alt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a standard description and should be recognized by all synthesis software.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predefined D-FF should be inferred accordingly.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22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3B09F2C-2FE8-96C1-26C0-E7DBB616EE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5725" y="1633172"/>
            <a:ext cx="4400550" cy="2571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92270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29826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Inference of Basic Memory Elements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C21000-77FD-48CB-9804-FF113B305C0D}"/>
              </a:ext>
            </a:extLst>
          </p:cNvPr>
          <p:cNvSpPr txBox="1"/>
          <p:nvPr/>
        </p:nvSpPr>
        <p:spPr>
          <a:xfrm>
            <a:off x="827479" y="1056280"/>
            <a:ext cx="1095421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corresponding VHDL code of positive-edge-triggered DFF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23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844C2C-A62C-244B-37DA-9C1BA6B7C1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5112" y="1886109"/>
            <a:ext cx="6581775" cy="3743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16951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29826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Inference of Basic Memory Elements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C21000-77FD-48CB-9804-FF113B305C0D}"/>
              </a:ext>
            </a:extLst>
          </p:cNvPr>
          <p:cNvSpPr txBox="1"/>
          <p:nvPr/>
        </p:nvSpPr>
        <p:spPr>
          <a:xfrm>
            <a:off x="827479" y="1056280"/>
            <a:ext cx="1095421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can also add an extra condition </a:t>
            </a:r>
            <a:r>
              <a:rPr lang="en-US" alt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clk’last_value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‘0’ to the Boolean expression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becomes: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endParaRPr lang="en-US" alt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above Boolean expression is defined as a function, </a:t>
            </a:r>
            <a:r>
              <a:rPr lang="en-US" altLang="en-US" sz="3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rising_edge</a:t>
            </a: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3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clk</a:t>
            </a: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3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falling_edge</a:t>
            </a: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3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clk</a:t>
            </a: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IEEE std_logic_1164 package.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endParaRPr lang="en-US" alt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endParaRPr lang="en-US" alt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24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DBD2B41-5515-6A31-749E-5077595599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7905" y="2437320"/>
            <a:ext cx="7676190" cy="5619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21ED7AC-05D0-04E4-533C-288D97E019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8857" y="4380265"/>
            <a:ext cx="4514286" cy="10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26454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29826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Inference of Basic Memory Elements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C21000-77FD-48CB-9804-FF113B305C0D}"/>
              </a:ext>
            </a:extLst>
          </p:cNvPr>
          <p:cNvSpPr txBox="1"/>
          <p:nvPr/>
        </p:nvSpPr>
        <p:spPr>
          <a:xfrm>
            <a:off x="827479" y="1056280"/>
            <a:ext cx="1095421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D-FF with asynchronous reset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25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F503DD-937B-9223-F5FE-C57E8419AC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2275" y="2044370"/>
            <a:ext cx="6267450" cy="220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38853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29826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Inference of Basic Memory Elements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C21000-77FD-48CB-9804-FF113B305C0D}"/>
              </a:ext>
            </a:extLst>
          </p:cNvPr>
          <p:cNvSpPr txBox="1"/>
          <p:nvPr/>
        </p:nvSpPr>
        <p:spPr>
          <a:xfrm>
            <a:off x="827479" y="1056280"/>
            <a:ext cx="1095421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D-FF with asynchronous reset and preset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26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E70D046-481D-BA88-ED41-13915C3D78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2725" y="1869626"/>
            <a:ext cx="6686550" cy="406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26964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29826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Inference of Basic Memory Elements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C21000-77FD-48CB-9804-FF113B305C0D}"/>
              </a:ext>
            </a:extLst>
          </p:cNvPr>
          <p:cNvSpPr txBox="1"/>
          <p:nvPr/>
        </p:nvSpPr>
        <p:spPr>
          <a:xfrm>
            <a:off x="827479" y="1056280"/>
            <a:ext cx="1095421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register is a collection of a D-FFs that is driven by the same clock and reset signals. The VHDL code of 8-bit register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27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DB452B-AD43-B4F0-488F-27860F4C9B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2805" y="2138499"/>
            <a:ext cx="6686550" cy="4057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04905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29826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Simple Design Examples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C21000-77FD-48CB-9804-FF113B305C0D}"/>
              </a:ext>
            </a:extLst>
          </p:cNvPr>
          <p:cNvSpPr txBox="1"/>
          <p:nvPr/>
        </p:nvSpPr>
        <p:spPr>
          <a:xfrm>
            <a:off x="827479" y="1056280"/>
            <a:ext cx="1095421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 a D-FF with additional enable signal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 that the enable signal, </a:t>
            </a:r>
            <a:r>
              <a:rPr lang="en-US" altLang="en-US" sz="3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has an effect only at the rising edge of the clock.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means that the signal is synchronized to the clock.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28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DB1A118-99FE-9C2A-866D-B58560A343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3675" y="3239495"/>
            <a:ext cx="6724650" cy="2562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37913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29826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Simple Design Examples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C21000-77FD-48CB-9804-FF113B305C0D}"/>
              </a:ext>
            </a:extLst>
          </p:cNvPr>
          <p:cNvSpPr txBox="1"/>
          <p:nvPr/>
        </p:nvSpPr>
        <p:spPr>
          <a:xfrm>
            <a:off x="827479" y="1056280"/>
            <a:ext cx="1095421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VHDL code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29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59C74E6-A659-8127-1523-2B704D238C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9400" y="1843224"/>
            <a:ext cx="6553200" cy="4352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080871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29826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Simple Design Examples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C21000-77FD-48CB-9804-FF113B305C0D}"/>
              </a:ext>
            </a:extLst>
          </p:cNvPr>
          <p:cNvSpPr txBox="1"/>
          <p:nvPr/>
        </p:nvSpPr>
        <p:spPr>
          <a:xfrm>
            <a:off x="827479" y="1056280"/>
            <a:ext cx="1095421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 a T-FF has a control signal, t, which specifies whether the FF to invert (i.e., toggle) its content.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30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9EBAC8-6009-0E2A-7A5D-EE6BE34FA6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6550" y="2769209"/>
            <a:ext cx="6438900" cy="2409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95044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29826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Simple Design Examples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C21000-77FD-48CB-9804-FF113B305C0D}"/>
              </a:ext>
            </a:extLst>
          </p:cNvPr>
          <p:cNvSpPr txBox="1"/>
          <p:nvPr/>
        </p:nvSpPr>
        <p:spPr>
          <a:xfrm>
            <a:off x="827479" y="1056280"/>
            <a:ext cx="1095421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VHDL code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31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3BB3905-FDF3-55B9-7AEE-0E17B131E0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5587" y="1726751"/>
            <a:ext cx="6600825" cy="4352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65576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29826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Simple Design Examples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C21000-77FD-48CB-9804-FF113B305C0D}"/>
              </a:ext>
            </a:extLst>
          </p:cNvPr>
          <p:cNvSpPr txBox="1"/>
          <p:nvPr/>
        </p:nvSpPr>
        <p:spPr>
          <a:xfrm>
            <a:off x="827479" y="1056280"/>
            <a:ext cx="10954214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Shift Register 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free running shift-right register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shift register shifts the content of the register left or right 1 bit in each clock cycle.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major application of a shifter register is to send parallel data through a serial line.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the transmitting end, a data word is first loaded to register in parallel and is then shifted out 1 bit at a time.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receiving end, the data word is shifted in 1 bit at a time and reassembled.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free-running shift register performs the shifting operation continuously.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817354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29826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Simple Design Examples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C21000-77FD-48CB-9804-FF113B305C0D}"/>
              </a:ext>
            </a:extLst>
          </p:cNvPr>
          <p:cNvSpPr txBox="1"/>
          <p:nvPr/>
        </p:nvSpPr>
        <p:spPr>
          <a:xfrm>
            <a:off x="827479" y="1056280"/>
            <a:ext cx="1095421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free-running shift register performs the shifting operation continuously.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has no other control signals. A 4-bit free running shift-right register is shown as: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33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D387A95-051A-BDEE-18DE-BDC65F82DE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1287" y="3271103"/>
            <a:ext cx="6829425" cy="2152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02847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29826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Simple Design Examples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C21000-77FD-48CB-9804-FF113B305C0D}"/>
              </a:ext>
            </a:extLst>
          </p:cNvPr>
          <p:cNvSpPr txBox="1"/>
          <p:nvPr/>
        </p:nvSpPr>
        <p:spPr>
          <a:xfrm>
            <a:off x="827479" y="1056280"/>
            <a:ext cx="1095421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VHDL code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34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B23756D-0647-895C-6982-D2D6EFA4DD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4162" y="1610278"/>
            <a:ext cx="6543675" cy="433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77701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29826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Simple Design Examples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C21000-77FD-48CB-9804-FF113B305C0D}"/>
              </a:ext>
            </a:extLst>
          </p:cNvPr>
          <p:cNvSpPr txBox="1"/>
          <p:nvPr/>
        </p:nvSpPr>
        <p:spPr>
          <a:xfrm>
            <a:off x="827479" y="1056280"/>
            <a:ext cx="1095421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Arbitrary-sequence counter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sequential counter circulates a predefined sequence of states.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next-state logic determines the patterns in the sequence.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35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F5C3F32-E958-B940-A355-EBA0F3767D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6750" y="2649781"/>
            <a:ext cx="3238500" cy="20859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B5F76E6-1D94-2F71-C24D-7943CBD094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1544" y="5176974"/>
            <a:ext cx="4667250" cy="1019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603583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29826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Simple Design Examples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36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9C16C2-5C92-C0AD-F3A3-30100783C8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9400" y="1435661"/>
            <a:ext cx="6553200" cy="410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226618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29826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Simple Design Examples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AC21000-77FD-48CB-9804-FF113B305C0D}"/>
                  </a:ext>
                </a:extLst>
              </p:cNvPr>
              <p:cNvSpPr txBox="1"/>
              <p:nvPr/>
            </p:nvSpPr>
            <p:spPr>
              <a:xfrm>
                <a:off x="827479" y="1056280"/>
                <a:ext cx="10954214" cy="42473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 eaLnBrk="1" hangingPunct="1">
                  <a:buFont typeface="Wingdings" panose="05000000000000000000" pitchFamily="2" charset="2"/>
                  <a:buChar char="§"/>
                </a:pPr>
                <a:r>
                  <a:rPr lang="en-US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Binary counter – free running binary counter</a:t>
                </a:r>
              </a:p>
              <a:p>
                <a:pPr marL="457200" indent="-457200" eaLnBrk="1" hangingPunct="1">
                  <a:buFont typeface="Wingdings" panose="05000000000000000000" pitchFamily="2" charset="2"/>
                  <a:buChar char="§"/>
                </a:pPr>
                <a:r>
                  <a:rPr lang="en-US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 n-bit binary counter has a register with n FFs, and its output is interpreted as an unsigned integer.</a:t>
                </a:r>
              </a:p>
              <a:p>
                <a:pPr marL="457200" indent="-457200" eaLnBrk="1" hangingPunct="1">
                  <a:buFont typeface="Wingdings" panose="05000000000000000000" pitchFamily="2" charset="2"/>
                  <a:buChar char="§"/>
                </a:pPr>
                <a:r>
                  <a:rPr lang="en-US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free-running binary counter increments the content of the register every clock cycle, counting from 0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en-US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en-US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en-US" sz="30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−1</m:t>
                    </m:r>
                  </m:oMath>
                </a14:m>
                <a:r>
                  <a:rPr lang="en-US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then repeating.</a:t>
                </a:r>
              </a:p>
              <a:p>
                <a:pPr marL="457200" indent="-457200" eaLnBrk="1" hangingPunct="1">
                  <a:buFont typeface="Wingdings" panose="05000000000000000000" pitchFamily="2" charset="2"/>
                  <a:buChar char="§"/>
                </a:pPr>
                <a:r>
                  <a:rPr lang="en-US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 addition to the register output, we assume that there is a status signal, max-pulse, which is asserted when the counter is in the all-one state.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AC21000-77FD-48CB-9804-FF113B305C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479" y="1056280"/>
                <a:ext cx="10954214" cy="4247317"/>
              </a:xfrm>
              <a:prstGeom prst="rect">
                <a:avLst/>
              </a:prstGeom>
              <a:blipFill>
                <a:blip r:embed="rId2"/>
                <a:stretch>
                  <a:fillRect l="-1169" t="-1865" b="-34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37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830ECB-7444-13D0-8E7E-7CA966CE1D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3467" y="4831715"/>
            <a:ext cx="3705225" cy="1495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567557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29826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Simple Design Examples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38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E092CAB-B3CF-3FD8-C6ED-C94816A611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8975" y="1249802"/>
            <a:ext cx="5734050" cy="12001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EB9D006-5458-739F-AB70-8488B2FD07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8975" y="2678346"/>
            <a:ext cx="6250415" cy="3459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941046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29826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Simple Design Examples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39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F8BAC15-9C20-66D9-CDA2-15B643D8A5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2325" y="2307199"/>
            <a:ext cx="5467350" cy="236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19662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29826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Timing Analysis of A Sequential Circuits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AC21000-77FD-48CB-9804-FF113B305C0D}"/>
                  </a:ext>
                </a:extLst>
              </p:cNvPr>
              <p:cNvSpPr txBox="1"/>
              <p:nvPr/>
            </p:nvSpPr>
            <p:spPr>
              <a:xfrm>
                <a:off x="827479" y="1056280"/>
                <a:ext cx="10954214" cy="42473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 eaLnBrk="1" hangingPunct="1">
                  <a:buFont typeface="Wingdings" panose="05000000000000000000" pitchFamily="2" charset="2"/>
                  <a:buChar char="§"/>
                </a:pPr>
                <a:r>
                  <a:rPr lang="en-US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Binary counter – free running binary counter</a:t>
                </a:r>
              </a:p>
              <a:p>
                <a:pPr marL="457200" indent="-457200" eaLnBrk="1" hangingPunct="1">
                  <a:buFont typeface="Wingdings" panose="05000000000000000000" pitchFamily="2" charset="2"/>
                  <a:buChar char="§"/>
                </a:pPr>
                <a:r>
                  <a:rPr lang="en-US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 n-bit binary counter has a register with n FFs, and its output is interpreted as an unsigned integer.</a:t>
                </a:r>
              </a:p>
              <a:p>
                <a:pPr marL="457200" indent="-457200" eaLnBrk="1" hangingPunct="1">
                  <a:buFont typeface="Wingdings" panose="05000000000000000000" pitchFamily="2" charset="2"/>
                  <a:buChar char="§"/>
                </a:pPr>
                <a:r>
                  <a:rPr lang="en-US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free-running binary counter increments the content of the register every clock cycle, counting from 0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en-US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en-US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en-US" sz="30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−1</m:t>
                    </m:r>
                  </m:oMath>
                </a14:m>
                <a:r>
                  <a:rPr lang="en-US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then repeating.</a:t>
                </a:r>
              </a:p>
              <a:p>
                <a:pPr marL="457200" indent="-457200" eaLnBrk="1" hangingPunct="1">
                  <a:buFont typeface="Wingdings" panose="05000000000000000000" pitchFamily="2" charset="2"/>
                  <a:buChar char="§"/>
                </a:pPr>
                <a:r>
                  <a:rPr lang="en-US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 addition to the register output, we assume that there is a status signal, max-pulse, which is asserted when the counter is in the all-one state.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AC21000-77FD-48CB-9804-FF113B305C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479" y="1056280"/>
                <a:ext cx="10954214" cy="4247317"/>
              </a:xfrm>
              <a:prstGeom prst="rect">
                <a:avLst/>
              </a:prstGeom>
              <a:blipFill>
                <a:blip r:embed="rId2"/>
                <a:stretch>
                  <a:fillRect l="-1169" t="-1865" b="-34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40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830ECB-7444-13D0-8E7E-7CA966CE1D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3467" y="4831715"/>
            <a:ext cx="3705225" cy="1495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798386"/>
      </p:ext>
    </p:extLst>
  </p:cSld>
  <p:clrMapOvr>
    <a:masterClrMapping/>
  </p:clrMapOvr>
</p:sld>
</file>

<file path=ppt/theme/theme1.xml><?xml version="1.0" encoding="utf-8"?>
<a:theme xmlns:a="http://schemas.openxmlformats.org/drawingml/2006/main" name="Vicostone Templat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u thuyet trình cong ty Vicostone" id="{123813FF-2186-4307-88AB-E52DC4E764C5}" vid="{7A2E833A-1ED4-4E30-9CFE-D6481D7B3B5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MauDH Thanh Tay</Template>
  <TotalTime>34208</TotalTime>
  <Words>1985</Words>
  <Application>Microsoft Office PowerPoint</Application>
  <PresentationFormat>Widescreen</PresentationFormat>
  <Paragraphs>240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7" baseType="lpstr">
      <vt:lpstr>Arial</vt:lpstr>
      <vt:lpstr>Calibri</vt:lpstr>
      <vt:lpstr>Cambria Math</vt:lpstr>
      <vt:lpstr>Times New Roman</vt:lpstr>
      <vt:lpstr>UTM Avo</vt:lpstr>
      <vt:lpstr>Wingdings</vt:lpstr>
      <vt:lpstr>Vicostone Template</vt:lpstr>
      <vt:lpstr>CHAPTER 6: Sequential Logic Circuit Design</vt:lpstr>
      <vt:lpstr>Syllabus</vt:lpstr>
      <vt:lpstr>Content</vt:lpstr>
      <vt:lpstr>1. Overview of Sequential Circuits </vt:lpstr>
      <vt:lpstr>1. Overview of Sequential Circuits </vt:lpstr>
      <vt:lpstr>1. Overview of Sequential Circuits </vt:lpstr>
      <vt:lpstr>1. Overview of Sequential Circuits </vt:lpstr>
      <vt:lpstr>1. Overview of Sequential Circuits </vt:lpstr>
      <vt:lpstr>1. Overview of Sequential Circuits </vt:lpstr>
      <vt:lpstr>2. Synchronous Circuits</vt:lpstr>
      <vt:lpstr>2. Synchronous Circuits</vt:lpstr>
      <vt:lpstr>2. Synchronous Circuits</vt:lpstr>
      <vt:lpstr>2. Synchronous Circuits</vt:lpstr>
      <vt:lpstr>2. Synchronous Circuits</vt:lpstr>
      <vt:lpstr>2. Synchronous Circuits</vt:lpstr>
      <vt:lpstr>2. Synchronous Circuits</vt:lpstr>
      <vt:lpstr>2. Synchronous Circuits</vt:lpstr>
      <vt:lpstr>2. Synchronous Circuits</vt:lpstr>
      <vt:lpstr>2. Synchronous Circuits</vt:lpstr>
      <vt:lpstr>3. Inference of Basic Memory Elements</vt:lpstr>
      <vt:lpstr>3. Inference of Basic Memory Elements</vt:lpstr>
      <vt:lpstr>3. Inference of Basic Memory Elements</vt:lpstr>
      <vt:lpstr>3. Inference of Basic Memory Elements</vt:lpstr>
      <vt:lpstr>3. Inference of Basic Memory Elements</vt:lpstr>
      <vt:lpstr>3. Inference of Basic Memory Elements</vt:lpstr>
      <vt:lpstr>3. Inference of Basic Memory Elements</vt:lpstr>
      <vt:lpstr>3. Inference of Basic Memory Elements</vt:lpstr>
      <vt:lpstr>4. Simple Design Examples</vt:lpstr>
      <vt:lpstr>4. Simple Design Examples</vt:lpstr>
      <vt:lpstr>4. Simple Design Examples</vt:lpstr>
      <vt:lpstr>4. Simple Design Examples</vt:lpstr>
      <vt:lpstr>4. Simple Design Examples</vt:lpstr>
      <vt:lpstr>4. Simple Design Examples</vt:lpstr>
      <vt:lpstr>4. Simple Design Examples</vt:lpstr>
      <vt:lpstr>4. Simple Design Examples</vt:lpstr>
      <vt:lpstr>4. Simple Design Examples</vt:lpstr>
      <vt:lpstr>4. Simple Design Examples</vt:lpstr>
      <vt:lpstr>4. Simple Design Examples</vt:lpstr>
      <vt:lpstr>4. Simple Design Examples</vt:lpstr>
      <vt:lpstr>4. Timing Analysis of A Sequential Circuits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Transistors BTJ</dc:title>
  <cp:lastModifiedBy>Le Van Thuan</cp:lastModifiedBy>
  <cp:revision>306</cp:revision>
  <cp:lastPrinted>2022-05-19T08:53:56Z</cp:lastPrinted>
  <dcterms:created xsi:type="dcterms:W3CDTF">2018-07-24T06:18:10Z</dcterms:created>
  <dcterms:modified xsi:type="dcterms:W3CDTF">2024-05-14T08:51:08Z</dcterms:modified>
</cp:coreProperties>
</file>