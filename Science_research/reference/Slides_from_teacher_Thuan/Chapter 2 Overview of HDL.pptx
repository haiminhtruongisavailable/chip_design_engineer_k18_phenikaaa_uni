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sldIdLst>
    <p:sldId id="287" r:id="rId2"/>
    <p:sldId id="318" r:id="rId3"/>
    <p:sldId id="284" r:id="rId4"/>
    <p:sldId id="288" r:id="rId5"/>
    <p:sldId id="372" r:id="rId6"/>
    <p:sldId id="373" r:id="rId7"/>
    <p:sldId id="374" r:id="rId8"/>
    <p:sldId id="375" r:id="rId9"/>
    <p:sldId id="377" r:id="rId10"/>
    <p:sldId id="376" r:id="rId11"/>
    <p:sldId id="378" r:id="rId12"/>
    <p:sldId id="379" r:id="rId13"/>
    <p:sldId id="380" r:id="rId14"/>
    <p:sldId id="381" r:id="rId15"/>
    <p:sldId id="402" r:id="rId16"/>
    <p:sldId id="405" r:id="rId17"/>
    <p:sldId id="403" r:id="rId18"/>
    <p:sldId id="404" r:id="rId19"/>
    <p:sldId id="406" r:id="rId20"/>
    <p:sldId id="382" r:id="rId21"/>
    <p:sldId id="383" r:id="rId22"/>
    <p:sldId id="384" r:id="rId23"/>
    <p:sldId id="385" r:id="rId24"/>
    <p:sldId id="388" r:id="rId25"/>
    <p:sldId id="386" r:id="rId26"/>
    <p:sldId id="387" r:id="rId27"/>
    <p:sldId id="407" r:id="rId28"/>
    <p:sldId id="389" r:id="rId29"/>
    <p:sldId id="390" r:id="rId30"/>
    <p:sldId id="391" r:id="rId31"/>
    <p:sldId id="392" r:id="rId32"/>
    <p:sldId id="393" r:id="rId33"/>
    <p:sldId id="394" r:id="rId34"/>
    <p:sldId id="395" r:id="rId35"/>
    <p:sldId id="396" r:id="rId36"/>
    <p:sldId id="397" r:id="rId37"/>
    <p:sldId id="398" r:id="rId38"/>
    <p:sldId id="399" r:id="rId39"/>
    <p:sldId id="400" r:id="rId40"/>
    <p:sldId id="401" r:id="rId4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ê Văn Thuận" initials="LVT" lastIdx="1" clrIdx="0">
    <p:extLst>
      <p:ext uri="{19B8F6BF-5375-455C-9EA6-DF929625EA0E}">
        <p15:presenceInfo xmlns:p15="http://schemas.microsoft.com/office/powerpoint/2012/main" userId="S::thuan.levan@phenikaa-uni.edu.vn::c78f3590-89e5-480d-9b95-f74b9503073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7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2" autoAdjust="0"/>
    <p:restoredTop sz="95909" autoAdjust="0"/>
  </p:normalViewPr>
  <p:slideViewPr>
    <p:cSldViewPr snapToGrid="0">
      <p:cViewPr varScale="1">
        <p:scale>
          <a:sx n="109" d="100"/>
          <a:sy n="109" d="100"/>
        </p:scale>
        <p:origin x="79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569D7E1-E5AC-4AB7-95CD-6E57287A7EEF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A20F01A-602A-42CF-8886-814D79988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2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0198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064194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785026" y="3704652"/>
            <a:ext cx="10583741" cy="9974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5026" y="4952857"/>
            <a:ext cx="10583741" cy="3849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7" y="1582451"/>
            <a:ext cx="8678656" cy="17879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D9F73E-492F-4733-959D-A5749AFFFAAF}"/>
              </a:ext>
            </a:extLst>
          </p:cNvPr>
          <p:cNvSpPr txBox="1"/>
          <p:nvPr userDrawn="1"/>
        </p:nvSpPr>
        <p:spPr>
          <a:xfrm>
            <a:off x="9526386" y="6613753"/>
            <a:ext cx="252540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68303B8-D2C5-465B-9346-49A8E22302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4437" y="6613753"/>
            <a:ext cx="215444" cy="215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4E5E3D-EAAF-C004-5CDE-2C71CBDADF64}"/>
              </a:ext>
            </a:extLst>
          </p:cNvPr>
          <p:cNvSpPr txBox="1"/>
          <p:nvPr userDrawn="1"/>
        </p:nvSpPr>
        <p:spPr>
          <a:xfrm>
            <a:off x="82794" y="6612032"/>
            <a:ext cx="190394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pail.phenikaa-uni.edu.vn</a:t>
            </a:r>
          </a:p>
        </p:txBody>
      </p:sp>
    </p:spTree>
    <p:extLst>
      <p:ext uri="{BB962C8B-B14F-4D97-AF65-F5344CB8AC3E}">
        <p14:creationId xmlns:p14="http://schemas.microsoft.com/office/powerpoint/2010/main" val="4354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106968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42D89-B98B-F946-A31D-7ACA5974D791}"/>
              </a:ext>
            </a:extLst>
          </p:cNvPr>
          <p:cNvSpPr txBox="1"/>
          <p:nvPr userDrawn="1"/>
        </p:nvSpPr>
        <p:spPr>
          <a:xfrm>
            <a:off x="9583798" y="6612032"/>
            <a:ext cx="252540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7A6886-747B-4528-84CF-32010B2D52E6}"/>
              </a:ext>
            </a:extLst>
          </p:cNvPr>
          <p:cNvSpPr/>
          <p:nvPr userDrawn="1"/>
        </p:nvSpPr>
        <p:spPr>
          <a:xfrm>
            <a:off x="532658" y="0"/>
            <a:ext cx="89641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8F346-4FF9-4D4E-85DE-D92031C6F8EC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98CA0862-FEB0-4A0F-B552-F28AA18E53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356" y="6622794"/>
            <a:ext cx="215444" cy="215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5C5489-17B1-801D-5E86-E7F45820BDA3}"/>
              </a:ext>
            </a:extLst>
          </p:cNvPr>
          <p:cNvSpPr txBox="1"/>
          <p:nvPr userDrawn="1"/>
        </p:nvSpPr>
        <p:spPr>
          <a:xfrm>
            <a:off x="82794" y="6612032"/>
            <a:ext cx="1903948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pail.phenikaa-uni.edu.vn</a:t>
            </a:r>
          </a:p>
        </p:txBody>
      </p:sp>
    </p:spTree>
    <p:extLst>
      <p:ext uri="{BB962C8B-B14F-4D97-AF65-F5344CB8AC3E}">
        <p14:creationId xmlns:p14="http://schemas.microsoft.com/office/powerpoint/2010/main" val="351231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0D2DC2-9AD0-46C9-A2CB-FB4AE530CF63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C7BA3-5854-4C1A-AB26-8E83AFDB9C1C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3F1D2-9457-47B7-950E-5B0EDF508580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A6031B82-2D8F-4555-BCC1-3115CFF967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0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36F995-2F29-4E8D-B342-1E962398505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95CFB-1B8A-4CB0-8949-11A244A80C5E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6865C-7183-40E8-9323-035E78C460BB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CEA2A297-F9C3-429B-B54D-7253A946A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8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7F2710-EFA2-4019-B556-CAF8F057FD2D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6CD87-31C4-44B8-B9A0-380487039ED3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82E290-CA2E-48B6-A6AC-DD17E567C209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6FA9A129-6464-4B54-8084-94C471855C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1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TM Avo" panose="02040603050506020204" pitchFamily="18" charset="0"/>
              </a:defRPr>
            </a:lvl1pPr>
          </a:lstStyle>
          <a:p>
            <a:pPr lvl="0"/>
            <a:r>
              <a:rPr lang="en-US" dirty="0"/>
              <a:t>Hình ảnh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A98EF6-B54D-4232-96A3-D7104779651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D486C0A1-B022-43A4-A558-B9E8916BA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3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F674A0-D445-4C14-83CD-38226D1439C8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C1734-67C3-4443-8460-F8DBA3D27FC6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088CD-189D-4350-AE5C-EA4E5DEDE303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C5E0C745-AAEA-42E0-BD19-9FFC173DF7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6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A717A-9473-4D01-AFFA-39323BC3FE1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A6CBD4-D234-414D-AB38-1B0372324231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E9A1D-9908-4963-BBCA-B9603513672F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4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308D8CB6-ADE4-4812-9DD7-2FB15552B4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4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BE6C77-C511-4273-8155-2D048408425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F459F8FB-0B0E-4294-9F5F-555C0C4C97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A9DA5F-F00A-45CE-8679-BE1CD99F449B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A828293-FDB2-4B6D-9623-EEABA0C7C4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1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F4D4A-FD71-41E6-BED5-CF551BFDBC37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0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AE6AC-9427-433F-AC00-F723CA5DD87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154F4D4A-FD71-41E6-BED5-CF551BFDBC37}" type="datetimeFigureOut">
              <a:rPr lang="en-US" smtClean="0"/>
              <a:pPr/>
              <a:t>4/25/2024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086B6608-6F69-448F-99DC-C9E613BFB69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083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3" r:id="rId5"/>
    <p:sldLayoutId id="2147483660" r:id="rId6"/>
    <p:sldLayoutId id="2147483651" r:id="rId7"/>
    <p:sldLayoutId id="2147483652" r:id="rId8"/>
    <p:sldLayoutId id="2147483654" r:id="rId9"/>
    <p:sldLayoutId id="2147483655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FBF3-8459-4CBE-8502-1C0A4CC3B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611" y="4029967"/>
            <a:ext cx="10750482" cy="128058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UTM Avo" panose="02040603050506020204" pitchFamily="18" charset="0"/>
              </a:rPr>
              <a:t>CHAPTER 2: </a:t>
            </a:r>
            <a:r>
              <a:rPr lang="en-US" altLang="en-US" sz="4800" b="1" dirty="0"/>
              <a:t>Overview of HDL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01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781" y="87823"/>
            <a:ext cx="7728682" cy="55328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D49CA4-8620-3C77-C1E7-164BE046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8F721B-6A10-6C8C-CC4D-8209027AC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037304"/>
              </p:ext>
            </p:extLst>
          </p:nvPr>
        </p:nvGraphicFramePr>
        <p:xfrm>
          <a:off x="2031999" y="1493520"/>
          <a:ext cx="9398001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060">
                  <a:extLst>
                    <a:ext uri="{9D8B030D-6E8A-4147-A177-3AD203B41FA5}">
                      <a16:colId xmlns:a16="http://schemas.microsoft.com/office/drawing/2014/main" val="3085157533"/>
                    </a:ext>
                  </a:extLst>
                </a:gridCol>
                <a:gridCol w="6966310">
                  <a:extLst>
                    <a:ext uri="{9D8B030D-6E8A-4147-A177-3AD203B41FA5}">
                      <a16:colId xmlns:a16="http://schemas.microsoft.com/office/drawing/2014/main" val="1793565155"/>
                    </a:ext>
                  </a:extLst>
                </a:gridCol>
                <a:gridCol w="983631">
                  <a:extLst>
                    <a:ext uri="{9D8B030D-6E8A-4147-A177-3AD203B41FA5}">
                      <a16:colId xmlns:a16="http://schemas.microsoft.com/office/drawing/2014/main" val="1311660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3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Chapter 0: Course Introduction (1)</a:t>
                      </a:r>
                    </a:p>
                    <a:p>
                      <a:r>
                        <a:rPr lang="en-US" sz="2000" b="0" dirty="0"/>
                        <a:t>Chapter 1: Introduction to Digital Design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40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Chapter 2: Overview of 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14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3: Basic </a:t>
                      </a:r>
                      <a:r>
                        <a:rPr lang="en-US" sz="2000"/>
                        <a:t>Language Constructs </a:t>
                      </a:r>
                      <a:r>
                        <a:rPr lang="en-US" sz="2000" dirty="0"/>
                        <a:t>of VHDL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17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4: Signal Assignment Statements of VHDL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5: Combinational Logic Circuit 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51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Midterm </a:t>
                      </a:r>
                      <a:r>
                        <a:rPr lang="en-US" sz="2000"/>
                        <a:t>Exam (2)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95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6:  </a:t>
                      </a:r>
                      <a:r>
                        <a:rPr lang="en-US" sz="2000"/>
                        <a:t>Sequential Logic Circuit </a:t>
                      </a:r>
                      <a:r>
                        <a:rPr lang="en-US" sz="2000" dirty="0"/>
                        <a:t>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7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9, 10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7: Finite State Machine (FSM) Principle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25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069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98E9A-67CA-41E0-AA43-37E496A0185E}"/>
              </a:ext>
            </a:extLst>
          </p:cNvPr>
          <p:cNvSpPr txBox="1"/>
          <p:nvPr/>
        </p:nvSpPr>
        <p:spPr>
          <a:xfrm>
            <a:off x="867715" y="1159404"/>
            <a:ext cx="10077061" cy="2779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Description Languages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VHDL Concept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VHDL in Development Flow</a:t>
            </a:r>
          </a:p>
          <a:p>
            <a:pPr indent="-57150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C9E1CEC-24D0-BC30-5A74-1E9E2364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8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Hardware Description Language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traditional programming languages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wide varieties of computer programming languages, from Fortran, Pascal to C/C++ to Java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/Python/R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Unfortunately, there are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adequate to model digital hardware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traditional general-purpose programming languages, such as C/C++, are modeled after sequential process.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process, operations are performed in sequential order, one operation at a time.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0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Hardware Description Language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digital hardware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different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those of 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 model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digital system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normally built by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parts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customized wiring that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the input and output ports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these parts.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 input changes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 connected to the signal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activated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 of new operators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initiated accordingly.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operations are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concurrently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each operation will take a specific amount of time, which represents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 delay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particular part, to complete.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completion, each part updates the value of the corres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ponding output port.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33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example is a circuit that detects even parity.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one output, even, and three inputs, a(2), a(1), and a(0), which are grouped as a vector.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truth table is: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A386E9-F82D-D6F7-3522-AF3641486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184" y="2473075"/>
            <a:ext cx="4990476" cy="3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40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04E8F-7CBC-762E-85FA-049A41CA7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66" y="1153211"/>
            <a:ext cx="11466667" cy="5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750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690876" y="779118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Description</a:t>
            </a: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4DEB3E-2A4C-1097-EB77-9B50B624D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07" y="1331785"/>
            <a:ext cx="11723809" cy="5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68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First, two declarations are needed, one for library where the package is located, the other a use clause pointing to the specific package.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is a standard library that comes with the VHDL development.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std_logic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</a:t>
            </a:r>
            <a:r>
              <a:rPr lang="en-US" alt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std_logic_vector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data type is used, the package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std_logic_1164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needs to be declared.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358FC2-3B8A-38B3-0805-4858CA9A3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88" y="3840460"/>
            <a:ext cx="7829550" cy="981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1373E4-5114-DE7C-7F35-ACA900798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688" y="2575016"/>
            <a:ext cx="3444624" cy="84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897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code consists of two major units: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declaration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body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entity declaration is:</a:t>
            </a: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2E0E17-A3BC-8D46-88FC-461E18FB0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426" y="2990977"/>
            <a:ext cx="9626405" cy="180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59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body specifies the internal operation or organization of a circuit.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next line is the signal declaration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0CAC2-64E0-ADDD-9E23-24676950E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23" y="2047512"/>
            <a:ext cx="6848475" cy="333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72C459-31D1-5A12-F1AE-3FB0587C9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275" y="3064339"/>
            <a:ext cx="55054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57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building block inside the architecture body is 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statements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left-hand-side signal or port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all 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and ports 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appearing in 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right-hand-side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expression are the </a:t>
            </a:r>
            <a:r>
              <a:rPr lang="en-US" alt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signals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15ns: indicates that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 after a delay of 15ns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only uses for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purpos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8BD0E6-9DF3-BEAA-4A81-05332978E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762" y="2075371"/>
            <a:ext cx="9908931" cy="177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31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architecture body consists of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concurrent statements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be interpreted as a collection of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circuit parts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097042-9D1D-E47D-7B96-5626C2F59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240" y="2071943"/>
            <a:ext cx="5639519" cy="432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08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that,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of these concurrent statements does not matter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example, we can rearrange the code as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17BB80-AC12-7990-7583-E478751D0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473" y="2762616"/>
            <a:ext cx="8881054" cy="200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55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Assignment Statement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95F60C-6FD8-5A6A-00C3-DFA0D8834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950" y="1570837"/>
            <a:ext cx="9038095" cy="3133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D623B-6108-2158-1A41-A08EFC227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23" y="4594235"/>
            <a:ext cx="10231551" cy="178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519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Assignment Statement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E27BD-0F53-B2DB-23E7-9A169F65B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19" y="2005233"/>
            <a:ext cx="11504762" cy="3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80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Assignment Statement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E27BD-0F53-B2DB-23E7-9A169F65B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19" y="2005233"/>
            <a:ext cx="11504762" cy="35333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5850B2-6B1B-D70C-6CC0-200E67AF9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81" y="1305190"/>
            <a:ext cx="11095238" cy="4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34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Assignment Statement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5850B2-6B1B-D70C-6CC0-200E67AF9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81" y="1779404"/>
            <a:ext cx="11095238" cy="4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54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Assignment Statement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1E6841-05B5-4902-3683-C3B52C113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766" y="1610278"/>
            <a:ext cx="9205639" cy="42428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70A773-F88A-6063-BB63-0005B6C54A7C}"/>
              </a:ext>
            </a:extLst>
          </p:cNvPr>
          <p:cNvSpPr txBox="1"/>
          <p:nvPr/>
        </p:nvSpPr>
        <p:spPr>
          <a:xfrm>
            <a:off x="923192" y="5839959"/>
            <a:ext cx="9205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is the propagation delay in digital circuits and very small.</a:t>
            </a:r>
          </a:p>
        </p:txBody>
      </p:sp>
    </p:spTree>
    <p:extLst>
      <p:ext uri="{BB962C8B-B14F-4D97-AF65-F5344CB8AC3E}">
        <p14:creationId xmlns:p14="http://schemas.microsoft.com/office/powerpoint/2010/main" val="1081081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an XOR operation and the expression can be written as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584DF6-29B5-0E86-1AB6-40F89F62D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62" y="2347774"/>
            <a:ext cx="761047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98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(Structural)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conceptual diagram is shown in Figure 2.3.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structural view, a circuit is constructed of smaller parts.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description specifies what types of parts are used and how these parts are connected.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description is essentially a schematic, representing a block diagram or circuit diagram.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39518-6896-8306-93F6-BBDDD5B52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1627863"/>
            <a:ext cx="57531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12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(Structural)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even-parity detector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 can be realized by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parts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shown in the circuit diagram of Fig. 2.4.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endParaRPr lang="en-US" alt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schematic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structural description can be derived accordingly.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3B5981-B323-6C7D-F9A0-51E1B3936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528" y="2261680"/>
            <a:ext cx="7472943" cy="279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06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(Structural)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CC509-F6CE-9F23-F00B-1577D24FE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01" y="991877"/>
            <a:ext cx="11584598" cy="520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421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(Structural)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60FDFD-6C34-D95B-8F99-01CCA067D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0" y="1289485"/>
            <a:ext cx="12038095" cy="5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43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(Structural)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A71343-F065-89DE-BACC-EFA2B7BDD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01" y="875817"/>
            <a:ext cx="7333333" cy="3980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B4AF48-F909-E63E-EC6C-34A5D201E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299" y="4043499"/>
            <a:ext cx="541972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99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(Structural)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03C25E-2CFD-6ED7-83FD-CA773A21D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485" y="4149007"/>
            <a:ext cx="5419725" cy="2152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1FA830-A1C1-B42F-4822-D8C59AC5E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94" y="1120165"/>
            <a:ext cx="6025208" cy="335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23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(Structural)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7398563-F57A-6E5F-0C1B-C5B0F9936DB9}"/>
              </a:ext>
            </a:extLst>
          </p:cNvPr>
          <p:cNvSpPr txBox="1">
            <a:spLocks noChangeArrowheads="1"/>
          </p:cNvSpPr>
          <p:nvPr/>
        </p:nvSpPr>
        <p:spPr>
          <a:xfrm>
            <a:off x="767166" y="974400"/>
            <a:ext cx="10058400" cy="45539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Example: Build up a </a:t>
            </a: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Full Adder</a:t>
            </a:r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smaller pieces</a:t>
            </a:r>
          </a:p>
          <a:p>
            <a:pPr marL="0" indent="0">
              <a:buNone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E2EEBE-B925-BBC1-2934-D0012252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137" y="1562508"/>
            <a:ext cx="694372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2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(Behavioral)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design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implement can be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complex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construction can be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process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beginning, we frequently just want to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system operation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focusing on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the actual circuit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prefer an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description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human reasoning and algorithms resemble a sequential process, the sequential semantics of traditional language is more adequate.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168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(Behavioral)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102455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VHDL provides language constructs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resemble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semantics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the use of variable and sequential execution.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features 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considered as exception to the regular VHDL semantics, and they are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encapsulated in a special construct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known as 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8ADB0-5D0F-BDC9-9272-6518799C0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526" y="3415787"/>
            <a:ext cx="6830948" cy="296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80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(Behavioral)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has 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list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composed of a set of signal.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sensitivity list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is activated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process, the semantic is similar to that of a traditional programming language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and execution of the statements is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process is shown in two examples, both describing the </a:t>
            </a: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even-parity detector</a:t>
            </a: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circuit.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6410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(Behavioral)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835941-5F55-6D42-9D66-D7E70B109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05" y="1053292"/>
            <a:ext cx="7876190" cy="5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37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(Behavioral)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graphic interpretation of the behavioral architecture is shown in Fig. 2.5.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7FB9B-DAAC-5C7A-034C-ADDD12EC0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939" y="1958042"/>
            <a:ext cx="5556122" cy="435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6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(Testbench)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9" y="1056280"/>
            <a:ext cx="109542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VHDL testbench for the previous even detection circuit.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3046B3-8F04-6CF3-E9FB-C83DFBD49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867" y="1610278"/>
            <a:ext cx="7994266" cy="482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55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(Testbench)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473890-B885-93CC-A817-D021F605C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37" y="1206012"/>
            <a:ext cx="10601325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95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(Testbench)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3B6095-3AF9-7568-37A2-B0FE49AE7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905" y="1148530"/>
            <a:ext cx="9476190" cy="5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98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(Testbench)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2D6460-8ABF-CECE-D228-21773680D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000" y="1064183"/>
            <a:ext cx="5600000" cy="5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142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(Testbench)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4CDD17-DF80-C06A-DF9D-04AA5D0BF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238" y="1100911"/>
            <a:ext cx="10009524" cy="5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093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Basic VHDL Concept (Testbench)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F70089-0D2C-F3BF-E640-D921DE780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143" y="1723162"/>
            <a:ext cx="9485714" cy="3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995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VHDL Development Flow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39</a:t>
            </a:fld>
            <a:endParaRPr lang="en-US" dirty="0"/>
          </a:p>
        </p:txBody>
      </p:sp>
      <p:sp>
        <p:nvSpPr>
          <p:cNvPr id="6" name="Google Shape;1079;p86">
            <a:extLst>
              <a:ext uri="{FF2B5EF4-FFF2-40B4-BE49-F238E27FC236}">
                <a16:creationId xmlns:a16="http://schemas.microsoft.com/office/drawing/2014/main" id="{9686C2C0-AD8A-0E30-6E82-478CF3E9DB58}"/>
              </a:ext>
            </a:extLst>
          </p:cNvPr>
          <p:cNvSpPr/>
          <p:nvPr/>
        </p:nvSpPr>
        <p:spPr>
          <a:xfrm>
            <a:off x="994394" y="1578400"/>
            <a:ext cx="2196352" cy="49305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System Specification</a:t>
            </a:r>
            <a:endParaRPr/>
          </a:p>
        </p:txBody>
      </p:sp>
      <p:sp>
        <p:nvSpPr>
          <p:cNvPr id="7" name="Google Shape;1080;p86">
            <a:extLst>
              <a:ext uri="{FF2B5EF4-FFF2-40B4-BE49-F238E27FC236}">
                <a16:creationId xmlns:a16="http://schemas.microsoft.com/office/drawing/2014/main" id="{C3710BFD-407C-3ECF-5BB0-1FB12D39BC9B}"/>
              </a:ext>
            </a:extLst>
          </p:cNvPr>
          <p:cNvSpPr/>
          <p:nvPr/>
        </p:nvSpPr>
        <p:spPr>
          <a:xfrm>
            <a:off x="994394" y="2398671"/>
            <a:ext cx="2196352" cy="49305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Architectural Design</a:t>
            </a:r>
            <a:endParaRPr/>
          </a:p>
        </p:txBody>
      </p:sp>
      <p:sp>
        <p:nvSpPr>
          <p:cNvPr id="8" name="Google Shape;1081;p86">
            <a:extLst>
              <a:ext uri="{FF2B5EF4-FFF2-40B4-BE49-F238E27FC236}">
                <a16:creationId xmlns:a16="http://schemas.microsoft.com/office/drawing/2014/main" id="{2EE38027-E678-BAA1-7768-E47CCFDD2C45}"/>
              </a:ext>
            </a:extLst>
          </p:cNvPr>
          <p:cNvSpPr/>
          <p:nvPr/>
        </p:nvSpPr>
        <p:spPr>
          <a:xfrm>
            <a:off x="994394" y="3165153"/>
            <a:ext cx="2196352" cy="49305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Functional Design</a:t>
            </a:r>
            <a:endParaRPr/>
          </a:p>
        </p:txBody>
      </p:sp>
      <p:sp>
        <p:nvSpPr>
          <p:cNvPr id="9" name="Google Shape;1082;p86">
            <a:extLst>
              <a:ext uri="{FF2B5EF4-FFF2-40B4-BE49-F238E27FC236}">
                <a16:creationId xmlns:a16="http://schemas.microsoft.com/office/drawing/2014/main" id="{8A5E82C7-533A-6AA0-C33C-F75CFBBF7B4A}"/>
              </a:ext>
            </a:extLst>
          </p:cNvPr>
          <p:cNvSpPr/>
          <p:nvPr/>
        </p:nvSpPr>
        <p:spPr>
          <a:xfrm>
            <a:off x="994394" y="3931635"/>
            <a:ext cx="2196352" cy="49305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 Design</a:t>
            </a:r>
            <a:endParaRPr/>
          </a:p>
        </p:txBody>
      </p:sp>
      <p:sp>
        <p:nvSpPr>
          <p:cNvPr id="10" name="Google Shape;1083;p86">
            <a:extLst>
              <a:ext uri="{FF2B5EF4-FFF2-40B4-BE49-F238E27FC236}">
                <a16:creationId xmlns:a16="http://schemas.microsoft.com/office/drawing/2014/main" id="{20222187-44B3-1AFD-F309-5DED6AEDBFBC}"/>
              </a:ext>
            </a:extLst>
          </p:cNvPr>
          <p:cNvSpPr/>
          <p:nvPr/>
        </p:nvSpPr>
        <p:spPr>
          <a:xfrm>
            <a:off x="6268058" y="1599644"/>
            <a:ext cx="1996142" cy="49305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Packaging</a:t>
            </a:r>
            <a:endParaRPr/>
          </a:p>
        </p:txBody>
      </p:sp>
      <p:sp>
        <p:nvSpPr>
          <p:cNvPr id="11" name="Google Shape;1084;p86">
            <a:extLst>
              <a:ext uri="{FF2B5EF4-FFF2-40B4-BE49-F238E27FC236}">
                <a16:creationId xmlns:a16="http://schemas.microsoft.com/office/drawing/2014/main" id="{80EF6A0A-AB7E-2AAA-0D9F-FBF50948D044}"/>
              </a:ext>
            </a:extLst>
          </p:cNvPr>
          <p:cNvSpPr/>
          <p:nvPr/>
        </p:nvSpPr>
        <p:spPr>
          <a:xfrm>
            <a:off x="6268058" y="2419915"/>
            <a:ext cx="1996142" cy="49305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Fabrication</a:t>
            </a:r>
            <a:endParaRPr/>
          </a:p>
        </p:txBody>
      </p:sp>
      <p:sp>
        <p:nvSpPr>
          <p:cNvPr id="12" name="Google Shape;1085;p86">
            <a:extLst>
              <a:ext uri="{FF2B5EF4-FFF2-40B4-BE49-F238E27FC236}">
                <a16:creationId xmlns:a16="http://schemas.microsoft.com/office/drawing/2014/main" id="{5A7D7504-8BBC-A8F7-FB3D-0A06D0B2A9FC}"/>
              </a:ext>
            </a:extLst>
          </p:cNvPr>
          <p:cNvSpPr/>
          <p:nvPr/>
        </p:nvSpPr>
        <p:spPr>
          <a:xfrm>
            <a:off x="6268058" y="3186397"/>
            <a:ext cx="1996142" cy="49305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Physical Design</a:t>
            </a:r>
            <a:endParaRPr/>
          </a:p>
        </p:txBody>
      </p:sp>
      <p:sp>
        <p:nvSpPr>
          <p:cNvPr id="13" name="Google Shape;1086;p86">
            <a:extLst>
              <a:ext uri="{FF2B5EF4-FFF2-40B4-BE49-F238E27FC236}">
                <a16:creationId xmlns:a16="http://schemas.microsoft.com/office/drawing/2014/main" id="{BEA0E7D1-93DD-E1C8-24BE-080F1A06C93F}"/>
              </a:ext>
            </a:extLst>
          </p:cNvPr>
          <p:cNvSpPr/>
          <p:nvPr/>
        </p:nvSpPr>
        <p:spPr>
          <a:xfrm>
            <a:off x="6268058" y="3952879"/>
            <a:ext cx="1996142" cy="49305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Circuit Design</a:t>
            </a:r>
            <a:endParaRPr/>
          </a:p>
        </p:txBody>
      </p:sp>
      <p:cxnSp>
        <p:nvCxnSpPr>
          <p:cNvPr id="14" name="Google Shape;1087;p86">
            <a:extLst>
              <a:ext uri="{FF2B5EF4-FFF2-40B4-BE49-F238E27FC236}">
                <a16:creationId xmlns:a16="http://schemas.microsoft.com/office/drawing/2014/main" id="{3257497E-52A2-A28F-7821-209380085431}"/>
              </a:ext>
            </a:extLst>
          </p:cNvPr>
          <p:cNvCxnSpPr>
            <a:endCxn id="7" idx="0"/>
          </p:cNvCxnSpPr>
          <p:nvPr/>
        </p:nvCxnSpPr>
        <p:spPr>
          <a:xfrm flipH="1">
            <a:off x="2092570" y="2071371"/>
            <a:ext cx="4500" cy="327300"/>
          </a:xfrm>
          <a:prstGeom prst="straightConnector1">
            <a:avLst/>
          </a:prstGeom>
          <a:noFill/>
          <a:ln w="444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" name="Google Shape;1088;p86">
            <a:extLst>
              <a:ext uri="{FF2B5EF4-FFF2-40B4-BE49-F238E27FC236}">
                <a16:creationId xmlns:a16="http://schemas.microsoft.com/office/drawing/2014/main" id="{64CDDAB8-5703-BE6D-2F1E-54FDA08A44F3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2092570" y="2891730"/>
            <a:ext cx="0" cy="273300"/>
          </a:xfrm>
          <a:prstGeom prst="straightConnector1">
            <a:avLst/>
          </a:prstGeom>
          <a:noFill/>
          <a:ln w="444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" name="Google Shape;1089;p86">
            <a:extLst>
              <a:ext uri="{FF2B5EF4-FFF2-40B4-BE49-F238E27FC236}">
                <a16:creationId xmlns:a16="http://schemas.microsoft.com/office/drawing/2014/main" id="{E20169D3-52C5-FBE3-D7AF-84EF1B193496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092570" y="3658212"/>
            <a:ext cx="0" cy="273300"/>
          </a:xfrm>
          <a:prstGeom prst="straightConnector1">
            <a:avLst/>
          </a:prstGeom>
          <a:noFill/>
          <a:ln w="444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" name="Google Shape;1090;p86">
            <a:extLst>
              <a:ext uri="{FF2B5EF4-FFF2-40B4-BE49-F238E27FC236}">
                <a16:creationId xmlns:a16="http://schemas.microsoft.com/office/drawing/2014/main" id="{0CB6B739-94BE-32DE-F1FA-CBD00F00B7A6}"/>
              </a:ext>
            </a:extLst>
          </p:cNvPr>
          <p:cNvCxnSpPr>
            <a:stCxn id="13" idx="0"/>
            <a:endCxn id="12" idx="2"/>
          </p:cNvCxnSpPr>
          <p:nvPr/>
        </p:nvCxnSpPr>
        <p:spPr>
          <a:xfrm rot="10800000">
            <a:off x="7266129" y="3679579"/>
            <a:ext cx="0" cy="273300"/>
          </a:xfrm>
          <a:prstGeom prst="straightConnector1">
            <a:avLst/>
          </a:prstGeom>
          <a:noFill/>
          <a:ln w="444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" name="Google Shape;1091;p86">
            <a:extLst>
              <a:ext uri="{FF2B5EF4-FFF2-40B4-BE49-F238E27FC236}">
                <a16:creationId xmlns:a16="http://schemas.microsoft.com/office/drawing/2014/main" id="{16339A00-BEA5-2247-52B0-2A474CDFE80A}"/>
              </a:ext>
            </a:extLst>
          </p:cNvPr>
          <p:cNvCxnSpPr>
            <a:stCxn id="12" idx="0"/>
            <a:endCxn id="11" idx="2"/>
          </p:cNvCxnSpPr>
          <p:nvPr/>
        </p:nvCxnSpPr>
        <p:spPr>
          <a:xfrm rot="10800000">
            <a:off x="7266129" y="2913097"/>
            <a:ext cx="0" cy="273300"/>
          </a:xfrm>
          <a:prstGeom prst="straightConnector1">
            <a:avLst/>
          </a:prstGeom>
          <a:noFill/>
          <a:ln w="444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" name="Google Shape;1092;p86">
            <a:extLst>
              <a:ext uri="{FF2B5EF4-FFF2-40B4-BE49-F238E27FC236}">
                <a16:creationId xmlns:a16="http://schemas.microsoft.com/office/drawing/2014/main" id="{C084840C-3F4D-9702-269B-CA83DFC89F6D}"/>
              </a:ext>
            </a:extLst>
          </p:cNvPr>
          <p:cNvCxnSpPr>
            <a:stCxn id="11" idx="0"/>
            <a:endCxn id="10" idx="2"/>
          </p:cNvCxnSpPr>
          <p:nvPr/>
        </p:nvCxnSpPr>
        <p:spPr>
          <a:xfrm rot="10800000">
            <a:off x="7266129" y="2092615"/>
            <a:ext cx="0" cy="327300"/>
          </a:xfrm>
          <a:prstGeom prst="straightConnector1">
            <a:avLst/>
          </a:prstGeom>
          <a:noFill/>
          <a:ln w="444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" name="Google Shape;1093;p86">
            <a:extLst>
              <a:ext uri="{FF2B5EF4-FFF2-40B4-BE49-F238E27FC236}">
                <a16:creationId xmlns:a16="http://schemas.microsoft.com/office/drawing/2014/main" id="{135F92F1-49B6-FBF4-89D1-FA7E49F2C8C4}"/>
              </a:ext>
            </a:extLst>
          </p:cNvPr>
          <p:cNvCxnSpPr>
            <a:stCxn id="9" idx="2"/>
            <a:endCxn id="13" idx="2"/>
          </p:cNvCxnSpPr>
          <p:nvPr/>
        </p:nvCxnSpPr>
        <p:spPr>
          <a:xfrm rot="-5400000" flipH="1">
            <a:off x="4668670" y="1848594"/>
            <a:ext cx="21300" cy="5173500"/>
          </a:xfrm>
          <a:prstGeom prst="bentConnector3">
            <a:avLst>
              <a:gd name="adj1" fmla="val 1172975"/>
            </a:avLst>
          </a:prstGeom>
          <a:noFill/>
          <a:ln w="444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" name="Google Shape;1094;p86">
            <a:extLst>
              <a:ext uri="{FF2B5EF4-FFF2-40B4-BE49-F238E27FC236}">
                <a16:creationId xmlns:a16="http://schemas.microsoft.com/office/drawing/2014/main" id="{A948585B-2512-1C71-4DB8-3398B48D07AD}"/>
              </a:ext>
            </a:extLst>
          </p:cNvPr>
          <p:cNvSpPr txBox="1"/>
          <p:nvPr/>
        </p:nvSpPr>
        <p:spPr>
          <a:xfrm>
            <a:off x="3191043" y="1599644"/>
            <a:ext cx="28316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Identify functionality, size, system requirements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" name="Google Shape;1095;p86">
            <a:extLst>
              <a:ext uri="{FF2B5EF4-FFF2-40B4-BE49-F238E27FC236}">
                <a16:creationId xmlns:a16="http://schemas.microsoft.com/office/drawing/2014/main" id="{34B86087-EF83-C23A-DCE5-0ACA2868B727}"/>
              </a:ext>
            </a:extLst>
          </p:cNvPr>
          <p:cNvSpPr txBox="1"/>
          <p:nvPr/>
        </p:nvSpPr>
        <p:spPr>
          <a:xfrm>
            <a:off x="3190745" y="2349988"/>
            <a:ext cx="2981691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Identify system architecture, for example architecture, number of arithmetic logic units (ALUs), memory size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3" name="Google Shape;1096;p86">
            <a:extLst>
              <a:ext uri="{FF2B5EF4-FFF2-40B4-BE49-F238E27FC236}">
                <a16:creationId xmlns:a16="http://schemas.microsoft.com/office/drawing/2014/main" id="{4354B4BC-C2EC-05B4-A228-8742D7FE6A4A}"/>
              </a:ext>
            </a:extLst>
          </p:cNvPr>
          <p:cNvSpPr txBox="1"/>
          <p:nvPr/>
        </p:nvSpPr>
        <p:spPr>
          <a:xfrm>
            <a:off x="3190746" y="3271395"/>
            <a:ext cx="298169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Identify system functional blocks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4" name="Google Shape;1097;p86">
            <a:extLst>
              <a:ext uri="{FF2B5EF4-FFF2-40B4-BE49-F238E27FC236}">
                <a16:creationId xmlns:a16="http://schemas.microsoft.com/office/drawing/2014/main" id="{34322374-1BA9-963D-3E02-B1BABC11A932}"/>
              </a:ext>
            </a:extLst>
          </p:cNvPr>
          <p:cNvSpPr txBox="1"/>
          <p:nvPr/>
        </p:nvSpPr>
        <p:spPr>
          <a:xfrm>
            <a:off x="3224198" y="3962692"/>
            <a:ext cx="298169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Design functional circuits (combinational circuits, sequential circuits)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Google Shape;1098;p86">
            <a:extLst>
              <a:ext uri="{FF2B5EF4-FFF2-40B4-BE49-F238E27FC236}">
                <a16:creationId xmlns:a16="http://schemas.microsoft.com/office/drawing/2014/main" id="{2E861C2D-FF54-BEF7-C68F-89D3789DCD36}"/>
              </a:ext>
            </a:extLst>
          </p:cNvPr>
          <p:cNvSpPr txBox="1"/>
          <p:nvPr/>
        </p:nvSpPr>
        <p:spPr>
          <a:xfrm>
            <a:off x="8406993" y="3948708"/>
            <a:ext cx="290870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Translate from logic design to logic gates to implement designed functions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6" name="Google Shape;1099;p86">
            <a:extLst>
              <a:ext uri="{FF2B5EF4-FFF2-40B4-BE49-F238E27FC236}">
                <a16:creationId xmlns:a16="http://schemas.microsoft.com/office/drawing/2014/main" id="{0A71D2C7-1981-16F2-F282-2D11F63D7700}"/>
              </a:ext>
            </a:extLst>
          </p:cNvPr>
          <p:cNvSpPr txBox="1"/>
          <p:nvPr/>
        </p:nvSpPr>
        <p:spPr>
          <a:xfrm>
            <a:off x="8446642" y="3108281"/>
            <a:ext cx="309765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Layout logic components on the chip substrate (in a geometrically sensible manner - Determine the positions of functional blocks + wiring)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Google Shape;1100;p86">
            <a:extLst>
              <a:ext uri="{FF2B5EF4-FFF2-40B4-BE49-F238E27FC236}">
                <a16:creationId xmlns:a16="http://schemas.microsoft.com/office/drawing/2014/main" id="{30F4BE6F-324B-7478-38CC-BB6C0BAFA083}"/>
              </a:ext>
            </a:extLst>
          </p:cNvPr>
          <p:cNvSpPr txBox="1"/>
          <p:nvPr/>
        </p:nvSpPr>
        <p:spPr>
          <a:xfrm>
            <a:off x="8446643" y="2440071"/>
            <a:ext cx="253798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Manufacture chips using photolithography process and masks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Google Shape;1101;p86">
            <a:extLst>
              <a:ext uri="{FF2B5EF4-FFF2-40B4-BE49-F238E27FC236}">
                <a16:creationId xmlns:a16="http://schemas.microsoft.com/office/drawing/2014/main" id="{854D972E-1AA0-0DD6-806E-D19DF857FCED}"/>
              </a:ext>
            </a:extLst>
          </p:cNvPr>
          <p:cNvSpPr txBox="1"/>
          <p:nvPr/>
        </p:nvSpPr>
        <p:spPr>
          <a:xfrm>
            <a:off x="8446642" y="1599644"/>
            <a:ext cx="249833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⮚"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Package, arrange modules on a complete printed circuit board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9" name="Google Shape;1102;p86">
            <a:extLst>
              <a:ext uri="{FF2B5EF4-FFF2-40B4-BE49-F238E27FC236}">
                <a16:creationId xmlns:a16="http://schemas.microsoft.com/office/drawing/2014/main" id="{547CF79E-72A3-23F6-36C5-4F7C0FA1E5A1}"/>
              </a:ext>
            </a:extLst>
          </p:cNvPr>
          <p:cNvSpPr/>
          <p:nvPr/>
        </p:nvSpPr>
        <p:spPr>
          <a:xfrm>
            <a:off x="820252" y="3771151"/>
            <a:ext cx="7573270" cy="1029372"/>
          </a:xfrm>
          <a:prstGeom prst="rect">
            <a:avLst/>
          </a:prstGeom>
          <a:solidFill>
            <a:schemeClr val="accent1">
              <a:alpha val="9803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103;p86">
            <a:extLst>
              <a:ext uri="{FF2B5EF4-FFF2-40B4-BE49-F238E27FC236}">
                <a16:creationId xmlns:a16="http://schemas.microsoft.com/office/drawing/2014/main" id="{26E3ECA8-5EA1-6F0B-89FE-6DE7B6323957}"/>
              </a:ext>
            </a:extLst>
          </p:cNvPr>
          <p:cNvSpPr/>
          <p:nvPr/>
        </p:nvSpPr>
        <p:spPr>
          <a:xfrm>
            <a:off x="780237" y="1374205"/>
            <a:ext cx="2498330" cy="4029976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104;p86">
            <a:extLst>
              <a:ext uri="{FF2B5EF4-FFF2-40B4-BE49-F238E27FC236}">
                <a16:creationId xmlns:a16="http://schemas.microsoft.com/office/drawing/2014/main" id="{92DF029B-09DE-672F-C80D-5EACC69C3269}"/>
              </a:ext>
            </a:extLst>
          </p:cNvPr>
          <p:cNvSpPr/>
          <p:nvPr/>
        </p:nvSpPr>
        <p:spPr>
          <a:xfrm>
            <a:off x="5948310" y="1371871"/>
            <a:ext cx="2498330" cy="4029976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1105;p86">
            <a:extLst>
              <a:ext uri="{FF2B5EF4-FFF2-40B4-BE49-F238E27FC236}">
                <a16:creationId xmlns:a16="http://schemas.microsoft.com/office/drawing/2014/main" id="{EDFCABF8-EA12-4FE2-CC76-F421CD157DE1}"/>
              </a:ext>
            </a:extLst>
          </p:cNvPr>
          <p:cNvSpPr txBox="1"/>
          <p:nvPr/>
        </p:nvSpPr>
        <p:spPr>
          <a:xfrm>
            <a:off x="3974669" y="5636859"/>
            <a:ext cx="14093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(IC Design)</a:t>
            </a:r>
            <a:endParaRPr/>
          </a:p>
        </p:txBody>
      </p:sp>
      <p:sp>
        <p:nvSpPr>
          <p:cNvPr id="33" name="Google Shape;1106;p86">
            <a:extLst>
              <a:ext uri="{FF2B5EF4-FFF2-40B4-BE49-F238E27FC236}">
                <a16:creationId xmlns:a16="http://schemas.microsoft.com/office/drawing/2014/main" id="{81FB32AE-A87B-B1FD-4F42-EE7E0F6B4BF7}"/>
              </a:ext>
            </a:extLst>
          </p:cNvPr>
          <p:cNvSpPr/>
          <p:nvPr/>
        </p:nvSpPr>
        <p:spPr>
          <a:xfrm>
            <a:off x="3841045" y="5532401"/>
            <a:ext cx="1638192" cy="557737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1107;p86">
            <a:extLst>
              <a:ext uri="{FF2B5EF4-FFF2-40B4-BE49-F238E27FC236}">
                <a16:creationId xmlns:a16="http://schemas.microsoft.com/office/drawing/2014/main" id="{9AE35138-F26E-23A6-3960-F1B3DFBC7FE2}"/>
              </a:ext>
            </a:extLst>
          </p:cNvPr>
          <p:cNvCxnSpPr>
            <a:cxnSpLocks/>
            <a:stCxn id="30" idx="2"/>
            <a:endCxn id="33" idx="1"/>
          </p:cNvCxnSpPr>
          <p:nvPr/>
        </p:nvCxnSpPr>
        <p:spPr>
          <a:xfrm rot="-5400000" flipH="1">
            <a:off x="2731702" y="4701881"/>
            <a:ext cx="407100" cy="1811700"/>
          </a:xfrm>
          <a:prstGeom prst="bentConnector2">
            <a:avLst/>
          </a:prstGeom>
          <a:noFill/>
          <a:ln w="9525" cap="flat" cmpd="sng">
            <a:solidFill>
              <a:srgbClr val="FF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35" name="Google Shape;1108;p86">
            <a:extLst>
              <a:ext uri="{FF2B5EF4-FFF2-40B4-BE49-F238E27FC236}">
                <a16:creationId xmlns:a16="http://schemas.microsoft.com/office/drawing/2014/main" id="{26136C57-0F60-EB76-3E65-84E771BB2EDB}"/>
              </a:ext>
            </a:extLst>
          </p:cNvPr>
          <p:cNvCxnSpPr>
            <a:cxnSpLocks/>
            <a:stCxn id="31" idx="2"/>
            <a:endCxn id="33" idx="3"/>
          </p:cNvCxnSpPr>
          <p:nvPr/>
        </p:nvCxnSpPr>
        <p:spPr>
          <a:xfrm rot="5400000">
            <a:off x="6133675" y="4747547"/>
            <a:ext cx="409500" cy="1718100"/>
          </a:xfrm>
          <a:prstGeom prst="bentConnector2">
            <a:avLst/>
          </a:prstGeom>
          <a:noFill/>
          <a:ln w="9525" cap="flat" cmpd="sng">
            <a:solidFill>
              <a:srgbClr val="FF0000"/>
            </a:solidFill>
            <a:prstDash val="dash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278325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46" y="227160"/>
            <a:ext cx="8548599" cy="553289"/>
          </a:xfrm>
        </p:spPr>
        <p:txBody>
          <a:bodyPr>
            <a:noAutofit/>
          </a:bodyPr>
          <a:lstStyle/>
          <a:p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VHDL Development Flow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ACE5F48-F547-860D-1181-527A1E14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9614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40</a:t>
            </a:fld>
            <a:endParaRPr lang="en-US" dirty="0"/>
          </a:p>
        </p:txBody>
      </p:sp>
      <p:sp>
        <p:nvSpPr>
          <p:cNvPr id="48" name="Google Shape;1115;p87">
            <a:extLst>
              <a:ext uri="{FF2B5EF4-FFF2-40B4-BE49-F238E27FC236}">
                <a16:creationId xmlns:a16="http://schemas.microsoft.com/office/drawing/2014/main" id="{4CEF7AA8-2806-EE90-8094-0446694DD9F8}"/>
              </a:ext>
            </a:extLst>
          </p:cNvPr>
          <p:cNvSpPr/>
          <p:nvPr/>
        </p:nvSpPr>
        <p:spPr>
          <a:xfrm>
            <a:off x="783492" y="1361023"/>
            <a:ext cx="2641600" cy="5588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System Requirements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Google Shape;1116;p87">
            <a:extLst>
              <a:ext uri="{FF2B5EF4-FFF2-40B4-BE49-F238E27FC236}">
                <a16:creationId xmlns:a16="http://schemas.microsoft.com/office/drawing/2014/main" id="{F0CD8855-8562-C204-0557-05A5779513F1}"/>
              </a:ext>
            </a:extLst>
          </p:cNvPr>
          <p:cNvSpPr/>
          <p:nvPr/>
        </p:nvSpPr>
        <p:spPr>
          <a:xfrm>
            <a:off x="783492" y="2172308"/>
            <a:ext cx="2641600" cy="5588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Functional Decomposition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Google Shape;1117;p87">
            <a:extLst>
              <a:ext uri="{FF2B5EF4-FFF2-40B4-BE49-F238E27FC236}">
                <a16:creationId xmlns:a16="http://schemas.microsoft.com/office/drawing/2014/main" id="{F76BA992-C390-247A-E7E6-AA50D158E5CE}"/>
              </a:ext>
            </a:extLst>
          </p:cNvPr>
          <p:cNvSpPr/>
          <p:nvPr/>
        </p:nvSpPr>
        <p:spPr>
          <a:xfrm>
            <a:off x="783492" y="3016401"/>
            <a:ext cx="2641600" cy="5588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RTL VHDL Model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Google Shape;1118;p87">
            <a:extLst>
              <a:ext uri="{FF2B5EF4-FFF2-40B4-BE49-F238E27FC236}">
                <a16:creationId xmlns:a16="http://schemas.microsoft.com/office/drawing/2014/main" id="{6851DEE0-4B48-409B-C296-D8D66047F52B}"/>
              </a:ext>
            </a:extLst>
          </p:cNvPr>
          <p:cNvSpPr/>
          <p:nvPr/>
        </p:nvSpPr>
        <p:spPr>
          <a:xfrm>
            <a:off x="783492" y="3829201"/>
            <a:ext cx="2641600" cy="5588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Test Bench/Simulation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Google Shape;1119;p87">
            <a:extLst>
              <a:ext uri="{FF2B5EF4-FFF2-40B4-BE49-F238E27FC236}">
                <a16:creationId xmlns:a16="http://schemas.microsoft.com/office/drawing/2014/main" id="{B3C8495F-FBFC-2AB7-5F60-FE1C06CC89F2}"/>
              </a:ext>
            </a:extLst>
          </p:cNvPr>
          <p:cNvSpPr/>
          <p:nvPr/>
        </p:nvSpPr>
        <p:spPr>
          <a:xfrm>
            <a:off x="783492" y="4603901"/>
            <a:ext cx="2641600" cy="5588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Logic/Timing Synthesis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Google Shape;1120;p87">
            <a:extLst>
              <a:ext uri="{FF2B5EF4-FFF2-40B4-BE49-F238E27FC236}">
                <a16:creationId xmlns:a16="http://schemas.microsoft.com/office/drawing/2014/main" id="{0013A736-B6A4-A89A-7AEC-90A12BA7012B}"/>
              </a:ext>
            </a:extLst>
          </p:cNvPr>
          <p:cNvSpPr/>
          <p:nvPr/>
        </p:nvSpPr>
        <p:spPr>
          <a:xfrm>
            <a:off x="783492" y="5442101"/>
            <a:ext cx="2641600" cy="5588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Logic Netlist and Lab Testing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Google Shape;1121;p87">
            <a:extLst>
              <a:ext uri="{FF2B5EF4-FFF2-40B4-BE49-F238E27FC236}">
                <a16:creationId xmlns:a16="http://schemas.microsoft.com/office/drawing/2014/main" id="{76F28A50-330B-FC75-1F81-773DD6557E2D}"/>
              </a:ext>
            </a:extLst>
          </p:cNvPr>
          <p:cNvCxnSpPr/>
          <p:nvPr/>
        </p:nvCxnSpPr>
        <p:spPr>
          <a:xfrm>
            <a:off x="783492" y="2038839"/>
            <a:ext cx="1107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5" name="Google Shape;1122;p87">
            <a:extLst>
              <a:ext uri="{FF2B5EF4-FFF2-40B4-BE49-F238E27FC236}">
                <a16:creationId xmlns:a16="http://schemas.microsoft.com/office/drawing/2014/main" id="{C38ECE3A-E6F3-DA0C-4C0B-D4C98E82BB2D}"/>
              </a:ext>
            </a:extLst>
          </p:cNvPr>
          <p:cNvCxnSpPr/>
          <p:nvPr/>
        </p:nvCxnSpPr>
        <p:spPr>
          <a:xfrm>
            <a:off x="783492" y="2864339"/>
            <a:ext cx="1107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1123;p87">
            <a:extLst>
              <a:ext uri="{FF2B5EF4-FFF2-40B4-BE49-F238E27FC236}">
                <a16:creationId xmlns:a16="http://schemas.microsoft.com/office/drawing/2014/main" id="{440B69EF-EB1F-2A5A-F799-3302275A6BFF}"/>
              </a:ext>
            </a:extLst>
          </p:cNvPr>
          <p:cNvCxnSpPr/>
          <p:nvPr/>
        </p:nvCxnSpPr>
        <p:spPr>
          <a:xfrm>
            <a:off x="796192" y="3727939"/>
            <a:ext cx="1107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7" name="Google Shape;1124;p87">
            <a:extLst>
              <a:ext uri="{FF2B5EF4-FFF2-40B4-BE49-F238E27FC236}">
                <a16:creationId xmlns:a16="http://schemas.microsoft.com/office/drawing/2014/main" id="{50DB168D-6727-D467-6CFC-93571FB4DEC6}"/>
              </a:ext>
            </a:extLst>
          </p:cNvPr>
          <p:cNvCxnSpPr/>
          <p:nvPr/>
        </p:nvCxnSpPr>
        <p:spPr>
          <a:xfrm>
            <a:off x="783492" y="4515001"/>
            <a:ext cx="1107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" name="Google Shape;1125;p87">
            <a:extLst>
              <a:ext uri="{FF2B5EF4-FFF2-40B4-BE49-F238E27FC236}">
                <a16:creationId xmlns:a16="http://schemas.microsoft.com/office/drawing/2014/main" id="{089B7145-1750-C663-4B0D-6CC0A2FF4BB8}"/>
              </a:ext>
            </a:extLst>
          </p:cNvPr>
          <p:cNvCxnSpPr/>
          <p:nvPr/>
        </p:nvCxnSpPr>
        <p:spPr>
          <a:xfrm>
            <a:off x="796192" y="5340501"/>
            <a:ext cx="1107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1126;p87">
            <a:extLst>
              <a:ext uri="{FF2B5EF4-FFF2-40B4-BE49-F238E27FC236}">
                <a16:creationId xmlns:a16="http://schemas.microsoft.com/office/drawing/2014/main" id="{F1809DA4-BAF0-DC92-34A2-293FA395AEF2}"/>
              </a:ext>
            </a:extLst>
          </p:cNvPr>
          <p:cNvSpPr txBox="1"/>
          <p:nvPr/>
        </p:nvSpPr>
        <p:spPr>
          <a:xfrm>
            <a:off x="3755293" y="1348035"/>
            <a:ext cx="78613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Palatino Linotype"/>
                <a:cs typeface="Times New Roman" panose="02020603050405020304" pitchFamily="18" charset="0"/>
                <a:sym typeface="Palatino Linotype"/>
              </a:rPr>
              <a:t>Analyze the requirements of customers, and marketing groups and break them into processing elements and algorithms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Google Shape;1127;p87">
            <a:extLst>
              <a:ext uri="{FF2B5EF4-FFF2-40B4-BE49-F238E27FC236}">
                <a16:creationId xmlns:a16="http://schemas.microsoft.com/office/drawing/2014/main" id="{61836C4F-A19C-22B7-A562-80993DEC4849}"/>
              </a:ext>
            </a:extLst>
          </p:cNvPr>
          <p:cNvSpPr txBox="1"/>
          <p:nvPr/>
        </p:nvSpPr>
        <p:spPr>
          <a:xfrm>
            <a:off x="3755292" y="2147652"/>
            <a:ext cx="810259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Palatino Linotype"/>
                <a:cs typeface="Times New Roman" panose="02020603050405020304" pitchFamily="18" charset="0"/>
                <a:sym typeface="Palatino Linotype"/>
              </a:rPr>
              <a:t>Break down the requirements of a design into a set of logic functions that can be used to implement the requirements</a:t>
            </a:r>
            <a:r>
              <a:rPr lang="en-US" sz="1800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</a:t>
            </a:r>
            <a:endParaRPr dirty="0"/>
          </a:p>
        </p:txBody>
      </p:sp>
      <p:sp>
        <p:nvSpPr>
          <p:cNvPr id="61" name="Google Shape;1128;p87">
            <a:extLst>
              <a:ext uri="{FF2B5EF4-FFF2-40B4-BE49-F238E27FC236}">
                <a16:creationId xmlns:a16="http://schemas.microsoft.com/office/drawing/2014/main" id="{9898C971-5380-DB81-BF64-9192F6A5D560}"/>
              </a:ext>
            </a:extLst>
          </p:cNvPr>
          <p:cNvSpPr txBox="1"/>
          <p:nvPr/>
        </p:nvSpPr>
        <p:spPr>
          <a:xfrm>
            <a:off x="3698141" y="3026267"/>
            <a:ext cx="82169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Converts this description of logic functions and elements into an RTL VHDL model that can be synthesized into logic gates.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Google Shape;1129;p87">
            <a:extLst>
              <a:ext uri="{FF2B5EF4-FFF2-40B4-BE49-F238E27FC236}">
                <a16:creationId xmlns:a16="http://schemas.microsoft.com/office/drawing/2014/main" id="{D512420F-A9AD-820D-DB6D-6407CFAF12CA}"/>
              </a:ext>
            </a:extLst>
          </p:cNvPr>
          <p:cNvSpPr txBox="1"/>
          <p:nvPr/>
        </p:nvSpPr>
        <p:spPr>
          <a:xfrm>
            <a:off x="3755292" y="4004600"/>
            <a:ext cx="82169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Simulate the design to confirm the proper functionalities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1130;p87">
            <a:extLst>
              <a:ext uri="{FF2B5EF4-FFF2-40B4-BE49-F238E27FC236}">
                <a16:creationId xmlns:a16="http://schemas.microsoft.com/office/drawing/2014/main" id="{571D707E-4616-CDAE-A76D-C7C75CCF7455}"/>
              </a:ext>
            </a:extLst>
          </p:cNvPr>
          <p:cNvSpPr txBox="1"/>
          <p:nvPr/>
        </p:nvSpPr>
        <p:spPr>
          <a:xfrm>
            <a:off x="3755292" y="4869570"/>
            <a:ext cx="82169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Synthesize the logic circuit with logic and timing synthesis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Google Shape;1131;p87">
            <a:extLst>
              <a:ext uri="{FF2B5EF4-FFF2-40B4-BE49-F238E27FC236}">
                <a16:creationId xmlns:a16="http://schemas.microsoft.com/office/drawing/2014/main" id="{92143A00-E7EB-C8A9-3BA2-7312897E0014}"/>
              </a:ext>
            </a:extLst>
          </p:cNvPr>
          <p:cNvSpPr txBox="1"/>
          <p:nvPr/>
        </p:nvSpPr>
        <p:spPr>
          <a:xfrm>
            <a:off x="3755292" y="5631569"/>
            <a:ext cx="82169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Testing in the laboratory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877676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MauDH Thanh Tay</Template>
  <TotalTime>19842</TotalTime>
  <Words>1402</Words>
  <Application>Microsoft Office PowerPoint</Application>
  <PresentationFormat>Widescreen</PresentationFormat>
  <Paragraphs>207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Noto Sans Symbols</vt:lpstr>
      <vt:lpstr>Palatino Linotype</vt:lpstr>
      <vt:lpstr>Times New Roman</vt:lpstr>
      <vt:lpstr>UTM Avo</vt:lpstr>
      <vt:lpstr>Wingdings</vt:lpstr>
      <vt:lpstr>Vicostone Template</vt:lpstr>
      <vt:lpstr>CHAPTER 2: Overview of HDL</vt:lpstr>
      <vt:lpstr>Syllabus</vt:lpstr>
      <vt:lpstr>Content</vt:lpstr>
      <vt:lpstr>1. Hardware Description Language</vt:lpstr>
      <vt:lpstr>1. Hardware Description Language</vt:lpstr>
      <vt:lpstr>2. Basic VHDL Concept</vt:lpstr>
      <vt:lpstr>2. Basic VHDL Concept</vt:lpstr>
      <vt:lpstr>2. Basic VHDL Concept</vt:lpstr>
      <vt:lpstr>2. Basic VHDL Concept</vt:lpstr>
      <vt:lpstr>2. Basic VHDL Concept</vt:lpstr>
      <vt:lpstr>2. Basic VHDL Concept</vt:lpstr>
      <vt:lpstr>2. Basic VHDL Concept</vt:lpstr>
      <vt:lpstr>2. Basic VHDL Concept</vt:lpstr>
      <vt:lpstr>2. Basic VHDL Concept</vt:lpstr>
      <vt:lpstr>2. Basic VHDL Concept</vt:lpstr>
      <vt:lpstr>2. Basic VHDL Concept</vt:lpstr>
      <vt:lpstr>2. Basic VHDL Concept</vt:lpstr>
      <vt:lpstr>2. Basic VHDL Concept</vt:lpstr>
      <vt:lpstr>2. Basic VHDL Concept</vt:lpstr>
      <vt:lpstr>2. Basic VHDL Concept</vt:lpstr>
      <vt:lpstr>2. Basic VHDL Concept (Structural)</vt:lpstr>
      <vt:lpstr>2. Basic VHDL Concept (Structural)</vt:lpstr>
      <vt:lpstr>2. Basic VHDL Concept (Structural)</vt:lpstr>
      <vt:lpstr>2. Basic VHDL Concept (Structural)</vt:lpstr>
      <vt:lpstr>2. Basic VHDL Concept (Structural)</vt:lpstr>
      <vt:lpstr>2. Basic VHDL Concept (Structural)</vt:lpstr>
      <vt:lpstr>2. Basic VHDL Concept (Structural)</vt:lpstr>
      <vt:lpstr>2. Basic VHDL Concept (Behavioral)</vt:lpstr>
      <vt:lpstr>2. Basic VHDL Concept (Behavioral)</vt:lpstr>
      <vt:lpstr>2. Basic VHDL Concept (Behavioral)</vt:lpstr>
      <vt:lpstr>2. Basic VHDL Concept (Behavioral)</vt:lpstr>
      <vt:lpstr>2. Basic VHDL Concept (Behavioral)</vt:lpstr>
      <vt:lpstr>2. Basic VHDL Concept (Testbench)</vt:lpstr>
      <vt:lpstr>2. Basic VHDL Concept (Testbench)</vt:lpstr>
      <vt:lpstr>2. Basic VHDL Concept (Testbench)</vt:lpstr>
      <vt:lpstr>2. Basic VHDL Concept (Testbench)</vt:lpstr>
      <vt:lpstr>2. Basic VHDL Concept (Testbench)</vt:lpstr>
      <vt:lpstr>2. Basic VHDL Concept (Testbench)</vt:lpstr>
      <vt:lpstr>3. VHDL Development Flow</vt:lpstr>
      <vt:lpstr>3. VHDL Development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Transistors BTJ</dc:title>
  <cp:lastModifiedBy>Le Van Thuan</cp:lastModifiedBy>
  <cp:revision>202</cp:revision>
  <cp:lastPrinted>2022-05-19T08:53:56Z</cp:lastPrinted>
  <dcterms:created xsi:type="dcterms:W3CDTF">2018-07-24T06:18:10Z</dcterms:created>
  <dcterms:modified xsi:type="dcterms:W3CDTF">2024-04-25T03:46:13Z</dcterms:modified>
</cp:coreProperties>
</file>