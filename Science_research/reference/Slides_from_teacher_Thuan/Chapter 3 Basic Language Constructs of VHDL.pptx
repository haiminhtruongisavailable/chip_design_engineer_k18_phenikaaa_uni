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6"/>
  </p:notesMasterIdLst>
  <p:sldIdLst>
    <p:sldId id="287" r:id="rId2"/>
    <p:sldId id="318" r:id="rId3"/>
    <p:sldId id="284" r:id="rId4"/>
    <p:sldId id="288" r:id="rId5"/>
    <p:sldId id="372" r:id="rId6"/>
    <p:sldId id="402" r:id="rId7"/>
    <p:sldId id="403" r:id="rId8"/>
    <p:sldId id="404" r:id="rId9"/>
    <p:sldId id="405" r:id="rId10"/>
    <p:sldId id="406" r:id="rId11"/>
    <p:sldId id="407" r:id="rId12"/>
    <p:sldId id="408" r:id="rId13"/>
    <p:sldId id="409" r:id="rId14"/>
    <p:sldId id="410" r:id="rId15"/>
    <p:sldId id="412" r:id="rId16"/>
    <p:sldId id="413" r:id="rId17"/>
    <p:sldId id="414" r:id="rId18"/>
    <p:sldId id="415" r:id="rId19"/>
    <p:sldId id="416" r:id="rId20"/>
    <p:sldId id="417" r:id="rId21"/>
    <p:sldId id="418" r:id="rId22"/>
    <p:sldId id="419" r:id="rId23"/>
    <p:sldId id="420" r:id="rId24"/>
    <p:sldId id="421" r:id="rId25"/>
    <p:sldId id="422" r:id="rId26"/>
    <p:sldId id="423" r:id="rId27"/>
    <p:sldId id="424" r:id="rId28"/>
    <p:sldId id="425" r:id="rId29"/>
    <p:sldId id="426" r:id="rId30"/>
    <p:sldId id="427" r:id="rId31"/>
    <p:sldId id="428" r:id="rId32"/>
    <p:sldId id="429" r:id="rId33"/>
    <p:sldId id="430" r:id="rId34"/>
    <p:sldId id="431" r:id="rId35"/>
    <p:sldId id="432" r:id="rId36"/>
    <p:sldId id="433" r:id="rId37"/>
    <p:sldId id="434" r:id="rId38"/>
    <p:sldId id="435" r:id="rId39"/>
    <p:sldId id="436" r:id="rId40"/>
    <p:sldId id="437" r:id="rId41"/>
    <p:sldId id="438" r:id="rId42"/>
    <p:sldId id="439" r:id="rId43"/>
    <p:sldId id="440" r:id="rId44"/>
    <p:sldId id="441" r:id="rId45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ê Văn Thuận" initials="LVT" lastIdx="1" clrIdx="0">
    <p:extLst>
      <p:ext uri="{19B8F6BF-5375-455C-9EA6-DF929625EA0E}">
        <p15:presenceInfo xmlns:p15="http://schemas.microsoft.com/office/powerpoint/2012/main" userId="S::thuan.levan@phenikaa-uni.edu.vn::c78f3590-89e5-480d-9b95-f74b9503073c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237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822" autoAdjust="0"/>
    <p:restoredTop sz="95909" autoAdjust="0"/>
  </p:normalViewPr>
  <p:slideViewPr>
    <p:cSldViewPr snapToGrid="0">
      <p:cViewPr varScale="1">
        <p:scale>
          <a:sx n="109" d="100"/>
          <a:sy n="109" d="100"/>
        </p:scale>
        <p:origin x="798" y="8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commentAuthors" Target="commentAuthors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9569D7E1-E5AC-4AB7-95CD-6E57287A7EEF}" type="datetimeFigureOut">
              <a:rPr lang="en-US" smtClean="0"/>
              <a:t>4/9/2024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EA20F01A-602A-42CF-8886-814D799885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2208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40198" y="6356350"/>
            <a:ext cx="4114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448800" y="6064194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12192000" cy="6486525"/>
          </a:xfrm>
          <a:prstGeom prst="rect">
            <a:avLst/>
          </a:prstGeom>
          <a:solidFill>
            <a:srgbClr val="22377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/>
          <p:cNvSpPr>
            <a:spLocks noGrp="1"/>
          </p:cNvSpPr>
          <p:nvPr>
            <p:ph type="ctrTitle" hasCustomPrompt="1"/>
          </p:nvPr>
        </p:nvSpPr>
        <p:spPr>
          <a:xfrm>
            <a:off x="785026" y="3704652"/>
            <a:ext cx="10583741" cy="997492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4800" b="1" baseline="0">
                <a:solidFill>
                  <a:schemeClr val="bg1"/>
                </a:solidFill>
                <a:latin typeface="UTM Avo" panose="02040603050506020204" pitchFamily="18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CHỦ ĐỀ</a:t>
            </a:r>
          </a:p>
        </p:txBody>
      </p:sp>
      <p:sp>
        <p:nvSpPr>
          <p:cNvPr id="1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85026" y="4952857"/>
            <a:ext cx="10583741" cy="38490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 baseline="0">
                <a:solidFill>
                  <a:schemeClr val="bg1"/>
                </a:solidFill>
                <a:latin typeface="UTM Avo" panose="020406030505060202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err="1"/>
              <a:t>Nội</a:t>
            </a:r>
            <a:r>
              <a:rPr lang="en-US" dirty="0"/>
              <a:t> dung</a:t>
            </a: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8397" y="1582451"/>
            <a:ext cx="8678656" cy="178795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DD9F73E-492F-4733-959D-A5749AFFFAAF}"/>
              </a:ext>
            </a:extLst>
          </p:cNvPr>
          <p:cNvSpPr txBox="1"/>
          <p:nvPr userDrawn="1"/>
        </p:nvSpPr>
        <p:spPr>
          <a:xfrm>
            <a:off x="9526386" y="6613753"/>
            <a:ext cx="2525408" cy="21544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UTM Avo" panose="02040603050506020204" pitchFamily="18" charset="0"/>
              </a:rPr>
              <a:t>thuan.levan@phenikaa-uni.edu.vn</a:t>
            </a:r>
          </a:p>
        </p:txBody>
      </p:sp>
      <p:pic>
        <p:nvPicPr>
          <p:cNvPr id="8" name="Picture 7" descr="Shape&#10;&#10;Description automatically generated with low confidence">
            <a:extLst>
              <a:ext uri="{FF2B5EF4-FFF2-40B4-BE49-F238E27FC236}">
                <a16:creationId xmlns:a16="http://schemas.microsoft.com/office/drawing/2014/main" id="{D68303B8-D2C5-465B-9346-49A8E223021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4437" y="6613753"/>
            <a:ext cx="215444" cy="21544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94E5E3D-EAAF-C004-5CDE-2C71CBDADF64}"/>
              </a:ext>
            </a:extLst>
          </p:cNvPr>
          <p:cNvSpPr txBox="1"/>
          <p:nvPr userDrawn="1"/>
        </p:nvSpPr>
        <p:spPr>
          <a:xfrm>
            <a:off x="82794" y="6612032"/>
            <a:ext cx="1903948" cy="21544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UTM Avo" panose="02040603050506020204" pitchFamily="18" charset="0"/>
              </a:rPr>
              <a:t>pail.phenikaa-uni.edu.vn</a:t>
            </a:r>
          </a:p>
        </p:txBody>
      </p:sp>
    </p:spTree>
    <p:extLst>
      <p:ext uri="{BB962C8B-B14F-4D97-AF65-F5344CB8AC3E}">
        <p14:creationId xmlns:p14="http://schemas.microsoft.com/office/powerpoint/2010/main" val="435443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448800" y="6106968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A142D89-B98B-F946-A31D-7ACA5974D791}"/>
              </a:ext>
            </a:extLst>
          </p:cNvPr>
          <p:cNvSpPr txBox="1"/>
          <p:nvPr userDrawn="1"/>
        </p:nvSpPr>
        <p:spPr>
          <a:xfrm>
            <a:off x="9583798" y="6612032"/>
            <a:ext cx="2525408" cy="21544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UTM Avo" panose="02040603050506020204" pitchFamily="18" charset="0"/>
              </a:rPr>
              <a:t>thuan.levan@phenikaa-uni.edu.vn</a:t>
            </a:r>
          </a:p>
        </p:txBody>
      </p:sp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656947" y="227160"/>
            <a:ext cx="7728682" cy="55328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300" b="1" baseline="0">
                <a:solidFill>
                  <a:srgbClr val="223771"/>
                </a:solidFill>
                <a:latin typeface="UTM Avo" panose="02040603050506020204" pitchFamily="18" charset="0"/>
              </a:defRPr>
            </a:lvl1pPr>
          </a:lstStyle>
          <a:p>
            <a:r>
              <a:rPr lang="en-US" dirty="0"/>
              <a:t>CHỦ ĐỀ</a:t>
            </a: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0418" y="235206"/>
            <a:ext cx="2732129" cy="55022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D57A6886-747B-4528-84CF-32010B2D52E6}"/>
              </a:ext>
            </a:extLst>
          </p:cNvPr>
          <p:cNvSpPr/>
          <p:nvPr userDrawn="1"/>
        </p:nvSpPr>
        <p:spPr>
          <a:xfrm>
            <a:off x="532658" y="0"/>
            <a:ext cx="89641" cy="780449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223771"/>
              </a:highligh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768F346-4FF9-4D4E-85DE-D92031C6F8EC}"/>
              </a:ext>
            </a:extLst>
          </p:cNvPr>
          <p:cNvSpPr/>
          <p:nvPr userDrawn="1"/>
        </p:nvSpPr>
        <p:spPr>
          <a:xfrm>
            <a:off x="408371" y="0"/>
            <a:ext cx="124288" cy="914400"/>
          </a:xfrm>
          <a:prstGeom prst="rect">
            <a:avLst/>
          </a:prstGeom>
          <a:solidFill>
            <a:srgbClr val="223771"/>
          </a:solidFill>
          <a:ln>
            <a:solidFill>
              <a:srgbClr val="2237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223771"/>
              </a:highlight>
            </a:endParaRPr>
          </a:p>
        </p:txBody>
      </p:sp>
      <p:pic>
        <p:nvPicPr>
          <p:cNvPr id="10" name="Picture 9" descr="Shape&#10;&#10;Description automatically generated with low confidence">
            <a:extLst>
              <a:ext uri="{FF2B5EF4-FFF2-40B4-BE49-F238E27FC236}">
                <a16:creationId xmlns:a16="http://schemas.microsoft.com/office/drawing/2014/main" id="{98CA0862-FEB0-4A0F-B552-F28AA18E53F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3356" y="6622794"/>
            <a:ext cx="215444" cy="21544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D5C5489-17B1-801D-5E86-E7F45820BDA3}"/>
              </a:ext>
            </a:extLst>
          </p:cNvPr>
          <p:cNvSpPr txBox="1"/>
          <p:nvPr userDrawn="1"/>
        </p:nvSpPr>
        <p:spPr>
          <a:xfrm>
            <a:off x="82794" y="6612032"/>
            <a:ext cx="1903948" cy="21544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UTM Avo" panose="02040603050506020204" pitchFamily="18" charset="0"/>
              </a:rPr>
              <a:t>pail.phenikaa-uni.edu.vn</a:t>
            </a:r>
          </a:p>
        </p:txBody>
      </p:sp>
    </p:spTree>
    <p:extLst>
      <p:ext uri="{BB962C8B-B14F-4D97-AF65-F5344CB8AC3E}">
        <p14:creationId xmlns:p14="http://schemas.microsoft.com/office/powerpoint/2010/main" val="35123124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F4D4A-FD71-41E6-BED5-CF551BFDBC37}" type="datetimeFigureOut">
              <a:rPr lang="en-US" smtClean="0"/>
              <a:t>4/9/2024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B6608-6F69-448F-99DC-C9E613BFB696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656947" y="227160"/>
            <a:ext cx="7728682" cy="55328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300" b="1" baseline="0">
                <a:solidFill>
                  <a:srgbClr val="223771"/>
                </a:solidFill>
                <a:latin typeface="UTM Avo" panose="02040603050506020204" pitchFamily="18" charset="0"/>
              </a:defRPr>
            </a:lvl1pPr>
          </a:lstStyle>
          <a:p>
            <a:r>
              <a:rPr lang="en-US" dirty="0"/>
              <a:t>CHỦ ĐỀ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0418" y="235206"/>
            <a:ext cx="2732129" cy="55022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70D2DC2-9AD0-46C9-A2CB-FB4AE530CF63}"/>
              </a:ext>
            </a:extLst>
          </p:cNvPr>
          <p:cNvSpPr txBox="1"/>
          <p:nvPr userDrawn="1"/>
        </p:nvSpPr>
        <p:spPr>
          <a:xfrm>
            <a:off x="10209320" y="6613753"/>
            <a:ext cx="1842473" cy="21544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UTM Avo" panose="02040603050506020204" pitchFamily="18" charset="0"/>
              </a:rPr>
              <a:t>phenikaa-uni.edu.vn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03C7BA3-5854-4C1A-AB26-8E83AFDB9C1C}"/>
              </a:ext>
            </a:extLst>
          </p:cNvPr>
          <p:cNvSpPr/>
          <p:nvPr userDrawn="1"/>
        </p:nvSpPr>
        <p:spPr>
          <a:xfrm>
            <a:off x="532659" y="0"/>
            <a:ext cx="124288" cy="780449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223771"/>
              </a:highlight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283F1D2-9457-47B7-950E-5B0EDF508580}"/>
              </a:ext>
            </a:extLst>
          </p:cNvPr>
          <p:cNvSpPr/>
          <p:nvPr userDrawn="1"/>
        </p:nvSpPr>
        <p:spPr>
          <a:xfrm>
            <a:off x="408371" y="0"/>
            <a:ext cx="124288" cy="914400"/>
          </a:xfrm>
          <a:prstGeom prst="rect">
            <a:avLst/>
          </a:prstGeom>
          <a:solidFill>
            <a:srgbClr val="223771"/>
          </a:solidFill>
          <a:ln>
            <a:solidFill>
              <a:srgbClr val="2237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223771"/>
              </a:highlight>
            </a:endParaRPr>
          </a:p>
        </p:txBody>
      </p:sp>
      <p:pic>
        <p:nvPicPr>
          <p:cNvPr id="11" name="Picture 10" descr="Shape&#10;&#10;Description automatically generated with low confidence">
            <a:extLst>
              <a:ext uri="{FF2B5EF4-FFF2-40B4-BE49-F238E27FC236}">
                <a16:creationId xmlns:a16="http://schemas.microsoft.com/office/drawing/2014/main" id="{A6031B82-2D8F-4555-BCC1-3115CFF967F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7809" y="6613291"/>
            <a:ext cx="215444" cy="215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5905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F4D4A-FD71-41E6-BED5-CF551BFDBC37}" type="datetimeFigureOut">
              <a:rPr lang="en-US" smtClean="0"/>
              <a:t>4/9/2024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B6608-6F69-448F-99DC-C9E613BFB696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656947" y="227160"/>
            <a:ext cx="7728682" cy="55328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300" b="1" baseline="0">
                <a:solidFill>
                  <a:srgbClr val="223771"/>
                </a:solidFill>
                <a:latin typeface="UTM Avo" panose="02040603050506020204" pitchFamily="18" charset="0"/>
              </a:defRPr>
            </a:lvl1pPr>
          </a:lstStyle>
          <a:p>
            <a:r>
              <a:rPr lang="en-US" dirty="0"/>
              <a:t>CHỦ ĐỀ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0418" y="235206"/>
            <a:ext cx="2732129" cy="55022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236F995-2F29-4E8D-B342-1E962398505F}"/>
              </a:ext>
            </a:extLst>
          </p:cNvPr>
          <p:cNvSpPr txBox="1"/>
          <p:nvPr userDrawn="1"/>
        </p:nvSpPr>
        <p:spPr>
          <a:xfrm>
            <a:off x="10209320" y="6613753"/>
            <a:ext cx="1842473" cy="21544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UTM Avo" panose="02040603050506020204" pitchFamily="18" charset="0"/>
              </a:rPr>
              <a:t>phenikaa-uni.edu.vn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ED95CFB-1B8A-4CB0-8949-11A244A80C5E}"/>
              </a:ext>
            </a:extLst>
          </p:cNvPr>
          <p:cNvSpPr/>
          <p:nvPr userDrawn="1"/>
        </p:nvSpPr>
        <p:spPr>
          <a:xfrm>
            <a:off x="532659" y="0"/>
            <a:ext cx="124288" cy="780449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223771"/>
              </a:highlight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D36865C-7183-40E8-9323-035E78C460BB}"/>
              </a:ext>
            </a:extLst>
          </p:cNvPr>
          <p:cNvSpPr/>
          <p:nvPr userDrawn="1"/>
        </p:nvSpPr>
        <p:spPr>
          <a:xfrm>
            <a:off x="408371" y="0"/>
            <a:ext cx="124288" cy="914400"/>
          </a:xfrm>
          <a:prstGeom prst="rect">
            <a:avLst/>
          </a:prstGeom>
          <a:solidFill>
            <a:srgbClr val="223771"/>
          </a:solidFill>
          <a:ln>
            <a:solidFill>
              <a:srgbClr val="2237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223771"/>
              </a:highlight>
            </a:endParaRPr>
          </a:p>
        </p:txBody>
      </p:sp>
      <p:pic>
        <p:nvPicPr>
          <p:cNvPr id="11" name="Picture 10" descr="Shape&#10;&#10;Description automatically generated with low confidence">
            <a:extLst>
              <a:ext uri="{FF2B5EF4-FFF2-40B4-BE49-F238E27FC236}">
                <a16:creationId xmlns:a16="http://schemas.microsoft.com/office/drawing/2014/main" id="{CEA2A297-F9C3-429B-B54D-7253A946ADE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7809" y="6613291"/>
            <a:ext cx="215444" cy="215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84886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F4D4A-FD71-41E6-BED5-CF551BFDBC37}" type="datetimeFigureOut">
              <a:rPr lang="en-US" smtClean="0"/>
              <a:t>4/9/2024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B6608-6F69-448F-99DC-C9E613BFB696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>
          <a:xfrm>
            <a:off x="656947" y="227160"/>
            <a:ext cx="7728682" cy="55328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300" b="1" baseline="0">
                <a:solidFill>
                  <a:srgbClr val="223771"/>
                </a:solidFill>
                <a:latin typeface="UTM Avo" panose="02040603050506020204" pitchFamily="18" charset="0"/>
              </a:defRPr>
            </a:lvl1pPr>
          </a:lstStyle>
          <a:p>
            <a:r>
              <a:rPr lang="en-US" dirty="0"/>
              <a:t>CHỦ ĐỀ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0418" y="235206"/>
            <a:ext cx="2732129" cy="55022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47F2710-EFA2-4019-B556-CAF8F057FD2D}"/>
              </a:ext>
            </a:extLst>
          </p:cNvPr>
          <p:cNvSpPr txBox="1"/>
          <p:nvPr userDrawn="1"/>
        </p:nvSpPr>
        <p:spPr>
          <a:xfrm>
            <a:off x="10209320" y="6613753"/>
            <a:ext cx="1842473" cy="21544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UTM Avo" panose="02040603050506020204" pitchFamily="18" charset="0"/>
              </a:rPr>
              <a:t>phenikaa-uni.edu.vn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CC6CD87-31C4-44B8-B9A0-380487039ED3}"/>
              </a:ext>
            </a:extLst>
          </p:cNvPr>
          <p:cNvSpPr/>
          <p:nvPr userDrawn="1"/>
        </p:nvSpPr>
        <p:spPr>
          <a:xfrm>
            <a:off x="532659" y="0"/>
            <a:ext cx="124288" cy="780449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223771"/>
              </a:highlight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B82E290-CA2E-48B6-A6AC-DD17E567C209}"/>
              </a:ext>
            </a:extLst>
          </p:cNvPr>
          <p:cNvSpPr/>
          <p:nvPr userDrawn="1"/>
        </p:nvSpPr>
        <p:spPr>
          <a:xfrm>
            <a:off x="408371" y="0"/>
            <a:ext cx="124288" cy="914400"/>
          </a:xfrm>
          <a:prstGeom prst="rect">
            <a:avLst/>
          </a:prstGeom>
          <a:solidFill>
            <a:srgbClr val="223771"/>
          </a:solidFill>
          <a:ln>
            <a:solidFill>
              <a:srgbClr val="2237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223771"/>
              </a:highlight>
            </a:endParaRPr>
          </a:p>
        </p:txBody>
      </p:sp>
      <p:pic>
        <p:nvPicPr>
          <p:cNvPr id="11" name="Picture 10" descr="Shape&#10;&#10;Description automatically generated with low confidence">
            <a:extLst>
              <a:ext uri="{FF2B5EF4-FFF2-40B4-BE49-F238E27FC236}">
                <a16:creationId xmlns:a16="http://schemas.microsoft.com/office/drawing/2014/main" id="{6FA9A129-6464-4B54-8084-94C471855C7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7809" y="6613291"/>
            <a:ext cx="215444" cy="215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90151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263685" y="2846231"/>
            <a:ext cx="4417452" cy="1460428"/>
          </a:xfrm>
          <a:prstGeom prst="rect">
            <a:avLst/>
          </a:prstGeom>
        </p:spPr>
        <p:txBody>
          <a:bodyPr anchor="b">
            <a:normAutofit/>
          </a:bodyPr>
          <a:lstStyle>
            <a:lvl1pPr algn="r">
              <a:defRPr sz="5600" b="1" baseline="0">
                <a:solidFill>
                  <a:srgbClr val="223771"/>
                </a:solidFill>
                <a:latin typeface="UTM Avo" panose="02040603050506020204" pitchFamily="18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CHỦ ĐỀ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63685" y="4429523"/>
            <a:ext cx="4417452" cy="75007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400" baseline="0">
                <a:latin typeface="UTM Avo" panose="020406030505060202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err="1"/>
              <a:t>Nội</a:t>
            </a:r>
            <a:r>
              <a:rPr lang="en-US" dirty="0"/>
              <a:t> dung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F4D4A-FD71-41E6-BED5-CF551BFDBC37}" type="datetimeFigureOut">
              <a:rPr lang="en-US" smtClean="0"/>
              <a:t>4/9/2024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B6608-6F69-448F-99DC-C9E613BFB696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2"/>
          <p:cNvSpPr>
            <a:spLocks noGrp="1"/>
          </p:cNvSpPr>
          <p:nvPr>
            <p:ph idx="13" hasCustomPrompt="1"/>
          </p:nvPr>
        </p:nvSpPr>
        <p:spPr>
          <a:xfrm>
            <a:off x="1" y="862149"/>
            <a:ext cx="7096258" cy="56319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>
                <a:latin typeface="UTM Avo" panose="02040603050506020204" pitchFamily="18" charset="0"/>
              </a:defRPr>
            </a:lvl1pPr>
          </a:lstStyle>
          <a:p>
            <a:pPr lvl="0"/>
            <a:r>
              <a:rPr lang="en-US" dirty="0"/>
              <a:t>Hình ảnh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0418" y="235206"/>
            <a:ext cx="2732129" cy="55022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4A98EF6-B54D-4232-96A3-D71047796515}"/>
              </a:ext>
            </a:extLst>
          </p:cNvPr>
          <p:cNvSpPr txBox="1"/>
          <p:nvPr userDrawn="1"/>
        </p:nvSpPr>
        <p:spPr>
          <a:xfrm>
            <a:off x="10209320" y="6613753"/>
            <a:ext cx="1842473" cy="21544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UTM Avo" panose="02040603050506020204" pitchFamily="18" charset="0"/>
              </a:rPr>
              <a:t>phenikaa-uni.edu.vn</a:t>
            </a:r>
          </a:p>
        </p:txBody>
      </p:sp>
      <p:pic>
        <p:nvPicPr>
          <p:cNvPr id="12" name="Picture 11" descr="Shape&#10;&#10;Description automatically generated with low confidence">
            <a:extLst>
              <a:ext uri="{FF2B5EF4-FFF2-40B4-BE49-F238E27FC236}">
                <a16:creationId xmlns:a16="http://schemas.microsoft.com/office/drawing/2014/main" id="{D486C0A1-B022-43A4-A558-B9E8916BA8C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7809" y="6613291"/>
            <a:ext cx="215444" cy="215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7389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>
                <a:latin typeface="UTM Avo" panose="020406030505060202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UTM Avo" panose="02040603050506020204" pitchFamily="18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F4D4A-FD71-41E6-BED5-CF551BFDBC37}" type="datetimeFigureOut">
              <a:rPr lang="en-US" smtClean="0"/>
              <a:t>4/9/2024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B6608-6F69-448F-99DC-C9E613BFB696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0418" y="235206"/>
            <a:ext cx="2732129" cy="55022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BF674A0-D445-4C14-83CD-38226D1439C8}"/>
              </a:ext>
            </a:extLst>
          </p:cNvPr>
          <p:cNvSpPr txBox="1"/>
          <p:nvPr userDrawn="1"/>
        </p:nvSpPr>
        <p:spPr>
          <a:xfrm>
            <a:off x="10209320" y="6613753"/>
            <a:ext cx="1842473" cy="21544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UTM Avo" panose="02040603050506020204" pitchFamily="18" charset="0"/>
              </a:rPr>
              <a:t>phenikaa-uni.edu.vn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CDC1734-67C3-4443-8460-F8DBA3D27FC6}"/>
              </a:ext>
            </a:extLst>
          </p:cNvPr>
          <p:cNvSpPr/>
          <p:nvPr userDrawn="1"/>
        </p:nvSpPr>
        <p:spPr>
          <a:xfrm>
            <a:off x="532659" y="0"/>
            <a:ext cx="124288" cy="780449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223771"/>
              </a:highlight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F088CD-189D-4350-AE5C-EA4E5DEDE303}"/>
              </a:ext>
            </a:extLst>
          </p:cNvPr>
          <p:cNvSpPr/>
          <p:nvPr userDrawn="1"/>
        </p:nvSpPr>
        <p:spPr>
          <a:xfrm>
            <a:off x="408371" y="0"/>
            <a:ext cx="124288" cy="914400"/>
          </a:xfrm>
          <a:prstGeom prst="rect">
            <a:avLst/>
          </a:prstGeom>
          <a:solidFill>
            <a:srgbClr val="223771"/>
          </a:solidFill>
          <a:ln>
            <a:solidFill>
              <a:srgbClr val="2237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223771"/>
              </a:highlight>
            </a:endParaRPr>
          </a:p>
        </p:txBody>
      </p:sp>
      <p:pic>
        <p:nvPicPr>
          <p:cNvPr id="12" name="Picture 11" descr="Shape&#10;&#10;Description automatically generated with low confidence">
            <a:extLst>
              <a:ext uri="{FF2B5EF4-FFF2-40B4-BE49-F238E27FC236}">
                <a16:creationId xmlns:a16="http://schemas.microsoft.com/office/drawing/2014/main" id="{C5E0C745-AAEA-42E0-BD19-9FFC173DF75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7809" y="6613291"/>
            <a:ext cx="215444" cy="215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4643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01899" y="351789"/>
            <a:ext cx="8061101" cy="92276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000" b="1">
                <a:solidFill>
                  <a:srgbClr val="223771"/>
                </a:solidFill>
                <a:latin typeface="UTM Avo" panose="02040603050506020204" pitchFamily="18" charset="0"/>
              </a:defRPr>
            </a:lvl1pPr>
          </a:lstStyle>
          <a:p>
            <a:r>
              <a:rPr lang="en-US" dirty="0" err="1"/>
              <a:t>Chủ</a:t>
            </a:r>
            <a:r>
              <a:rPr lang="en-US" dirty="0"/>
              <a:t> </a:t>
            </a:r>
            <a:r>
              <a:rPr lang="en-US" dirty="0" err="1"/>
              <a:t>đề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701899" y="1639781"/>
            <a:ext cx="3336702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UTM Avo" panose="02040603050506020204" pitchFamily="18" charset="0"/>
              </a:defRPr>
            </a:lvl1pPr>
            <a:lvl2pPr>
              <a:defRPr>
                <a:latin typeface="UTM Avo" panose="02040603050506020204" pitchFamily="18" charset="0"/>
              </a:defRPr>
            </a:lvl2pPr>
            <a:lvl3pPr>
              <a:defRPr>
                <a:latin typeface="UTM Avo" panose="02040603050506020204" pitchFamily="18" charset="0"/>
              </a:defRPr>
            </a:lvl3pPr>
            <a:lvl4pPr>
              <a:defRPr>
                <a:latin typeface="UTM Avo" panose="02040603050506020204" pitchFamily="18" charset="0"/>
              </a:defRPr>
            </a:lvl4pPr>
            <a:lvl5pPr>
              <a:defRPr>
                <a:latin typeface="UTM Avo" panose="02040603050506020204" pitchFamily="18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11710" y="1639781"/>
            <a:ext cx="3331872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UTM Avo" panose="02040603050506020204" pitchFamily="18" charset="0"/>
              </a:defRPr>
            </a:lvl1pPr>
            <a:lvl2pPr>
              <a:defRPr>
                <a:latin typeface="UTM Avo" panose="02040603050506020204" pitchFamily="18" charset="0"/>
              </a:defRPr>
            </a:lvl2pPr>
            <a:lvl3pPr>
              <a:defRPr>
                <a:latin typeface="UTM Avo" panose="02040603050506020204" pitchFamily="18" charset="0"/>
              </a:defRPr>
            </a:lvl3pPr>
            <a:lvl4pPr>
              <a:defRPr>
                <a:latin typeface="UTM Avo" panose="02040603050506020204" pitchFamily="18" charset="0"/>
              </a:defRPr>
            </a:lvl4pPr>
            <a:lvl5pPr>
              <a:defRPr>
                <a:latin typeface="UTM Avo" panose="02040603050506020204" pitchFamily="18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F4D4A-FD71-41E6-BED5-CF551BFDBC37}" type="datetimeFigureOut">
              <a:rPr lang="en-US" smtClean="0"/>
              <a:t>4/9/2024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B6608-6F69-448F-99DC-C9E613BFB696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3"/>
          <p:cNvSpPr>
            <a:spLocks noGrp="1"/>
          </p:cNvSpPr>
          <p:nvPr>
            <p:ph sz="half" idx="13" hasCustomPrompt="1"/>
          </p:nvPr>
        </p:nvSpPr>
        <p:spPr>
          <a:xfrm>
            <a:off x="8426539" y="1639781"/>
            <a:ext cx="3331872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UTM Avo" panose="02040603050506020204" pitchFamily="18" charset="0"/>
              </a:defRPr>
            </a:lvl1pPr>
            <a:lvl2pPr>
              <a:defRPr>
                <a:latin typeface="UTM Avo" panose="02040603050506020204" pitchFamily="18" charset="0"/>
              </a:defRPr>
            </a:lvl2pPr>
            <a:lvl3pPr>
              <a:defRPr>
                <a:latin typeface="UTM Avo" panose="02040603050506020204" pitchFamily="18" charset="0"/>
              </a:defRPr>
            </a:lvl3pPr>
            <a:lvl4pPr>
              <a:defRPr>
                <a:latin typeface="UTM Avo" panose="02040603050506020204" pitchFamily="18" charset="0"/>
              </a:defRPr>
            </a:lvl4pPr>
            <a:lvl5pPr>
              <a:defRPr>
                <a:latin typeface="UTM Avo" panose="02040603050506020204" pitchFamily="18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0418" y="235206"/>
            <a:ext cx="2732129" cy="55022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59A717A-9473-4D01-AFFA-39323BC3FE1F}"/>
              </a:ext>
            </a:extLst>
          </p:cNvPr>
          <p:cNvSpPr txBox="1"/>
          <p:nvPr userDrawn="1"/>
        </p:nvSpPr>
        <p:spPr>
          <a:xfrm>
            <a:off x="10209320" y="6613753"/>
            <a:ext cx="1842473" cy="21544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UTM Avo" panose="02040603050506020204" pitchFamily="18" charset="0"/>
              </a:rPr>
              <a:t>phenikaa-uni.edu.vn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CA6CBD4-D234-414D-AB38-1B0372324231}"/>
              </a:ext>
            </a:extLst>
          </p:cNvPr>
          <p:cNvSpPr/>
          <p:nvPr userDrawn="1"/>
        </p:nvSpPr>
        <p:spPr>
          <a:xfrm>
            <a:off x="532659" y="0"/>
            <a:ext cx="124288" cy="780449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223771"/>
              </a:highlight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F5E9A1D-9908-4963-BBCA-B9603513672F}"/>
              </a:ext>
            </a:extLst>
          </p:cNvPr>
          <p:cNvSpPr/>
          <p:nvPr userDrawn="1"/>
        </p:nvSpPr>
        <p:spPr>
          <a:xfrm>
            <a:off x="408371" y="0"/>
            <a:ext cx="124288" cy="914400"/>
          </a:xfrm>
          <a:prstGeom prst="rect">
            <a:avLst/>
          </a:prstGeom>
          <a:solidFill>
            <a:srgbClr val="223771"/>
          </a:solidFill>
          <a:ln>
            <a:solidFill>
              <a:srgbClr val="2237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223771"/>
              </a:highlight>
            </a:endParaRPr>
          </a:p>
        </p:txBody>
      </p:sp>
      <p:pic>
        <p:nvPicPr>
          <p:cNvPr id="14" name="Picture 13" descr="Shape&#10;&#10;Description automatically generated with low confidence">
            <a:extLst>
              <a:ext uri="{FF2B5EF4-FFF2-40B4-BE49-F238E27FC236}">
                <a16:creationId xmlns:a16="http://schemas.microsoft.com/office/drawing/2014/main" id="{308D8CB6-ADE4-4812-9DD7-2FB15552B44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7809" y="6613291"/>
            <a:ext cx="215444" cy="215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95456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F4D4A-FD71-41E6-BED5-CF551BFDBC37}" type="datetimeFigureOut">
              <a:rPr lang="en-US" smtClean="0"/>
              <a:t>4/9/2024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B6608-6F69-448F-99DC-C9E613BFB696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692" y="90029"/>
            <a:ext cx="2539035" cy="51133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2BE6C77-C511-4273-8155-2D0484084255}"/>
              </a:ext>
            </a:extLst>
          </p:cNvPr>
          <p:cNvSpPr txBox="1"/>
          <p:nvPr userDrawn="1"/>
        </p:nvSpPr>
        <p:spPr>
          <a:xfrm>
            <a:off x="10209320" y="6613753"/>
            <a:ext cx="1842473" cy="21544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UTM Avo" panose="02040603050506020204" pitchFamily="18" charset="0"/>
              </a:rPr>
              <a:t>phenikaa-uni.edu.vn</a:t>
            </a:r>
          </a:p>
        </p:txBody>
      </p:sp>
      <p:pic>
        <p:nvPicPr>
          <p:cNvPr id="10" name="Picture 9" descr="Shape&#10;&#10;Description automatically generated with low confidence">
            <a:extLst>
              <a:ext uri="{FF2B5EF4-FFF2-40B4-BE49-F238E27FC236}">
                <a16:creationId xmlns:a16="http://schemas.microsoft.com/office/drawing/2014/main" id="{F459F8FB-0B0E-4294-9F5F-555C0C4C97A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7809" y="6613291"/>
            <a:ext cx="215444" cy="215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9078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F4D4A-FD71-41E6-BED5-CF551BFDBC37}" type="datetimeFigureOut">
              <a:rPr lang="en-US" smtClean="0"/>
              <a:t>4/9/2024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B6608-6F69-448F-99DC-C9E613BFB696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0418" y="235206"/>
            <a:ext cx="2732129" cy="55022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7A9DA5F-F00A-45CE-8679-BE1CD99F449B}"/>
              </a:ext>
            </a:extLst>
          </p:cNvPr>
          <p:cNvSpPr txBox="1"/>
          <p:nvPr userDrawn="1"/>
        </p:nvSpPr>
        <p:spPr>
          <a:xfrm>
            <a:off x="10209320" y="6613753"/>
            <a:ext cx="1842473" cy="21544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UTM Avo" panose="02040603050506020204" pitchFamily="18" charset="0"/>
              </a:rPr>
              <a:t>phenikaa-uni.edu.vn</a:t>
            </a:r>
          </a:p>
        </p:txBody>
      </p:sp>
      <p:pic>
        <p:nvPicPr>
          <p:cNvPr id="8" name="Picture 7" descr="Shape&#10;&#10;Description automatically generated with low confidence">
            <a:extLst>
              <a:ext uri="{FF2B5EF4-FFF2-40B4-BE49-F238E27FC236}">
                <a16:creationId xmlns:a16="http://schemas.microsoft.com/office/drawing/2014/main" id="{DA828293-FDB2-4B6D-9623-EEABA0C7C47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7809" y="6613291"/>
            <a:ext cx="215444" cy="215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33151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UTM Avo" panose="020406030505060202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UTM Avo" panose="02040603050506020204" pitchFamily="18" charset="0"/>
              </a:defRPr>
            </a:lvl1pPr>
            <a:lvl2pPr>
              <a:defRPr>
                <a:latin typeface="UTM Avo" panose="02040603050506020204" pitchFamily="18" charset="0"/>
              </a:defRPr>
            </a:lvl2pPr>
            <a:lvl3pPr>
              <a:defRPr>
                <a:latin typeface="UTM Avo" panose="02040603050506020204" pitchFamily="18" charset="0"/>
              </a:defRPr>
            </a:lvl3pPr>
            <a:lvl4pPr>
              <a:defRPr>
                <a:latin typeface="UTM Avo" panose="02040603050506020204" pitchFamily="18" charset="0"/>
              </a:defRPr>
            </a:lvl4pPr>
            <a:lvl5pPr>
              <a:defRPr>
                <a:latin typeface="UTM Avo" panose="02040603050506020204" pitchFamily="18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F4D4A-FD71-41E6-BED5-CF551BFDBC37}" type="datetimeFigureOut">
              <a:rPr lang="en-US" smtClean="0"/>
              <a:t>4/9/2024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B6608-6F69-448F-99DC-C9E613BFB696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692" y="90029"/>
            <a:ext cx="2539035" cy="511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5300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57AE6AC-9427-433F-AC00-F723CA5DD87C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7" y="0"/>
            <a:ext cx="12187066" cy="68580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1484" y="636252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UTM Avo" panose="02040603050506020204" pitchFamily="18" charset="0"/>
              </a:defRPr>
            </a:lvl1pPr>
          </a:lstStyle>
          <a:p>
            <a:fld id="{154F4D4A-FD71-41E6-BED5-CF551BFDBC37}" type="datetimeFigureOut">
              <a:rPr lang="en-US" smtClean="0"/>
              <a:pPr/>
              <a:t>4/9/2024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UTM Avo" panose="02040603050506020204" pitchFamily="18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UTM Avo" panose="02040603050506020204" pitchFamily="18" charset="0"/>
              </a:defRPr>
            </a:lvl1pPr>
          </a:lstStyle>
          <a:p>
            <a:fld id="{086B6608-6F69-448F-99DC-C9E613BFB696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0" y="6494093"/>
            <a:ext cx="12192000" cy="373091"/>
            <a:chOff x="0" y="1661375"/>
            <a:chExt cx="12192000" cy="373091"/>
          </a:xfrm>
        </p:grpSpPr>
        <p:sp>
          <p:nvSpPr>
            <p:cNvPr id="8" name="Rectangle 7"/>
            <p:cNvSpPr/>
            <p:nvPr/>
          </p:nvSpPr>
          <p:spPr>
            <a:xfrm>
              <a:off x="0" y="1661375"/>
              <a:ext cx="12192000" cy="109728"/>
            </a:xfrm>
            <a:prstGeom prst="rect">
              <a:avLst/>
            </a:prstGeom>
            <a:solidFill>
              <a:srgbClr val="F265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UTM Avo" panose="02040603050506020204" pitchFamily="18" charset="0"/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0" y="1760146"/>
              <a:ext cx="12192000" cy="274320"/>
            </a:xfrm>
            <a:prstGeom prst="rect">
              <a:avLst/>
            </a:prstGeom>
            <a:solidFill>
              <a:srgbClr val="22377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UTM Avo" panose="020406030505060202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70836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2" r:id="rId3"/>
    <p:sldLayoutId id="2147483661" r:id="rId4"/>
    <p:sldLayoutId id="2147483663" r:id="rId5"/>
    <p:sldLayoutId id="2147483660" r:id="rId6"/>
    <p:sldLayoutId id="2147483651" r:id="rId7"/>
    <p:sldLayoutId id="2147483652" r:id="rId8"/>
    <p:sldLayoutId id="2147483654" r:id="rId9"/>
    <p:sldLayoutId id="2147483655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1FBF3-8459-4CBE-8502-1C0A4CC3B8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2611" y="4029967"/>
            <a:ext cx="10750482" cy="1280586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1"/>
                </a:solidFill>
                <a:latin typeface="UTM Avo" panose="02040603050506020204" pitchFamily="18" charset="0"/>
              </a:rPr>
              <a:t>CHAPTER 3: </a:t>
            </a:r>
            <a:r>
              <a:rPr lang="en-US" altLang="en-US" sz="4800" b="1" dirty="0"/>
              <a:t>Basic Language Constructs of VHDL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20156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1781" y="87823"/>
            <a:ext cx="7728682" cy="553289"/>
          </a:xfrm>
        </p:spPr>
        <p:txBody>
          <a:bodyPr>
            <a:noAutofit/>
          </a:bodyPr>
          <a:lstStyle/>
          <a:p>
            <a: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Syllabus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BD49CA4-8620-3C77-C1E7-164BE0467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2</a:t>
            </a:fld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48F721B-6A10-6C8C-CC4D-8209027AC6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4097031"/>
              </p:ext>
            </p:extLst>
          </p:nvPr>
        </p:nvGraphicFramePr>
        <p:xfrm>
          <a:off x="2031999" y="1493520"/>
          <a:ext cx="9398001" cy="3870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8060">
                  <a:extLst>
                    <a:ext uri="{9D8B030D-6E8A-4147-A177-3AD203B41FA5}">
                      <a16:colId xmlns:a16="http://schemas.microsoft.com/office/drawing/2014/main" val="3085157533"/>
                    </a:ext>
                  </a:extLst>
                </a:gridCol>
                <a:gridCol w="6966310">
                  <a:extLst>
                    <a:ext uri="{9D8B030D-6E8A-4147-A177-3AD203B41FA5}">
                      <a16:colId xmlns:a16="http://schemas.microsoft.com/office/drawing/2014/main" val="1793565155"/>
                    </a:ext>
                  </a:extLst>
                </a:gridCol>
                <a:gridCol w="983631">
                  <a:extLst>
                    <a:ext uri="{9D8B030D-6E8A-4147-A177-3AD203B41FA5}">
                      <a16:colId xmlns:a16="http://schemas.microsoft.com/office/drawing/2014/main" val="13116603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Week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Content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Notes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00301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dirty="0"/>
                        <a:t>Chapter 0: Course Introduction (1)</a:t>
                      </a:r>
                    </a:p>
                    <a:p>
                      <a:r>
                        <a:rPr lang="en-US" sz="2000" b="0" dirty="0"/>
                        <a:t>Chapter 1: Introduction to Digital Design (2)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94051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dirty="0"/>
                        <a:t>Chapter 2: Overview of HDL (3)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01429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Chapter 3: Basic Language Constructs of VHDL (3)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81709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5, 6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Chapter 4: Signal Assignment Statements of VHDL (6)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3753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Chapter 5: Combinational Logic Circuit Design (3)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55189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Midterm </a:t>
                      </a:r>
                      <a:r>
                        <a:rPr lang="en-US" sz="2000"/>
                        <a:t>Exam (2)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53955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Chapter 6:  </a:t>
                      </a:r>
                      <a:r>
                        <a:rPr lang="en-US" sz="2000"/>
                        <a:t>Sequential Logic </a:t>
                      </a:r>
                      <a:r>
                        <a:rPr lang="en-US" sz="2000" dirty="0"/>
                        <a:t>Circuit Design (3)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45709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9, 10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Chapter 7: Finite State Machine (FSM) Principle (6)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22553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06968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298E9A-67CA-41E0-AA43-37E496A0185E}"/>
              </a:ext>
            </a:extLst>
          </p:cNvPr>
          <p:cNvSpPr txBox="1"/>
          <p:nvPr/>
        </p:nvSpPr>
        <p:spPr>
          <a:xfrm>
            <a:off x="867715" y="1159404"/>
            <a:ext cx="10077061" cy="34718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571500">
              <a:lnSpc>
                <a:spcPct val="150000"/>
              </a:lnSpc>
              <a:buFont typeface="+mj-lt"/>
              <a:buAutoNum type="arabicPeriod"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indent="-571500">
              <a:lnSpc>
                <a:spcPct val="150000"/>
              </a:lnSpc>
              <a:buFont typeface="+mj-lt"/>
              <a:buAutoNum type="arabicPeriod"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VHDL Program</a:t>
            </a:r>
          </a:p>
          <a:p>
            <a:pPr indent="-571500">
              <a:lnSpc>
                <a:spcPct val="150000"/>
              </a:lnSpc>
              <a:buFont typeface="+mj-lt"/>
              <a:buAutoNum type="arabicPeriod"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Lexical Elements and Program Format</a:t>
            </a:r>
          </a:p>
          <a:p>
            <a:pPr indent="-571500">
              <a:lnSpc>
                <a:spcPct val="150000"/>
              </a:lnSpc>
              <a:buFont typeface="+mj-lt"/>
              <a:buAutoNum type="arabicPeriod"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Objects</a:t>
            </a:r>
          </a:p>
          <a:p>
            <a:pPr indent="-571500">
              <a:lnSpc>
                <a:spcPct val="150000"/>
              </a:lnSpc>
              <a:buFont typeface="+mj-lt"/>
              <a:buAutoNum type="arabicPeriod"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Types and Operators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8C9E1CEC-24D0-BC30-5A74-1E9E2364C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24893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854859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Introduction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C21000-77FD-48CB-9804-FF113B305C0D}"/>
              </a:ext>
            </a:extLst>
          </p:cNvPr>
          <p:cNvSpPr txBox="1"/>
          <p:nvPr/>
        </p:nvSpPr>
        <p:spPr>
          <a:xfrm>
            <a:off x="827479" y="1056280"/>
            <a:ext cx="10954214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use a </a:t>
            </a:r>
            <a:r>
              <a:rPr lang="en-US" altLang="en-US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</a:t>
            </a: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we first have to learn its </a:t>
            </a:r>
            <a:r>
              <a:rPr lang="en-US" altLang="en-US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syntax and language constructs</a:t>
            </a: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VHDL is a </a:t>
            </a:r>
            <a:r>
              <a:rPr lang="en-US" altLang="en-US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complex language</a:t>
            </a: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designed to </a:t>
            </a: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describe both the structural and behavioral views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a digital system at </a:t>
            </a: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various levels of abstraction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Many of the language constructs are intended for model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ing and for abstract, behavioral description.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Only a small portion of VHDL</a:t>
            </a: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can 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 </a:t>
            </a: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synthesized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realized physically in hardware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32041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854859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Basic VHDL Program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C21000-77FD-48CB-9804-FF113B305C0D}"/>
              </a:ext>
            </a:extLst>
          </p:cNvPr>
          <p:cNvSpPr txBox="1"/>
          <p:nvPr/>
        </p:nvSpPr>
        <p:spPr>
          <a:xfrm>
            <a:off x="827479" y="1056280"/>
            <a:ext cx="1095421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VHDL program is composed of a collection of design units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synthesizable VHDL program needs at least two design units: an entity declaration and an architecture body associated with  the entity.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basis of a typical VHDL program can best explained by an example.</a:t>
            </a:r>
            <a:endParaRPr lang="en-US" altLang="en-US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8334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854859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Basic VHDL Program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6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FA2CDB5-4D1E-8F02-02BF-122B12DBC1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1056542"/>
            <a:ext cx="11620500" cy="521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28302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854859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Basic VHDL Program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C21000-77FD-48CB-9804-FF113B305C0D}"/>
              </a:ext>
            </a:extLst>
          </p:cNvPr>
          <p:cNvSpPr txBox="1"/>
          <p:nvPr/>
        </p:nvSpPr>
        <p:spPr>
          <a:xfrm>
            <a:off x="827479" y="1056280"/>
            <a:ext cx="1095421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VHDL program is composed of a collection of design units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synthesizable VHDL program needs at least two design units: an entity declaration and an architecture body associated with  the entity.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basis of a typical VHDL program can best explained by an example.</a:t>
            </a:r>
            <a:endParaRPr lang="en-US" altLang="en-US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41160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854859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Basic VHDL Program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C21000-77FD-48CB-9804-FF113B305C0D}"/>
              </a:ext>
            </a:extLst>
          </p:cNvPr>
          <p:cNvSpPr txBox="1"/>
          <p:nvPr/>
        </p:nvSpPr>
        <p:spPr>
          <a:xfrm>
            <a:off x="827479" y="1056280"/>
            <a:ext cx="10954214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simplified syntax of an entity declaration is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endParaRPr lang="en-US" alt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endParaRPr lang="en-US" altLang="en-US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endParaRPr lang="en-US" alt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endParaRPr lang="en-US" altLang="en-US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endParaRPr lang="en-US" alt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endParaRPr lang="en-US" altLang="en-US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specifies how data is transferred through that port.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6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en-US" alt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The port is an input to the entity. </a:t>
            </a: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can read but cannot modify it.</a:t>
            </a:r>
            <a:endParaRPr lang="en-US" altLang="en-US" sz="2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port is an output from entity. You can modify but cannot read it.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6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Inout</a:t>
            </a:r>
            <a:r>
              <a:rPr lang="en-US" alt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 port is bidirectional. You can both read and assign a value to it.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6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Buffer</a:t>
            </a:r>
            <a:r>
              <a:rPr lang="en-US" alt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used in older version of VHDL. 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8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B6D23F-1302-0B9E-447D-59925F7DDB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018" y="1576254"/>
            <a:ext cx="6572527" cy="2745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6744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854859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A Basic Constructs of VHDL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C21000-77FD-48CB-9804-FF113B305C0D}"/>
              </a:ext>
            </a:extLst>
          </p:cNvPr>
          <p:cNvSpPr txBox="1"/>
          <p:nvPr/>
        </p:nvSpPr>
        <p:spPr>
          <a:xfrm>
            <a:off x="827479" y="1056280"/>
            <a:ext cx="1095421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architecture body specifies the internal operation of organization of a circuit</a:t>
            </a:r>
            <a:endParaRPr lang="en-US" alt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9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7C5BEEA-51D3-A282-A35A-EFBCC21529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8857" y="2199395"/>
            <a:ext cx="8714286" cy="3514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63989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854859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Basic VHDL Program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C21000-77FD-48CB-9804-FF113B305C0D}"/>
              </a:ext>
            </a:extLst>
          </p:cNvPr>
          <p:cNvSpPr txBox="1"/>
          <p:nvPr/>
        </p:nvSpPr>
        <p:spPr>
          <a:xfrm>
            <a:off x="827479" y="1056280"/>
            <a:ext cx="10954214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units</a:t>
            </a: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are the fundamental building blocks in a VHDL program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a program is process, it is broken into individual design units and each unit is analyzed and stored independently.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</a:t>
            </a: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five kinds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design units: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Entity declaration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body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Package declaration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Package body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Configuration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80775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854859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Basic VHDL Program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C21000-77FD-48CB-9804-FF113B305C0D}"/>
              </a:ext>
            </a:extLst>
          </p:cNvPr>
          <p:cNvSpPr txBox="1"/>
          <p:nvPr/>
        </p:nvSpPr>
        <p:spPr>
          <a:xfrm>
            <a:off x="827479" y="1056280"/>
            <a:ext cx="10954214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package of VHDL normally contains a collection of commonly used items, such as data types, subprograms and components, which are needed by many VHDL programs.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VHDL, multiple architecture bodies can be associated with an entity declaration.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configuration specifies which architecture body is to be bound with the entity declaration.</a:t>
            </a:r>
            <a:endParaRPr lang="en-US" altLang="en-US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9410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166385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Lexical Elements and Program Format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C21000-77FD-48CB-9804-FF113B305C0D}"/>
              </a:ext>
            </a:extLst>
          </p:cNvPr>
          <p:cNvSpPr txBox="1"/>
          <p:nvPr/>
        </p:nvSpPr>
        <p:spPr>
          <a:xfrm>
            <a:off x="827479" y="1056280"/>
            <a:ext cx="1095421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comment starts with two dashes, --, followed by the comment text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Anything after the – symbol in the line will be ignored. The comment is for document purposes only and has no effect on the code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example, we  have added comments to the VHDL code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12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76F4A9-8583-D1C8-65A3-EF4E9302F5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399" y="3918602"/>
            <a:ext cx="9601201" cy="2505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410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166385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Lexical Elements and Program Format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C21000-77FD-48CB-9804-FF113B305C0D}"/>
              </a:ext>
            </a:extLst>
          </p:cNvPr>
          <p:cNvSpPr txBox="1"/>
          <p:nvPr/>
        </p:nvSpPr>
        <p:spPr>
          <a:xfrm>
            <a:off x="827479" y="1056280"/>
            <a:ext cx="10954214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identifier is the name of an object in VHDL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basic rules to form an identifier are: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identifier can contain only alphabet letters, decimal digits and  underscores.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first character must be a letter.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last character cannot be an underscore.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Two successive underscores are not allowed.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28710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166385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Lexical Elements and Program Format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C21000-77FD-48CB-9804-FF113B305C0D}"/>
              </a:ext>
            </a:extLst>
          </p:cNvPr>
          <p:cNvSpPr txBox="1"/>
          <p:nvPr/>
        </p:nvSpPr>
        <p:spPr>
          <a:xfrm>
            <a:off x="827479" y="1056280"/>
            <a:ext cx="1095421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example, the following identifiers are valid: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A9,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next_state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Next_State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mem_addr_enable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reset_n</a:t>
            </a:r>
            <a:endParaRPr lang="en-US" alt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the other hand, the following identifies violate one of the rules and will cause a syntax error: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Sig#3, -X10, 7segment_led, A10_,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hi__there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Since VHDL is 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case sensitive, the following identifies are the same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Nextstate</a:t>
            </a: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NextState</a:t>
            </a: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NEXTSTAT, </a:t>
            </a:r>
            <a:r>
              <a:rPr lang="en-US" alt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nEXTsTATE</a:t>
            </a: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47625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166385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Lexical Elements and Program Format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C21000-77FD-48CB-9804-FF113B305C0D}"/>
              </a:ext>
            </a:extLst>
          </p:cNvPr>
          <p:cNvSpPr txBox="1"/>
          <p:nvPr/>
        </p:nvSpPr>
        <p:spPr>
          <a:xfrm>
            <a:off x="853856" y="928963"/>
            <a:ext cx="10954214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represent a number in VHDL, you can use the “</a:t>
            </a:r>
            <a:r>
              <a:rPr lang="en-US" altLang="en-US" sz="3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base#number</a:t>
            </a: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#” syntax, where “base” is the base of the number.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2: binary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8: octal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10: decimal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16: hex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example, 45 can be represented as 2#101101# and 16#2D# in base 2 and base 16 respectively.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can also add an underscore to enhance readability.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example, 12_3456 is the same as 123456, and 2#0011_1010_1101# is the same as 2#001110101101#.</a:t>
            </a:r>
            <a:endParaRPr lang="en-US" altLang="en-US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30129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166385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Objects (Signals)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C21000-77FD-48CB-9804-FF113B305C0D}"/>
              </a:ext>
            </a:extLst>
          </p:cNvPr>
          <p:cNvSpPr txBox="1"/>
          <p:nvPr/>
        </p:nvSpPr>
        <p:spPr>
          <a:xfrm>
            <a:off x="827479" y="1056280"/>
            <a:ext cx="10954214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signal is most common object and we already used it in previous examples.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signal has to be declared in the architecture body’s declaration section.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simplified syntax of signal declaration is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16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102F6E-3338-7284-0BB6-8B1F748EA9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050" y="4018153"/>
            <a:ext cx="11047899" cy="742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17061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166385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Objects (Signals)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C21000-77FD-48CB-9804-FF113B305C0D}"/>
              </a:ext>
            </a:extLst>
          </p:cNvPr>
          <p:cNvSpPr txBox="1"/>
          <p:nvPr/>
        </p:nvSpPr>
        <p:spPr>
          <a:xfrm>
            <a:off x="827479" y="1056280"/>
            <a:ext cx="10954214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example, the following line declares the </a:t>
            </a:r>
            <a:r>
              <a:rPr lang="en-US" altLang="en-US" sz="3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a, b</a:t>
            </a: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altLang="en-US" sz="3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signals with the </a:t>
            </a:r>
            <a:r>
              <a:rPr lang="en-US" altLang="en-US" sz="30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std_logic</a:t>
            </a:r>
            <a:r>
              <a:rPr lang="en-US" altLang="en-US" sz="3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type.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endParaRPr lang="en-US" altLang="en-US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endParaRPr lang="en-US" altLang="en-US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According to the VHDL definition, we can specify an optional initial value in the signal declaration. For example, we can assign an initial value of ‘0’ to the previous signals: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endParaRPr lang="en-US" alt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endParaRPr lang="en-US" alt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17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7B2B633-0FD5-D891-897A-C596E0CC43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0286" y="2135842"/>
            <a:ext cx="7371428" cy="7047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E96E36F-F577-013F-DB13-BF14A3ED37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1473" y="4380267"/>
            <a:ext cx="9495238" cy="780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2829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166385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Objects (Variables)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C21000-77FD-48CB-9804-FF113B305C0D}"/>
              </a:ext>
            </a:extLst>
          </p:cNvPr>
          <p:cNvSpPr txBox="1"/>
          <p:nvPr/>
        </p:nvSpPr>
        <p:spPr>
          <a:xfrm>
            <a:off x="827479" y="1056280"/>
            <a:ext cx="10954214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variable is a concept found in a traditional programming language. It can be thought of as a “symbolic memory location” where a value can be stored and modified.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no direct mapping between a variable and a hardware part.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variable can only be declared and used in a process and is local that process.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main application of a variable is to describe the abstract behavior of a system.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endParaRPr lang="en-US" alt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7130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166385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Objects (Variables)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C21000-77FD-48CB-9804-FF113B305C0D}"/>
              </a:ext>
            </a:extLst>
          </p:cNvPr>
          <p:cNvSpPr txBox="1"/>
          <p:nvPr/>
        </p:nvSpPr>
        <p:spPr>
          <a:xfrm>
            <a:off x="827479" y="1056280"/>
            <a:ext cx="10954214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syntax of a variable declaration is similar to that signal declaration.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endParaRPr lang="en-US" alt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endParaRPr lang="en-US" altLang="en-US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simplified syntax of a variable assignment is</a:t>
            </a:r>
            <a:endParaRPr lang="en-US" altLang="en-US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19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5695C53-4D5B-8A1C-AAA9-2CD9E17F29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919" y="2115690"/>
            <a:ext cx="11533333" cy="65714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A1E0041-751F-ABDF-CD74-0409A9DD0C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8381" y="3612257"/>
            <a:ext cx="7295238" cy="809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97252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166385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Objects (Constants)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C21000-77FD-48CB-9804-FF113B305C0D}"/>
              </a:ext>
            </a:extLst>
          </p:cNvPr>
          <p:cNvSpPr txBox="1"/>
          <p:nvPr/>
        </p:nvSpPr>
        <p:spPr>
          <a:xfrm>
            <a:off x="827479" y="1056280"/>
            <a:ext cx="10954214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constant holds a value that cannot be changed. The syntax of constant declaration is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endParaRPr lang="en-US" alt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endParaRPr lang="en-US" altLang="en-US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value_expression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term specifies the value of the </a:t>
            </a:r>
            <a:r>
              <a:rPr lang="en-US" alt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constaint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simple example is: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endParaRPr lang="en-US" altLang="en-US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20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8E1B511-A306-2C88-51C2-58C0CD8F0C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524" y="2256608"/>
            <a:ext cx="11580952" cy="47619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B7459DC-28E1-FF6C-0221-813F363A9B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8857" y="4039156"/>
            <a:ext cx="9114286" cy="1019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79983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166385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Data Types and Operators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C21000-77FD-48CB-9804-FF113B305C0D}"/>
              </a:ext>
            </a:extLst>
          </p:cNvPr>
          <p:cNvSpPr txBox="1"/>
          <p:nvPr/>
        </p:nvSpPr>
        <p:spPr>
          <a:xfrm>
            <a:off x="827479" y="1056280"/>
            <a:ext cx="10954214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VHDL, each object has a data type.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data type is defined by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set of values that an object can assume.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set of operations that can be performed on objects of this data type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Predefined data types in VHDL: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Integer:  32-bit range (from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(-2^ 31) to (2^31 – 1)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Boolean: defined as (false, true)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Bit: defined as (‘0’, ‘1’)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Bit_vector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defined as a one-dimensional array with elements of the bit data type.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20571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166385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Data Types and Operators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22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1FD2BA-12D4-C4EC-3FD7-21C07010D7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286" y="1235918"/>
            <a:ext cx="11771428" cy="450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98851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166385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Data Types and Operators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23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986B5D9-7A57-7BB3-B59E-282233F5A3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571" y="1233059"/>
            <a:ext cx="11742857" cy="486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7425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166385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Data Types and Operators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24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A15146-AC83-ADD7-8A4A-99607EE610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952" y="1228655"/>
            <a:ext cx="11638095" cy="475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98752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166385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Data Types and Operators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25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A5D728-6953-ACF7-9DBD-CF630F8034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3619" y="1310339"/>
            <a:ext cx="7304762" cy="457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15123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166385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Data Types and Operators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C21000-77FD-48CB-9804-FF113B305C0D}"/>
              </a:ext>
            </a:extLst>
          </p:cNvPr>
          <p:cNvSpPr txBox="1"/>
          <p:nvPr/>
        </p:nvSpPr>
        <p:spPr>
          <a:xfrm>
            <a:off x="827479" y="1056280"/>
            <a:ext cx="10954214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types in the IEEE STD_LOGIC_1164 Package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better reflect the electrical property of digital hardware, several new data types were developed by IEEE to serve as an extension to the bit and </a:t>
            </a:r>
            <a:r>
              <a:rPr lang="en-US" alt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bit_vector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types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data types are defined in the std_logic_1164 package of IEEE standard 1164.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std_logic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type consists of 9 possible values.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‘U’, ‘X’, ‘0’, ‘1’, ‘Z’, ‘W’, ‘L’, ‘H’, ‘-’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195482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166385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Data Types and Operators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C21000-77FD-48CB-9804-FF113B305C0D}"/>
              </a:ext>
            </a:extLst>
          </p:cNvPr>
          <p:cNvSpPr txBox="1"/>
          <p:nvPr/>
        </p:nvSpPr>
        <p:spPr>
          <a:xfrm>
            <a:off x="827479" y="1056280"/>
            <a:ext cx="10954214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‘0’ and ‘1’: stand for “forcing logic 0” and “forcing logic 1”, which mean that the signal is driven by a circuit with a regular driving current.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‘Z’: stands for high impedance, which is usually encountered in a tri-state buffer.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‘L’ and ‘H’: stand for “weak logic 0” and “weak logic 1”, which mean that the signal is obtained from wired-logic types of circuits, in which the driving current is weak.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‘U’: stands for uninitialized. It is used in simulation to indicate that a signal or variable has not yet been assigned a value.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‘-’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stands for don’t care.</a:t>
            </a:r>
            <a:endParaRPr lang="en-US" altLang="en-US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272854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166385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Data Types and Operators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C21000-77FD-48CB-9804-FF113B305C0D}"/>
              </a:ext>
            </a:extLst>
          </p:cNvPr>
          <p:cNvSpPr txBox="1"/>
          <p:nvPr/>
        </p:nvSpPr>
        <p:spPr>
          <a:xfrm>
            <a:off x="827479" y="1056280"/>
            <a:ext cx="1095421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‘X’ and ‘W’: stand for “unknown” and “weak unknown”.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unknown represents that a signal reaches an intermediate voltage that can be interpreted as neither logic 0 or logic 1. This may happen because of a conflict in output (such as a logc-0 and logic-1 signal being tied together). They are used in simulation for an erroneous condition.</a:t>
            </a:r>
            <a:endParaRPr lang="en-US" altLang="en-US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611997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166385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Data Types and Operators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C21000-77FD-48CB-9804-FF113B305C0D}"/>
              </a:ext>
            </a:extLst>
          </p:cNvPr>
          <p:cNvSpPr txBox="1"/>
          <p:nvPr/>
        </p:nvSpPr>
        <p:spPr>
          <a:xfrm>
            <a:off x="827479" y="1056280"/>
            <a:ext cx="1095421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Among these values, only ‘0’, ‘1’ and ‘Z’ are used in synthesis.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‘L’ and ‘H’ values are seldom used now since current design practice rarely utilizes a wired-logic circuit.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use of ‘X’ and the potential problem of ‘-’ are discussed later.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974694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166385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Data Types and Operators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30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F795030-894B-3345-F68E-A18021EF93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7281" y="1424238"/>
            <a:ext cx="7685714" cy="4009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453338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166385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Data Types and Operators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31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7A29447-95BD-AC48-0509-6D45E66FE0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5047" y="1752809"/>
            <a:ext cx="9361905" cy="335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945437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166385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Data Types and Operators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C21000-77FD-48CB-9804-FF113B305C0D}"/>
              </a:ext>
            </a:extLst>
          </p:cNvPr>
          <p:cNvSpPr txBox="1"/>
          <p:nvPr/>
        </p:nvSpPr>
        <p:spPr>
          <a:xfrm>
            <a:off x="827479" y="1056280"/>
            <a:ext cx="1095421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Concatenation Operator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concatenation operator, &amp;, is very 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useful for array manipulation.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can combine segments 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elements and smaller arrays to form a larger array.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endParaRPr lang="en-US" altLang="en-US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32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011E4AD-434A-A089-66D9-448DDC95C2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2205" y="3299195"/>
            <a:ext cx="6304762" cy="895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824866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166385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Data Types and Operators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C21000-77FD-48CB-9804-FF113B305C0D}"/>
              </a:ext>
            </a:extLst>
          </p:cNvPr>
          <p:cNvSpPr txBox="1"/>
          <p:nvPr/>
        </p:nvSpPr>
        <p:spPr>
          <a:xfrm>
            <a:off x="853855" y="1056280"/>
            <a:ext cx="1095421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Array Aggregate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example, if you want to assign a value of “1010_0000” to a signal “a”, it can be written as: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endParaRPr lang="en-US" alt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endParaRPr lang="en-US" alt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Another way is to list each value of the element in the corresponding position, which is known as positional association.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previous assignment becomes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33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7737F27-00AC-C96A-FCBF-50406D5922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1714" y="2620534"/>
            <a:ext cx="4028571" cy="6571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1CA6598-9C3A-7BB2-97D0-AD8F1AF3CC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8380" y="5259703"/>
            <a:ext cx="8295238" cy="57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587666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166385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Data Types and Operators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C21000-77FD-48CB-9804-FF113B305C0D}"/>
              </a:ext>
            </a:extLst>
          </p:cNvPr>
          <p:cNvSpPr txBox="1"/>
          <p:nvPr/>
        </p:nvSpPr>
        <p:spPr>
          <a:xfrm>
            <a:off x="853855" y="1056280"/>
            <a:ext cx="10954214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Array Aggregate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can also use the form of </a:t>
            </a: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 =&gt; value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explicitly specify the value for each index, known as named association.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statement can be written as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endParaRPr lang="en-US" alt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endParaRPr lang="en-US" altLang="en-US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can combine the index, as in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endParaRPr lang="en-US" altLang="en-US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use as reserved word, others, to cover all the unused indexes, as in</a:t>
            </a:r>
            <a:endParaRPr lang="en-US" altLang="en-US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34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2C10EA-A531-B8D5-2CF1-45486E6339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2667" y="2905191"/>
            <a:ext cx="9276026" cy="102652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7E962FC-6B75-83A0-F950-706E91054E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1714" y="4417655"/>
            <a:ext cx="6828571" cy="400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E9A73BF-30AE-BA15-FF72-E52302A4D9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3471" y="5349366"/>
            <a:ext cx="6933333" cy="714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150890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166385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Data Types and Operators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C21000-77FD-48CB-9804-FF113B305C0D}"/>
              </a:ext>
            </a:extLst>
          </p:cNvPr>
          <p:cNvSpPr txBox="1"/>
          <p:nvPr/>
        </p:nvSpPr>
        <p:spPr>
          <a:xfrm>
            <a:off x="853855" y="1056280"/>
            <a:ext cx="10954214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Array Aggregate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example, if we want to assign “0000_0000” to the ‘a’ signal, we can write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endParaRPr lang="en-US" alt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more compact than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35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372F23F-FCFA-E96B-0773-A16C0B075A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1238" y="2509558"/>
            <a:ext cx="4609524" cy="4857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6209484-9618-3C4C-C2BB-18CC018703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5047" y="3443919"/>
            <a:ext cx="3961905" cy="66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13374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166385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Data Types and Operators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C21000-77FD-48CB-9804-FF113B305C0D}"/>
              </a:ext>
            </a:extLst>
          </p:cNvPr>
          <p:cNvSpPr txBox="1"/>
          <p:nvPr/>
        </p:nvSpPr>
        <p:spPr>
          <a:xfrm>
            <a:off x="853855" y="1056280"/>
            <a:ext cx="10954214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perform addition of a and b signals, we must use the integer data type, as in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endParaRPr lang="en-US" alt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endParaRPr lang="en-US" alt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endParaRPr lang="en-US" alt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difficult to realize this statement in hardware since the code doesn’t indicate the range (number of bits) of the </a:t>
            </a:r>
            <a:r>
              <a:rPr lang="en-US" altLang="en-US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en-US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signals.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Although this does </a:t>
            </a: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matter for simulation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it is </a:t>
            </a: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for synthesis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since there is a huge difference between the hardware complexity of an </a:t>
            </a: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8-bit adder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that of a </a:t>
            </a: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32-bit adder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36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973C47-5676-F05D-4BF7-4F9147829A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7409" y="2046844"/>
            <a:ext cx="5980952" cy="1342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591984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166385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Data Types and Operators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C21000-77FD-48CB-9804-FF113B305C0D}"/>
              </a:ext>
            </a:extLst>
          </p:cNvPr>
          <p:cNvSpPr txBox="1"/>
          <p:nvPr/>
        </p:nvSpPr>
        <p:spPr>
          <a:xfrm>
            <a:off x="853855" y="1056280"/>
            <a:ext cx="10954214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better alternative is to use an array of 0’s and 1’s and interpret it as an unsigned or signed number.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IEEE </a:t>
            </a:r>
            <a:r>
              <a:rPr lang="en-US" altLang="en-US" sz="3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numberic_std</a:t>
            </a: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package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was developed for this purpose.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Since the </a:t>
            </a: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signed and unsigned data types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arrays, their declaration are </a:t>
            </a: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similar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that of </a:t>
            </a:r>
            <a:r>
              <a:rPr lang="en-US" altLang="en-US" sz="3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std_logic_vector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type, as in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endParaRPr lang="en-US" alt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endParaRPr lang="en-US" alt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use the signed and unsigned data types, we must include the library statement before the entity declaration.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37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C075E8D-B8CF-AAB2-7067-D0F9736E2F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5907" y="3622431"/>
            <a:ext cx="7660186" cy="4571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54736A8-BA69-3B77-D572-6DF5216828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0486" y="5264425"/>
            <a:ext cx="5380952" cy="1114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10076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166385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Data Types and Operators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38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84B2880-0FD2-3BC2-E10A-C382544452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7428" y="1472244"/>
            <a:ext cx="7457143" cy="4247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353564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166385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Data Types and Operators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39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A343B2C-7EEE-1400-B237-3DE20EDA83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8381" y="1480304"/>
            <a:ext cx="8495238" cy="426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379471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166385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Data Types and Operators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40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0B0B778-5DDA-E69C-25CF-91478115F1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6000" y="1664489"/>
            <a:ext cx="8800000" cy="3647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29998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166385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Data Types and Operators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41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51CBDAD-FB5F-F1CD-3B79-D05CEEB7B2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6000" y="2607346"/>
            <a:ext cx="8000000" cy="1761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13395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166385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Data Types and Operators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C21000-77FD-48CB-9804-FF113B305C0D}"/>
              </a:ext>
            </a:extLst>
          </p:cNvPr>
          <p:cNvSpPr txBox="1"/>
          <p:nvPr/>
        </p:nvSpPr>
        <p:spPr>
          <a:xfrm>
            <a:off x="853855" y="1056280"/>
            <a:ext cx="1095421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Assume that some signals are declared as follows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42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4F520D-134B-B57B-0ED1-87F7585244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8857" y="1992432"/>
            <a:ext cx="9114286" cy="2161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27634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166385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Data Types and Operators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43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BF2089B-D9DB-4AEC-A36A-403F5D60F5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6000" y="2126394"/>
            <a:ext cx="9400000" cy="2723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863887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166385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Data Types and Operators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44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94C12DE-126D-31A4-BBB1-D470C5F976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7905" y="1971857"/>
            <a:ext cx="9276190" cy="2914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2084378"/>
      </p:ext>
    </p:extLst>
  </p:cSld>
  <p:clrMapOvr>
    <a:masterClrMapping/>
  </p:clrMapOvr>
</p:sld>
</file>

<file path=ppt/theme/theme1.xml><?xml version="1.0" encoding="utf-8"?>
<a:theme xmlns:a="http://schemas.openxmlformats.org/drawingml/2006/main" name="Vicostone Templat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u thuyet trình cong ty Vicostone" id="{123813FF-2186-4307-88AB-E52DC4E764C5}" vid="{7A2E833A-1ED4-4E30-9CFE-D6481D7B3B5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MauDH Thanh Tay</Template>
  <TotalTime>31792</TotalTime>
  <Words>2087</Words>
  <Application>Microsoft Office PowerPoint</Application>
  <PresentationFormat>Widescreen</PresentationFormat>
  <Paragraphs>249</Paragraphs>
  <Slides>44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0" baseType="lpstr">
      <vt:lpstr>Arial</vt:lpstr>
      <vt:lpstr>Calibri</vt:lpstr>
      <vt:lpstr>Times New Roman</vt:lpstr>
      <vt:lpstr>UTM Avo</vt:lpstr>
      <vt:lpstr>Wingdings</vt:lpstr>
      <vt:lpstr>Vicostone Template</vt:lpstr>
      <vt:lpstr>CHAPTER 3: Basic Language Constructs of VHDL</vt:lpstr>
      <vt:lpstr>Syllabus</vt:lpstr>
      <vt:lpstr>Content</vt:lpstr>
      <vt:lpstr>1. Introduction</vt:lpstr>
      <vt:lpstr>2. Basic VHDL Program</vt:lpstr>
      <vt:lpstr>2. Basic VHDL Program</vt:lpstr>
      <vt:lpstr>2. Basic VHDL Program</vt:lpstr>
      <vt:lpstr>2. Basic VHDL Program</vt:lpstr>
      <vt:lpstr>2. A Basic Constructs of VHDL</vt:lpstr>
      <vt:lpstr>2. Basic VHDL Program</vt:lpstr>
      <vt:lpstr>2. Basic VHDL Program</vt:lpstr>
      <vt:lpstr>3. Lexical Elements and Program Format</vt:lpstr>
      <vt:lpstr>3. Lexical Elements and Program Format</vt:lpstr>
      <vt:lpstr>3. Lexical Elements and Program Format</vt:lpstr>
      <vt:lpstr>3. Lexical Elements and Program Format</vt:lpstr>
      <vt:lpstr>4. Objects (Signals)</vt:lpstr>
      <vt:lpstr>4. Objects (Signals)</vt:lpstr>
      <vt:lpstr>4. Objects (Variables)</vt:lpstr>
      <vt:lpstr>4. Objects (Variables)</vt:lpstr>
      <vt:lpstr>4. Objects (Constants)</vt:lpstr>
      <vt:lpstr>5. Data Types and Operators</vt:lpstr>
      <vt:lpstr>5. Data Types and Operators</vt:lpstr>
      <vt:lpstr>5. Data Types and Operators</vt:lpstr>
      <vt:lpstr>5. Data Types and Operators</vt:lpstr>
      <vt:lpstr>5. Data Types and Operators</vt:lpstr>
      <vt:lpstr>5. Data Types and Operators</vt:lpstr>
      <vt:lpstr>5. Data Types and Operators</vt:lpstr>
      <vt:lpstr>5. Data Types and Operators</vt:lpstr>
      <vt:lpstr>5. Data Types and Operators</vt:lpstr>
      <vt:lpstr>5. Data Types and Operators</vt:lpstr>
      <vt:lpstr>5. Data Types and Operators</vt:lpstr>
      <vt:lpstr>5. Data Types and Operators</vt:lpstr>
      <vt:lpstr>5. Data Types and Operators</vt:lpstr>
      <vt:lpstr>5. Data Types and Operators</vt:lpstr>
      <vt:lpstr>5. Data Types and Operators</vt:lpstr>
      <vt:lpstr>5. Data Types and Operators</vt:lpstr>
      <vt:lpstr>5. Data Types and Operators</vt:lpstr>
      <vt:lpstr>5. Data Types and Operators</vt:lpstr>
      <vt:lpstr>5. Data Types and Operators</vt:lpstr>
      <vt:lpstr>5. Data Types and Operators</vt:lpstr>
      <vt:lpstr>5. Data Types and Operators</vt:lpstr>
      <vt:lpstr>5. Data Types and Operators</vt:lpstr>
      <vt:lpstr>5. Data Types and Operators</vt:lpstr>
      <vt:lpstr>5. Data Types and Operators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Transistors BTJ</dc:title>
  <cp:lastModifiedBy>Le Van Thuan</cp:lastModifiedBy>
  <cp:revision>216</cp:revision>
  <cp:lastPrinted>2022-05-19T08:53:56Z</cp:lastPrinted>
  <dcterms:created xsi:type="dcterms:W3CDTF">2018-07-24T06:18:10Z</dcterms:created>
  <dcterms:modified xsi:type="dcterms:W3CDTF">2024-04-09T11:05:26Z</dcterms:modified>
</cp:coreProperties>
</file>