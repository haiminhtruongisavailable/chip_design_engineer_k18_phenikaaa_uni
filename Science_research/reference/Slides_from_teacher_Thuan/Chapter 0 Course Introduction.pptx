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87" r:id="rId2"/>
    <p:sldId id="284" r:id="rId3"/>
    <p:sldId id="288" r:id="rId4"/>
    <p:sldId id="317" r:id="rId5"/>
    <p:sldId id="289" r:id="rId6"/>
    <p:sldId id="316" r:id="rId7"/>
    <p:sldId id="311" r:id="rId8"/>
    <p:sldId id="312" r:id="rId9"/>
    <p:sldId id="313" r:id="rId10"/>
    <p:sldId id="314" r:id="rId11"/>
    <p:sldId id="31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7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2" autoAdjust="0"/>
    <p:restoredTop sz="95909" autoAdjust="0"/>
  </p:normalViewPr>
  <p:slideViewPr>
    <p:cSldViewPr snapToGrid="0">
      <p:cViewPr varScale="1">
        <p:scale>
          <a:sx n="109" d="100"/>
          <a:sy n="109" d="100"/>
        </p:scale>
        <p:origin x="798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DE55EB-5F46-F107-74D8-72949E2FAF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E61318-1B41-7DE5-BA63-9568B492BC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2E4939-3FED-4315-955E-2DB01401A352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B35114-C610-C777-84B1-E063AFC9DA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6407A-A824-789B-C8DD-5C09A1FD41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D0AB32-3A3A-47EB-8327-5947AA41C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77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9D7E1-E5AC-4AB7-95CD-6E57287A7EEF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0F01A-602A-42CF-8886-814D79988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208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5026" y="6353004"/>
            <a:ext cx="2743200" cy="365125"/>
          </a:xfrm>
        </p:spPr>
        <p:txBody>
          <a:bodyPr/>
          <a:lstStyle/>
          <a:p>
            <a:fld id="{61AA737D-2200-4636-B86C-8F3E19BAE8D3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0198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28310" y="635635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785026" y="3704652"/>
            <a:ext cx="10583741" cy="99749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5026" y="4952857"/>
            <a:ext cx="10583741" cy="3849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97" y="1582451"/>
            <a:ext cx="8678656" cy="17879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D9F73E-492F-4733-959D-A5749AFFFAAF}"/>
              </a:ext>
            </a:extLst>
          </p:cNvPr>
          <p:cNvSpPr txBox="1"/>
          <p:nvPr userDrawn="1"/>
        </p:nvSpPr>
        <p:spPr>
          <a:xfrm>
            <a:off x="9602789" y="6610407"/>
            <a:ext cx="254203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68303B8-D2C5-465B-9346-49A8E22302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486" y="6605327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4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794" y="6362529"/>
            <a:ext cx="2743200" cy="365125"/>
          </a:xfrm>
        </p:spPr>
        <p:txBody>
          <a:bodyPr/>
          <a:lstStyle/>
          <a:p>
            <a:fld id="{8D4B40C4-E608-45E5-9DD8-CCCD3F40BA8E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154275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42D89-B98B-F946-A31D-7ACA5974D791}"/>
              </a:ext>
            </a:extLst>
          </p:cNvPr>
          <p:cNvSpPr txBox="1"/>
          <p:nvPr userDrawn="1"/>
        </p:nvSpPr>
        <p:spPr>
          <a:xfrm>
            <a:off x="9662160" y="6613753"/>
            <a:ext cx="2529840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thuan.levan@phenikaa-uni.edu.vn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57A6886-747B-4528-84CF-32010B2D52E6}"/>
              </a:ext>
            </a:extLst>
          </p:cNvPr>
          <p:cNvSpPr/>
          <p:nvPr userDrawn="1"/>
        </p:nvSpPr>
        <p:spPr>
          <a:xfrm>
            <a:off x="532658" y="0"/>
            <a:ext cx="89641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8F346-4FF9-4D4E-85DE-D92031C6F8EC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98CA0862-FEB0-4A0F-B552-F28AA18E53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006" y="6622794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12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CE326-31DF-4231-9669-64117273DDBC}" type="datetime1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0D2DC2-9AD0-46C9-A2CB-FB4AE530CF63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3C7BA3-5854-4C1A-AB26-8E83AFDB9C1C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3F1D2-9457-47B7-950E-5B0EDF508580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A6031B82-2D8F-4555-BCC1-3115CFF967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0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1F766-F12D-4367-BEBD-0C3C6371CB8D}" type="datetime1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36F995-2F29-4E8D-B342-1E962398505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D95CFB-1B8A-4CB0-8949-11A244A80C5E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6865C-7183-40E8-9323-035E78C460BB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CEA2A297-F9C3-429B-B54D-7253A946AD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8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E907-8AFC-44BE-889D-7951DD784CED}" type="datetime1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56947" y="227160"/>
            <a:ext cx="7728682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7F2710-EFA2-4019-B556-CAF8F057FD2D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6CD87-31C4-44B8-B9A0-380487039ED3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82E290-CA2E-48B6-A6AC-DD17E567C209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1" name="Picture 10" descr="Shape&#10;&#10;Description automatically generated with low confidence">
            <a:extLst>
              <a:ext uri="{FF2B5EF4-FFF2-40B4-BE49-F238E27FC236}">
                <a16:creationId xmlns:a16="http://schemas.microsoft.com/office/drawing/2014/main" id="{6FA9A129-6464-4B54-8084-94C471855C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1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63685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5600" b="1" baseline="0">
                <a:solidFill>
                  <a:srgbClr val="223771"/>
                </a:solidFill>
                <a:latin typeface="UTM Avo" panose="02040603050506020204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CHỦ ĐỀ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63685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aseline="0">
                <a:latin typeface="UTM Avo" panose="0204060305050602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E626-F335-4FEB-AA33-8B309BAF80BA}" type="datetime1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1" y="862149"/>
            <a:ext cx="7096258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TM Avo" panose="02040603050506020204" pitchFamily="18" charset="0"/>
              </a:defRPr>
            </a:lvl1pPr>
          </a:lstStyle>
          <a:p>
            <a:pPr lvl="0"/>
            <a:r>
              <a:rPr lang="en-US" dirty="0"/>
              <a:t>Hình ảnh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A98EF6-B54D-4232-96A3-D7104779651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D486C0A1-B022-43A4-A558-B9E8916BA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3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D0357-1EBB-4134-92D3-E168659ED905}" type="datetime1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F674A0-D445-4C14-83CD-38226D1439C8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DC1734-67C3-4443-8460-F8DBA3D27FC6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088CD-189D-4350-AE5C-EA4E5DEDE303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2" name="Picture 11" descr="Shape&#10;&#10;Description automatically generated with low confidence">
            <a:extLst>
              <a:ext uri="{FF2B5EF4-FFF2-40B4-BE49-F238E27FC236}">
                <a16:creationId xmlns:a16="http://schemas.microsoft.com/office/drawing/2014/main" id="{C5E0C745-AAEA-42E0-BD19-9FFC173DF7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464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01899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000" b="1">
                <a:solidFill>
                  <a:srgbClr val="223771"/>
                </a:solidFill>
                <a:latin typeface="UTM Avo" panose="02040603050506020204" pitchFamily="18" charset="0"/>
              </a:defRPr>
            </a:lvl1pPr>
          </a:lstStyle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01899" y="1639781"/>
            <a:ext cx="333670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11710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BFC04-3E1C-4A07-8636-487F0D428DF1}" type="datetime1">
              <a:rPr lang="en-US" smtClean="0"/>
              <a:t>4/9/2024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3"/>
          <p:cNvSpPr>
            <a:spLocks noGrp="1"/>
          </p:cNvSpPr>
          <p:nvPr>
            <p:ph sz="half" idx="13" hasCustomPrompt="1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9A717A-9473-4D01-AFFA-39323BC3FE1F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A6CBD4-D234-414D-AB38-1B0372324231}"/>
              </a:ext>
            </a:extLst>
          </p:cNvPr>
          <p:cNvSpPr/>
          <p:nvPr userDrawn="1"/>
        </p:nvSpPr>
        <p:spPr>
          <a:xfrm>
            <a:off x="532659" y="0"/>
            <a:ext cx="124288" cy="78044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E9A1D-9908-4963-BBCA-B9603513672F}"/>
              </a:ext>
            </a:extLst>
          </p:cNvPr>
          <p:cNvSpPr/>
          <p:nvPr userDrawn="1"/>
        </p:nvSpPr>
        <p:spPr>
          <a:xfrm>
            <a:off x="408371" y="0"/>
            <a:ext cx="124288" cy="914400"/>
          </a:xfrm>
          <a:prstGeom prst="rect">
            <a:avLst/>
          </a:prstGeom>
          <a:solidFill>
            <a:srgbClr val="223771"/>
          </a:solidFill>
          <a:ln>
            <a:solidFill>
              <a:srgbClr val="2237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223771"/>
              </a:highlight>
            </a:endParaRPr>
          </a:p>
        </p:txBody>
      </p:sp>
      <p:pic>
        <p:nvPicPr>
          <p:cNvPr id="14" name="Picture 13" descr="Shape&#10;&#10;Description automatically generated with low confidence">
            <a:extLst>
              <a:ext uri="{FF2B5EF4-FFF2-40B4-BE49-F238E27FC236}">
                <a16:creationId xmlns:a16="http://schemas.microsoft.com/office/drawing/2014/main" id="{308D8CB6-ADE4-4812-9DD7-2FB15552B4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4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B5D66-2AE1-4919-BCF1-11A0A66FDBC7}" type="datetime1">
              <a:rPr lang="en-US" smtClean="0"/>
              <a:t>4/9/2024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BE6C77-C511-4273-8155-2D0484084255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10" name="Picture 9" descr="Shape&#10;&#10;Description automatically generated with low confidence">
            <a:extLst>
              <a:ext uri="{FF2B5EF4-FFF2-40B4-BE49-F238E27FC236}">
                <a16:creationId xmlns:a16="http://schemas.microsoft.com/office/drawing/2014/main" id="{F459F8FB-0B0E-4294-9F5F-555C0C4C97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CCDC4-8C62-4C98-A5B8-4891287DC6C2}" type="datetime1">
              <a:rPr lang="en-US" smtClean="0"/>
              <a:t>4/9/2024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0418" y="235206"/>
            <a:ext cx="2732129" cy="550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A9DA5F-F00A-45CE-8679-BE1CD99F449B}"/>
              </a:ext>
            </a:extLst>
          </p:cNvPr>
          <p:cNvSpPr txBox="1"/>
          <p:nvPr userDrawn="1"/>
        </p:nvSpPr>
        <p:spPr>
          <a:xfrm>
            <a:off x="10209320" y="6613753"/>
            <a:ext cx="1842473" cy="21544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UTM Avo" panose="02040603050506020204" pitchFamily="18" charset="0"/>
              </a:rPr>
              <a:t>phenikaa-uni.edu.vn</a:t>
            </a:r>
          </a:p>
        </p:txBody>
      </p:sp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DA828293-FDB2-4B6D-9623-EEABA0C7C4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809" y="6613291"/>
            <a:ext cx="215444" cy="21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31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UTM Avo" panose="02040603050506020204" pitchFamily="18" charset="0"/>
              </a:defRPr>
            </a:lvl1pPr>
            <a:lvl2pPr>
              <a:defRPr>
                <a:latin typeface="UTM Avo" panose="02040603050506020204" pitchFamily="18" charset="0"/>
              </a:defRPr>
            </a:lvl2pPr>
            <a:lvl3pPr>
              <a:defRPr>
                <a:latin typeface="UTM Avo" panose="02040603050506020204" pitchFamily="18" charset="0"/>
              </a:defRPr>
            </a:lvl3pPr>
            <a:lvl4pPr>
              <a:defRPr>
                <a:latin typeface="UTM Avo" panose="02040603050506020204" pitchFamily="18" charset="0"/>
              </a:defRPr>
            </a:lvl4pPr>
            <a:lvl5pPr>
              <a:defRPr>
                <a:latin typeface="UTM Avo" panose="020406030505060202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D8CEE-3C7C-4BAE-8D90-DEB2B083CA1D}" type="datetime1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2" y="90029"/>
            <a:ext cx="2539035" cy="5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30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AE6AC-9427-433F-AC00-F723CA5DD87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1484" y="636252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17B55912-8ADD-4687-965F-C6DE85F377FA}" type="datetime1">
              <a:rPr lang="en-US" smtClean="0"/>
              <a:t>4/9/2024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fld id="{086B6608-6F69-448F-99DC-C9E613BFB696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494093"/>
            <a:ext cx="12192000" cy="373091"/>
            <a:chOff x="0" y="1661375"/>
            <a:chExt cx="12192000" cy="373091"/>
          </a:xfrm>
        </p:grpSpPr>
        <p:sp>
          <p:nvSpPr>
            <p:cNvPr id="8" name="Rectangle 7"/>
            <p:cNvSpPr/>
            <p:nvPr/>
          </p:nvSpPr>
          <p:spPr>
            <a:xfrm>
              <a:off x="0" y="1661375"/>
              <a:ext cx="12192000" cy="109728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1760146"/>
              <a:ext cx="12192000" cy="274320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UTM Avo" panose="02040603050506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0836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3" r:id="rId5"/>
    <p:sldLayoutId id="2147483660" r:id="rId6"/>
    <p:sldLayoutId id="2147483651" r:id="rId7"/>
    <p:sldLayoutId id="2147483652" r:id="rId8"/>
    <p:sldLayoutId id="2147483654" r:id="rId9"/>
    <p:sldLayoutId id="2147483655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thuanlv.dtvt@gmail.com" TargetMode="External"/><Relationship Id="rId2" Type="http://schemas.openxmlformats.org/officeDocument/2006/relationships/hyperlink" Target="mailto:thuan.levan@phenikaa-uni.edu.v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FBF3-8459-4CBE-8502-1C0A4CC3B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025" y="3614057"/>
            <a:ext cx="10583741" cy="1270966"/>
          </a:xfrm>
        </p:spPr>
        <p:txBody>
          <a:bodyPr>
            <a:normAutofit/>
          </a:bodyPr>
          <a:lstStyle/>
          <a:p>
            <a:r>
              <a:rPr lang="en-US" dirty="0"/>
              <a:t>DIGITAL DESIGN USING VHDL</a:t>
            </a:r>
            <a:br>
              <a:rPr lang="en-US" dirty="0"/>
            </a:br>
            <a:r>
              <a:rPr lang="en-US" sz="2900" dirty="0"/>
              <a:t>(</a:t>
            </a:r>
            <a:r>
              <a:rPr lang="en-US" sz="2900" dirty="0" err="1"/>
              <a:t>Thiết</a:t>
            </a:r>
            <a:r>
              <a:rPr lang="en-US" sz="2900" dirty="0"/>
              <a:t> </a:t>
            </a:r>
            <a:r>
              <a:rPr lang="en-US" sz="2900" dirty="0" err="1"/>
              <a:t>kế</a:t>
            </a:r>
            <a:r>
              <a:rPr lang="en-US" sz="2900" dirty="0"/>
              <a:t> </a:t>
            </a:r>
            <a:r>
              <a:rPr lang="en-US" sz="2900" dirty="0" err="1"/>
              <a:t>số</a:t>
            </a:r>
            <a:r>
              <a:rPr lang="en-US" sz="2900" dirty="0"/>
              <a:t> </a:t>
            </a:r>
            <a:r>
              <a:rPr lang="en-US" sz="2900" dirty="0" err="1"/>
              <a:t>dùng</a:t>
            </a:r>
            <a:r>
              <a:rPr lang="en-US" sz="2900" dirty="0"/>
              <a:t> VHDL)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D410E-C078-4527-B254-D2F02FAE1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026" y="5168906"/>
            <a:ext cx="10583741" cy="866133"/>
          </a:xfr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UTM Avo" panose="02040603050506020204" pitchFamily="18" charset="0"/>
              </a:rPr>
              <a:t>CHAPTER 0: COURSE INTRODUCTION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FD47A-DACA-997E-B29A-9D270E1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9865" y="6199436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01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outline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98E9A-67CA-41E0-AA43-37E496A0185E}"/>
              </a:ext>
            </a:extLst>
          </p:cNvPr>
          <p:cNvSpPr txBox="1"/>
          <p:nvPr/>
        </p:nvSpPr>
        <p:spPr>
          <a:xfrm>
            <a:off x="846133" y="1377590"/>
            <a:ext cx="10077061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Objectives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Textbooks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Evaluation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Project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Tools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AEE7BF-A100-73E7-D4CD-23ECB26E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8593" y="6217013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8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Instructor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01352" y="780449"/>
            <a:ext cx="10077061" cy="5802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Ph.D. LE VAN THUAN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thuan.levan@phenikaa-uni.edu.vn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thuanlv.dtvt@gmail.com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Office: A9-1601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Interests: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Communication (5G and beyond)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(in Physical Layer)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Teaching: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Design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FPGA)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Transmission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Electric Circuits (Lý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Design using VHDL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VHDL)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41D6E-DD80-F1D9-6D23-A6B356B0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217013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04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Objectives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27478" y="1205571"/>
            <a:ext cx="10077061" cy="344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knowledge and experience in: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 on Digital circuit design using VHDL Programming Language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build self checking test benches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practices in digital design verification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Structure, Dataflow, and Behavior designs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tools commonly used in industry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 you to be able to “think hardware”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41D6E-DD80-F1D9-6D23-A6B356B0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217013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67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C98F-63E5-40F9-B9F0-F8030C34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C0DF8-6A03-4A2F-8904-61A1E20E5FFF}"/>
              </a:ext>
            </a:extLst>
          </p:cNvPr>
          <p:cNvSpPr txBox="1"/>
          <p:nvPr/>
        </p:nvSpPr>
        <p:spPr>
          <a:xfrm>
            <a:off x="656947" y="1194510"/>
            <a:ext cx="11098368" cy="4930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 you should already know?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course requires the students to have a background knowledge of principles of basic digital logic design (Analog/Digital Electronics Course, FPGA Design)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representations (bit, byte, unsigned, signed, hex &amp; binary)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 Algebra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Gate-level design (Basic Logic Gates, Karnaugh Map Minimization)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Circuit Design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logic structures (adder, shifter, counter, MUX, DEMUX, encoder/decoder)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Circuit Design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Machine (FSM)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B365B-7B4B-EB80-B00D-34093FDFA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8261" y="6174091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77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C98F-63E5-40F9-B9F0-F8030C34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EA9E5A-A24D-2FFE-7243-D24CE97E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6970" y="617132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96E157-01AF-5BB3-AF94-BA7245360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976444"/>
              </p:ext>
            </p:extLst>
          </p:nvPr>
        </p:nvGraphicFramePr>
        <p:xfrm>
          <a:off x="2031999" y="1493520"/>
          <a:ext cx="9398001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060">
                  <a:extLst>
                    <a:ext uri="{9D8B030D-6E8A-4147-A177-3AD203B41FA5}">
                      <a16:colId xmlns:a16="http://schemas.microsoft.com/office/drawing/2014/main" val="3085157533"/>
                    </a:ext>
                  </a:extLst>
                </a:gridCol>
                <a:gridCol w="6966310">
                  <a:extLst>
                    <a:ext uri="{9D8B030D-6E8A-4147-A177-3AD203B41FA5}">
                      <a16:colId xmlns:a16="http://schemas.microsoft.com/office/drawing/2014/main" val="1793565155"/>
                    </a:ext>
                  </a:extLst>
                </a:gridCol>
                <a:gridCol w="983631">
                  <a:extLst>
                    <a:ext uri="{9D8B030D-6E8A-4147-A177-3AD203B41FA5}">
                      <a16:colId xmlns:a16="http://schemas.microsoft.com/office/drawing/2014/main" val="1311660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03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Chapter 0: Course Introduction (1)</a:t>
                      </a:r>
                    </a:p>
                    <a:p>
                      <a:r>
                        <a:rPr lang="en-US" sz="2000" b="0" dirty="0"/>
                        <a:t>Chapter 1: Introduction to Digital Design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40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2: Overview of 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14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3: Basic Language Constructs of VHDL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170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4: Signal Assignment Statements of VHDL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5: Combinational Logic Circuit 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51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Midterm Exam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395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6:  Sequential Logic Circuit Design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57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9, 10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Chapter 7: Finite State Machine (FSM) Principle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255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576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Recommended Textbooks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03416" y="948640"/>
            <a:ext cx="10077061" cy="4007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Lectures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Volnei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Pedroni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Circuit Design with VHDL, The MIT Press, 2020.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Stephen Brown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Zvonko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Vranesic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Fundamentals of Digital Logic with VHDL Design, 4</a:t>
            </a:r>
            <a:r>
              <a:rPr lang="en-US" sz="2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Edition, McGraw-Hall, 2022.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useful readings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Volnei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Pedroni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Circuit Design and Simulation with VHDL,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Edition, The MIT Press, 2010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52000-986F-AEE3-2495-3FB2C699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52136" y="617347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720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15446" y="1394646"/>
            <a:ext cx="10957453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5% Attendance. The compulsory attendance no less than 80%.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5% Homework and Class Quiz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 Lab Report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 Midterm Exam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60% Final Project (groups of 3 students, better if establish team soon)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failed if a student cheats or copy from the student in the previous years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89776-F82D-25D2-753D-A7916A388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76" y="6173470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03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798030" y="969192"/>
            <a:ext cx="10772647" cy="546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in groups of about 3 students (allows some groups that have 2 students)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Design, model, and simulate an assigned/proposed digital signal processing devices (dedicated in communication (UART, I2C, ..), data processing (matrix multiplication, image processing, CRC, window sliding, beamforming, …))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demo &amp; report at the exam day in A4-503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6C367-1D34-A95A-B9FD-3D5673DA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010" y="6164762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98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Website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806738" y="743569"/>
            <a:ext cx="10077061" cy="5514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the link 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https://canvas.phenikaa-uni.edu.vn/courses/5991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Website will have: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Notes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Homework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Information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Midterm Solution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Codes and Exercises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0D59B-2D53-B1E8-2984-601DF1B8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08593" y="6182179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128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23847-57F3-4846-97BB-81694FDA5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21000-77FD-48CB-9804-FF113B305C0D}"/>
              </a:ext>
            </a:extLst>
          </p:cNvPr>
          <p:cNvSpPr txBox="1"/>
          <p:nvPr/>
        </p:nvSpPr>
        <p:spPr>
          <a:xfrm>
            <a:off x="798030" y="896503"/>
            <a:ext cx="10077061" cy="5560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Industry-standard design tools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Modelsim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HDL Simulation Tools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Quartus II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Quartus II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knowledge will be required to complete project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User’s guide for KIT LP-2900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KIT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CPLD/FPGA Digital Logic Design Lab, Model LP-2900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53BDF-A567-7134-A818-9834EF59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3428" y="6091811"/>
            <a:ext cx="2743200" cy="365125"/>
          </a:xfrm>
        </p:spPr>
        <p:txBody>
          <a:bodyPr/>
          <a:lstStyle/>
          <a:p>
            <a:fld id="{086B6608-6F69-448F-99DC-C9E613BFB69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213073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MauDH Thanh Tay</Template>
  <TotalTime>8366</TotalTime>
  <Words>650</Words>
  <Application>Microsoft Office PowerPoint</Application>
  <PresentationFormat>Widescreen</PresentationFormat>
  <Paragraphs>110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UTM Avo</vt:lpstr>
      <vt:lpstr>Wingdings</vt:lpstr>
      <vt:lpstr>Vicostone Template</vt:lpstr>
      <vt:lpstr>DIGITAL DESIGN USING VHDL (Thiết kế số dùng VHDL)</vt:lpstr>
      <vt:lpstr>Course outline</vt:lpstr>
      <vt:lpstr>Your Instructor</vt:lpstr>
      <vt:lpstr>Course Objectives </vt:lpstr>
      <vt:lpstr>Background</vt:lpstr>
      <vt:lpstr>Syllabus</vt:lpstr>
      <vt:lpstr>Course Recommended Textbooks </vt:lpstr>
      <vt:lpstr>Course Evaluation</vt:lpstr>
      <vt:lpstr>Class Project</vt:lpstr>
      <vt:lpstr>Course Website</vt:lpstr>
      <vt:lpstr>Course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Transistors BTJ</dc:title>
  <dc:creator>ADMIN</dc:creator>
  <cp:lastModifiedBy>Le Van Thuan</cp:lastModifiedBy>
  <cp:revision>128</cp:revision>
  <dcterms:created xsi:type="dcterms:W3CDTF">2018-07-24T06:18:10Z</dcterms:created>
  <dcterms:modified xsi:type="dcterms:W3CDTF">2024-04-09T11:04:38Z</dcterms:modified>
</cp:coreProperties>
</file>