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5"/>
  </p:notesMasterIdLst>
  <p:sldIdLst>
    <p:sldId id="287" r:id="rId2"/>
    <p:sldId id="318" r:id="rId3"/>
    <p:sldId id="284" r:id="rId4"/>
    <p:sldId id="288" r:id="rId5"/>
    <p:sldId id="526" r:id="rId6"/>
    <p:sldId id="527" r:id="rId7"/>
    <p:sldId id="528" r:id="rId8"/>
    <p:sldId id="529" r:id="rId9"/>
    <p:sldId id="530" r:id="rId10"/>
    <p:sldId id="531" r:id="rId11"/>
    <p:sldId id="532" r:id="rId12"/>
    <p:sldId id="533" r:id="rId13"/>
    <p:sldId id="534" r:id="rId14"/>
    <p:sldId id="535" r:id="rId15"/>
    <p:sldId id="536" r:id="rId16"/>
    <p:sldId id="537" r:id="rId17"/>
    <p:sldId id="538" r:id="rId18"/>
    <p:sldId id="539" r:id="rId19"/>
    <p:sldId id="540" r:id="rId20"/>
    <p:sldId id="541" r:id="rId21"/>
    <p:sldId id="542" r:id="rId22"/>
    <p:sldId id="543" r:id="rId23"/>
    <p:sldId id="544" r:id="rId24"/>
    <p:sldId id="545" r:id="rId25"/>
    <p:sldId id="546" r:id="rId26"/>
    <p:sldId id="547" r:id="rId27"/>
    <p:sldId id="548" r:id="rId28"/>
    <p:sldId id="549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561" r:id="rId41"/>
    <p:sldId id="562" r:id="rId42"/>
    <p:sldId id="563" r:id="rId43"/>
    <p:sldId id="564" r:id="rId44"/>
    <p:sldId id="565" r:id="rId45"/>
    <p:sldId id="566" r:id="rId46"/>
    <p:sldId id="567" r:id="rId47"/>
    <p:sldId id="568" r:id="rId48"/>
    <p:sldId id="569" r:id="rId49"/>
    <p:sldId id="570" r:id="rId50"/>
    <p:sldId id="571" r:id="rId51"/>
    <p:sldId id="572" r:id="rId52"/>
    <p:sldId id="573" r:id="rId53"/>
    <p:sldId id="574" r:id="rId5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ê Văn Thuận" initials="LVT" lastIdx="1" clrIdx="0">
    <p:extLst>
      <p:ext uri="{19B8F6BF-5375-455C-9EA6-DF929625EA0E}">
        <p15:presenceInfo xmlns:p15="http://schemas.microsoft.com/office/powerpoint/2012/main" userId="S::thuan.levan@phenikaa-uni.edu.vn::c78f3590-89e5-480d-9b95-f74b950307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 autoAdjust="0"/>
    <p:restoredTop sz="95909" autoAdjust="0"/>
  </p:normalViewPr>
  <p:slideViewPr>
    <p:cSldViewPr snapToGrid="0">
      <p:cViewPr varScale="1">
        <p:scale>
          <a:sx n="109" d="100"/>
          <a:sy n="109" d="100"/>
        </p:scale>
        <p:origin x="7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064194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9526386" y="6613753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37" y="6613753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4E5E3D-EAAF-C004-5CDE-2C71CBDADF64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106968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9583798" y="6612032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56" y="6622794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C5489-17B1-801D-5E86-E7F45820BDA3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54F4D4A-FD71-41E6-BED5-CF551BFDBC37}" type="datetimeFigureOut">
              <a:rPr lang="en-US" smtClean="0"/>
              <a:pPr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11" y="4029967"/>
            <a:ext cx="10750482" cy="128058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UTM Avo" panose="02040603050506020204" pitchFamily="18" charset="0"/>
              </a:rPr>
              <a:t>CHAPTER 5: </a:t>
            </a:r>
            <a:r>
              <a:rPr lang="en-US" altLang="en-US" sz="4800" b="1" dirty="0"/>
              <a:t>Combinational Logic Circuit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781" y="87823"/>
            <a:ext cx="7728682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49CA4-8620-3C77-C1E7-164BE04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F721B-6A10-6C8C-CC4D-8209027AC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803403"/>
              </p:ext>
            </p:extLst>
          </p:nvPr>
        </p:nvGraphicFramePr>
        <p:xfrm>
          <a:off x="2031999" y="1493520"/>
          <a:ext cx="9398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60">
                  <a:extLst>
                    <a:ext uri="{9D8B030D-6E8A-4147-A177-3AD203B41FA5}">
                      <a16:colId xmlns:a16="http://schemas.microsoft.com/office/drawing/2014/main" val="3085157533"/>
                    </a:ext>
                  </a:extLst>
                </a:gridCol>
                <a:gridCol w="6966310">
                  <a:extLst>
                    <a:ext uri="{9D8B030D-6E8A-4147-A177-3AD203B41FA5}">
                      <a16:colId xmlns:a16="http://schemas.microsoft.com/office/drawing/2014/main" val="1793565155"/>
                    </a:ext>
                  </a:extLst>
                </a:gridCol>
                <a:gridCol w="983631">
                  <a:extLst>
                    <a:ext uri="{9D8B030D-6E8A-4147-A177-3AD203B41FA5}">
                      <a16:colId xmlns:a16="http://schemas.microsoft.com/office/drawing/2014/main" val="131166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3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0: Course Introduction (1)</a:t>
                      </a:r>
                    </a:p>
                    <a:p>
                      <a:r>
                        <a:rPr lang="en-US" sz="2000" b="0" dirty="0"/>
                        <a:t>Chapter 1: Introduction to Digital Design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2: Overview of 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4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3: Basic Language Constructs of VHDL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7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4: Signal Assignment Statements of VHDL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Chapter 5: Combinational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Midterm </a:t>
                      </a:r>
                      <a:r>
                        <a:rPr lang="en-US" sz="2000"/>
                        <a:t>Exam (2)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9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6:  </a:t>
                      </a:r>
                      <a:r>
                        <a:rPr lang="en-US" sz="2000"/>
                        <a:t>Sequential Logic </a:t>
                      </a:r>
                      <a:r>
                        <a:rPr lang="en-US" sz="2000" dirty="0"/>
                        <a:t>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9, 10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7: Finite State Machine (FSM) Principle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69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98E9A-67CA-41E0-AA43-37E496A0185E}"/>
              </a:ext>
            </a:extLst>
          </p:cNvPr>
          <p:cNvSpPr txBox="1"/>
          <p:nvPr/>
        </p:nvSpPr>
        <p:spPr>
          <a:xfrm>
            <a:off x="867715" y="1159404"/>
            <a:ext cx="10077061" cy="4164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Efficient HDL Description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Sharing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Sharing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Layout-related Circuits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Circuits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C9E1CEC-24D0-BC30-5A74-1E9E2364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Derivation of Efficient HDL Description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appearance of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VHDL code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very different from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schematic diagram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VHDL code is just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way to describe a circuit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 software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carriers out a series of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refinements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transforms a textual VHDL description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cell-level netlist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can perform simplification and local optimization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know the meaning or intention of the code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cannot exploit alternative designs or change the architectural of the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of a design and its description are two independent factors.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0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Derivation of Efficient HDL Description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an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synthesizable VHDL description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two major tasks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to find an efficient design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VHDL code that accurately describes the design.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problem in digital system development, there is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seldom a single unique solution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0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VHDL program is synthesized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 statements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constructs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program will be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mapped to hardware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way to reduce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size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synthesized hardware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resources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different operations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known as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89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code segment: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diagram of this code is shown 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adders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B5C689-A296-3857-9FF4-E13221EC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1712668"/>
            <a:ext cx="7477125" cy="1076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D802DC-E687-F5FA-77BA-841CB320F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699" y="4023913"/>
            <a:ext cx="403860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32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adder can be shared because only one additional operation is needed at any time.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revise the code as follows: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adder can be eliminated in this new implementation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3A2CD1-ABA3-2A65-AC2D-0B074133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4" y="2447925"/>
            <a:ext cx="8553450" cy="981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688DD7-DC9A-7FA0-8EEA-87B64FEA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503" y="3957697"/>
            <a:ext cx="4580992" cy="251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66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we compare the propagation delays of the two circuits.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circuit, the adders and Boolean-exp operate in parallel.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 circuit, the adders, Boolean-exp operate, and the adder in sequential.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E4A4D-8861-12FD-ECC4-E1401D3F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290" y="3147217"/>
            <a:ext cx="4038600" cy="2066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318854-0ACC-86DA-64C8-A4FDEB4B0DDA}"/>
                  </a:ext>
                </a:extLst>
              </p:cNvPr>
              <p:cNvSpPr txBox="1"/>
              <p:nvPr/>
            </p:nvSpPr>
            <p:spPr>
              <a:xfrm>
                <a:off x="6678490" y="5737563"/>
                <a:ext cx="434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𝑎𝑑𝑑𝑒𝑟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𝑏𝑜𝑜𝑙𝑒𝑎𝑛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𝑚𝑢𝑥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318854-0ACC-86DA-64C8-A4FDEB4B0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490" y="5737563"/>
                <a:ext cx="43434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BF7E102-2793-2C66-06F6-BA2EB0F5F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30" y="3147217"/>
            <a:ext cx="4781550" cy="2438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D6CC29-D36F-0ABC-2C9F-07F70BACE1A2}"/>
                  </a:ext>
                </a:extLst>
              </p:cNvPr>
              <p:cNvSpPr txBox="1"/>
              <p:nvPr/>
            </p:nvSpPr>
            <p:spPr>
              <a:xfrm>
                <a:off x="1243605" y="5737563"/>
                <a:ext cx="4343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𝑏𝑜𝑜𝑙𝑒𝑎𝑛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𝑚𝑢𝑥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𝑎𝑑𝑑𝑒𝑟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D6CC29-D36F-0ABC-2C9F-07F70BACE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605" y="5737563"/>
                <a:ext cx="43434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290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code segment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 needs: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adders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incrementor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multiplexers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9BAD97-3A13-B9A8-D950-9008A81EC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1744647"/>
            <a:ext cx="7210425" cy="2657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32BA0A-57AE-5A8E-2DB0-D4E733D0E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043" y="3429000"/>
            <a:ext cx="44386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91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revised code becomes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9622D-EB7F-E299-E821-58A2EF546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744070"/>
            <a:ext cx="81534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2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diagram of the new code is shown as.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mult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iplexers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route the desired to the inputs of the adder.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circuit el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iminate one adder and one incrementor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two additional multiplexers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5FC672-5910-6EA2-DB51-C7223DB12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388027"/>
            <a:ext cx="4119562" cy="2990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84856C-0772-6A64-5A38-559971E7F4C5}"/>
              </a:ext>
            </a:extLst>
          </p:cNvPr>
          <p:cNvSpPr txBox="1"/>
          <p:nvPr/>
        </p:nvSpPr>
        <p:spPr>
          <a:xfrm>
            <a:off x="827479" y="3561318"/>
            <a:ext cx="58781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 determine whether the sharing is better,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examine the circuit size of the adder, incrementor and multiplexer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1221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 is smaller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compared with an adder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sharing indeed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leads to a smaller size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507B2-8CA6-7E66-B9A6-F785A64D6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5" y="2162371"/>
            <a:ext cx="84010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6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likely that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 circuit can be further simplified during logic synthesis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due to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duplicated input patterns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(the ‘a’ signal is used twice) and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input (“00000001”).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 will become more significant if a high-performance adder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one optimized for delay) is used.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9F81A-FBE3-235B-8B7B-4C433F22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519661"/>
            <a:ext cx="72580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37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code segment</a:t>
            </a: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AB6E26-55FE-5861-3734-6424D06F2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1749561"/>
            <a:ext cx="862965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24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revise the code to share the adder</a:t>
            </a: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CE503-7DB6-300B-9FA6-157EECAE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845" y="1607006"/>
            <a:ext cx="8678310" cy="477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38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Operator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new circuit eliminates one adder and one incrementor but requires an additional 4-to-1 multiplexer.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an adder and an incrementor are more complex than a multiplexer, the revision leads to a signification saving.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A9FF59-D4D1-CF04-8330-A47E058BC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86" y="3571875"/>
            <a:ext cx="4314825" cy="2533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249EB5-0175-E3DB-3D8C-1F5FBFC46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90" y="3011030"/>
            <a:ext cx="4314825" cy="336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1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large, complex digital system, such as a processor, an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of functions is needed.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functions may be related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have certain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characteristics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for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a common circuit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to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one function to construct another function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call this approach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sharing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synthesis software to identify functionality sharing.</a:t>
            </a: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34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 simple arithmetic circuit that performs either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 or subtraction.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control signal,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specifies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operation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table of this circuit is shown as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first design follows the function table and the VHDL code is very straightforward.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CC10F-B12C-4FED-F2BB-0B8DE31EA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530" y="3271103"/>
            <a:ext cx="72771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8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5F0AB-64B0-DACF-AA07-30D316EFD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1033599"/>
            <a:ext cx="90963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52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conceptual diagram for this code is shown.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includes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adder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subtractor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2-to-1 multiplexer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956FC-F9B9-6DA4-55D3-53ECDF76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980" y="3805374"/>
            <a:ext cx="4648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08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2’s-complement representation, recall that the subtraction, a-b, can be calculated as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 is possible to share the functionality of the adder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26F67D-7D81-985F-593D-1596CA17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905" y="2088254"/>
            <a:ext cx="43243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87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46752-9C19-2924-C96A-A4E68B30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1485900"/>
            <a:ext cx="86391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26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that the expression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𝑠𝑟𝑐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two addition operators.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either “0” or “1”, it can be mapped to the carry-in port of a typical adder.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endParaRPr lang="en-US" altLang="en-US" sz="3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endParaRPr lang="en-US" altLang="en-US" sz="3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other words, the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operation can be embedded into the </a:t>
                </a:r>
                <a14:m>
                  <m:oMath xmlns:m="http://schemas.openxmlformats.org/officeDocument/2006/math">
                    <m:r>
                      <a:rPr lang="en-US" altLang="en-US" sz="3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3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altLang="en-US" sz="3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𝑠𝑟𝑐</m:t>
                    </m:r>
                    <m:r>
                      <a:rPr lang="en-US" altLang="en-US" sz="3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en-US" sz="3000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3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operation and no separate incrementor is needed.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synthesis software should be able to derive the correct implementation.</a:t>
                </a:r>
                <a:endParaRPr lang="en-US" altLang="en-US" sz="3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5632311"/>
              </a:xfrm>
              <a:prstGeom prst="rect">
                <a:avLst/>
              </a:prstGeom>
              <a:blipFill>
                <a:blip r:embed="rId2"/>
                <a:stretch>
                  <a:fillRect l="-1169" t="-1407" r="-55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D39AE-E3C4-D1D0-A889-CB52574CF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053285"/>
            <a:ext cx="89916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05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internal adder is extended to 9 bits, in which the original input takes 8 MSBs and the extra bit is the LSB.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LSBs of the two operands are connected to 1 and the carry-in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respectively.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if the two original operands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extended operands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3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3785652"/>
              </a:xfrm>
              <a:prstGeom prst="rect">
                <a:avLst/>
              </a:prstGeom>
              <a:blipFill>
                <a:blip r:embed="rId2"/>
                <a:stretch>
                  <a:fillRect l="-1169" t="-2093" r="-946" b="-4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49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VHDL code of this design is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2B9E0-EDEF-BD84-BE17-3187C2D90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612" y="1610278"/>
            <a:ext cx="8486775" cy="485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05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an example of signed-unsigned dual-mode comparator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example considers a greater-than comparator in which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interpreted as either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unsigned or signed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data type is specified by a control signal,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first design uses two comparators, one for each data type, and then uses the mode signal to select the desired result. 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4C3A1-5DD9-2AC3-30D5-056166E2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3429000"/>
            <a:ext cx="839152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90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VHDL code of this design is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2B8DC7-313F-5582-B960-67BC97CFB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1610278"/>
            <a:ext cx="8105774" cy="488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 and b have the same sign bit, compare the remaining bits in a regular fashion.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a’s sign bit is ‘1’ and b’s sign bit is ‘0’, a is greater than b when in unsigned mode and b is greater than a when in signed mode.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a’s sign bit is ‘0’ and b’s sign bit is ‘1’, reverse the previous result.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4616648"/>
              </a:xfrm>
              <a:prstGeom prst="rect">
                <a:avLst/>
              </a:prstGeom>
              <a:blipFill>
                <a:blip r:embed="rId2"/>
                <a:stretch>
                  <a:fillRect l="-1169" t="-1715" b="-1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413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VHDL code of this design is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6AFDFF-108C-9380-8459-0597262F7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741" y="1610278"/>
            <a:ext cx="8040517" cy="488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15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difference circuit.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that we want to implement a circuit that takes two unsigned numbers and calculates their difference, i.e., performs the function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1938992"/>
              </a:xfrm>
              <a:prstGeom prst="rect">
                <a:avLst/>
              </a:prstGeom>
              <a:blipFill>
                <a:blip r:embed="rId2"/>
                <a:stretch>
                  <a:fillRect l="-1169" t="-4088" r="-1558" b="-8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01B36-DE16-BA70-B65D-8FFA4E8F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12" y="2995272"/>
            <a:ext cx="59721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67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straightforward design is to compute both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compare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then select the proper subtraction result accordingly.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1477328"/>
              </a:xfrm>
              <a:prstGeom prst="rect">
                <a:avLst/>
              </a:prstGeom>
              <a:blipFill>
                <a:blip r:embed="rId2"/>
                <a:stretch>
                  <a:fillRect l="-1169" t="-5350" b="-115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F6D673-DEC9-7704-6036-E521F2E8B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2196975"/>
            <a:ext cx="6910387" cy="425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03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observation about the initial design is the implementation of the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relational operation &gt;=.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result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en-US" sz="3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&gt;= </a:t>
                </a:r>
                <a14:m>
                  <m:oMath xmlns:m="http://schemas.openxmlformats.org/officeDocument/2006/math">
                    <m:r>
                      <a:rPr lang="en-US" altLang="en-US" sz="3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indirectly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obtained from </a:t>
                </a:r>
                <a14:m>
                  <m:oMath xmlns:m="http://schemas.openxmlformats.org/officeDocument/2006/math">
                    <m:r>
                      <a:rPr lang="en-US" altLang="en-US" sz="3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  <m:r>
                      <a:rPr lang="en-US" altLang="en-US" sz="3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3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examining the sign bit of the subtraction result.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sign bit is ‘0’, the result is positive or 0 and thus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&gt;=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true.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Otherwise, the result is negative and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&gt;=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false.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3323987"/>
              </a:xfrm>
              <a:prstGeom prst="rect">
                <a:avLst/>
              </a:prstGeom>
              <a:blipFill>
                <a:blip r:embed="rId2"/>
                <a:stretch>
                  <a:fillRect l="-1169" t="-2381" b="-4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396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consider this scenario as functionality sharing since the operation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&gt;=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indirectly utilizes the functionality of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the idea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this example, we must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internal representation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since the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original inputs </a:t>
                </a:r>
                <a14:m>
                  <m:oMath xmlns:m="http://schemas.openxmlformats.org/officeDocument/2006/math">
                    <m:r>
                      <a:rPr lang="en-US" altLang="en-US" sz="3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𝒂</m:t>
                    </m:r>
                  </m:oMath>
                </a14:m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3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𝒃</m:t>
                    </m:r>
                  </m:oMath>
                </a14:m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interpreted as unsigned numbers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have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sign bit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extend the internal signals by one bit and interpret them as a signed number.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3323987"/>
              </a:xfrm>
              <a:prstGeom prst="rect">
                <a:avLst/>
              </a:prstGeom>
              <a:blipFill>
                <a:blip r:embed="rId2"/>
                <a:stretch>
                  <a:fillRect l="-1169" t="-2381" r="-1057" b="-4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46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017D5D-095B-82DF-08B5-E78352003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381" y="866012"/>
            <a:ext cx="8795238" cy="561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881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/>
              <p:nvPr/>
            </p:nvSpPr>
            <p:spPr>
              <a:xfrm>
                <a:off x="827479" y="1056280"/>
                <a:ext cx="1095421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revised design can be further optimized by replacing the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expression with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0−</m:t>
                    </m:r>
                  </m:oMath>
                </a14:m>
                <a:r>
                  <a:rPr lang="en-US" alt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diffab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(or simply - </a:t>
                </a:r>
                <a:r>
                  <a:rPr lang="en-US" alt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diffab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457200" indent="-457200" eaLnBrk="1" hangingPunct="1"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 </a:t>
                </a:r>
                <a14:m>
                  <m:oMath xmlns:m="http://schemas.openxmlformats.org/officeDocument/2006/math">
                    <m:r>
                      <a:rPr lang="en-US" altLang="en-US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0−</m:t>
                    </m:r>
                  </m:oMath>
                </a14:m>
                <a:r>
                  <a:rPr lang="en-US" alt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diffab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operation has a constant operand (i.e., 0), the circuit size is about half that of a full subtractor.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21000-77FD-48CB-9804-FF113B30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9" y="1056280"/>
                <a:ext cx="10954214" cy="1938992"/>
              </a:xfrm>
              <a:prstGeom prst="rect">
                <a:avLst/>
              </a:prstGeom>
              <a:blipFill>
                <a:blip r:embed="rId2"/>
                <a:stretch>
                  <a:fillRect l="-1169" t="-4088" b="-8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BDFDF-121E-26B5-DDCE-F56D57D44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164" y="2995272"/>
            <a:ext cx="6969672" cy="34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82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Full Comparator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we need a comparator that has three outputs, indicating the greater-than, equal-to and less-than conditions respectively.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6AA767-8D38-BA24-B0B6-732FC1EF8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0" y="3271103"/>
            <a:ext cx="49149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28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982604-7D09-9892-D045-1473DB454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1569011"/>
            <a:ext cx="90868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27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examine the three operations carefully, we can see that the three conditions are mutually exclusive, and the third one can be derived if the other two are known.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functionality of the first two relational circuits can be shared to obtain the third output.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188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FC447B-B57E-0C33-0895-5AD340073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67" y="1516624"/>
            <a:ext cx="804862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59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look Area and Delay table,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equal-to circuit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and faster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greater-than circuit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(especially compared with the circuit optimized for delay).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further optimize the circuit by using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equal-to operator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the greater-than or less-than operator.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81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84689-C227-9E45-9B6B-B16600292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1690687"/>
            <a:ext cx="8820150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23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Three-function barrel shifter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barrel shifter is a circuit that can shift input data by any number of positions.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 operations can be done in either the left or right direction and are divided into rotate, logic shift and arithmetic shift.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5641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the 8-bit data input, this circuit has a control signal,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logic shift, arithmetic shift and rotate), which specifies the operation to be performed, and a control signal,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amount), which specifies the number of positions to be rotated or shifted.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9ACCC-847A-2ABB-6CFE-30D17B48B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312" y="3317970"/>
            <a:ext cx="414337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48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AC126-E9B9-1E87-C3B4-04913BAE7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2" y="1511544"/>
            <a:ext cx="90201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0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249352-1187-E6F1-D059-77465FBA4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2" y="955747"/>
            <a:ext cx="825817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50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9D513D-54C6-0FCA-88BC-51088A590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7" y="960193"/>
            <a:ext cx="89249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78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993F90-74A6-046D-02DE-24E5FA05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2" y="1205049"/>
            <a:ext cx="902017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26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D9EB08-2F4B-77B9-E85D-550450F8D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085" y="1035295"/>
            <a:ext cx="8902577" cy="534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9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D5D44-3F6C-0F0D-BCB4-8BC8E6C2B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230" y="1390650"/>
            <a:ext cx="598170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41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includes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8-bit 8-to-1 multiplexers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8-bit 3-to-1 multiplexer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examine the output of three shifting operations, we can see that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patterns are very similar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difference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data being shifted into the left part.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share the functionality of a shifting circuit.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25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3B0AE-F428-1194-3FF2-1572C4B12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139961"/>
            <a:ext cx="81915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512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1029826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Functionality Sharing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AA293C-2241-8AF7-A4AE-6AF1CC01D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547812"/>
            <a:ext cx="90297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32946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32755</TotalTime>
  <Words>2003</Words>
  <Application>Microsoft Office PowerPoint</Application>
  <PresentationFormat>Widescreen</PresentationFormat>
  <Paragraphs>259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Calibri</vt:lpstr>
      <vt:lpstr>Cambria Math</vt:lpstr>
      <vt:lpstr>Times New Roman</vt:lpstr>
      <vt:lpstr>UTM Avo</vt:lpstr>
      <vt:lpstr>Wingdings</vt:lpstr>
      <vt:lpstr>Vicostone Template</vt:lpstr>
      <vt:lpstr>CHAPTER 5: Combinational Logic Circuit Design</vt:lpstr>
      <vt:lpstr>Syllabus</vt:lpstr>
      <vt:lpstr>Content</vt:lpstr>
      <vt:lpstr>1. Derivation of Efficient HDL Description</vt:lpstr>
      <vt:lpstr>1. Derivation of Efficient HDL Description</vt:lpstr>
      <vt:lpstr>2. Operator Sharing</vt:lpstr>
      <vt:lpstr>2. Operator Sharing</vt:lpstr>
      <vt:lpstr>2. Operator Sharing</vt:lpstr>
      <vt:lpstr>2. Operator Sharing</vt:lpstr>
      <vt:lpstr>2. Operator Sharing</vt:lpstr>
      <vt:lpstr>2. Operator Sharing</vt:lpstr>
      <vt:lpstr>2. Operator Sharing</vt:lpstr>
      <vt:lpstr>2. Operator Sharing</vt:lpstr>
      <vt:lpstr>2. Operator Sharing</vt:lpstr>
      <vt:lpstr>2. Operator Sharing</vt:lpstr>
      <vt:lpstr>2. Operator Sharing</vt:lpstr>
      <vt:lpstr>2. Operator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  <vt:lpstr>3. Functionality Sharing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 BTJ</dc:title>
  <cp:lastModifiedBy>Le Van Thuan</cp:lastModifiedBy>
  <cp:revision>274</cp:revision>
  <cp:lastPrinted>2022-05-19T08:53:56Z</cp:lastPrinted>
  <dcterms:created xsi:type="dcterms:W3CDTF">2018-07-24T06:18:10Z</dcterms:created>
  <dcterms:modified xsi:type="dcterms:W3CDTF">2024-04-09T11:05:53Z</dcterms:modified>
</cp:coreProperties>
</file>