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4"/>
  </p:notesMasterIdLst>
  <p:sldIdLst>
    <p:sldId id="287" r:id="rId2"/>
    <p:sldId id="318" r:id="rId3"/>
    <p:sldId id="284" r:id="rId4"/>
    <p:sldId id="288" r:id="rId5"/>
    <p:sldId id="575" r:id="rId6"/>
    <p:sldId id="526" r:id="rId7"/>
    <p:sldId id="576" r:id="rId8"/>
    <p:sldId id="577" r:id="rId9"/>
    <p:sldId id="578" r:id="rId10"/>
    <p:sldId id="579" r:id="rId11"/>
    <p:sldId id="580" r:id="rId12"/>
    <p:sldId id="581" r:id="rId13"/>
    <p:sldId id="582" r:id="rId14"/>
    <p:sldId id="583" r:id="rId15"/>
    <p:sldId id="584" r:id="rId16"/>
    <p:sldId id="585" r:id="rId17"/>
    <p:sldId id="586" r:id="rId18"/>
    <p:sldId id="587" r:id="rId19"/>
    <p:sldId id="588" r:id="rId20"/>
    <p:sldId id="589" r:id="rId21"/>
    <p:sldId id="590" r:id="rId22"/>
    <p:sldId id="591" r:id="rId23"/>
    <p:sldId id="592" r:id="rId24"/>
    <p:sldId id="593" r:id="rId25"/>
    <p:sldId id="594" r:id="rId26"/>
    <p:sldId id="595" r:id="rId27"/>
    <p:sldId id="596" r:id="rId28"/>
    <p:sldId id="597" r:id="rId29"/>
    <p:sldId id="598" r:id="rId30"/>
    <p:sldId id="599" r:id="rId31"/>
    <p:sldId id="600" r:id="rId32"/>
    <p:sldId id="601" r:id="rId33"/>
    <p:sldId id="602" r:id="rId34"/>
    <p:sldId id="603" r:id="rId35"/>
    <p:sldId id="604" r:id="rId36"/>
    <p:sldId id="605" r:id="rId37"/>
    <p:sldId id="606" r:id="rId38"/>
    <p:sldId id="607" r:id="rId39"/>
    <p:sldId id="609" r:id="rId40"/>
    <p:sldId id="608" r:id="rId41"/>
    <p:sldId id="611" r:id="rId42"/>
    <p:sldId id="610" r:id="rId43"/>
    <p:sldId id="612" r:id="rId44"/>
    <p:sldId id="613" r:id="rId45"/>
    <p:sldId id="614" r:id="rId46"/>
    <p:sldId id="615" r:id="rId47"/>
    <p:sldId id="616" r:id="rId48"/>
    <p:sldId id="617" r:id="rId49"/>
    <p:sldId id="618" r:id="rId50"/>
    <p:sldId id="619" r:id="rId51"/>
    <p:sldId id="620" r:id="rId52"/>
    <p:sldId id="621" r:id="rId53"/>
    <p:sldId id="622" r:id="rId54"/>
    <p:sldId id="623" r:id="rId55"/>
    <p:sldId id="624" r:id="rId56"/>
    <p:sldId id="625" r:id="rId57"/>
    <p:sldId id="626" r:id="rId58"/>
    <p:sldId id="627" r:id="rId59"/>
    <p:sldId id="628" r:id="rId60"/>
    <p:sldId id="630" r:id="rId61"/>
    <p:sldId id="629" r:id="rId62"/>
    <p:sldId id="631" r:id="rId63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ê Văn Thuận" initials="LVT" lastIdx="1" clrIdx="0">
    <p:extLst>
      <p:ext uri="{19B8F6BF-5375-455C-9EA6-DF929625EA0E}">
        <p15:presenceInfo xmlns:p15="http://schemas.microsoft.com/office/powerpoint/2012/main" userId="S::thuan.levan@phenikaa-uni.edu.vn::c78f3590-89e5-480d-9b95-f74b9503073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37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22" autoAdjust="0"/>
    <p:restoredTop sz="95909" autoAdjust="0"/>
  </p:normalViewPr>
  <p:slideViewPr>
    <p:cSldViewPr snapToGrid="0">
      <p:cViewPr varScale="1">
        <p:scale>
          <a:sx n="107" d="100"/>
          <a:sy n="107" d="100"/>
        </p:scale>
        <p:origin x="876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569D7E1-E5AC-4AB7-95CD-6E57287A7EEF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A20F01A-602A-42CF-8886-814D79988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220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0198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064194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486525"/>
          </a:xfrm>
          <a:prstGeom prst="rect">
            <a:avLst/>
          </a:prstGeom>
          <a:solidFill>
            <a:srgbClr val="2237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785026" y="3704652"/>
            <a:ext cx="10583741" cy="99749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 b="1" baseline="0">
                <a:solidFill>
                  <a:schemeClr val="bg1"/>
                </a:solidFill>
                <a:latin typeface="UTM Avo" panose="02040603050506020204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85026" y="4952857"/>
            <a:ext cx="10583741" cy="3849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aseline="0">
                <a:solidFill>
                  <a:schemeClr val="bg1"/>
                </a:solidFill>
                <a:latin typeface="UTM Avo" panose="0204060305050602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97" y="1582451"/>
            <a:ext cx="8678656" cy="17879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DD9F73E-492F-4733-959D-A5749AFFFAAF}"/>
              </a:ext>
            </a:extLst>
          </p:cNvPr>
          <p:cNvSpPr txBox="1"/>
          <p:nvPr userDrawn="1"/>
        </p:nvSpPr>
        <p:spPr>
          <a:xfrm>
            <a:off x="9526386" y="6613753"/>
            <a:ext cx="2525408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thuan.levan@phenikaa-uni.edu.vn</a:t>
            </a:r>
          </a:p>
        </p:txBody>
      </p:sp>
      <p:pic>
        <p:nvPicPr>
          <p:cNvPr id="8" name="Picture 7" descr="Shape&#10;&#10;Description automatically generated with low confidence">
            <a:extLst>
              <a:ext uri="{FF2B5EF4-FFF2-40B4-BE49-F238E27FC236}">
                <a16:creationId xmlns:a16="http://schemas.microsoft.com/office/drawing/2014/main" id="{D68303B8-D2C5-465B-9346-49A8E223021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437" y="6613753"/>
            <a:ext cx="215444" cy="2154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4E5E3D-EAAF-C004-5CDE-2C71CBDADF64}"/>
              </a:ext>
            </a:extLst>
          </p:cNvPr>
          <p:cNvSpPr txBox="1"/>
          <p:nvPr userDrawn="1"/>
        </p:nvSpPr>
        <p:spPr>
          <a:xfrm>
            <a:off x="82794" y="6612032"/>
            <a:ext cx="1903948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pail.phenikaa-uni.edu.vn</a:t>
            </a:r>
          </a:p>
        </p:txBody>
      </p:sp>
    </p:spTree>
    <p:extLst>
      <p:ext uri="{BB962C8B-B14F-4D97-AF65-F5344CB8AC3E}">
        <p14:creationId xmlns:p14="http://schemas.microsoft.com/office/powerpoint/2010/main" val="4354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106968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142D89-B98B-F946-A31D-7ACA5974D791}"/>
              </a:ext>
            </a:extLst>
          </p:cNvPr>
          <p:cNvSpPr txBox="1"/>
          <p:nvPr userDrawn="1"/>
        </p:nvSpPr>
        <p:spPr>
          <a:xfrm>
            <a:off x="9583798" y="6612032"/>
            <a:ext cx="2525408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thuan.levan@phenikaa-uni.edu.vn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56947" y="227160"/>
            <a:ext cx="7728682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57A6886-747B-4528-84CF-32010B2D52E6}"/>
              </a:ext>
            </a:extLst>
          </p:cNvPr>
          <p:cNvSpPr/>
          <p:nvPr userDrawn="1"/>
        </p:nvSpPr>
        <p:spPr>
          <a:xfrm>
            <a:off x="532658" y="0"/>
            <a:ext cx="89641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68F346-4FF9-4D4E-85DE-D92031C6F8EC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0" name="Picture 9" descr="Shape&#10;&#10;Description automatically generated with low confidence">
            <a:extLst>
              <a:ext uri="{FF2B5EF4-FFF2-40B4-BE49-F238E27FC236}">
                <a16:creationId xmlns:a16="http://schemas.microsoft.com/office/drawing/2014/main" id="{98CA0862-FEB0-4A0F-B552-F28AA18E53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3356" y="6622794"/>
            <a:ext cx="215444" cy="2154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5C5489-17B1-801D-5E86-E7F45820BDA3}"/>
              </a:ext>
            </a:extLst>
          </p:cNvPr>
          <p:cNvSpPr txBox="1"/>
          <p:nvPr userDrawn="1"/>
        </p:nvSpPr>
        <p:spPr>
          <a:xfrm>
            <a:off x="82794" y="6612032"/>
            <a:ext cx="1903948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pail.phenikaa-uni.edu.vn</a:t>
            </a:r>
          </a:p>
        </p:txBody>
      </p:sp>
    </p:spTree>
    <p:extLst>
      <p:ext uri="{BB962C8B-B14F-4D97-AF65-F5344CB8AC3E}">
        <p14:creationId xmlns:p14="http://schemas.microsoft.com/office/powerpoint/2010/main" val="3512312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56947" y="227160"/>
            <a:ext cx="7728682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0D2DC2-9AD0-46C9-A2CB-FB4AE530CF63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3C7BA3-5854-4C1A-AB26-8E83AFDB9C1C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3F1D2-9457-47B7-950E-5B0EDF508580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1" name="Picture 10" descr="Shape&#10;&#10;Description automatically generated with low confidence">
            <a:extLst>
              <a:ext uri="{FF2B5EF4-FFF2-40B4-BE49-F238E27FC236}">
                <a16:creationId xmlns:a16="http://schemas.microsoft.com/office/drawing/2014/main" id="{A6031B82-2D8F-4555-BCC1-3115CFF967F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905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56947" y="227160"/>
            <a:ext cx="7728682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36F995-2F29-4E8D-B342-1E962398505F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D95CFB-1B8A-4CB0-8949-11A244A80C5E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36865C-7183-40E8-9323-035E78C460BB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1" name="Picture 10" descr="Shape&#10;&#10;Description automatically generated with low confidence">
            <a:extLst>
              <a:ext uri="{FF2B5EF4-FFF2-40B4-BE49-F238E27FC236}">
                <a16:creationId xmlns:a16="http://schemas.microsoft.com/office/drawing/2014/main" id="{CEA2A297-F9C3-429B-B54D-7253A946AD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488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56947" y="227160"/>
            <a:ext cx="7728682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7F2710-EFA2-4019-B556-CAF8F057FD2D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C6CD87-31C4-44B8-B9A0-380487039ED3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82E290-CA2E-48B6-A6AC-DD17E567C209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1" name="Picture 10" descr="Shape&#10;&#10;Description automatically generated with low confidence">
            <a:extLst>
              <a:ext uri="{FF2B5EF4-FFF2-40B4-BE49-F238E27FC236}">
                <a16:creationId xmlns:a16="http://schemas.microsoft.com/office/drawing/2014/main" id="{6FA9A129-6464-4B54-8084-94C471855C7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015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263685" y="2846231"/>
            <a:ext cx="4417452" cy="1460428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5600" b="1" baseline="0">
                <a:solidFill>
                  <a:srgbClr val="223771"/>
                </a:solidFill>
                <a:latin typeface="UTM Avo" panose="02040603050506020204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63685" y="4429523"/>
            <a:ext cx="4417452" cy="7500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aseline="0">
                <a:latin typeface="UTM Avo" panose="0204060305050602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1" y="862149"/>
            <a:ext cx="7096258" cy="56319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TM Avo" panose="02040603050506020204" pitchFamily="18" charset="0"/>
              </a:defRPr>
            </a:lvl1pPr>
          </a:lstStyle>
          <a:p>
            <a:pPr lvl="0"/>
            <a:r>
              <a:rPr lang="en-US" dirty="0"/>
              <a:t>Hình ảnh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A98EF6-B54D-4232-96A3-D71047796515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pic>
        <p:nvPicPr>
          <p:cNvPr id="12" name="Picture 11" descr="Shape&#10;&#10;Description automatically generated with low confidence">
            <a:extLst>
              <a:ext uri="{FF2B5EF4-FFF2-40B4-BE49-F238E27FC236}">
                <a16:creationId xmlns:a16="http://schemas.microsoft.com/office/drawing/2014/main" id="{D486C0A1-B022-43A4-A558-B9E8916BA8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738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F674A0-D445-4C14-83CD-38226D1439C8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DC1734-67C3-4443-8460-F8DBA3D27FC6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088CD-189D-4350-AE5C-EA4E5DEDE303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2" name="Picture 11" descr="Shape&#10;&#10;Description automatically generated with low confidence">
            <a:extLst>
              <a:ext uri="{FF2B5EF4-FFF2-40B4-BE49-F238E27FC236}">
                <a16:creationId xmlns:a16="http://schemas.microsoft.com/office/drawing/2014/main" id="{C5E0C745-AAEA-42E0-BD19-9FFC173DF7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464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01899" y="351789"/>
            <a:ext cx="8061101" cy="9227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01899" y="1639781"/>
            <a:ext cx="3336702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UTM Avo" panose="02040603050506020204" pitchFamily="18" charset="0"/>
              </a:defRPr>
            </a:lvl1pPr>
            <a:lvl2pPr>
              <a:defRPr>
                <a:latin typeface="UTM Avo" panose="02040603050506020204" pitchFamily="18" charset="0"/>
              </a:defRPr>
            </a:lvl2pPr>
            <a:lvl3pPr>
              <a:defRPr>
                <a:latin typeface="UTM Avo" panose="02040603050506020204" pitchFamily="18" charset="0"/>
              </a:defRPr>
            </a:lvl3pPr>
            <a:lvl4pPr>
              <a:defRPr>
                <a:latin typeface="UTM Avo" panose="02040603050506020204" pitchFamily="18" charset="0"/>
              </a:defRPr>
            </a:lvl4pPr>
            <a:lvl5pPr>
              <a:defRPr>
                <a:latin typeface="UTM Avo" panose="0204060305050602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11710" y="1639781"/>
            <a:ext cx="3331872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UTM Avo" panose="02040603050506020204" pitchFamily="18" charset="0"/>
              </a:defRPr>
            </a:lvl1pPr>
            <a:lvl2pPr>
              <a:defRPr>
                <a:latin typeface="UTM Avo" panose="02040603050506020204" pitchFamily="18" charset="0"/>
              </a:defRPr>
            </a:lvl2pPr>
            <a:lvl3pPr>
              <a:defRPr>
                <a:latin typeface="UTM Avo" panose="02040603050506020204" pitchFamily="18" charset="0"/>
              </a:defRPr>
            </a:lvl3pPr>
            <a:lvl4pPr>
              <a:defRPr>
                <a:latin typeface="UTM Avo" panose="02040603050506020204" pitchFamily="18" charset="0"/>
              </a:defRPr>
            </a:lvl4pPr>
            <a:lvl5pPr>
              <a:defRPr>
                <a:latin typeface="UTM Avo" panose="0204060305050602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3"/>
          <p:cNvSpPr>
            <a:spLocks noGrp="1"/>
          </p:cNvSpPr>
          <p:nvPr>
            <p:ph sz="half" idx="13" hasCustomPrompt="1"/>
          </p:nvPr>
        </p:nvSpPr>
        <p:spPr>
          <a:xfrm>
            <a:off x="8426539" y="1639781"/>
            <a:ext cx="3331872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UTM Avo" panose="02040603050506020204" pitchFamily="18" charset="0"/>
              </a:defRPr>
            </a:lvl1pPr>
            <a:lvl2pPr>
              <a:defRPr>
                <a:latin typeface="UTM Avo" panose="02040603050506020204" pitchFamily="18" charset="0"/>
              </a:defRPr>
            </a:lvl2pPr>
            <a:lvl3pPr>
              <a:defRPr>
                <a:latin typeface="UTM Avo" panose="02040603050506020204" pitchFamily="18" charset="0"/>
              </a:defRPr>
            </a:lvl3pPr>
            <a:lvl4pPr>
              <a:defRPr>
                <a:latin typeface="UTM Avo" panose="02040603050506020204" pitchFamily="18" charset="0"/>
              </a:defRPr>
            </a:lvl4pPr>
            <a:lvl5pPr>
              <a:defRPr>
                <a:latin typeface="UTM Avo" panose="0204060305050602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9A717A-9473-4D01-AFFA-39323BC3FE1F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A6CBD4-D234-414D-AB38-1B0372324231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5E9A1D-9908-4963-BBCA-B9603513672F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4" name="Picture 13" descr="Shape&#10;&#10;Description automatically generated with low confidence">
            <a:extLst>
              <a:ext uri="{FF2B5EF4-FFF2-40B4-BE49-F238E27FC236}">
                <a16:creationId xmlns:a16="http://schemas.microsoft.com/office/drawing/2014/main" id="{308D8CB6-ADE4-4812-9DD7-2FB15552B44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545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92" y="90029"/>
            <a:ext cx="2539035" cy="511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BE6C77-C511-4273-8155-2D0484084255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pic>
        <p:nvPicPr>
          <p:cNvPr id="10" name="Picture 9" descr="Shape&#10;&#10;Description automatically generated with low confidence">
            <a:extLst>
              <a:ext uri="{FF2B5EF4-FFF2-40B4-BE49-F238E27FC236}">
                <a16:creationId xmlns:a16="http://schemas.microsoft.com/office/drawing/2014/main" id="{F459F8FB-0B0E-4294-9F5F-555C0C4C97A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07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A9DA5F-F00A-45CE-8679-BE1CD99F449B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pic>
        <p:nvPicPr>
          <p:cNvPr id="8" name="Picture 7" descr="Shape&#10;&#10;Description automatically generated with low confidence">
            <a:extLst>
              <a:ext uri="{FF2B5EF4-FFF2-40B4-BE49-F238E27FC236}">
                <a16:creationId xmlns:a16="http://schemas.microsoft.com/office/drawing/2014/main" id="{DA828293-FDB2-4B6D-9623-EEABA0C7C47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315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UTM Avo" panose="02040603050506020204" pitchFamily="18" charset="0"/>
              </a:defRPr>
            </a:lvl1pPr>
            <a:lvl2pPr>
              <a:defRPr>
                <a:latin typeface="UTM Avo" panose="02040603050506020204" pitchFamily="18" charset="0"/>
              </a:defRPr>
            </a:lvl2pPr>
            <a:lvl3pPr>
              <a:defRPr>
                <a:latin typeface="UTM Avo" panose="02040603050506020204" pitchFamily="18" charset="0"/>
              </a:defRPr>
            </a:lvl3pPr>
            <a:lvl4pPr>
              <a:defRPr>
                <a:latin typeface="UTM Avo" panose="02040603050506020204" pitchFamily="18" charset="0"/>
              </a:defRPr>
            </a:lvl4pPr>
            <a:lvl5pPr>
              <a:defRPr>
                <a:latin typeface="UTM Avo" panose="020406030505060202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92" y="90029"/>
            <a:ext cx="2539035" cy="51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300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7AE6AC-9427-433F-AC00-F723CA5DD87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1484" y="636252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</a:lstStyle>
          <a:p>
            <a:fld id="{154F4D4A-FD71-41E6-BED5-CF551BFDBC37}" type="datetimeFigureOut">
              <a:rPr lang="en-US" smtClean="0"/>
              <a:pPr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</a:lstStyle>
          <a:p>
            <a:fld id="{086B6608-6F69-448F-99DC-C9E613BFB696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6494093"/>
            <a:ext cx="12192000" cy="373091"/>
            <a:chOff x="0" y="1661375"/>
            <a:chExt cx="12192000" cy="373091"/>
          </a:xfrm>
        </p:grpSpPr>
        <p:sp>
          <p:nvSpPr>
            <p:cNvPr id="8" name="Rectangle 7"/>
            <p:cNvSpPr/>
            <p:nvPr/>
          </p:nvSpPr>
          <p:spPr>
            <a:xfrm>
              <a:off x="0" y="1661375"/>
              <a:ext cx="12192000" cy="109728"/>
            </a:xfrm>
            <a:prstGeom prst="rect">
              <a:avLst/>
            </a:prstGeom>
            <a:solidFill>
              <a:srgbClr val="F265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UTM Avo" panose="020406030505060202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1760146"/>
              <a:ext cx="12192000" cy="274320"/>
            </a:xfrm>
            <a:prstGeom prst="rect">
              <a:avLst/>
            </a:prstGeom>
            <a:solidFill>
              <a:srgbClr val="2237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UTM Avo" panose="0204060305050602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0836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1" r:id="rId4"/>
    <p:sldLayoutId id="2147483663" r:id="rId5"/>
    <p:sldLayoutId id="2147483660" r:id="rId6"/>
    <p:sldLayoutId id="2147483651" r:id="rId7"/>
    <p:sldLayoutId id="2147483652" r:id="rId8"/>
    <p:sldLayoutId id="2147483654" r:id="rId9"/>
    <p:sldLayoutId id="2147483655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1FBF3-8459-4CBE-8502-1C0A4CC3B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611" y="4029967"/>
            <a:ext cx="10750482" cy="128058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UTM Avo" panose="02040603050506020204" pitchFamily="18" charset="0"/>
              </a:rPr>
              <a:t>CHAPTER 7: </a:t>
            </a:r>
            <a:r>
              <a:rPr lang="en-US" altLang="en-US" sz="4800" b="1" dirty="0"/>
              <a:t>Finite State Machine (FSM) Principle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015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781" y="87823"/>
            <a:ext cx="7728682" cy="553289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Syllabus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D49CA4-8620-3C77-C1E7-164BE0467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8F721B-6A10-6C8C-CC4D-8209027AC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288144"/>
              </p:ext>
            </p:extLst>
          </p:nvPr>
        </p:nvGraphicFramePr>
        <p:xfrm>
          <a:off x="2031999" y="1493520"/>
          <a:ext cx="9398001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8060">
                  <a:extLst>
                    <a:ext uri="{9D8B030D-6E8A-4147-A177-3AD203B41FA5}">
                      <a16:colId xmlns:a16="http://schemas.microsoft.com/office/drawing/2014/main" val="3085157533"/>
                    </a:ext>
                  </a:extLst>
                </a:gridCol>
                <a:gridCol w="6966310">
                  <a:extLst>
                    <a:ext uri="{9D8B030D-6E8A-4147-A177-3AD203B41FA5}">
                      <a16:colId xmlns:a16="http://schemas.microsoft.com/office/drawing/2014/main" val="1793565155"/>
                    </a:ext>
                  </a:extLst>
                </a:gridCol>
                <a:gridCol w="983631">
                  <a:extLst>
                    <a:ext uri="{9D8B030D-6E8A-4147-A177-3AD203B41FA5}">
                      <a16:colId xmlns:a16="http://schemas.microsoft.com/office/drawing/2014/main" val="1311660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030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Chapter 0: Course Introduction (1)</a:t>
                      </a:r>
                    </a:p>
                    <a:p>
                      <a:r>
                        <a:rPr lang="en-US" sz="2000" b="0" dirty="0"/>
                        <a:t>Chapter 1: Introduction to Digital Design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405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Chapter 2: Overview of HDL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142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Chapter 3: Basic Language Constructs of VHDL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170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4, 5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Chapter 4: Signal Assignment Statements of VHDL (6)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75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Chapter 5: Combinational Logic Circuit Design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518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Midterm Exam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395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Chapter 6:  Sequential Logic Circuit Design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570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9, 10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Chapter 7: Finite State Machine (FSM) Principle (6)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255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0696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298E9A-67CA-41E0-AA43-37E496A0185E}"/>
              </a:ext>
            </a:extLst>
          </p:cNvPr>
          <p:cNvSpPr txBox="1"/>
          <p:nvPr/>
        </p:nvSpPr>
        <p:spPr>
          <a:xfrm>
            <a:off x="867715" y="1159404"/>
            <a:ext cx="10077061" cy="347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571500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FSMs</a:t>
            </a:r>
          </a:p>
          <a:p>
            <a:pPr indent="-571500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FSMs</a:t>
            </a:r>
          </a:p>
          <a:p>
            <a:pPr indent="-571500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FSMs in VHDL</a:t>
            </a:r>
          </a:p>
          <a:p>
            <a:pPr indent="-571500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indent="-571500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ASM Charts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8C9E1CEC-24D0-BC30-5A74-1E9E2364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489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Overview of FSM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Datapath vs. Controller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a Typical Digital System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</a:t>
            </a:fld>
            <a:endParaRPr lang="en-US" dirty="0"/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C242F12A-3C07-CA3D-6D9F-F49E30057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1211" y="3310074"/>
            <a:ext cx="2286000" cy="1447800"/>
          </a:xfrm>
          <a:prstGeom prst="rect">
            <a:avLst/>
          </a:prstGeom>
          <a:solidFill>
            <a:srgbClr val="3366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</a:pPr>
            <a:r>
              <a:rPr kumimoji="0" lang="en-US" sz="2800">
                <a:solidFill>
                  <a:srgbClr val="FFFFFF"/>
                </a:solidFill>
              </a:rPr>
              <a:t>Datapath</a:t>
            </a:r>
          </a:p>
          <a:p>
            <a:pPr algn="ctr">
              <a:spcBef>
                <a:spcPct val="0"/>
              </a:spcBef>
              <a:buClrTx/>
            </a:pPr>
            <a:r>
              <a:rPr kumimoji="0" lang="en-US" sz="2800">
                <a:solidFill>
                  <a:srgbClr val="FFFFFF"/>
                </a:solidFill>
              </a:rPr>
              <a:t>(</a:t>
            </a:r>
            <a:r>
              <a:rPr kumimoji="0" lang="pl-PL" sz="2800">
                <a:solidFill>
                  <a:srgbClr val="FFFFFF"/>
                </a:solidFill>
              </a:rPr>
              <a:t>Execution </a:t>
            </a:r>
          </a:p>
          <a:p>
            <a:pPr algn="ctr">
              <a:spcBef>
                <a:spcPct val="0"/>
              </a:spcBef>
              <a:buClrTx/>
            </a:pPr>
            <a:r>
              <a:rPr kumimoji="0" lang="pl-PL" sz="2800">
                <a:solidFill>
                  <a:srgbClr val="FFFFFF"/>
                </a:solidFill>
              </a:rPr>
              <a:t>Unit</a:t>
            </a:r>
            <a:r>
              <a:rPr kumimoji="0" lang="en-US" sz="280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48BCB5CE-DC4F-1D3E-2CF1-056A3CB8A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7486" y="3310074"/>
            <a:ext cx="2286000" cy="1447800"/>
          </a:xfrm>
          <a:prstGeom prst="rect">
            <a:avLst/>
          </a:prstGeom>
          <a:solidFill>
            <a:srgbClr val="008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</a:pPr>
            <a:r>
              <a:rPr kumimoji="0" lang="pl-PL" sz="2800">
                <a:solidFill>
                  <a:srgbClr val="FFFFFF"/>
                </a:solidFill>
              </a:rPr>
              <a:t>Control</a:t>
            </a:r>
            <a:r>
              <a:rPr kumimoji="0" lang="en-US" sz="2800">
                <a:solidFill>
                  <a:srgbClr val="FFFFFF"/>
                </a:solidFill>
              </a:rPr>
              <a:t>ler</a:t>
            </a:r>
          </a:p>
          <a:p>
            <a:pPr algn="ctr">
              <a:spcBef>
                <a:spcPct val="0"/>
              </a:spcBef>
              <a:buClrTx/>
            </a:pPr>
            <a:r>
              <a:rPr kumimoji="0" lang="en-US" sz="2800">
                <a:solidFill>
                  <a:srgbClr val="FFFFFF"/>
                </a:solidFill>
              </a:rPr>
              <a:t>(Control</a:t>
            </a:r>
            <a:r>
              <a:rPr kumimoji="0" lang="pl-PL" sz="2800">
                <a:solidFill>
                  <a:srgbClr val="FFFFFF"/>
                </a:solidFill>
              </a:rPr>
              <a:t> </a:t>
            </a:r>
          </a:p>
          <a:p>
            <a:pPr algn="ctr">
              <a:spcBef>
                <a:spcPct val="0"/>
              </a:spcBef>
              <a:buClrTx/>
            </a:pPr>
            <a:r>
              <a:rPr kumimoji="0" lang="pl-PL" sz="2800">
                <a:solidFill>
                  <a:srgbClr val="FFFFFF"/>
                </a:solidFill>
              </a:rPr>
              <a:t>Unit</a:t>
            </a:r>
            <a:r>
              <a:rPr kumimoji="0" lang="en-US" sz="280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25" name="AutoShape 5">
            <a:extLst>
              <a:ext uri="{FF2B5EF4-FFF2-40B4-BE49-F238E27FC236}">
                <a16:creationId xmlns:a16="http://schemas.microsoft.com/office/drawing/2014/main" id="{3260F746-42C6-1F46-53BE-2F0D05185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0211" y="2624274"/>
            <a:ext cx="533400" cy="609600"/>
          </a:xfrm>
          <a:prstGeom prst="downArrow">
            <a:avLst>
              <a:gd name="adj1" fmla="val 50000"/>
              <a:gd name="adj2" fmla="val 28571"/>
            </a:avLst>
          </a:prstGeom>
          <a:solidFill>
            <a:srgbClr val="1E3EF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spcBef>
                <a:spcPct val="0"/>
              </a:spcBef>
              <a:buClrTx/>
            </a:pPr>
            <a:endParaRPr kumimoji="0" lang="en-US" sz="1800">
              <a:solidFill>
                <a:srgbClr val="000000"/>
              </a:solidFill>
            </a:endParaRPr>
          </a:p>
        </p:txBody>
      </p:sp>
      <p:sp>
        <p:nvSpPr>
          <p:cNvPr id="26" name="Text Box 8">
            <a:extLst>
              <a:ext uri="{FF2B5EF4-FFF2-40B4-BE49-F238E27FC236}">
                <a16:creationId xmlns:a16="http://schemas.microsoft.com/office/drawing/2014/main" id="{3A0B651C-F9A7-BC75-A12A-19EC4B921B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3611" y="2014674"/>
            <a:ext cx="20050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800">
                <a:solidFill>
                  <a:srgbClr val="000000"/>
                </a:solidFill>
              </a:rPr>
              <a:t>Data Inputs</a:t>
            </a:r>
          </a:p>
        </p:txBody>
      </p:sp>
      <p:sp>
        <p:nvSpPr>
          <p:cNvPr id="27" name="Text Box 9">
            <a:extLst>
              <a:ext uri="{FF2B5EF4-FFF2-40B4-BE49-F238E27FC236}">
                <a16:creationId xmlns:a16="http://schemas.microsoft.com/office/drawing/2014/main" id="{440B12C0-4132-F05A-42B0-198B38CD87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7411" y="5672274"/>
            <a:ext cx="22812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800">
                <a:solidFill>
                  <a:srgbClr val="000000"/>
                </a:solidFill>
              </a:rPr>
              <a:t>Data Outputs</a:t>
            </a:r>
          </a:p>
        </p:txBody>
      </p:sp>
      <p:sp>
        <p:nvSpPr>
          <p:cNvPr id="28" name="Text Box 10">
            <a:extLst>
              <a:ext uri="{FF2B5EF4-FFF2-40B4-BE49-F238E27FC236}">
                <a16:creationId xmlns:a16="http://schemas.microsoft.com/office/drawing/2014/main" id="{67DBCD4A-FCC0-C149-26FC-EFB8C544A9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6473" y="2014674"/>
            <a:ext cx="3876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800">
                <a:solidFill>
                  <a:srgbClr val="000000"/>
                </a:solidFill>
              </a:rPr>
              <a:t>Control &amp; Status Inputs</a:t>
            </a:r>
          </a:p>
        </p:txBody>
      </p:sp>
      <p:sp>
        <p:nvSpPr>
          <p:cNvPr id="29" name="Text Box 12">
            <a:extLst>
              <a:ext uri="{FF2B5EF4-FFF2-40B4-BE49-F238E27FC236}">
                <a16:creationId xmlns:a16="http://schemas.microsoft.com/office/drawing/2014/main" id="{F120D974-38C6-3FA6-4294-06FF6D626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4548" y="5672274"/>
            <a:ext cx="4156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800">
                <a:solidFill>
                  <a:srgbClr val="000000"/>
                </a:solidFill>
              </a:rPr>
              <a:t>Control &amp; Status </a:t>
            </a:r>
            <a:r>
              <a:rPr kumimoji="0" lang="pl-PL" sz="2800">
                <a:solidFill>
                  <a:srgbClr val="000000"/>
                </a:solidFill>
              </a:rPr>
              <a:t>Outputs</a:t>
            </a:r>
            <a:endParaRPr kumimoji="0" lang="en-US" sz="2800">
              <a:solidFill>
                <a:srgbClr val="000000"/>
              </a:solidFill>
            </a:endParaRPr>
          </a:p>
        </p:txBody>
      </p:sp>
      <p:sp>
        <p:nvSpPr>
          <p:cNvPr id="30" name="Text Box 13">
            <a:extLst>
              <a:ext uri="{FF2B5EF4-FFF2-40B4-BE49-F238E27FC236}">
                <a16:creationId xmlns:a16="http://schemas.microsoft.com/office/drawing/2014/main" id="{E8A6298F-59CF-BDB5-927F-5AD3D4E51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1548" y="2548074"/>
            <a:ext cx="14319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800" dirty="0">
                <a:solidFill>
                  <a:srgbClr val="000000"/>
                </a:solidFill>
              </a:rPr>
              <a:t>Control 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800" dirty="0">
                <a:solidFill>
                  <a:srgbClr val="000000"/>
                </a:solidFill>
              </a:rPr>
              <a:t>Signals</a:t>
            </a:r>
          </a:p>
        </p:txBody>
      </p:sp>
      <p:grpSp>
        <p:nvGrpSpPr>
          <p:cNvPr id="31" name="Group 14">
            <a:extLst>
              <a:ext uri="{FF2B5EF4-FFF2-40B4-BE49-F238E27FC236}">
                <a16:creationId xmlns:a16="http://schemas.microsoft.com/office/drawing/2014/main" id="{E35D45BD-22C0-8B25-0795-E592CCEE7D60}"/>
              </a:ext>
            </a:extLst>
          </p:cNvPr>
          <p:cNvGrpSpPr>
            <a:grpSpLocks/>
          </p:cNvGrpSpPr>
          <p:nvPr/>
        </p:nvGrpSpPr>
        <p:grpSpPr bwMode="auto">
          <a:xfrm>
            <a:off x="4561498" y="3538674"/>
            <a:ext cx="2176463" cy="533400"/>
            <a:chOff x="2016" y="1872"/>
            <a:chExt cx="1359" cy="336"/>
          </a:xfrm>
          <a:solidFill>
            <a:srgbClr val="1E3EF2"/>
          </a:solidFill>
        </p:grpSpPr>
        <p:sp>
          <p:nvSpPr>
            <p:cNvPr id="32" name="AutoShape 15">
              <a:extLst>
                <a:ext uri="{FF2B5EF4-FFF2-40B4-BE49-F238E27FC236}">
                  <a16:creationId xmlns:a16="http://schemas.microsoft.com/office/drawing/2014/main" id="{C6D7F2ED-E30C-EB88-8394-70EFBDFF04A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040" y="1848"/>
              <a:ext cx="336" cy="384"/>
            </a:xfrm>
            <a:prstGeom prst="downArrow">
              <a:avLst>
                <a:gd name="adj1" fmla="val 50000"/>
                <a:gd name="adj2" fmla="val 28571"/>
              </a:avLst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spcBef>
                  <a:spcPct val="0"/>
                </a:spcBef>
                <a:buClrTx/>
                <a:defRPr/>
              </a:pPr>
              <a:endParaRPr kumimoji="0" lang="en-US" sz="1800">
                <a:solidFill>
                  <a:srgbClr val="000000"/>
                </a:solidFill>
                <a:ea typeface="+mn-ea"/>
                <a:cs typeface="+mn-cs"/>
              </a:endParaRPr>
            </a:p>
          </p:txBody>
        </p:sp>
        <p:sp>
          <p:nvSpPr>
            <p:cNvPr id="33" name="Rectangle 16">
              <a:extLst>
                <a:ext uri="{FF2B5EF4-FFF2-40B4-BE49-F238E27FC236}">
                  <a16:creationId xmlns:a16="http://schemas.microsoft.com/office/drawing/2014/main" id="{E63275C1-E36E-E8AC-5012-CCCAC410FF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7" y="1955"/>
              <a:ext cx="978" cy="16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spcBef>
                  <a:spcPct val="0"/>
                </a:spcBef>
                <a:buClrTx/>
                <a:defRPr/>
              </a:pPr>
              <a:endParaRPr kumimoji="0" lang="en-US" sz="1800">
                <a:solidFill>
                  <a:srgbClr val="000000"/>
                </a:solidFill>
                <a:ea typeface="+mn-ea"/>
                <a:cs typeface="+mn-cs"/>
              </a:endParaRPr>
            </a:p>
          </p:txBody>
        </p:sp>
      </p:grpSp>
      <p:grpSp>
        <p:nvGrpSpPr>
          <p:cNvPr id="34" name="Group 17">
            <a:extLst>
              <a:ext uri="{FF2B5EF4-FFF2-40B4-BE49-F238E27FC236}">
                <a16:creationId xmlns:a16="http://schemas.microsoft.com/office/drawing/2014/main" id="{F059FB40-34AC-FB74-EC93-15BE283B11F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556736" y="4162562"/>
            <a:ext cx="2166937" cy="533400"/>
            <a:chOff x="2016" y="1872"/>
            <a:chExt cx="1359" cy="336"/>
          </a:xfrm>
          <a:solidFill>
            <a:srgbClr val="1E3EF2"/>
          </a:solidFill>
        </p:grpSpPr>
        <p:sp>
          <p:nvSpPr>
            <p:cNvPr id="35" name="AutoShape 18">
              <a:extLst>
                <a:ext uri="{FF2B5EF4-FFF2-40B4-BE49-F238E27FC236}">
                  <a16:creationId xmlns:a16="http://schemas.microsoft.com/office/drawing/2014/main" id="{FD812E44-DB50-38D8-DF5B-5C0078B2A4C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040" y="1848"/>
              <a:ext cx="336" cy="384"/>
            </a:xfrm>
            <a:prstGeom prst="downArrow">
              <a:avLst>
                <a:gd name="adj1" fmla="val 50000"/>
                <a:gd name="adj2" fmla="val 28571"/>
              </a:avLst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spcBef>
                  <a:spcPct val="0"/>
                </a:spcBef>
                <a:buClrTx/>
                <a:defRPr/>
              </a:pPr>
              <a:endParaRPr kumimoji="0" lang="en-US" sz="1800">
                <a:solidFill>
                  <a:srgbClr val="000000"/>
                </a:solidFill>
                <a:ea typeface="+mn-ea"/>
                <a:cs typeface="+mn-cs"/>
              </a:endParaRPr>
            </a:p>
          </p:txBody>
        </p:sp>
        <p:sp>
          <p:nvSpPr>
            <p:cNvPr id="36" name="Rectangle 19">
              <a:extLst>
                <a:ext uri="{FF2B5EF4-FFF2-40B4-BE49-F238E27FC236}">
                  <a16:creationId xmlns:a16="http://schemas.microsoft.com/office/drawing/2014/main" id="{761CAE8F-7E79-4B9C-4B0B-C392DB9C4CC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397" y="1955"/>
              <a:ext cx="978" cy="16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spcBef>
                  <a:spcPct val="0"/>
                </a:spcBef>
                <a:buClrTx/>
                <a:defRPr/>
              </a:pPr>
              <a:endParaRPr kumimoji="0" lang="en-US" sz="1800">
                <a:solidFill>
                  <a:srgbClr val="000000"/>
                </a:solidFill>
                <a:ea typeface="+mn-ea"/>
                <a:cs typeface="+mn-cs"/>
              </a:endParaRPr>
            </a:p>
          </p:txBody>
        </p:sp>
      </p:grpSp>
      <p:sp>
        <p:nvSpPr>
          <p:cNvPr id="37" name="Text Box 20">
            <a:extLst>
              <a:ext uri="{FF2B5EF4-FFF2-40B4-BE49-F238E27FC236}">
                <a16:creationId xmlns:a16="http://schemas.microsoft.com/office/drawing/2014/main" id="{0272927D-6D30-CBBA-BA6B-997711041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5348" y="4605474"/>
            <a:ext cx="13525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0"/>
              </a:spcBef>
              <a:buClrTx/>
            </a:pPr>
            <a:r>
              <a:rPr kumimoji="0" lang="en-US" sz="2800">
                <a:solidFill>
                  <a:srgbClr val="000000"/>
                </a:solidFill>
              </a:rPr>
              <a:t>Status</a:t>
            </a:r>
          </a:p>
          <a:p>
            <a:pPr algn="ctr">
              <a:spcBef>
                <a:spcPct val="0"/>
              </a:spcBef>
              <a:buClrTx/>
            </a:pPr>
            <a:r>
              <a:rPr kumimoji="0" lang="en-US" sz="2800">
                <a:solidFill>
                  <a:srgbClr val="000000"/>
                </a:solidFill>
              </a:rPr>
              <a:t>Signals</a:t>
            </a:r>
          </a:p>
        </p:txBody>
      </p:sp>
      <p:sp>
        <p:nvSpPr>
          <p:cNvPr id="38" name="AutoShape 5">
            <a:extLst>
              <a:ext uri="{FF2B5EF4-FFF2-40B4-BE49-F238E27FC236}">
                <a16:creationId xmlns:a16="http://schemas.microsoft.com/office/drawing/2014/main" id="{529FE351-C6E9-410F-50D3-F820FEE9F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7348" y="4757874"/>
            <a:ext cx="533400" cy="609600"/>
          </a:xfrm>
          <a:prstGeom prst="downArrow">
            <a:avLst>
              <a:gd name="adj1" fmla="val 50000"/>
              <a:gd name="adj2" fmla="val 28571"/>
            </a:avLst>
          </a:prstGeom>
          <a:solidFill>
            <a:srgbClr val="1E3EF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spcBef>
                <a:spcPct val="0"/>
              </a:spcBef>
              <a:buClrTx/>
            </a:pPr>
            <a:endParaRPr kumimoji="0" lang="en-US" sz="1800">
              <a:solidFill>
                <a:srgbClr val="000000"/>
              </a:solidFill>
            </a:endParaRPr>
          </a:p>
        </p:txBody>
      </p:sp>
      <p:sp>
        <p:nvSpPr>
          <p:cNvPr id="39" name="AutoShape 5">
            <a:extLst>
              <a:ext uri="{FF2B5EF4-FFF2-40B4-BE49-F238E27FC236}">
                <a16:creationId xmlns:a16="http://schemas.microsoft.com/office/drawing/2014/main" id="{76F4FA74-1F1F-A514-9275-437C9AE8D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8548" y="2662374"/>
            <a:ext cx="533400" cy="609600"/>
          </a:xfrm>
          <a:prstGeom prst="downArrow">
            <a:avLst>
              <a:gd name="adj1" fmla="val 50000"/>
              <a:gd name="adj2" fmla="val 28571"/>
            </a:avLst>
          </a:prstGeom>
          <a:solidFill>
            <a:srgbClr val="1E3EF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spcBef>
                <a:spcPct val="0"/>
              </a:spcBef>
              <a:buClrTx/>
            </a:pPr>
            <a:endParaRPr kumimoji="0" lang="en-US" sz="1800">
              <a:solidFill>
                <a:srgbClr val="000000"/>
              </a:solidFill>
            </a:endParaRPr>
          </a:p>
        </p:txBody>
      </p:sp>
      <p:sp>
        <p:nvSpPr>
          <p:cNvPr id="40" name="AutoShape 5">
            <a:extLst>
              <a:ext uri="{FF2B5EF4-FFF2-40B4-BE49-F238E27FC236}">
                <a16:creationId xmlns:a16="http://schemas.microsoft.com/office/drawing/2014/main" id="{F47B4C1F-B00A-9202-C10C-27FE34573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8548" y="4757874"/>
            <a:ext cx="533400" cy="609600"/>
          </a:xfrm>
          <a:prstGeom prst="downArrow">
            <a:avLst>
              <a:gd name="adj1" fmla="val 50000"/>
              <a:gd name="adj2" fmla="val 28571"/>
            </a:avLst>
          </a:prstGeom>
          <a:solidFill>
            <a:srgbClr val="1E3EF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spcBef>
                <a:spcPct val="0"/>
              </a:spcBef>
              <a:buClrTx/>
            </a:pPr>
            <a:endParaRPr kumimoji="0" 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204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1063200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Overview of FSM (Datapath – Execution Unit)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Manipulate and process data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arithmetic and logic operations, shifting/rotating, and other data-processing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Composed of registers, multiplexers, adders, decoders, comparators, ALUs, gates, etc.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all necessary resources and interconnects among them to perform specified task.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Interprets control signals from the controller and generates status signals for controller.</a:t>
            </a: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774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Overview of FSM (Controller Unit)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data movement in the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datapath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switching multiplexers and enabling or disabling resources.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Enable signals for registers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select signals for muxes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signals to active various processing tasks in the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datapath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i.e., +, -, or *, …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sequence of operations performed by the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datapath</a:t>
            </a: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Follows some ‘program’ or schedule.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206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Overview of FSM (Controller Unit)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 can be programmable or non-programmable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Programmable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a program counter which points to next instruction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 are held in a RAM or ROM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Microprocessor is an example of programmable controller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Non-Programmable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designed, implements the same functionality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term is a “hardwired state machine”, or “hardwired FSM”, or “hardwired instructions”.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course, we will be focusing on non-programmable controllers.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781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Overview of FSM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Controllers can be described as Finite State Machines (FSMs)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FSMs can be represented using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Diagrams and State Tables – suitable for simple controllers with a relatively few inputs and outputs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Algorithmic State Machine (ASM) Charts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of these descriptions can be easily translated to the corresponding synthesizable VHDL code.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55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Overview of FSM (Step of Design Process)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description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interface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the functionality using pseudo-code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pseudo-code to FSM in state diagram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states and state transitions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datapath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operations in each state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VHDL code to implement FSM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testbench for simulation and debugging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and timing simulation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Timing simulation can reveal more bugs and pre-synthesis simulation.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the implement on FPGA boards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90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FSMs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FSM is used to model a system that transits among a finite number of internal states. The transitions depend on the current state and external input.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application of an FSM is to act as the controller of a medium to large digital system.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FSMs involves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states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state transitions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operations performed in each state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Optimize/minimize FSM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optimization/minimization is practical for small FSMs only.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909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FSMs (Moore FSM)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is a function of the present state only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11</a:t>
            </a:fld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7340329-9445-B7F8-2A0D-F6BA72E85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752" y="3593124"/>
            <a:ext cx="2155825" cy="923925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</a:pPr>
            <a:r>
              <a:rPr kumimoji="0" lang="en-US" sz="2400" dirty="0">
                <a:solidFill>
                  <a:srgbClr val="FFFFFF"/>
                </a:solidFill>
              </a:rPr>
              <a:t>State</a:t>
            </a:r>
            <a:br>
              <a:rPr kumimoji="0" lang="en-US" sz="2400" dirty="0">
                <a:solidFill>
                  <a:srgbClr val="FFFFFF"/>
                </a:solidFill>
              </a:rPr>
            </a:br>
            <a:r>
              <a:rPr kumimoji="0" lang="en-US" sz="2400" dirty="0">
                <a:solidFill>
                  <a:srgbClr val="FFFFFF"/>
                </a:solidFill>
              </a:rPr>
              <a:t>register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9259C5-0618-57F8-50E0-C30790242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4577" y="1992924"/>
            <a:ext cx="1676400" cy="914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</a:pPr>
            <a:r>
              <a:rPr kumimoji="0" lang="en-US" sz="2400"/>
              <a:t>Next State</a:t>
            </a:r>
          </a:p>
          <a:p>
            <a:pPr algn="ctr">
              <a:spcBef>
                <a:spcPct val="0"/>
              </a:spcBef>
              <a:buClrTx/>
            </a:pPr>
            <a:r>
              <a:rPr kumimoji="0" lang="en-US" sz="2400"/>
              <a:t>function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CF6792-BAB7-998D-C272-918310153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0777" y="5193324"/>
            <a:ext cx="1676400" cy="914400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</a:pPr>
            <a:r>
              <a:rPr kumimoji="0" lang="en-US" sz="2400">
                <a:solidFill>
                  <a:srgbClr val="FFFFFF"/>
                </a:solidFill>
              </a:rPr>
              <a:t>Output</a:t>
            </a:r>
          </a:p>
          <a:p>
            <a:pPr algn="ctr">
              <a:spcBef>
                <a:spcPct val="0"/>
              </a:spcBef>
              <a:buClrTx/>
            </a:pPr>
            <a:r>
              <a:rPr kumimoji="0" lang="en-US" sz="2400">
                <a:solidFill>
                  <a:srgbClr val="FFFFFF"/>
                </a:solidFill>
              </a:rPr>
              <a:t>function</a:t>
            </a:r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D19DDD8F-B53D-B612-0679-9F50101B08B0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9577" y="2450124"/>
            <a:ext cx="1905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62B93308-B748-4CE6-9F38-432E5A618F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6440" y="2450124"/>
            <a:ext cx="15875" cy="22939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31CFCB8E-6983-0BA7-B6EB-FB7050C8D7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50977" y="2450124"/>
            <a:ext cx="5334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12CBFB0B-D8A0-69D6-A828-FC656636ECA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2777" y="2907324"/>
            <a:ext cx="0" cy="685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773A2AE7-970D-D579-A480-1FEBA3A7C88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7177" y="5650524"/>
            <a:ext cx="2362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9AE1C9E2-760C-D83A-F154-4C0C8EC4C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9577" y="1992924"/>
            <a:ext cx="1014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/>
              <a:t>Inputs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E2B3A89A-C70C-019E-A7B3-BD33A552E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0577" y="3059724"/>
            <a:ext cx="2030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/>
              <a:t>Present State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FA0A8C57-CFE8-E0CF-7C65-35F60D6D0B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6377" y="2983524"/>
            <a:ext cx="160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/>
              <a:t>Next State</a:t>
            </a:r>
          </a:p>
        </p:txBody>
      </p:sp>
      <p:sp>
        <p:nvSpPr>
          <p:cNvPr id="16" name="Text Box 15">
            <a:extLst>
              <a:ext uri="{FF2B5EF4-FFF2-40B4-BE49-F238E27FC236}">
                <a16:creationId xmlns:a16="http://schemas.microsoft.com/office/drawing/2014/main" id="{3DA96763-5FB9-82A7-AFF3-4AADB52A91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7777" y="5193324"/>
            <a:ext cx="1250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/>
              <a:t>Outputs</a:t>
            </a:r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90E2DD34-D6D8-68A6-4CAF-8950127267B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2777" y="4736124"/>
            <a:ext cx="13716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EC0579F7-884F-FA4A-8415-0481E6B7D291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2777" y="4507524"/>
            <a:ext cx="0" cy="685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Text Box 20">
            <a:extLst>
              <a:ext uri="{FF2B5EF4-FFF2-40B4-BE49-F238E27FC236}">
                <a16:creationId xmlns:a16="http://schemas.microsoft.com/office/drawing/2014/main" id="{8ECACF8E-6AA7-721D-ADBD-4D2ECE32D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7756" y="3542319"/>
            <a:ext cx="87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 dirty="0">
                <a:cs typeface="Arial" charset="0"/>
              </a:rPr>
              <a:t>clock</a:t>
            </a:r>
            <a:endParaRPr kumimoji="0" lang="pl-PL" sz="2400" dirty="0">
              <a:cs typeface="Arial" charset="0"/>
            </a:endParaRP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FBAF6C44-DFB7-9453-6390-112198B8E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4113" y="4053278"/>
            <a:ext cx="862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 dirty="0">
                <a:cs typeface="Arial" charset="0"/>
              </a:rPr>
              <a:t>reset</a:t>
            </a:r>
            <a:endParaRPr kumimoji="0" lang="pl-PL" sz="2400" dirty="0">
              <a:cs typeface="Arial" charset="0"/>
            </a:endParaRPr>
          </a:p>
        </p:txBody>
      </p:sp>
      <p:sp>
        <p:nvSpPr>
          <p:cNvPr id="21" name="Line 18">
            <a:extLst>
              <a:ext uri="{FF2B5EF4-FFF2-40B4-BE49-F238E27FC236}">
                <a16:creationId xmlns:a16="http://schemas.microsoft.com/office/drawing/2014/main" id="{D278928E-3DB0-1679-F363-B8EDFDC8140E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4028" y="4309669"/>
            <a:ext cx="1795184" cy="1256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arrow" w="lg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18">
            <a:extLst>
              <a:ext uri="{FF2B5EF4-FFF2-40B4-BE49-F238E27FC236}">
                <a16:creationId xmlns:a16="http://schemas.microsoft.com/office/drawing/2014/main" id="{39D53B90-3E27-7F67-0000-2B3850B4FA6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9013" y="3804336"/>
            <a:ext cx="1795184" cy="1256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arrow" w="lg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48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FSMs (Mealy FSM)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is a function of the present state and the inputs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12</a:t>
            </a:fld>
            <a:endParaRPr lang="en-US" dirty="0"/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0B38FB1D-3284-5C3D-C920-BB50C7A44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9598" y="2081349"/>
            <a:ext cx="1676400" cy="914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</a:pPr>
            <a:r>
              <a:rPr kumimoji="0" lang="en-US" sz="2400"/>
              <a:t>Next State</a:t>
            </a:r>
          </a:p>
          <a:p>
            <a:pPr algn="ctr">
              <a:spcBef>
                <a:spcPct val="0"/>
              </a:spcBef>
              <a:buClrTx/>
            </a:pPr>
            <a:r>
              <a:rPr kumimoji="0" lang="en-US" sz="2400"/>
              <a:t>function</a:t>
            </a: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DE15CB91-49EC-E649-A10B-38BDD2A4D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5798" y="5281749"/>
            <a:ext cx="1676400" cy="914400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</a:pPr>
            <a:r>
              <a:rPr kumimoji="0" lang="en-US" sz="2400">
                <a:solidFill>
                  <a:srgbClr val="FFFFFF"/>
                </a:solidFill>
              </a:rPr>
              <a:t>Output</a:t>
            </a:r>
          </a:p>
          <a:p>
            <a:pPr algn="ctr">
              <a:spcBef>
                <a:spcPct val="0"/>
              </a:spcBef>
              <a:buClrTx/>
            </a:pPr>
            <a:r>
              <a:rPr kumimoji="0" lang="en-US" sz="2400">
                <a:solidFill>
                  <a:srgbClr val="FFFFFF"/>
                </a:solidFill>
              </a:rPr>
              <a:t>function</a:t>
            </a:r>
          </a:p>
        </p:txBody>
      </p:sp>
      <p:sp>
        <p:nvSpPr>
          <p:cNvPr id="25" name="Line 6">
            <a:extLst>
              <a:ext uri="{FF2B5EF4-FFF2-40B4-BE49-F238E27FC236}">
                <a16:creationId xmlns:a16="http://schemas.microsoft.com/office/drawing/2014/main" id="{7F82E6E3-1BC2-66E1-9688-6B333E205E6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09335" y="2538549"/>
            <a:ext cx="2100263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7">
            <a:extLst>
              <a:ext uri="{FF2B5EF4-FFF2-40B4-BE49-F238E27FC236}">
                <a16:creationId xmlns:a16="http://schemas.microsoft.com/office/drawing/2014/main" id="{CDEDE68C-EB8B-C795-93DF-2B88AC6B5D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19398" y="2538549"/>
            <a:ext cx="0" cy="2286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8">
            <a:extLst>
              <a:ext uri="{FF2B5EF4-FFF2-40B4-BE49-F238E27FC236}">
                <a16:creationId xmlns:a16="http://schemas.microsoft.com/office/drawing/2014/main" id="{F930EDC2-A8A9-5CCD-3923-A79F7B2DE2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85998" y="2538549"/>
            <a:ext cx="555625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9">
            <a:extLst>
              <a:ext uri="{FF2B5EF4-FFF2-40B4-BE49-F238E27FC236}">
                <a16:creationId xmlns:a16="http://schemas.microsoft.com/office/drawing/2014/main" id="{BC867CFB-A9D4-1E0F-977E-B7B54FFBA7D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7798" y="2995749"/>
            <a:ext cx="0" cy="685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10">
            <a:extLst>
              <a:ext uri="{FF2B5EF4-FFF2-40B4-BE49-F238E27FC236}">
                <a16:creationId xmlns:a16="http://schemas.microsoft.com/office/drawing/2014/main" id="{8201E914-5DFA-5492-C80B-EBF50378B59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2198" y="5738949"/>
            <a:ext cx="2362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C82C40F6-9318-DDC9-7A1A-5CE84CF39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4598" y="2081349"/>
            <a:ext cx="1014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/>
              <a:t>Inputs</a:t>
            </a:r>
          </a:p>
        </p:txBody>
      </p:sp>
      <p:sp>
        <p:nvSpPr>
          <p:cNvPr id="31" name="Text Box 12">
            <a:extLst>
              <a:ext uri="{FF2B5EF4-FFF2-40B4-BE49-F238E27FC236}">
                <a16:creationId xmlns:a16="http://schemas.microsoft.com/office/drawing/2014/main" id="{D3C9CD97-D0A0-D02E-BB86-2CB10B7EF4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5598" y="3148149"/>
            <a:ext cx="2030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/>
              <a:t>Present State</a:t>
            </a:r>
          </a:p>
        </p:txBody>
      </p:sp>
      <p:sp>
        <p:nvSpPr>
          <p:cNvPr id="32" name="Text Box 13">
            <a:extLst>
              <a:ext uri="{FF2B5EF4-FFF2-40B4-BE49-F238E27FC236}">
                <a16:creationId xmlns:a16="http://schemas.microsoft.com/office/drawing/2014/main" id="{1BE3205C-676F-2AD1-D796-270FA43833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1398" y="3071949"/>
            <a:ext cx="160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/>
              <a:t>Next State</a:t>
            </a:r>
          </a:p>
        </p:txBody>
      </p:sp>
      <p:sp>
        <p:nvSpPr>
          <p:cNvPr id="33" name="Text Box 14">
            <a:extLst>
              <a:ext uri="{FF2B5EF4-FFF2-40B4-BE49-F238E27FC236}">
                <a16:creationId xmlns:a16="http://schemas.microsoft.com/office/drawing/2014/main" id="{D7E423B8-3C0B-1785-54E5-87ACC21E0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2798" y="5281749"/>
            <a:ext cx="1250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/>
              <a:t>Outputs</a:t>
            </a:r>
          </a:p>
        </p:txBody>
      </p:sp>
      <p:sp>
        <p:nvSpPr>
          <p:cNvPr id="34" name="Line 15">
            <a:extLst>
              <a:ext uri="{FF2B5EF4-FFF2-40B4-BE49-F238E27FC236}">
                <a16:creationId xmlns:a16="http://schemas.microsoft.com/office/drawing/2014/main" id="{7D292C4A-EC4E-C3D2-76F7-983B4BB9B21A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7798" y="4595949"/>
            <a:ext cx="0" cy="685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16">
            <a:extLst>
              <a:ext uri="{FF2B5EF4-FFF2-40B4-BE49-F238E27FC236}">
                <a16:creationId xmlns:a16="http://schemas.microsoft.com/office/drawing/2014/main" id="{D42CA228-E845-1450-FFDE-F1F264B02B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4310" y="2538549"/>
            <a:ext cx="0" cy="3200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17">
            <a:extLst>
              <a:ext uri="{FF2B5EF4-FFF2-40B4-BE49-F238E27FC236}">
                <a16:creationId xmlns:a16="http://schemas.microsoft.com/office/drawing/2014/main" id="{8B11037E-EA59-D8C5-18CF-24BA0CF887E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22085" y="5738949"/>
            <a:ext cx="1763713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Rectangle 18">
            <a:extLst>
              <a:ext uri="{FF2B5EF4-FFF2-40B4-BE49-F238E27FC236}">
                <a16:creationId xmlns:a16="http://schemas.microsoft.com/office/drawing/2014/main" id="{8D576A71-9D74-DE9D-E43E-38D6C2244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8298" y="3692661"/>
            <a:ext cx="2155825" cy="923925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</a:pPr>
            <a:r>
              <a:rPr kumimoji="0" lang="en-US" sz="2400" dirty="0">
                <a:solidFill>
                  <a:srgbClr val="FFFFFF"/>
                </a:solidFill>
              </a:rPr>
              <a:t>State</a:t>
            </a:r>
            <a:br>
              <a:rPr kumimoji="0" lang="en-US" sz="2400" dirty="0">
                <a:solidFill>
                  <a:srgbClr val="FFFFFF"/>
                </a:solidFill>
              </a:rPr>
            </a:br>
            <a:r>
              <a:rPr kumimoji="0" lang="en-US" sz="2400" dirty="0">
                <a:solidFill>
                  <a:srgbClr val="FFFFFF"/>
                </a:solidFill>
              </a:rPr>
              <a:t>register</a:t>
            </a:r>
          </a:p>
        </p:txBody>
      </p:sp>
      <p:sp>
        <p:nvSpPr>
          <p:cNvPr id="38" name="Line 23">
            <a:extLst>
              <a:ext uri="{FF2B5EF4-FFF2-40B4-BE49-F238E27FC236}">
                <a16:creationId xmlns:a16="http://schemas.microsoft.com/office/drawing/2014/main" id="{501E3367-6E01-18EA-EC17-70C570D7DB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8435" y="4835661"/>
            <a:ext cx="1371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Text Box 20">
            <a:extLst>
              <a:ext uri="{FF2B5EF4-FFF2-40B4-BE49-F238E27FC236}">
                <a16:creationId xmlns:a16="http://schemas.microsoft.com/office/drawing/2014/main" id="{809FA2CB-9EB2-E507-C9A7-0F6BDC720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0734" y="3641856"/>
            <a:ext cx="87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 dirty="0">
                <a:cs typeface="Arial" charset="0"/>
              </a:rPr>
              <a:t>clock</a:t>
            </a:r>
            <a:endParaRPr kumimoji="0" lang="pl-PL" sz="2400" dirty="0">
              <a:cs typeface="Arial" charset="0"/>
            </a:endParaRPr>
          </a:p>
        </p:txBody>
      </p:sp>
      <p:sp>
        <p:nvSpPr>
          <p:cNvPr id="40" name="Text Box 21">
            <a:extLst>
              <a:ext uri="{FF2B5EF4-FFF2-40B4-BE49-F238E27FC236}">
                <a16:creationId xmlns:a16="http://schemas.microsoft.com/office/drawing/2014/main" id="{E16986F9-BD39-BA10-83CB-9865CCF7D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7091" y="4152815"/>
            <a:ext cx="862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 dirty="0">
                <a:cs typeface="Arial" charset="0"/>
              </a:rPr>
              <a:t>reset</a:t>
            </a:r>
            <a:endParaRPr kumimoji="0" lang="pl-PL" sz="2400" dirty="0">
              <a:cs typeface="Arial" charset="0"/>
            </a:endParaRPr>
          </a:p>
        </p:txBody>
      </p:sp>
      <p:sp>
        <p:nvSpPr>
          <p:cNvPr id="41" name="Line 18">
            <a:extLst>
              <a:ext uri="{FF2B5EF4-FFF2-40B4-BE49-F238E27FC236}">
                <a16:creationId xmlns:a16="http://schemas.microsoft.com/office/drawing/2014/main" id="{0961CF95-4A01-3EB8-A526-1CD2C8EB0B4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7006" y="4409206"/>
            <a:ext cx="1795184" cy="1256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arrow" w="lg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18">
            <a:extLst>
              <a:ext uri="{FF2B5EF4-FFF2-40B4-BE49-F238E27FC236}">
                <a16:creationId xmlns:a16="http://schemas.microsoft.com/office/drawing/2014/main" id="{6223A859-9500-9093-404D-64D5534DD2B8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1991" y="3903873"/>
            <a:ext cx="1795184" cy="1256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arrow" w="lg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307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FSMs (State Diagrams)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Moore Machine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operations: output assignments depends on the state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conditions: Boolean expressions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13</a:t>
            </a:fld>
            <a:endParaRPr lang="en-US" dirty="0"/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579ED444-ED02-516D-5AF7-F94851922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1471" y="1695080"/>
            <a:ext cx="30077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0"/>
              </a:spcBef>
              <a:buClrTx/>
            </a:pPr>
            <a:r>
              <a:rPr kumimoji="0" lang="en-US" sz="2400" dirty="0">
                <a:solidFill>
                  <a:srgbClr val="000000"/>
                </a:solidFill>
              </a:rPr>
              <a:t>transition condition 1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9C01820E-120A-04CC-CDF1-01CE15C7DE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047" y="4012895"/>
            <a:ext cx="30077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0"/>
              </a:spcBef>
              <a:buClrTx/>
            </a:pPr>
            <a:r>
              <a:rPr kumimoji="0" lang="en-US" sz="2400" dirty="0">
                <a:solidFill>
                  <a:srgbClr val="000000"/>
                </a:solidFill>
              </a:rPr>
              <a:t>transition condition 2</a:t>
            </a:r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2BDFAD-EF30-9AD3-BC32-3ECB4B9CA9F2}"/>
              </a:ext>
            </a:extLst>
          </p:cNvPr>
          <p:cNvSpPr/>
          <p:nvPr/>
        </p:nvSpPr>
        <p:spPr>
          <a:xfrm>
            <a:off x="4258234" y="2196237"/>
            <a:ext cx="3305250" cy="442267"/>
          </a:xfrm>
          <a:custGeom>
            <a:avLst/>
            <a:gdLst>
              <a:gd name="connsiteX0" fmla="*/ 0 w 3231796"/>
              <a:gd name="connsiteY0" fmla="*/ 827836 h 827836"/>
              <a:gd name="connsiteX1" fmla="*/ 1553530 w 3231796"/>
              <a:gd name="connsiteY1" fmla="*/ 0 h 827836"/>
              <a:gd name="connsiteX2" fmla="*/ 3231796 w 3231796"/>
              <a:gd name="connsiteY2" fmla="*/ 827836 h 827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31796" h="827836">
                <a:moveTo>
                  <a:pt x="0" y="827836"/>
                </a:moveTo>
                <a:cubicBezTo>
                  <a:pt x="507448" y="413918"/>
                  <a:pt x="1014897" y="0"/>
                  <a:pt x="1553530" y="0"/>
                </a:cubicBezTo>
                <a:cubicBezTo>
                  <a:pt x="2092163" y="0"/>
                  <a:pt x="3231796" y="827836"/>
                  <a:pt x="3231796" y="827836"/>
                </a:cubicBezTo>
              </a:path>
            </a:pathLst>
          </a:custGeom>
          <a:ln w="19050">
            <a:solidFill>
              <a:srgbClr val="000000"/>
            </a:solidFill>
            <a:tailEnd type="arrow" w="lg" len="med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</a:pPr>
            <a:endParaRPr kumimoji="1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9B7139AC-EB75-BE39-5548-A246A4559CFB}"/>
              </a:ext>
            </a:extLst>
          </p:cNvPr>
          <p:cNvSpPr/>
          <p:nvPr/>
        </p:nvSpPr>
        <p:spPr>
          <a:xfrm>
            <a:off x="4258234" y="3635033"/>
            <a:ext cx="3309889" cy="352965"/>
          </a:xfrm>
          <a:custGeom>
            <a:avLst/>
            <a:gdLst>
              <a:gd name="connsiteX0" fmla="*/ 3197778 w 3197778"/>
              <a:gd name="connsiteY0" fmla="*/ 0 h 464955"/>
              <a:gd name="connsiteX1" fmla="*/ 1576210 w 3197778"/>
              <a:gd name="connsiteY1" fmla="*/ 464950 h 464955"/>
              <a:gd name="connsiteX2" fmla="*/ 0 w 3197778"/>
              <a:gd name="connsiteY2" fmla="*/ 11341 h 464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97778" h="464955">
                <a:moveTo>
                  <a:pt x="3197778" y="0"/>
                </a:moveTo>
                <a:cubicBezTo>
                  <a:pt x="2653475" y="231530"/>
                  <a:pt x="2109173" y="463060"/>
                  <a:pt x="1576210" y="464950"/>
                </a:cubicBezTo>
                <a:cubicBezTo>
                  <a:pt x="1043247" y="466840"/>
                  <a:pt x="0" y="11341"/>
                  <a:pt x="0" y="11341"/>
                </a:cubicBezTo>
              </a:path>
            </a:pathLst>
          </a:custGeom>
          <a:ln w="19050">
            <a:solidFill>
              <a:srgbClr val="000000"/>
            </a:solidFill>
            <a:tailEnd type="arrow" w="lg" len="med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</a:pPr>
            <a:endParaRPr kumimoji="1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6643460-A9D3-173D-E925-1508D2D992DA}"/>
              </a:ext>
            </a:extLst>
          </p:cNvPr>
          <p:cNvSpPr/>
          <p:nvPr/>
        </p:nvSpPr>
        <p:spPr>
          <a:xfrm>
            <a:off x="3352799" y="2610375"/>
            <a:ext cx="1685365" cy="971632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1800" dirty="0">
                <a:solidFill>
                  <a:srgbClr val="000000"/>
                </a:solidFill>
              </a:rPr>
              <a:t>State 1 /</a:t>
            </a:r>
          </a:p>
          <a:p>
            <a:pPr algn="ctr">
              <a:lnSpc>
                <a:spcPct val="80000"/>
              </a:lnSpc>
            </a:pPr>
            <a:r>
              <a:rPr lang="en-US" sz="1800" dirty="0">
                <a:solidFill>
                  <a:srgbClr val="000000"/>
                </a:solidFill>
              </a:rPr>
              <a:t>operations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168A07E-E1B2-5493-9EB5-801AD5CCE09C}"/>
              </a:ext>
            </a:extLst>
          </p:cNvPr>
          <p:cNvSpPr/>
          <p:nvPr/>
        </p:nvSpPr>
        <p:spPr>
          <a:xfrm>
            <a:off x="6673068" y="2663402"/>
            <a:ext cx="1685365" cy="971632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1800" dirty="0">
                <a:solidFill>
                  <a:srgbClr val="000000"/>
                </a:solidFill>
              </a:rPr>
              <a:t>State 2 /</a:t>
            </a:r>
          </a:p>
          <a:p>
            <a:pPr algn="ctr">
              <a:lnSpc>
                <a:spcPct val="80000"/>
              </a:lnSpc>
            </a:pPr>
            <a:r>
              <a:rPr lang="en-US" sz="1800" dirty="0">
                <a:solidFill>
                  <a:srgbClr val="000000"/>
                </a:solidFill>
              </a:rPr>
              <a:t>operations</a:t>
            </a:r>
          </a:p>
        </p:txBody>
      </p:sp>
    </p:spTree>
    <p:extLst>
      <p:ext uri="{BB962C8B-B14F-4D97-AF65-F5344CB8AC3E}">
        <p14:creationId xmlns:p14="http://schemas.microsoft.com/office/powerpoint/2010/main" val="1797854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FSMs (State Diagrams)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Mealy Machine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operations: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datapath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operations including output assignments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conditions: Boolean expressions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14</a:t>
            </a:fld>
            <a:endParaRPr lang="en-US" dirty="0"/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579ED444-ED02-516D-5AF7-F94851922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191" y="1463453"/>
            <a:ext cx="267733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0"/>
              </a:spcBef>
              <a:buClrTx/>
            </a:pPr>
            <a:r>
              <a:rPr kumimoji="0" lang="en-US" sz="2000" dirty="0">
                <a:solidFill>
                  <a:srgbClr val="000000"/>
                </a:solidFill>
              </a:rPr>
              <a:t>transition condition 1 /</a:t>
            </a:r>
          </a:p>
          <a:p>
            <a:pPr algn="ctr">
              <a:spcBef>
                <a:spcPct val="0"/>
              </a:spcBef>
              <a:buClrTx/>
            </a:pPr>
            <a:r>
              <a:rPr kumimoji="0" lang="en-US" sz="2000" dirty="0" err="1">
                <a:solidFill>
                  <a:srgbClr val="000000"/>
                </a:solidFill>
              </a:rPr>
              <a:t>datapath</a:t>
            </a:r>
            <a:r>
              <a:rPr kumimoji="0" lang="en-US" sz="2000" dirty="0">
                <a:solidFill>
                  <a:srgbClr val="000000"/>
                </a:solidFill>
              </a:rPr>
              <a:t> operations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9C01820E-120A-04CC-CDF1-01CE15C7DE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7965" y="4012895"/>
            <a:ext cx="274786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0"/>
              </a:spcBef>
              <a:buClrTx/>
            </a:pPr>
            <a:r>
              <a:rPr kumimoji="0" lang="en-US" sz="2000" dirty="0">
                <a:solidFill>
                  <a:srgbClr val="000000"/>
                </a:solidFill>
              </a:rPr>
              <a:t>transition condition 2 / </a:t>
            </a:r>
          </a:p>
          <a:p>
            <a:pPr algn="ctr">
              <a:spcBef>
                <a:spcPct val="0"/>
              </a:spcBef>
              <a:buClrTx/>
            </a:pPr>
            <a:r>
              <a:rPr kumimoji="0" lang="en-US" sz="2000" dirty="0" err="1">
                <a:solidFill>
                  <a:srgbClr val="000000"/>
                </a:solidFill>
              </a:rPr>
              <a:t>datapath</a:t>
            </a:r>
            <a:r>
              <a:rPr kumimoji="0" lang="en-US" sz="2000" dirty="0">
                <a:solidFill>
                  <a:srgbClr val="000000"/>
                </a:solidFill>
              </a:rPr>
              <a:t> operations</a:t>
            </a:r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2BDFAD-EF30-9AD3-BC32-3ECB4B9CA9F2}"/>
              </a:ext>
            </a:extLst>
          </p:cNvPr>
          <p:cNvSpPr/>
          <p:nvPr/>
        </p:nvSpPr>
        <p:spPr>
          <a:xfrm>
            <a:off x="4258234" y="2196237"/>
            <a:ext cx="3305250" cy="442267"/>
          </a:xfrm>
          <a:custGeom>
            <a:avLst/>
            <a:gdLst>
              <a:gd name="connsiteX0" fmla="*/ 0 w 3231796"/>
              <a:gd name="connsiteY0" fmla="*/ 827836 h 827836"/>
              <a:gd name="connsiteX1" fmla="*/ 1553530 w 3231796"/>
              <a:gd name="connsiteY1" fmla="*/ 0 h 827836"/>
              <a:gd name="connsiteX2" fmla="*/ 3231796 w 3231796"/>
              <a:gd name="connsiteY2" fmla="*/ 827836 h 827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31796" h="827836">
                <a:moveTo>
                  <a:pt x="0" y="827836"/>
                </a:moveTo>
                <a:cubicBezTo>
                  <a:pt x="507448" y="413918"/>
                  <a:pt x="1014897" y="0"/>
                  <a:pt x="1553530" y="0"/>
                </a:cubicBezTo>
                <a:cubicBezTo>
                  <a:pt x="2092163" y="0"/>
                  <a:pt x="3231796" y="827836"/>
                  <a:pt x="3231796" y="827836"/>
                </a:cubicBezTo>
              </a:path>
            </a:pathLst>
          </a:custGeom>
          <a:ln w="19050">
            <a:solidFill>
              <a:srgbClr val="000000"/>
            </a:solidFill>
            <a:tailEnd type="arrow" w="lg" len="med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</a:pPr>
            <a:endParaRPr kumimoji="1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9B7139AC-EB75-BE39-5548-A246A4559CFB}"/>
              </a:ext>
            </a:extLst>
          </p:cNvPr>
          <p:cNvSpPr/>
          <p:nvPr/>
        </p:nvSpPr>
        <p:spPr>
          <a:xfrm>
            <a:off x="4258234" y="3635033"/>
            <a:ext cx="3309889" cy="352965"/>
          </a:xfrm>
          <a:custGeom>
            <a:avLst/>
            <a:gdLst>
              <a:gd name="connsiteX0" fmla="*/ 3197778 w 3197778"/>
              <a:gd name="connsiteY0" fmla="*/ 0 h 464955"/>
              <a:gd name="connsiteX1" fmla="*/ 1576210 w 3197778"/>
              <a:gd name="connsiteY1" fmla="*/ 464950 h 464955"/>
              <a:gd name="connsiteX2" fmla="*/ 0 w 3197778"/>
              <a:gd name="connsiteY2" fmla="*/ 11341 h 464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97778" h="464955">
                <a:moveTo>
                  <a:pt x="3197778" y="0"/>
                </a:moveTo>
                <a:cubicBezTo>
                  <a:pt x="2653475" y="231530"/>
                  <a:pt x="2109173" y="463060"/>
                  <a:pt x="1576210" y="464950"/>
                </a:cubicBezTo>
                <a:cubicBezTo>
                  <a:pt x="1043247" y="466840"/>
                  <a:pt x="0" y="11341"/>
                  <a:pt x="0" y="11341"/>
                </a:cubicBezTo>
              </a:path>
            </a:pathLst>
          </a:custGeom>
          <a:ln w="19050">
            <a:solidFill>
              <a:srgbClr val="000000"/>
            </a:solidFill>
            <a:tailEnd type="arrow" w="lg" len="med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</a:pPr>
            <a:endParaRPr kumimoji="1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6643460-A9D3-173D-E925-1508D2D992DA}"/>
              </a:ext>
            </a:extLst>
          </p:cNvPr>
          <p:cNvSpPr/>
          <p:nvPr/>
        </p:nvSpPr>
        <p:spPr>
          <a:xfrm>
            <a:off x="3352799" y="2610375"/>
            <a:ext cx="1685365" cy="971632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1800" dirty="0">
                <a:solidFill>
                  <a:srgbClr val="000000"/>
                </a:solidFill>
              </a:rPr>
              <a:t>State 1 /</a:t>
            </a:r>
          </a:p>
          <a:p>
            <a:pPr algn="ctr">
              <a:lnSpc>
                <a:spcPct val="80000"/>
              </a:lnSpc>
            </a:pPr>
            <a:r>
              <a:rPr lang="en-US" sz="1800" dirty="0">
                <a:solidFill>
                  <a:srgbClr val="000000"/>
                </a:solidFill>
              </a:rPr>
              <a:t>operations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168A07E-E1B2-5493-9EB5-801AD5CCE09C}"/>
              </a:ext>
            </a:extLst>
          </p:cNvPr>
          <p:cNvSpPr/>
          <p:nvPr/>
        </p:nvSpPr>
        <p:spPr>
          <a:xfrm>
            <a:off x="6673068" y="2663402"/>
            <a:ext cx="1685365" cy="971632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1800" dirty="0">
                <a:solidFill>
                  <a:srgbClr val="000000"/>
                </a:solidFill>
              </a:rPr>
              <a:t>State 2 /</a:t>
            </a:r>
          </a:p>
          <a:p>
            <a:pPr algn="ctr">
              <a:lnSpc>
                <a:spcPct val="80000"/>
              </a:lnSpc>
            </a:pPr>
            <a:r>
              <a:rPr lang="en-US" sz="1800" dirty="0">
                <a:solidFill>
                  <a:srgbClr val="000000"/>
                </a:solidFill>
              </a:rPr>
              <a:t>operations</a:t>
            </a:r>
          </a:p>
        </p:txBody>
      </p:sp>
    </p:spTree>
    <p:extLst>
      <p:ext uri="{BB962C8B-B14F-4D97-AF65-F5344CB8AC3E}">
        <p14:creationId xmlns:p14="http://schemas.microsoft.com/office/powerpoint/2010/main" val="2484358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FSMs (Example 1)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Moore FSM that recognizes sequence “10”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15</a:t>
            </a:fld>
            <a:endParaRPr lang="en-US" dirty="0"/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F7B54168-C71B-8232-E8EE-E4AF38C73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698" y="2756895"/>
            <a:ext cx="862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 dirty="0"/>
              <a:t>reset</a:t>
            </a:r>
          </a:p>
        </p:txBody>
      </p:sp>
      <p:sp>
        <p:nvSpPr>
          <p:cNvPr id="8" name="Text Box 22">
            <a:extLst>
              <a:ext uri="{FF2B5EF4-FFF2-40B4-BE49-F238E27FC236}">
                <a16:creationId xmlns:a16="http://schemas.microsoft.com/office/drawing/2014/main" id="{A53D2FAE-B25A-A72A-3950-B49466E15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1564" y="4705744"/>
            <a:ext cx="143350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 dirty="0">
                <a:solidFill>
                  <a:srgbClr val="000000"/>
                </a:solidFill>
              </a:rPr>
              <a:t>Meaning 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400" dirty="0">
                <a:solidFill>
                  <a:srgbClr val="000000"/>
                </a:solidFill>
              </a:rPr>
              <a:t>of states:</a:t>
            </a:r>
            <a:endParaRPr kumimoji="0" lang="pl-PL" sz="2400" dirty="0">
              <a:solidFill>
                <a:srgbClr val="000000"/>
              </a:solidFill>
            </a:endParaRPr>
          </a:p>
        </p:txBody>
      </p:sp>
      <p:sp>
        <p:nvSpPr>
          <p:cNvPr id="11" name="Text Box 23">
            <a:extLst>
              <a:ext uri="{FF2B5EF4-FFF2-40B4-BE49-F238E27FC236}">
                <a16:creationId xmlns:a16="http://schemas.microsoft.com/office/drawing/2014/main" id="{34AC1CAF-0347-C664-0EB9-633D309B0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4164" y="4346969"/>
            <a:ext cx="1519466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 dirty="0">
                <a:solidFill>
                  <a:srgbClr val="000000"/>
                </a:solidFill>
              </a:rPr>
              <a:t>S0: No 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400" dirty="0">
                <a:solidFill>
                  <a:srgbClr val="000000"/>
                </a:solidFill>
              </a:rPr>
              <a:t>elements 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400" dirty="0">
                <a:solidFill>
                  <a:srgbClr val="000000"/>
                </a:solidFill>
              </a:rPr>
              <a:t>of the 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400" dirty="0">
                <a:solidFill>
                  <a:srgbClr val="000000"/>
                </a:solidFill>
              </a:rPr>
              <a:t>sequence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400" dirty="0">
                <a:solidFill>
                  <a:srgbClr val="000000"/>
                </a:solidFill>
              </a:rPr>
              <a:t>observed</a:t>
            </a:r>
            <a:endParaRPr kumimoji="0" lang="pl-PL" sz="2400" dirty="0">
              <a:solidFill>
                <a:srgbClr val="000000"/>
              </a:solidFill>
            </a:endParaRPr>
          </a:p>
        </p:txBody>
      </p:sp>
      <p:sp>
        <p:nvSpPr>
          <p:cNvPr id="14" name="Text Box 24">
            <a:extLst>
              <a:ext uri="{FF2B5EF4-FFF2-40B4-BE49-F238E27FC236}">
                <a16:creationId xmlns:a16="http://schemas.microsoft.com/office/drawing/2014/main" id="{B88961E8-66BE-5A39-66C7-BC994D3C8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7764" y="4400944"/>
            <a:ext cx="145078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 dirty="0">
                <a:solidFill>
                  <a:srgbClr val="000000"/>
                </a:solidFill>
              </a:rPr>
              <a:t>S1: </a:t>
            </a:r>
            <a:r>
              <a:rPr kumimoji="0" lang="ja-JP" altLang="en-US" sz="2400" dirty="0">
                <a:solidFill>
                  <a:srgbClr val="000000"/>
                </a:solidFill>
              </a:rPr>
              <a:t>“</a:t>
            </a:r>
            <a:r>
              <a:rPr kumimoji="0" lang="en-US" altLang="ja-JP" sz="2400" dirty="0">
                <a:solidFill>
                  <a:srgbClr val="000000"/>
                </a:solidFill>
              </a:rPr>
              <a:t>1</a:t>
            </a:r>
            <a:r>
              <a:rPr kumimoji="0" lang="ja-JP" altLang="en-US" sz="2400" dirty="0">
                <a:solidFill>
                  <a:srgbClr val="000000"/>
                </a:solidFill>
              </a:rPr>
              <a:t>”</a:t>
            </a:r>
            <a:endParaRPr kumimoji="0" lang="en-US" altLang="ja-JP" sz="2400" dirty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</a:pPr>
            <a:r>
              <a:rPr kumimoji="0" lang="en-US" sz="2400" dirty="0">
                <a:solidFill>
                  <a:srgbClr val="000000"/>
                </a:solidFill>
              </a:rPr>
              <a:t>observed</a:t>
            </a:r>
            <a:endParaRPr kumimoji="0" lang="pl-PL" sz="2400" dirty="0">
              <a:solidFill>
                <a:srgbClr val="000000"/>
              </a:solidFill>
            </a:endParaRPr>
          </a:p>
        </p:txBody>
      </p:sp>
      <p:sp>
        <p:nvSpPr>
          <p:cNvPr id="15" name="Text Box 25">
            <a:extLst>
              <a:ext uri="{FF2B5EF4-FFF2-40B4-BE49-F238E27FC236}">
                <a16:creationId xmlns:a16="http://schemas.microsoft.com/office/drawing/2014/main" id="{B0DA1858-8DDF-378B-1472-5C42EE25E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2939" y="4389832"/>
            <a:ext cx="145078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 dirty="0">
                <a:solidFill>
                  <a:srgbClr val="000000"/>
                </a:solidFill>
              </a:rPr>
              <a:t>S2: </a:t>
            </a:r>
            <a:r>
              <a:rPr kumimoji="0" lang="ja-JP" altLang="en-US" sz="2400" dirty="0">
                <a:solidFill>
                  <a:srgbClr val="000000"/>
                </a:solidFill>
              </a:rPr>
              <a:t>“</a:t>
            </a:r>
            <a:r>
              <a:rPr kumimoji="0" lang="en-US" altLang="ja-JP" sz="2400" dirty="0">
                <a:solidFill>
                  <a:srgbClr val="000000"/>
                </a:solidFill>
              </a:rPr>
              <a:t>10</a:t>
            </a:r>
            <a:r>
              <a:rPr kumimoji="0" lang="ja-JP" altLang="en-US" sz="2400" dirty="0">
                <a:solidFill>
                  <a:srgbClr val="000000"/>
                </a:solidFill>
              </a:rPr>
              <a:t>”</a:t>
            </a:r>
            <a:endParaRPr kumimoji="0" lang="en-US" altLang="ja-JP" sz="2400" dirty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</a:pPr>
            <a:r>
              <a:rPr kumimoji="0" lang="en-US" sz="2400" dirty="0">
                <a:solidFill>
                  <a:srgbClr val="000000"/>
                </a:solidFill>
              </a:rPr>
              <a:t>observed</a:t>
            </a:r>
            <a:endParaRPr kumimoji="0" lang="pl-PL" sz="2400" dirty="0">
              <a:solidFill>
                <a:srgbClr val="000000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FCA50AB-8B09-D692-78DA-5830903E8BA6}"/>
              </a:ext>
            </a:extLst>
          </p:cNvPr>
          <p:cNvCxnSpPr>
            <a:cxnSpLocks/>
            <a:stCxn id="32" idx="6"/>
            <a:endCxn id="33" idx="2"/>
          </p:cNvCxnSpPr>
          <p:nvPr/>
        </p:nvCxnSpPr>
        <p:spPr bwMode="auto">
          <a:xfrm flipV="1">
            <a:off x="4735720" y="3031699"/>
            <a:ext cx="1397900" cy="19838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lg" len="med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196AB95-C444-17D8-96F6-3E443996E960}"/>
              </a:ext>
            </a:extLst>
          </p:cNvPr>
          <p:cNvCxnSpPr/>
          <p:nvPr/>
        </p:nvCxnSpPr>
        <p:spPr bwMode="auto">
          <a:xfrm>
            <a:off x="3109176" y="2994664"/>
            <a:ext cx="374209" cy="0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1" name="Freeform 9">
            <a:extLst>
              <a:ext uri="{FF2B5EF4-FFF2-40B4-BE49-F238E27FC236}">
                <a16:creationId xmlns:a16="http://schemas.microsoft.com/office/drawing/2014/main" id="{20233231-3EE5-5D39-14D4-AE5B53E2E43E}"/>
              </a:ext>
            </a:extLst>
          </p:cNvPr>
          <p:cNvSpPr/>
          <p:nvPr/>
        </p:nvSpPr>
        <p:spPr>
          <a:xfrm>
            <a:off x="7198659" y="3252391"/>
            <a:ext cx="1444256" cy="59800"/>
          </a:xfrm>
          <a:custGeom>
            <a:avLst/>
            <a:gdLst>
              <a:gd name="connsiteX0" fmla="*/ 1236021 w 1236021"/>
              <a:gd name="connsiteY0" fmla="*/ 0 h 294855"/>
              <a:gd name="connsiteX1" fmla="*/ 669039 w 1236021"/>
              <a:gd name="connsiteY1" fmla="*/ 294846 h 294855"/>
              <a:gd name="connsiteX2" fmla="*/ 0 w 1236021"/>
              <a:gd name="connsiteY2" fmla="*/ 11340 h 294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36021" h="294855">
                <a:moveTo>
                  <a:pt x="1236021" y="0"/>
                </a:moveTo>
                <a:cubicBezTo>
                  <a:pt x="1055531" y="146478"/>
                  <a:pt x="875042" y="292956"/>
                  <a:pt x="669039" y="294846"/>
                </a:cubicBezTo>
                <a:cubicBezTo>
                  <a:pt x="463036" y="296736"/>
                  <a:pt x="0" y="11340"/>
                  <a:pt x="0" y="11340"/>
                </a:cubicBezTo>
              </a:path>
            </a:pathLst>
          </a:custGeom>
          <a:ln w="19050">
            <a:solidFill>
              <a:srgbClr val="000000"/>
            </a:solidFill>
            <a:tailEnd type="arrow" w="lg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Box 19">
            <a:extLst>
              <a:ext uri="{FF2B5EF4-FFF2-40B4-BE49-F238E27FC236}">
                <a16:creationId xmlns:a16="http://schemas.microsoft.com/office/drawing/2014/main" id="{220CCC44-EE83-C87C-3078-4541786A9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1790" y="2926930"/>
            <a:ext cx="3558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 dirty="0"/>
              <a:t>1</a:t>
            </a:r>
          </a:p>
        </p:txBody>
      </p:sp>
      <p:sp>
        <p:nvSpPr>
          <p:cNvPr id="23" name="Text Box 19">
            <a:extLst>
              <a:ext uri="{FF2B5EF4-FFF2-40B4-BE49-F238E27FC236}">
                <a16:creationId xmlns:a16="http://schemas.microsoft.com/office/drawing/2014/main" id="{B1F314B5-94B2-7DFB-6327-BFB177584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0449" y="2189818"/>
            <a:ext cx="355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 dirty="0"/>
              <a:t>0</a:t>
            </a:r>
          </a:p>
        </p:txBody>
      </p:sp>
      <p:sp>
        <p:nvSpPr>
          <p:cNvPr id="24" name="Text Box 18">
            <a:extLst>
              <a:ext uri="{FF2B5EF4-FFF2-40B4-BE49-F238E27FC236}">
                <a16:creationId xmlns:a16="http://schemas.microsoft.com/office/drawing/2014/main" id="{2A5E5C72-DF35-81FE-B1FC-614CB1850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2265" y="2607117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 dirty="0"/>
              <a:t>1</a:t>
            </a:r>
          </a:p>
        </p:txBody>
      </p:sp>
      <p:sp>
        <p:nvSpPr>
          <p:cNvPr id="25" name="Freeform 11">
            <a:extLst>
              <a:ext uri="{FF2B5EF4-FFF2-40B4-BE49-F238E27FC236}">
                <a16:creationId xmlns:a16="http://schemas.microsoft.com/office/drawing/2014/main" id="{BA150812-6E08-8E9D-6F2E-6A6337BC2220}"/>
              </a:ext>
            </a:extLst>
          </p:cNvPr>
          <p:cNvSpPr/>
          <p:nvPr/>
        </p:nvSpPr>
        <p:spPr>
          <a:xfrm>
            <a:off x="4625788" y="3257561"/>
            <a:ext cx="4028465" cy="905153"/>
          </a:xfrm>
          <a:custGeom>
            <a:avLst/>
            <a:gdLst>
              <a:gd name="connsiteX0" fmla="*/ 3866816 w 3866816"/>
              <a:gd name="connsiteY0" fmla="*/ 0 h 918559"/>
              <a:gd name="connsiteX1" fmla="*/ 1882380 w 3866816"/>
              <a:gd name="connsiteY1" fmla="*/ 918559 h 918559"/>
              <a:gd name="connsiteX2" fmla="*/ 0 w 3866816"/>
              <a:gd name="connsiteY2" fmla="*/ 0 h 918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66816" h="918559">
                <a:moveTo>
                  <a:pt x="3866816" y="0"/>
                </a:moveTo>
                <a:cubicBezTo>
                  <a:pt x="3196832" y="459279"/>
                  <a:pt x="2526849" y="918559"/>
                  <a:pt x="1882380" y="918559"/>
                </a:cubicBezTo>
                <a:cubicBezTo>
                  <a:pt x="1237911" y="918559"/>
                  <a:pt x="0" y="0"/>
                  <a:pt x="0" y="0"/>
                </a:cubicBezTo>
              </a:path>
            </a:pathLst>
          </a:custGeom>
          <a:ln w="19050">
            <a:solidFill>
              <a:srgbClr val="000000"/>
            </a:solidFill>
            <a:tailEnd type="arrow" w="lg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 Box 19">
            <a:extLst>
              <a:ext uri="{FF2B5EF4-FFF2-40B4-BE49-F238E27FC236}">
                <a16:creationId xmlns:a16="http://schemas.microsoft.com/office/drawing/2014/main" id="{139986EE-7511-2451-7E93-2E7DDE8C68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3961" y="3680358"/>
            <a:ext cx="355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 dirty="0"/>
              <a:t>0</a:t>
            </a:r>
          </a:p>
        </p:txBody>
      </p:sp>
      <p:sp>
        <p:nvSpPr>
          <p:cNvPr id="27" name="Text Box 19">
            <a:extLst>
              <a:ext uri="{FF2B5EF4-FFF2-40B4-BE49-F238E27FC236}">
                <a16:creationId xmlns:a16="http://schemas.microsoft.com/office/drawing/2014/main" id="{F292CB35-FE60-188B-9DEA-DBC190753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8583" y="1995642"/>
            <a:ext cx="355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 dirty="0"/>
              <a:t>0</a:t>
            </a:r>
          </a:p>
        </p:txBody>
      </p:sp>
      <p:sp>
        <p:nvSpPr>
          <p:cNvPr id="28" name="Text Box 18">
            <a:extLst>
              <a:ext uri="{FF2B5EF4-FFF2-40B4-BE49-F238E27FC236}">
                <a16:creationId xmlns:a16="http://schemas.microsoft.com/office/drawing/2014/main" id="{2887E220-2FF6-B3A1-8CE6-D6E2C866F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7006" y="2045083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 dirty="0"/>
              <a:t>1</a:t>
            </a:r>
          </a:p>
        </p:txBody>
      </p:sp>
      <p:sp>
        <p:nvSpPr>
          <p:cNvPr id="29" name="Freeform 50202">
            <a:extLst>
              <a:ext uri="{FF2B5EF4-FFF2-40B4-BE49-F238E27FC236}">
                <a16:creationId xmlns:a16="http://schemas.microsoft.com/office/drawing/2014/main" id="{227CB9B1-DB3F-859F-17F0-FF3D4473805A}"/>
              </a:ext>
            </a:extLst>
          </p:cNvPr>
          <p:cNvSpPr/>
          <p:nvPr/>
        </p:nvSpPr>
        <p:spPr>
          <a:xfrm>
            <a:off x="7124178" y="2651781"/>
            <a:ext cx="1518737" cy="105114"/>
          </a:xfrm>
          <a:custGeom>
            <a:avLst/>
            <a:gdLst>
              <a:gd name="connsiteX0" fmla="*/ 0 w 1236021"/>
              <a:gd name="connsiteY0" fmla="*/ 158764 h 158764"/>
              <a:gd name="connsiteX1" fmla="*/ 669039 w 1236021"/>
              <a:gd name="connsiteY1" fmla="*/ 0 h 158764"/>
              <a:gd name="connsiteX2" fmla="*/ 1236021 w 1236021"/>
              <a:gd name="connsiteY2" fmla="*/ 158764 h 158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36021" h="158764">
                <a:moveTo>
                  <a:pt x="0" y="158764"/>
                </a:moveTo>
                <a:cubicBezTo>
                  <a:pt x="231518" y="79382"/>
                  <a:pt x="463036" y="0"/>
                  <a:pt x="669039" y="0"/>
                </a:cubicBezTo>
                <a:cubicBezTo>
                  <a:pt x="875042" y="0"/>
                  <a:pt x="1236021" y="158764"/>
                  <a:pt x="1236021" y="158764"/>
                </a:cubicBezTo>
              </a:path>
            </a:pathLst>
          </a:custGeom>
          <a:ln w="19050">
            <a:solidFill>
              <a:srgbClr val="000000"/>
            </a:solidFill>
            <a:tailEnd type="arrow" w="lg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24874E93-3CA3-275B-61D8-136551EB2F27}"/>
              </a:ext>
            </a:extLst>
          </p:cNvPr>
          <p:cNvSpPr/>
          <p:nvPr/>
        </p:nvSpPr>
        <p:spPr bwMode="auto">
          <a:xfrm>
            <a:off x="3800892" y="2200850"/>
            <a:ext cx="544302" cy="669073"/>
          </a:xfrm>
          <a:prstGeom prst="arc">
            <a:avLst>
              <a:gd name="adj1" fmla="val 8151211"/>
              <a:gd name="adj2" fmla="val 2700094"/>
            </a:avLst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lg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0DBC2925-E1DB-F95A-C133-05BE16EDA5DB}"/>
              </a:ext>
            </a:extLst>
          </p:cNvPr>
          <p:cNvSpPr/>
          <p:nvPr/>
        </p:nvSpPr>
        <p:spPr bwMode="auto">
          <a:xfrm>
            <a:off x="6459352" y="2194487"/>
            <a:ext cx="544302" cy="669073"/>
          </a:xfrm>
          <a:prstGeom prst="arc">
            <a:avLst>
              <a:gd name="adj1" fmla="val 8151211"/>
              <a:gd name="adj2" fmla="val 2700094"/>
            </a:avLst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lg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C541501-7CB3-C1D7-C795-D51B60B7DFD0}"/>
              </a:ext>
            </a:extLst>
          </p:cNvPr>
          <p:cNvSpPr/>
          <p:nvPr/>
        </p:nvSpPr>
        <p:spPr>
          <a:xfrm>
            <a:off x="3514164" y="2719489"/>
            <a:ext cx="1221556" cy="664095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S0 / 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7254A7A-3416-BFC1-1B79-53D4FAAD2776}"/>
              </a:ext>
            </a:extLst>
          </p:cNvPr>
          <p:cNvSpPr/>
          <p:nvPr/>
        </p:nvSpPr>
        <p:spPr>
          <a:xfrm>
            <a:off x="6133620" y="2699651"/>
            <a:ext cx="1221556" cy="664095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S1 / 0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F719386-3EF5-8708-348B-15E529034B43}"/>
              </a:ext>
            </a:extLst>
          </p:cNvPr>
          <p:cNvSpPr/>
          <p:nvPr/>
        </p:nvSpPr>
        <p:spPr>
          <a:xfrm>
            <a:off x="8423084" y="2656951"/>
            <a:ext cx="1221556" cy="664095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S2 / 1</a:t>
            </a:r>
          </a:p>
        </p:txBody>
      </p:sp>
    </p:spTree>
    <p:extLst>
      <p:ext uri="{BB962C8B-B14F-4D97-AF65-F5344CB8AC3E}">
        <p14:creationId xmlns:p14="http://schemas.microsoft.com/office/powerpoint/2010/main" val="2396831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FSMs (Example 1)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Mealy FSM that recognizes sequence “10”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16</a:t>
            </a:fld>
            <a:endParaRPr lang="en-US" dirty="0"/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B8A99705-B3A6-41E3-54E5-5B2EB5262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7577" y="2656024"/>
            <a:ext cx="838200" cy="838200"/>
          </a:xfrm>
          <a:prstGeom prst="ellipse">
            <a:avLst/>
          </a:prstGeom>
          <a:solidFill>
            <a:srgbClr val="CCCC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</a:pPr>
            <a:r>
              <a:rPr kumimoji="0" lang="en-US" sz="2400"/>
              <a:t>S0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06FAC8A-F80C-D66F-E84F-E4E3FE627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1777" y="2656024"/>
            <a:ext cx="838200" cy="838200"/>
          </a:xfrm>
          <a:prstGeom prst="ellipse">
            <a:avLst/>
          </a:prstGeom>
          <a:solidFill>
            <a:srgbClr val="BFBFB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</a:pPr>
            <a:r>
              <a:rPr kumimoji="0" lang="en-US" sz="2400"/>
              <a:t>S1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3B9778CD-0C8A-99EA-D661-CE33D6C054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4426" y="2185686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 dirty="0"/>
              <a:t>0 / 0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038EE3F0-F907-95A6-8450-5A845813B727}"/>
              </a:ext>
            </a:extLst>
          </p:cNvPr>
          <p:cNvSpPr>
            <a:spLocks/>
          </p:cNvSpPr>
          <p:nvPr/>
        </p:nvSpPr>
        <p:spPr bwMode="auto">
          <a:xfrm>
            <a:off x="4755777" y="2529024"/>
            <a:ext cx="2362200" cy="355600"/>
          </a:xfrm>
          <a:custGeom>
            <a:avLst/>
            <a:gdLst>
              <a:gd name="T0" fmla="*/ 0 w 1536"/>
              <a:gd name="T1" fmla="*/ 2147483647 h 224"/>
              <a:gd name="T2" fmla="*/ 2147483647 w 1536"/>
              <a:gd name="T3" fmla="*/ 2147483647 h 224"/>
              <a:gd name="T4" fmla="*/ 2147483647 w 1536"/>
              <a:gd name="T5" fmla="*/ 2147483647 h 224"/>
              <a:gd name="T6" fmla="*/ 2147483647 w 1536"/>
              <a:gd name="T7" fmla="*/ 2147483647 h 224"/>
              <a:gd name="T8" fmla="*/ 0 60000 65536"/>
              <a:gd name="T9" fmla="*/ 0 60000 65536"/>
              <a:gd name="T10" fmla="*/ 0 60000 65536"/>
              <a:gd name="T11" fmla="*/ 0 60000 65536"/>
              <a:gd name="T12" fmla="*/ 0 w 1536"/>
              <a:gd name="T13" fmla="*/ 0 h 224"/>
              <a:gd name="T14" fmla="*/ 1536 w 1536"/>
              <a:gd name="T15" fmla="*/ 224 h 22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36" h="224">
                <a:moveTo>
                  <a:pt x="0" y="224"/>
                </a:moveTo>
                <a:cubicBezTo>
                  <a:pt x="124" y="144"/>
                  <a:pt x="248" y="64"/>
                  <a:pt x="432" y="32"/>
                </a:cubicBezTo>
                <a:cubicBezTo>
                  <a:pt x="616" y="0"/>
                  <a:pt x="920" y="8"/>
                  <a:pt x="1104" y="32"/>
                </a:cubicBezTo>
                <a:cubicBezTo>
                  <a:pt x="1288" y="56"/>
                  <a:pt x="1448" y="136"/>
                  <a:pt x="1536" y="176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871C4216-71AA-0BA2-409C-614FEFA80E22}"/>
              </a:ext>
            </a:extLst>
          </p:cNvPr>
          <p:cNvSpPr>
            <a:spLocks/>
          </p:cNvSpPr>
          <p:nvPr/>
        </p:nvSpPr>
        <p:spPr bwMode="auto">
          <a:xfrm>
            <a:off x="4603377" y="3341824"/>
            <a:ext cx="2514600" cy="508000"/>
          </a:xfrm>
          <a:custGeom>
            <a:avLst/>
            <a:gdLst>
              <a:gd name="T0" fmla="*/ 2147483647 w 1680"/>
              <a:gd name="T1" fmla="*/ 0 h 320"/>
              <a:gd name="T2" fmla="*/ 2147483647 w 1680"/>
              <a:gd name="T3" fmla="*/ 2147483647 h 320"/>
              <a:gd name="T4" fmla="*/ 2147483647 w 1680"/>
              <a:gd name="T5" fmla="*/ 2147483647 h 320"/>
              <a:gd name="T6" fmla="*/ 0 w 1680"/>
              <a:gd name="T7" fmla="*/ 2147483647 h 320"/>
              <a:gd name="T8" fmla="*/ 0 60000 65536"/>
              <a:gd name="T9" fmla="*/ 0 60000 65536"/>
              <a:gd name="T10" fmla="*/ 0 60000 65536"/>
              <a:gd name="T11" fmla="*/ 0 60000 65536"/>
              <a:gd name="T12" fmla="*/ 0 w 1680"/>
              <a:gd name="T13" fmla="*/ 0 h 320"/>
              <a:gd name="T14" fmla="*/ 1680 w 1680"/>
              <a:gd name="T15" fmla="*/ 320 h 3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80" h="320">
                <a:moveTo>
                  <a:pt x="1680" y="0"/>
                </a:moveTo>
                <a:cubicBezTo>
                  <a:pt x="1528" y="96"/>
                  <a:pt x="1376" y="192"/>
                  <a:pt x="1200" y="240"/>
                </a:cubicBezTo>
                <a:cubicBezTo>
                  <a:pt x="1024" y="288"/>
                  <a:pt x="824" y="320"/>
                  <a:pt x="624" y="288"/>
                </a:cubicBezTo>
                <a:cubicBezTo>
                  <a:pt x="424" y="256"/>
                  <a:pt x="88" y="64"/>
                  <a:pt x="0" y="48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518FB0DA-BCC6-D515-A8D4-8412683AB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777" y="2046424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/>
              <a:t>1 / 0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1A9F9A56-3AC4-C836-8B8A-7742DBB41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2881" y="281756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 dirty="0"/>
              <a:t>1 / 0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A75B4A34-863A-44A3-2112-29B92AC417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0177" y="3875224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/>
              <a:t>0 / 1</a:t>
            </a:r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311CD290-B93F-3C6C-98CD-A597006A00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65177" y="3341824"/>
            <a:ext cx="3048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Text Box 15">
            <a:extLst>
              <a:ext uri="{FF2B5EF4-FFF2-40B4-BE49-F238E27FC236}">
                <a16:creationId xmlns:a16="http://schemas.microsoft.com/office/drawing/2014/main" id="{5E530DDE-678A-224C-CD6D-FCD71E917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6977" y="3799024"/>
            <a:ext cx="862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/>
              <a:t>reset</a:t>
            </a:r>
          </a:p>
        </p:txBody>
      </p:sp>
      <p:sp>
        <p:nvSpPr>
          <p:cNvPr id="36" name="Text Box 16">
            <a:extLst>
              <a:ext uri="{FF2B5EF4-FFF2-40B4-BE49-F238E27FC236}">
                <a16:creationId xmlns:a16="http://schemas.microsoft.com/office/drawing/2014/main" id="{2A3181B7-C5CF-A3D0-75F3-824162430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9715" y="4637224"/>
            <a:ext cx="14398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/>
              <a:t>Meaning 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400"/>
              <a:t>of states:</a:t>
            </a:r>
            <a:endParaRPr kumimoji="0" lang="pl-PL" sz="2400"/>
          </a:p>
        </p:txBody>
      </p:sp>
      <p:sp>
        <p:nvSpPr>
          <p:cNvPr id="37" name="Text Box 17">
            <a:extLst>
              <a:ext uri="{FF2B5EF4-FFF2-40B4-BE49-F238E27FC236}">
                <a16:creationId xmlns:a16="http://schemas.microsoft.com/office/drawing/2014/main" id="{6F7CB5D9-DDD6-5D18-A779-6F803FFA1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2315" y="4278449"/>
            <a:ext cx="1508125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/>
              <a:t>S0: No 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400"/>
              <a:t>elements 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400"/>
              <a:t>of the 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400"/>
              <a:t>sequence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400"/>
              <a:t>observed</a:t>
            </a:r>
            <a:endParaRPr kumimoji="0" lang="pl-PL" sz="2400"/>
          </a:p>
        </p:txBody>
      </p:sp>
      <p:sp>
        <p:nvSpPr>
          <p:cNvPr id="38" name="Text Box 18">
            <a:extLst>
              <a:ext uri="{FF2B5EF4-FFF2-40B4-BE49-F238E27FC236}">
                <a16:creationId xmlns:a16="http://schemas.microsoft.com/office/drawing/2014/main" id="{5EE17A2C-3116-5B12-C9CC-86C7DF1D2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6690" y="4278449"/>
            <a:ext cx="14398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/>
              <a:t>S1: </a:t>
            </a:r>
            <a:r>
              <a:rPr kumimoji="0" lang="ja-JP" altLang="en-US" sz="2400"/>
              <a:t>“</a:t>
            </a:r>
            <a:r>
              <a:rPr kumimoji="0" lang="en-US" altLang="ja-JP" sz="2400"/>
              <a:t>1</a:t>
            </a:r>
            <a:r>
              <a:rPr kumimoji="0" lang="ja-JP" altLang="en-US" sz="2400"/>
              <a:t>”</a:t>
            </a:r>
            <a:endParaRPr kumimoji="0" lang="en-US" altLang="ja-JP" sz="2400"/>
          </a:p>
          <a:p>
            <a:pPr>
              <a:spcBef>
                <a:spcPct val="0"/>
              </a:spcBef>
              <a:buClrTx/>
            </a:pPr>
            <a:r>
              <a:rPr kumimoji="0" lang="en-US" sz="2400"/>
              <a:t>observed</a:t>
            </a:r>
            <a:endParaRPr kumimoji="0" lang="pl-PL" sz="2400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5D8A9284-6638-340A-A8BB-0F78947BC933}"/>
              </a:ext>
            </a:extLst>
          </p:cNvPr>
          <p:cNvSpPr/>
          <p:nvPr/>
        </p:nvSpPr>
        <p:spPr bwMode="auto">
          <a:xfrm>
            <a:off x="3549346" y="2600456"/>
            <a:ext cx="487604" cy="601032"/>
          </a:xfrm>
          <a:prstGeom prst="arc">
            <a:avLst>
              <a:gd name="adj1" fmla="val 3648565"/>
              <a:gd name="adj2" fmla="val 19834271"/>
            </a:avLst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lg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27C7279F-FB38-AA58-5031-286B8EF35470}"/>
              </a:ext>
            </a:extLst>
          </p:cNvPr>
          <p:cNvSpPr/>
          <p:nvPr/>
        </p:nvSpPr>
        <p:spPr bwMode="auto">
          <a:xfrm>
            <a:off x="7620274" y="2611796"/>
            <a:ext cx="589661" cy="873198"/>
          </a:xfrm>
          <a:prstGeom prst="arc">
            <a:avLst>
              <a:gd name="adj1" fmla="val 14330509"/>
              <a:gd name="adj2" fmla="val 6993838"/>
            </a:avLst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lg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FSMs (Example 1)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17</a:t>
            </a:fld>
            <a:endParaRPr lang="en-US" dirty="0"/>
          </a:p>
        </p:txBody>
      </p:sp>
      <p:sp>
        <p:nvSpPr>
          <p:cNvPr id="7" name="Line 3">
            <a:extLst>
              <a:ext uri="{FF2B5EF4-FFF2-40B4-BE49-F238E27FC236}">
                <a16:creationId xmlns:a16="http://schemas.microsoft.com/office/drawing/2014/main" id="{5DAC53DF-7756-5D2B-D3F9-6867A5DD69C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985" y="2089638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4">
            <a:extLst>
              <a:ext uri="{FF2B5EF4-FFF2-40B4-BE49-F238E27FC236}">
                <a16:creationId xmlns:a16="http://schemas.microsoft.com/office/drawing/2014/main" id="{5D9812A4-D731-73BB-9593-E7680A79EB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6585" y="1632438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5">
            <a:extLst>
              <a:ext uri="{FF2B5EF4-FFF2-40B4-BE49-F238E27FC236}">
                <a16:creationId xmlns:a16="http://schemas.microsoft.com/office/drawing/2014/main" id="{E8CD0413-A6AC-EAED-0F84-5B26A926BB6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6585" y="1632438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6">
            <a:extLst>
              <a:ext uri="{FF2B5EF4-FFF2-40B4-BE49-F238E27FC236}">
                <a16:creationId xmlns:a16="http://schemas.microsoft.com/office/drawing/2014/main" id="{688702E1-61DF-9499-852F-6340A41A063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2385" y="1632438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7">
            <a:extLst>
              <a:ext uri="{FF2B5EF4-FFF2-40B4-BE49-F238E27FC236}">
                <a16:creationId xmlns:a16="http://schemas.microsoft.com/office/drawing/2014/main" id="{0DE9D3FD-9B91-3E4E-C7BB-F1B1D46A19D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2385" y="2089638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8">
            <a:extLst>
              <a:ext uri="{FF2B5EF4-FFF2-40B4-BE49-F238E27FC236}">
                <a16:creationId xmlns:a16="http://schemas.microsoft.com/office/drawing/2014/main" id="{81C76D14-6A6F-A21B-D0BF-3C862008F73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1985" y="1632438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9">
            <a:extLst>
              <a:ext uri="{FF2B5EF4-FFF2-40B4-BE49-F238E27FC236}">
                <a16:creationId xmlns:a16="http://schemas.microsoft.com/office/drawing/2014/main" id="{2D10D037-071C-ACD3-0091-4B7E661C72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1985" y="1632438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0">
            <a:extLst>
              <a:ext uri="{FF2B5EF4-FFF2-40B4-BE49-F238E27FC236}">
                <a16:creationId xmlns:a16="http://schemas.microsoft.com/office/drawing/2014/main" id="{724DEA89-2B56-976E-BBB7-3EBA52A2B00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7785" y="1632438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11">
            <a:extLst>
              <a:ext uri="{FF2B5EF4-FFF2-40B4-BE49-F238E27FC236}">
                <a16:creationId xmlns:a16="http://schemas.microsoft.com/office/drawing/2014/main" id="{C8915203-4E5C-495E-B0BB-8F8E448FB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7785" y="2089638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12">
            <a:extLst>
              <a:ext uri="{FF2B5EF4-FFF2-40B4-BE49-F238E27FC236}">
                <a16:creationId xmlns:a16="http://schemas.microsoft.com/office/drawing/2014/main" id="{24267C8F-9F4B-D0B3-9425-5052F3A2EA9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37385" y="1632438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13">
            <a:extLst>
              <a:ext uri="{FF2B5EF4-FFF2-40B4-BE49-F238E27FC236}">
                <a16:creationId xmlns:a16="http://schemas.microsoft.com/office/drawing/2014/main" id="{E4649DD1-C117-8ACB-C9D2-4D9F2379F23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37385" y="1632438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14">
            <a:extLst>
              <a:ext uri="{FF2B5EF4-FFF2-40B4-BE49-F238E27FC236}">
                <a16:creationId xmlns:a16="http://schemas.microsoft.com/office/drawing/2014/main" id="{1316FD11-1B3A-6604-FB67-BC7EDEB10B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23185" y="1632438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5">
            <a:extLst>
              <a:ext uri="{FF2B5EF4-FFF2-40B4-BE49-F238E27FC236}">
                <a16:creationId xmlns:a16="http://schemas.microsoft.com/office/drawing/2014/main" id="{3FFA2D29-7D4E-94FE-16CB-1B1C337B97D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23185" y="2089638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16">
            <a:extLst>
              <a:ext uri="{FF2B5EF4-FFF2-40B4-BE49-F238E27FC236}">
                <a16:creationId xmlns:a16="http://schemas.microsoft.com/office/drawing/2014/main" id="{CD6EBFE7-2EA8-773E-1CE7-B7DC08BCCCBF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2785" y="1632438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17">
            <a:extLst>
              <a:ext uri="{FF2B5EF4-FFF2-40B4-BE49-F238E27FC236}">
                <a16:creationId xmlns:a16="http://schemas.microsoft.com/office/drawing/2014/main" id="{FFF3444C-BF42-394E-2A15-E4C64BDEACE3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2785" y="1632438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18">
            <a:extLst>
              <a:ext uri="{FF2B5EF4-FFF2-40B4-BE49-F238E27FC236}">
                <a16:creationId xmlns:a16="http://schemas.microsoft.com/office/drawing/2014/main" id="{6963DCF5-20AE-7F0B-CB85-5797C934DED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18585" y="1632438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19">
            <a:extLst>
              <a:ext uri="{FF2B5EF4-FFF2-40B4-BE49-F238E27FC236}">
                <a16:creationId xmlns:a16="http://schemas.microsoft.com/office/drawing/2014/main" id="{4BED4AE0-B09B-F85B-9A1A-E774A112C55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18585" y="2089638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20">
            <a:extLst>
              <a:ext uri="{FF2B5EF4-FFF2-40B4-BE49-F238E27FC236}">
                <a16:creationId xmlns:a16="http://schemas.microsoft.com/office/drawing/2014/main" id="{853E0518-8117-BB62-7E6F-B6D9BB3AA99E}"/>
              </a:ext>
            </a:extLst>
          </p:cNvPr>
          <p:cNvSpPr>
            <a:spLocks noChangeShapeType="1"/>
          </p:cNvSpPr>
          <p:nvPr/>
        </p:nvSpPr>
        <p:spPr bwMode="auto">
          <a:xfrm>
            <a:off x="8628185" y="1632438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21">
            <a:extLst>
              <a:ext uri="{FF2B5EF4-FFF2-40B4-BE49-F238E27FC236}">
                <a16:creationId xmlns:a16="http://schemas.microsoft.com/office/drawing/2014/main" id="{9FF38861-1294-2925-FFFF-42C3EF9BBB00}"/>
              </a:ext>
            </a:extLst>
          </p:cNvPr>
          <p:cNvSpPr>
            <a:spLocks noChangeShapeType="1"/>
          </p:cNvSpPr>
          <p:nvPr/>
        </p:nvSpPr>
        <p:spPr bwMode="auto">
          <a:xfrm>
            <a:off x="8628185" y="1632438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22">
            <a:extLst>
              <a:ext uri="{FF2B5EF4-FFF2-40B4-BE49-F238E27FC236}">
                <a16:creationId xmlns:a16="http://schemas.microsoft.com/office/drawing/2014/main" id="{BE6AE664-5E1E-754D-5185-94594FFE077C}"/>
              </a:ext>
            </a:extLst>
          </p:cNvPr>
          <p:cNvSpPr>
            <a:spLocks noChangeShapeType="1"/>
          </p:cNvSpPr>
          <p:nvPr/>
        </p:nvSpPr>
        <p:spPr bwMode="auto">
          <a:xfrm>
            <a:off x="9313985" y="1632438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23">
            <a:extLst>
              <a:ext uri="{FF2B5EF4-FFF2-40B4-BE49-F238E27FC236}">
                <a16:creationId xmlns:a16="http://schemas.microsoft.com/office/drawing/2014/main" id="{91692121-E679-E2B6-B9EA-43A64C3B1E64}"/>
              </a:ext>
            </a:extLst>
          </p:cNvPr>
          <p:cNvSpPr>
            <a:spLocks noChangeShapeType="1"/>
          </p:cNvSpPr>
          <p:nvPr/>
        </p:nvSpPr>
        <p:spPr bwMode="auto">
          <a:xfrm>
            <a:off x="9313985" y="2089638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Line 24">
            <a:extLst>
              <a:ext uri="{FF2B5EF4-FFF2-40B4-BE49-F238E27FC236}">
                <a16:creationId xmlns:a16="http://schemas.microsoft.com/office/drawing/2014/main" id="{54898099-39CB-2EA2-B521-A791CF01C3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6585" y="1099038"/>
            <a:ext cx="0" cy="51816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Text Box 25">
            <a:extLst>
              <a:ext uri="{FF2B5EF4-FFF2-40B4-BE49-F238E27FC236}">
                <a16:creationId xmlns:a16="http://schemas.microsoft.com/office/drawing/2014/main" id="{D91EE5E2-1684-AD6D-63D1-9D4DA71FE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8785" y="1556238"/>
            <a:ext cx="87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/>
              <a:t>clock</a:t>
            </a:r>
          </a:p>
        </p:txBody>
      </p:sp>
      <p:sp>
        <p:nvSpPr>
          <p:cNvPr id="43" name="Line 26">
            <a:extLst>
              <a:ext uri="{FF2B5EF4-FFF2-40B4-BE49-F238E27FC236}">
                <a16:creationId xmlns:a16="http://schemas.microsoft.com/office/drawing/2014/main" id="{6FB6653B-11A9-7690-D788-4249A987FA2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785" y="3080238"/>
            <a:ext cx="167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27">
            <a:extLst>
              <a:ext uri="{FF2B5EF4-FFF2-40B4-BE49-F238E27FC236}">
                <a16:creationId xmlns:a16="http://schemas.microsoft.com/office/drawing/2014/main" id="{02BE79F8-F2AF-C70F-A400-D85A92B5A77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7185" y="2623038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28">
            <a:extLst>
              <a:ext uri="{FF2B5EF4-FFF2-40B4-BE49-F238E27FC236}">
                <a16:creationId xmlns:a16="http://schemas.microsoft.com/office/drawing/2014/main" id="{2EB1568C-9970-7D97-8E13-C85208720E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1985" y="1099038"/>
            <a:ext cx="0" cy="51816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Line 29">
            <a:extLst>
              <a:ext uri="{FF2B5EF4-FFF2-40B4-BE49-F238E27FC236}">
                <a16:creationId xmlns:a16="http://schemas.microsoft.com/office/drawing/2014/main" id="{1CCF8BDC-4A2C-4DC1-29FF-115BB956A7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7185" y="2623038"/>
            <a:ext cx="121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Line 30">
            <a:extLst>
              <a:ext uri="{FF2B5EF4-FFF2-40B4-BE49-F238E27FC236}">
                <a16:creationId xmlns:a16="http://schemas.microsoft.com/office/drawing/2014/main" id="{D04783AA-E573-6443-AEE0-CB26A76B4422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6385" y="2623038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Line 31">
            <a:extLst>
              <a:ext uri="{FF2B5EF4-FFF2-40B4-BE49-F238E27FC236}">
                <a16:creationId xmlns:a16="http://schemas.microsoft.com/office/drawing/2014/main" id="{DAF64220-2482-BEC6-92A3-54D294AEBA69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6385" y="3080238"/>
            <a:ext cx="434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Text Box 32">
            <a:extLst>
              <a:ext uri="{FF2B5EF4-FFF2-40B4-BE49-F238E27FC236}">
                <a16:creationId xmlns:a16="http://schemas.microsoft.com/office/drawing/2014/main" id="{8A2B7D21-2078-C41B-33C1-32CC9D998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8785" y="2546838"/>
            <a:ext cx="846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/>
              <a:t>input</a:t>
            </a:r>
          </a:p>
        </p:txBody>
      </p:sp>
      <p:sp>
        <p:nvSpPr>
          <p:cNvPr id="50" name="Line 33">
            <a:extLst>
              <a:ext uri="{FF2B5EF4-FFF2-40B4-BE49-F238E27FC236}">
                <a16:creationId xmlns:a16="http://schemas.microsoft.com/office/drawing/2014/main" id="{7D7343C6-247C-9FD8-B2C0-B70DE7DC66D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785" y="4528038"/>
            <a:ext cx="33591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34">
            <a:extLst>
              <a:ext uri="{FF2B5EF4-FFF2-40B4-BE49-F238E27FC236}">
                <a16:creationId xmlns:a16="http://schemas.microsoft.com/office/drawing/2014/main" id="{D8FCC663-F8BB-974C-CE95-1298EF410E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3585" y="4070838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Line 35">
            <a:extLst>
              <a:ext uri="{FF2B5EF4-FFF2-40B4-BE49-F238E27FC236}">
                <a16:creationId xmlns:a16="http://schemas.microsoft.com/office/drawing/2014/main" id="{B0F140CD-94DA-0277-5A96-AE95B7E4A8B2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3585" y="4070838"/>
            <a:ext cx="1308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Line 36">
            <a:extLst>
              <a:ext uri="{FF2B5EF4-FFF2-40B4-BE49-F238E27FC236}">
                <a16:creationId xmlns:a16="http://schemas.microsoft.com/office/drawing/2014/main" id="{7AE0970F-FA6C-94E3-FA54-8B4CFC6B089E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8985" y="4056551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" name="Line 37">
            <a:extLst>
              <a:ext uri="{FF2B5EF4-FFF2-40B4-BE49-F238E27FC236}">
                <a16:creationId xmlns:a16="http://schemas.microsoft.com/office/drawing/2014/main" id="{4BF48CA3-20F4-3D5B-9F0C-3A7E0DA5668C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2635" y="4528038"/>
            <a:ext cx="25971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" name="Text Box 38">
            <a:extLst>
              <a:ext uri="{FF2B5EF4-FFF2-40B4-BE49-F238E27FC236}">
                <a16:creationId xmlns:a16="http://schemas.microsoft.com/office/drawing/2014/main" id="{57479A2B-33B2-B3A2-D548-2A8D8BBAC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0585" y="3689838"/>
            <a:ext cx="1049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/>
              <a:t>Moore</a:t>
            </a:r>
          </a:p>
        </p:txBody>
      </p:sp>
      <p:sp>
        <p:nvSpPr>
          <p:cNvPr id="56" name="Line 39">
            <a:extLst>
              <a:ext uri="{FF2B5EF4-FFF2-40B4-BE49-F238E27FC236}">
                <a16:creationId xmlns:a16="http://schemas.microsoft.com/office/drawing/2014/main" id="{E7C90612-4CB9-D41B-464E-279F98DADDC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37385" y="1099038"/>
            <a:ext cx="0" cy="51816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" name="Line 40">
            <a:extLst>
              <a:ext uri="{FF2B5EF4-FFF2-40B4-BE49-F238E27FC236}">
                <a16:creationId xmlns:a16="http://schemas.microsoft.com/office/drawing/2014/main" id="{E04CFE95-4142-D42E-4D63-BE9EAD546893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2785" y="1099038"/>
            <a:ext cx="0" cy="51816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" name="Line 41">
            <a:extLst>
              <a:ext uri="{FF2B5EF4-FFF2-40B4-BE49-F238E27FC236}">
                <a16:creationId xmlns:a16="http://schemas.microsoft.com/office/drawing/2014/main" id="{258F17BB-C5AD-924A-CE07-31E73C60B446}"/>
              </a:ext>
            </a:extLst>
          </p:cNvPr>
          <p:cNvSpPr>
            <a:spLocks noChangeShapeType="1"/>
          </p:cNvSpPr>
          <p:nvPr/>
        </p:nvSpPr>
        <p:spPr bwMode="auto">
          <a:xfrm>
            <a:off x="8628185" y="1099038"/>
            <a:ext cx="0" cy="51816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" name="Line 42">
            <a:extLst>
              <a:ext uri="{FF2B5EF4-FFF2-40B4-BE49-F238E27FC236}">
                <a16:creationId xmlns:a16="http://schemas.microsoft.com/office/drawing/2014/main" id="{8CDBFDE8-C657-EB2C-6611-F4E85B23C42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785" y="6052038"/>
            <a:ext cx="289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" name="Line 43">
            <a:extLst>
              <a:ext uri="{FF2B5EF4-FFF2-40B4-BE49-F238E27FC236}">
                <a16:creationId xmlns:a16="http://schemas.microsoft.com/office/drawing/2014/main" id="{A41860F6-D927-01AA-1CDF-C20C1B0E750D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6385" y="5594838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Line 44">
            <a:extLst>
              <a:ext uri="{FF2B5EF4-FFF2-40B4-BE49-F238E27FC236}">
                <a16:creationId xmlns:a16="http://schemas.microsoft.com/office/drawing/2014/main" id="{E8DBD360-0556-2D38-77D3-06CB9D116EA9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6385" y="5594838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" name="Line 45">
            <a:extLst>
              <a:ext uri="{FF2B5EF4-FFF2-40B4-BE49-F238E27FC236}">
                <a16:creationId xmlns:a16="http://schemas.microsoft.com/office/drawing/2014/main" id="{BE712CCF-0FFA-3EE5-7C6B-25027AA9A99F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3585" y="5594838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" name="Line 46">
            <a:extLst>
              <a:ext uri="{FF2B5EF4-FFF2-40B4-BE49-F238E27FC236}">
                <a16:creationId xmlns:a16="http://schemas.microsoft.com/office/drawing/2014/main" id="{1BCAF527-B4DC-B743-08C0-8A7BD78A50B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2948" y="6052038"/>
            <a:ext cx="39068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" name="Text Box 47">
            <a:extLst>
              <a:ext uri="{FF2B5EF4-FFF2-40B4-BE49-F238E27FC236}">
                <a16:creationId xmlns:a16="http://schemas.microsoft.com/office/drawing/2014/main" id="{E12085F9-44A7-4B82-5B62-580AD1F2C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0585" y="5213838"/>
            <a:ext cx="998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/>
              <a:t>Mealy</a:t>
            </a:r>
          </a:p>
        </p:txBody>
      </p:sp>
      <p:sp>
        <p:nvSpPr>
          <p:cNvPr id="65" name="Text Box 48">
            <a:extLst>
              <a:ext uri="{FF2B5EF4-FFF2-40B4-BE49-F238E27FC236}">
                <a16:creationId xmlns:a16="http://schemas.microsoft.com/office/drawing/2014/main" id="{752DFD89-DA9C-8614-C07D-546667CB4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0710" y="2089638"/>
            <a:ext cx="5576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 dirty="0"/>
              <a:t>0             1              0             0              0</a:t>
            </a:r>
          </a:p>
        </p:txBody>
      </p:sp>
      <p:sp>
        <p:nvSpPr>
          <p:cNvPr id="66" name="Text Box 49">
            <a:extLst>
              <a:ext uri="{FF2B5EF4-FFF2-40B4-BE49-F238E27FC236}">
                <a16:creationId xmlns:a16="http://schemas.microsoft.com/office/drawing/2014/main" id="{627B4FD8-3F22-A11D-F295-2881F96F5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5985" y="3385038"/>
            <a:ext cx="71469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/>
              <a:t>     S0       S0           S1           S2           S0          S0</a:t>
            </a:r>
          </a:p>
        </p:txBody>
      </p:sp>
      <p:sp>
        <p:nvSpPr>
          <p:cNvPr id="67" name="Text Box 50">
            <a:extLst>
              <a:ext uri="{FF2B5EF4-FFF2-40B4-BE49-F238E27FC236}">
                <a16:creationId xmlns:a16="http://schemas.microsoft.com/office/drawing/2014/main" id="{8A343749-9AA8-5DE1-F3FA-20BB65A6C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5985" y="4832838"/>
            <a:ext cx="71469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/>
              <a:t>     S0       S0           S1           S0           S0          S0</a:t>
            </a:r>
          </a:p>
        </p:txBody>
      </p:sp>
      <p:sp>
        <p:nvSpPr>
          <p:cNvPr id="68" name="Text Box 32">
            <a:extLst>
              <a:ext uri="{FF2B5EF4-FFF2-40B4-BE49-F238E27FC236}">
                <a16:creationId xmlns:a16="http://schemas.microsoft.com/office/drawing/2014/main" id="{366C3A4A-21C0-76D5-524D-A33F223140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8785" y="3308838"/>
            <a:ext cx="8524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/>
              <a:t>state</a:t>
            </a:r>
          </a:p>
        </p:txBody>
      </p:sp>
      <p:sp>
        <p:nvSpPr>
          <p:cNvPr id="69" name="Text Box 32">
            <a:extLst>
              <a:ext uri="{FF2B5EF4-FFF2-40B4-BE49-F238E27FC236}">
                <a16:creationId xmlns:a16="http://schemas.microsoft.com/office/drawing/2014/main" id="{C033D1AF-1C82-67A2-FEB8-818A6679F2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8785" y="4070838"/>
            <a:ext cx="1044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/>
              <a:t>output</a:t>
            </a:r>
          </a:p>
        </p:txBody>
      </p:sp>
      <p:sp>
        <p:nvSpPr>
          <p:cNvPr id="70" name="Text Box 32">
            <a:extLst>
              <a:ext uri="{FF2B5EF4-FFF2-40B4-BE49-F238E27FC236}">
                <a16:creationId xmlns:a16="http://schemas.microsoft.com/office/drawing/2014/main" id="{8438F271-EF94-2528-8D19-B447029690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8785" y="4832838"/>
            <a:ext cx="8524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/>
              <a:t>state</a:t>
            </a:r>
          </a:p>
        </p:txBody>
      </p:sp>
      <p:sp>
        <p:nvSpPr>
          <p:cNvPr id="71" name="Text Box 32">
            <a:extLst>
              <a:ext uri="{FF2B5EF4-FFF2-40B4-BE49-F238E27FC236}">
                <a16:creationId xmlns:a16="http://schemas.microsoft.com/office/drawing/2014/main" id="{337733B8-EBC2-8643-79F4-084467C88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8785" y="5594838"/>
            <a:ext cx="1044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/>
              <a:t>output</a:t>
            </a:r>
          </a:p>
        </p:txBody>
      </p:sp>
      <p:sp>
        <p:nvSpPr>
          <p:cNvPr id="72" name="Rectangle 54">
            <a:extLst>
              <a:ext uri="{FF2B5EF4-FFF2-40B4-BE49-F238E27FC236}">
                <a16:creationId xmlns:a16="http://schemas.microsoft.com/office/drawing/2014/main" id="{F0F3FFB1-B1D7-8638-6387-2C6F3E56D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2785" y="3385038"/>
            <a:ext cx="1295400" cy="457200"/>
          </a:xfrm>
          <a:prstGeom prst="rect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1143000" indent="-228600"/>
            <a:endParaRPr lang="en-US"/>
          </a:p>
        </p:txBody>
      </p:sp>
      <p:sp>
        <p:nvSpPr>
          <p:cNvPr id="73" name="Rectangle 55">
            <a:extLst>
              <a:ext uri="{FF2B5EF4-FFF2-40B4-BE49-F238E27FC236}">
                <a16:creationId xmlns:a16="http://schemas.microsoft.com/office/drawing/2014/main" id="{E0FB5FCA-1CB3-4502-8EC3-C86D824F8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8185" y="3385038"/>
            <a:ext cx="1295400" cy="457200"/>
          </a:xfrm>
          <a:prstGeom prst="rect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1143000" indent="-228600"/>
            <a:endParaRPr lang="en-US"/>
          </a:p>
        </p:txBody>
      </p:sp>
      <p:sp>
        <p:nvSpPr>
          <p:cNvPr id="74" name="Rectangle 56">
            <a:extLst>
              <a:ext uri="{FF2B5EF4-FFF2-40B4-BE49-F238E27FC236}">
                <a16:creationId xmlns:a16="http://schemas.microsoft.com/office/drawing/2014/main" id="{86B1A4F7-F8CC-56EF-03C8-8BE14AACE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3585" y="3385038"/>
            <a:ext cx="1295400" cy="457200"/>
          </a:xfrm>
          <a:prstGeom prst="rect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1143000" indent="-228600"/>
            <a:endParaRPr lang="en-US"/>
          </a:p>
        </p:txBody>
      </p:sp>
      <p:sp>
        <p:nvSpPr>
          <p:cNvPr id="75" name="Rectangle 57">
            <a:extLst>
              <a:ext uri="{FF2B5EF4-FFF2-40B4-BE49-F238E27FC236}">
                <a16:creationId xmlns:a16="http://schemas.microsoft.com/office/drawing/2014/main" id="{5D4728A4-0F66-C9DD-F976-B4FEFC08C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8985" y="3385038"/>
            <a:ext cx="1295400" cy="457200"/>
          </a:xfrm>
          <a:prstGeom prst="rect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1143000" indent="-228600"/>
            <a:endParaRPr lang="en-US"/>
          </a:p>
        </p:txBody>
      </p:sp>
      <p:sp>
        <p:nvSpPr>
          <p:cNvPr id="76" name="Rectangle 58">
            <a:extLst>
              <a:ext uri="{FF2B5EF4-FFF2-40B4-BE49-F238E27FC236}">
                <a16:creationId xmlns:a16="http://schemas.microsoft.com/office/drawing/2014/main" id="{928D36FE-3BBE-F37E-EF4E-99BC2215C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4385" y="3385038"/>
            <a:ext cx="1295400" cy="457200"/>
          </a:xfrm>
          <a:prstGeom prst="rect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1143000" indent="-228600"/>
            <a:endParaRPr lang="en-US"/>
          </a:p>
        </p:txBody>
      </p:sp>
      <p:sp>
        <p:nvSpPr>
          <p:cNvPr id="77" name="Rectangle 60">
            <a:extLst>
              <a:ext uri="{FF2B5EF4-FFF2-40B4-BE49-F238E27FC236}">
                <a16:creationId xmlns:a16="http://schemas.microsoft.com/office/drawing/2014/main" id="{BD1BD75B-CF80-1A3B-2F20-9ED8756E4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2785" y="4832838"/>
            <a:ext cx="1295400" cy="457200"/>
          </a:xfrm>
          <a:prstGeom prst="rect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1143000" indent="-228600"/>
            <a:endParaRPr lang="en-US"/>
          </a:p>
        </p:txBody>
      </p:sp>
      <p:sp>
        <p:nvSpPr>
          <p:cNvPr id="78" name="Rectangle 61">
            <a:extLst>
              <a:ext uri="{FF2B5EF4-FFF2-40B4-BE49-F238E27FC236}">
                <a16:creationId xmlns:a16="http://schemas.microsoft.com/office/drawing/2014/main" id="{39DC5EAB-AA3C-41D5-79A9-79276CE03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8185" y="4832838"/>
            <a:ext cx="1295400" cy="457200"/>
          </a:xfrm>
          <a:prstGeom prst="rect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1143000" indent="-228600"/>
            <a:endParaRPr lang="en-US"/>
          </a:p>
        </p:txBody>
      </p:sp>
      <p:sp>
        <p:nvSpPr>
          <p:cNvPr id="79" name="Rectangle 62">
            <a:extLst>
              <a:ext uri="{FF2B5EF4-FFF2-40B4-BE49-F238E27FC236}">
                <a16:creationId xmlns:a16="http://schemas.microsoft.com/office/drawing/2014/main" id="{BBBCE3F6-3655-D4AB-6D89-3E575415A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3585" y="4832838"/>
            <a:ext cx="1295400" cy="457200"/>
          </a:xfrm>
          <a:prstGeom prst="rect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1143000" indent="-228600"/>
            <a:endParaRPr lang="en-US"/>
          </a:p>
        </p:txBody>
      </p:sp>
      <p:sp>
        <p:nvSpPr>
          <p:cNvPr id="80" name="Rectangle 63">
            <a:extLst>
              <a:ext uri="{FF2B5EF4-FFF2-40B4-BE49-F238E27FC236}">
                <a16:creationId xmlns:a16="http://schemas.microsoft.com/office/drawing/2014/main" id="{5C07E3D1-8070-47D4-7929-6406117D3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8985" y="4832838"/>
            <a:ext cx="1295400" cy="457200"/>
          </a:xfrm>
          <a:prstGeom prst="rect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1143000" indent="-228600"/>
            <a:endParaRPr lang="en-US"/>
          </a:p>
        </p:txBody>
      </p:sp>
      <p:sp>
        <p:nvSpPr>
          <p:cNvPr id="81" name="Rectangle 64">
            <a:extLst>
              <a:ext uri="{FF2B5EF4-FFF2-40B4-BE49-F238E27FC236}">
                <a16:creationId xmlns:a16="http://schemas.microsoft.com/office/drawing/2014/main" id="{929360E5-BD06-D7FC-F8CC-5FFE0E9D0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4385" y="4832838"/>
            <a:ext cx="1295400" cy="457200"/>
          </a:xfrm>
          <a:prstGeom prst="rect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1143000" indent="-228600"/>
            <a:endParaRPr lang="en-US"/>
          </a:p>
        </p:txBody>
      </p:sp>
      <p:sp>
        <p:nvSpPr>
          <p:cNvPr id="82" name="Line 44">
            <a:extLst>
              <a:ext uri="{FF2B5EF4-FFF2-40B4-BE49-F238E27FC236}">
                <a16:creationId xmlns:a16="http://schemas.microsoft.com/office/drawing/2014/main" id="{267A2762-CD85-8715-5057-B77E5501571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5585" y="3385038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" name="Line 44">
            <a:extLst>
              <a:ext uri="{FF2B5EF4-FFF2-40B4-BE49-F238E27FC236}">
                <a16:creationId xmlns:a16="http://schemas.microsoft.com/office/drawing/2014/main" id="{AE9984A9-DB18-6C6F-27E6-9B710B704C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5585" y="3842238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" name="Line 44">
            <a:extLst>
              <a:ext uri="{FF2B5EF4-FFF2-40B4-BE49-F238E27FC236}">
                <a16:creationId xmlns:a16="http://schemas.microsoft.com/office/drawing/2014/main" id="{5DB60DFC-34DA-2379-D52D-83A9FDE70A8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5585" y="4832838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" name="Line 44">
            <a:extLst>
              <a:ext uri="{FF2B5EF4-FFF2-40B4-BE49-F238E27FC236}">
                <a16:creationId xmlns:a16="http://schemas.microsoft.com/office/drawing/2014/main" id="{90B9C008-4896-2613-6AC7-4D425C8D4F0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5585" y="5290038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86" name="Straight Connector 72">
            <a:extLst>
              <a:ext uri="{FF2B5EF4-FFF2-40B4-BE49-F238E27FC236}">
                <a16:creationId xmlns:a16="http://schemas.microsoft.com/office/drawing/2014/main" id="{5D7CC893-E7F7-4893-BA8F-1BEBEAD20AC0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-20515" y="3423138"/>
            <a:ext cx="4419600" cy="762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</p:spTree>
    <p:extLst>
      <p:ext uri="{BB962C8B-B14F-4D97-AF65-F5344CB8AC3E}">
        <p14:creationId xmlns:p14="http://schemas.microsoft.com/office/powerpoint/2010/main" val="1570924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FSMs (Moore vs. Mealy FSM)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8" y="1056280"/>
            <a:ext cx="11130059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Moore and Mealy FSMs are functionally equivalent.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Equivalent Mealy FSM can be derived from Moore FSM and vice versa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Mealy FSM has richer description and usually requires less number states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circuit area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Mealy FSM computes output as soon as inputs change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Mealy FSM responds one clock cycle sooner than equivalent Moore 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FSM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direct paths from inputs to outputs, may cause glitches.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Moore FSM has no combinational path between inputs and outputs.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likely to affect the critical path of the entire circuit.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5059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FSMs (Moore vs. Mealy FSM)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8" y="916353"/>
            <a:ext cx="111300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way to go?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19</a:t>
            </a:fld>
            <a:endParaRPr lang="en-US" dirty="0"/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id="{D0076D76-A27B-E3E7-A58F-DD6D58971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4777" y="1998214"/>
            <a:ext cx="4267200" cy="403860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</a:pPr>
            <a:r>
              <a:rPr kumimoji="0"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Safer.</a:t>
            </a:r>
          </a:p>
          <a:p>
            <a:pPr algn="ctr">
              <a:spcBef>
                <a:spcPct val="0"/>
              </a:spcBef>
              <a:buClrTx/>
            </a:pPr>
            <a:r>
              <a:rPr kumimoji="0"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likely to affect</a:t>
            </a:r>
          </a:p>
          <a:p>
            <a:pPr algn="ctr">
              <a:spcBef>
                <a:spcPct val="0"/>
              </a:spcBef>
              <a:buClrTx/>
            </a:pPr>
            <a:r>
              <a:rPr kumimoji="0"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critical path.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4C535FA9-0C65-FF88-3DA1-AAFECD7D02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9465" y="1403765"/>
            <a:ext cx="20399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0"/>
              </a:spcBef>
              <a:buClrTx/>
            </a:pPr>
            <a:r>
              <a:rPr kumimoji="0"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Mealy FSM</a:t>
            </a:r>
            <a:endParaRPr kumimoji="0"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D0CC389C-0F8E-F225-4083-11E95FF2D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7927" y="1367748"/>
            <a:ext cx="2120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0"/>
              </a:spcBef>
              <a:buClrTx/>
            </a:pPr>
            <a:r>
              <a:rPr kumimoji="0"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Moore FSM</a:t>
            </a:r>
            <a:endParaRPr kumimoji="0"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24256951-1F65-6B13-BA30-78BFABAD0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977" y="6036814"/>
            <a:ext cx="8153400" cy="152400"/>
          </a:xfrm>
          <a:prstGeom prst="rect">
            <a:avLst/>
          </a:prstGeom>
          <a:solidFill>
            <a:srgbClr val="3366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AutoShape 11">
            <a:extLst>
              <a:ext uri="{FF2B5EF4-FFF2-40B4-BE49-F238E27FC236}">
                <a16:creationId xmlns:a16="http://schemas.microsoft.com/office/drawing/2014/main" id="{1894F084-D327-2F2D-FF3D-5CA9915FA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9977" y="6189214"/>
            <a:ext cx="533400" cy="304800"/>
          </a:xfrm>
          <a:prstGeom prst="triangle">
            <a:avLst>
              <a:gd name="adj" fmla="val 50000"/>
            </a:avLst>
          </a:prstGeom>
          <a:solidFill>
            <a:srgbClr val="66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AutoShape 12">
            <a:extLst>
              <a:ext uri="{FF2B5EF4-FFF2-40B4-BE49-F238E27FC236}">
                <a16:creationId xmlns:a16="http://schemas.microsoft.com/office/drawing/2014/main" id="{C0D2D27F-BAF6-FB03-E817-78D3C6E4A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7177" y="3293614"/>
            <a:ext cx="3352800" cy="1219200"/>
          </a:xfrm>
          <a:prstGeom prst="roundRect">
            <a:avLst>
              <a:gd name="adj" fmla="val 16667"/>
            </a:avLst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</a:pPr>
            <a:r>
              <a:rPr kumimoji="0"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Area</a:t>
            </a:r>
          </a:p>
        </p:txBody>
      </p:sp>
      <p:sp>
        <p:nvSpPr>
          <p:cNvPr id="11" name="AutoShape 13">
            <a:extLst>
              <a:ext uri="{FF2B5EF4-FFF2-40B4-BE49-F238E27FC236}">
                <a16:creationId xmlns:a16="http://schemas.microsoft.com/office/drawing/2014/main" id="{08DB4121-4541-8894-E38A-036927DD6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7177" y="4512814"/>
            <a:ext cx="3352800" cy="1524000"/>
          </a:xfrm>
          <a:prstGeom prst="roundRect">
            <a:avLst>
              <a:gd name="adj" fmla="val 16667"/>
            </a:avLst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</a:pPr>
            <a:r>
              <a:rPr kumimoji="0"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Responds one clock</a:t>
            </a:r>
          </a:p>
          <a:p>
            <a:pPr algn="ctr">
              <a:spcBef>
                <a:spcPct val="0"/>
              </a:spcBef>
              <a:buClrTx/>
            </a:pPr>
            <a:r>
              <a:rPr kumimoji="0"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cycle earlier</a:t>
            </a:r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51D4D579-BC1E-58D2-441B-F8981487E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7177" y="2074414"/>
            <a:ext cx="3352800" cy="1219200"/>
          </a:xfrm>
          <a:prstGeom prst="roundRect">
            <a:avLst>
              <a:gd name="adj" fmla="val 16667"/>
            </a:avLst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</a:pPr>
            <a:r>
              <a:rPr kumimoji="0"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Fewer states</a:t>
            </a:r>
          </a:p>
        </p:txBody>
      </p:sp>
    </p:spTree>
    <p:extLst>
      <p:ext uri="{BB962C8B-B14F-4D97-AF65-F5344CB8AC3E}">
        <p14:creationId xmlns:p14="http://schemas.microsoft.com/office/powerpoint/2010/main" val="2291714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FSMs in VHDL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916353"/>
            <a:ext cx="10954214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FSMs can be easily described with processes.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Synthesis tools understand FSM description if certain rules are followed.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transitions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should be described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process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sensitive to 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reset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signal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function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described using rules for combinational logic, i.e., as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concurrent statements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a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with all inputs in the sensitivity list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496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FSMs in VHDL (Moore FSM)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21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606D5D-4E22-3E11-CB07-E16F5ECF7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4560" y="3529149"/>
            <a:ext cx="2155825" cy="923925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</a:pPr>
            <a:r>
              <a:rPr kumimoji="0" lang="en-US" sz="2400" dirty="0">
                <a:solidFill>
                  <a:srgbClr val="FFFFFF"/>
                </a:solidFill>
              </a:rPr>
              <a:t>State</a:t>
            </a:r>
            <a:br>
              <a:rPr kumimoji="0" lang="en-US" sz="2400" dirty="0">
                <a:solidFill>
                  <a:srgbClr val="FFFFFF"/>
                </a:solidFill>
              </a:rPr>
            </a:br>
            <a:r>
              <a:rPr kumimoji="0" lang="en-US" sz="2400" dirty="0">
                <a:solidFill>
                  <a:srgbClr val="FFFFFF"/>
                </a:solidFill>
              </a:rPr>
              <a:t>Register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7816B78-FBF5-5358-8E84-265A9BB3E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5385" y="1928949"/>
            <a:ext cx="1676400" cy="914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</a:pPr>
            <a:r>
              <a:rPr kumimoji="0" lang="en-US" sz="2400"/>
              <a:t>Next State</a:t>
            </a:r>
          </a:p>
          <a:p>
            <a:pPr algn="ctr">
              <a:spcBef>
                <a:spcPct val="0"/>
              </a:spcBef>
              <a:buClrTx/>
            </a:pPr>
            <a:r>
              <a:rPr kumimoji="0" lang="en-US" sz="2400"/>
              <a:t>function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DA78CC7-B636-1B9D-7FE9-1E0063336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1585" y="5129349"/>
            <a:ext cx="1676400" cy="914400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</a:pPr>
            <a:r>
              <a:rPr kumimoji="0" lang="en-US" sz="2400">
                <a:solidFill>
                  <a:srgbClr val="FFFFFF"/>
                </a:solidFill>
              </a:rPr>
              <a:t>Output</a:t>
            </a:r>
          </a:p>
          <a:p>
            <a:pPr algn="ctr">
              <a:spcBef>
                <a:spcPct val="0"/>
              </a:spcBef>
              <a:buClrTx/>
            </a:pPr>
            <a:r>
              <a:rPr kumimoji="0" lang="en-US" sz="2400">
                <a:solidFill>
                  <a:srgbClr val="FFFFFF"/>
                </a:solidFill>
              </a:rPr>
              <a:t>function</a:t>
            </a: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66C67BE5-6A16-B55D-2AF6-C7089FB00DA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0385" y="2386149"/>
            <a:ext cx="1905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90858A6F-1332-4F9A-DAEE-B288CCE92C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85185" y="2386149"/>
            <a:ext cx="0" cy="2286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30D469F4-7D41-4158-4A7A-F4462EEAA8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51785" y="2386149"/>
            <a:ext cx="5334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E2458D2C-808E-9DB6-BB16-58EC3FC3435C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3585" y="2843349"/>
            <a:ext cx="0" cy="685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411BCE13-A447-9152-B381-2A164773DDEC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7985" y="5586549"/>
            <a:ext cx="2362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F38AA105-0656-9786-4419-C30FCD07FD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0385" y="1928949"/>
            <a:ext cx="1014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/>
              <a:t>Inputs</a:t>
            </a:r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85E6302D-6A89-C50A-F235-620C6AC86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1385" y="3605349"/>
            <a:ext cx="2030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/>
              <a:t>Present State</a:t>
            </a: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025BFF99-4EA7-F0F9-2848-3AF221D94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7185" y="2919549"/>
            <a:ext cx="160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/>
              <a:t>Next State</a:t>
            </a:r>
          </a:p>
        </p:txBody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273CC49C-BDB1-C11E-4EB5-D6624FA1C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8585" y="5129349"/>
            <a:ext cx="1250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/>
              <a:t>Outputs</a:t>
            </a:r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9B9D2668-345C-D0A9-1FBD-9A6054E5E3F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3585" y="4672149"/>
            <a:ext cx="13716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2FFBB7FF-0DAA-FE1F-2574-9E69E43E298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3585" y="4443549"/>
            <a:ext cx="0" cy="685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Rectangle 21">
            <a:extLst>
              <a:ext uri="{FF2B5EF4-FFF2-40B4-BE49-F238E27FC236}">
                <a16:creationId xmlns:a16="http://schemas.microsoft.com/office/drawing/2014/main" id="{774593F2-FB65-AAB2-828A-909FF8ECA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7185" y="1700349"/>
            <a:ext cx="5486400" cy="3124200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Text Box 22">
            <a:extLst>
              <a:ext uri="{FF2B5EF4-FFF2-40B4-BE49-F238E27FC236}">
                <a16:creationId xmlns:a16="http://schemas.microsoft.com/office/drawing/2014/main" id="{FDCB4B97-0689-2D64-E0D8-AE6A97730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0185" y="1063762"/>
            <a:ext cx="3749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800" b="1">
                <a:solidFill>
                  <a:srgbClr val="990000"/>
                </a:solidFill>
                <a:cs typeface="Arial" charset="0"/>
              </a:rPr>
              <a:t>process(clock, reset)</a:t>
            </a:r>
            <a:endParaRPr kumimoji="0" lang="pl-PL" sz="2800" b="1">
              <a:solidFill>
                <a:srgbClr val="990000"/>
              </a:solidFill>
              <a:cs typeface="Arial" charset="0"/>
            </a:endParaRPr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A85C964E-BA24-D9A8-DCBC-534F94055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7185" y="4934087"/>
            <a:ext cx="3505200" cy="1262062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Text Box 24">
            <a:extLst>
              <a:ext uri="{FF2B5EF4-FFF2-40B4-BE49-F238E27FC236}">
                <a16:creationId xmlns:a16="http://schemas.microsoft.com/office/drawing/2014/main" id="{33D1A9AB-976A-C0D8-DF59-30FA3D80AF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8785" y="5053149"/>
            <a:ext cx="21431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800" b="1">
                <a:solidFill>
                  <a:srgbClr val="990000"/>
                </a:solidFill>
                <a:cs typeface="Arial" charset="0"/>
              </a:rPr>
              <a:t>concurrent 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800" b="1">
                <a:solidFill>
                  <a:srgbClr val="990000"/>
                </a:solidFill>
                <a:cs typeface="Arial" charset="0"/>
              </a:rPr>
              <a:t>statements</a:t>
            </a:r>
            <a:endParaRPr kumimoji="0" lang="pl-PL" sz="2800" b="1">
              <a:solidFill>
                <a:srgbClr val="990000"/>
              </a:solidFill>
              <a:cs typeface="Arial" charset="0"/>
            </a:endParaRPr>
          </a:p>
        </p:txBody>
      </p:sp>
      <p:sp>
        <p:nvSpPr>
          <p:cNvPr id="23" name="Text Box 20">
            <a:extLst>
              <a:ext uri="{FF2B5EF4-FFF2-40B4-BE49-F238E27FC236}">
                <a16:creationId xmlns:a16="http://schemas.microsoft.com/office/drawing/2014/main" id="{72225740-FAB8-99DD-DE45-B6463F2B7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6724" y="3497844"/>
            <a:ext cx="87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 dirty="0">
                <a:cs typeface="Arial" charset="0"/>
              </a:rPr>
              <a:t>clock</a:t>
            </a:r>
            <a:endParaRPr kumimoji="0" lang="pl-PL" sz="2400" dirty="0">
              <a:cs typeface="Arial" charset="0"/>
            </a:endParaRPr>
          </a:p>
        </p:txBody>
      </p:sp>
      <p:sp>
        <p:nvSpPr>
          <p:cNvPr id="24" name="Text Box 21">
            <a:extLst>
              <a:ext uri="{FF2B5EF4-FFF2-40B4-BE49-F238E27FC236}">
                <a16:creationId xmlns:a16="http://schemas.microsoft.com/office/drawing/2014/main" id="{4E8227AA-F91C-DA82-718B-5D61F791D7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3081" y="4008803"/>
            <a:ext cx="862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 dirty="0">
                <a:cs typeface="Arial" charset="0"/>
              </a:rPr>
              <a:t>reset</a:t>
            </a:r>
            <a:endParaRPr kumimoji="0" lang="pl-PL" sz="2400" dirty="0">
              <a:cs typeface="Arial" charset="0"/>
            </a:endParaRPr>
          </a:p>
        </p:txBody>
      </p:sp>
      <p:sp>
        <p:nvSpPr>
          <p:cNvPr id="25" name="Line 18">
            <a:extLst>
              <a:ext uri="{FF2B5EF4-FFF2-40B4-BE49-F238E27FC236}">
                <a16:creationId xmlns:a16="http://schemas.microsoft.com/office/drawing/2014/main" id="{87E6D398-F2E7-496B-5882-CF2A4C51D1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2996" y="4265194"/>
            <a:ext cx="1795184" cy="1256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arrow" w="lg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8">
            <a:extLst>
              <a:ext uri="{FF2B5EF4-FFF2-40B4-BE49-F238E27FC236}">
                <a16:creationId xmlns:a16="http://schemas.microsoft.com/office/drawing/2014/main" id="{966BD9AE-FAA8-0920-98F8-1ED7E6165C1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7981" y="3759861"/>
            <a:ext cx="1795184" cy="1256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arrow" w="lg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545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FSMs in VHDL (Mealy FSM)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22</a:t>
            </a:fld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586FA5B-89F4-DD13-7CD3-0248A7F17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2646" y="1693984"/>
            <a:ext cx="1676400" cy="914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</a:pPr>
            <a:r>
              <a:rPr kumimoji="0" lang="en-US" sz="2400"/>
              <a:t>Next State</a:t>
            </a:r>
          </a:p>
          <a:p>
            <a:pPr algn="ctr">
              <a:spcBef>
                <a:spcPct val="0"/>
              </a:spcBef>
              <a:buClrTx/>
            </a:pPr>
            <a:r>
              <a:rPr kumimoji="0" lang="en-US" sz="2400"/>
              <a:t>function</a:t>
            </a:r>
          </a:p>
        </p:txBody>
      </p:sp>
      <p:sp>
        <p:nvSpPr>
          <p:cNvPr id="27" name="Rectangle 4">
            <a:extLst>
              <a:ext uri="{FF2B5EF4-FFF2-40B4-BE49-F238E27FC236}">
                <a16:creationId xmlns:a16="http://schemas.microsoft.com/office/drawing/2014/main" id="{E9367C9E-BDC3-D825-F763-4CD5D24BC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8846" y="4894384"/>
            <a:ext cx="1676400" cy="914400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</a:pPr>
            <a:r>
              <a:rPr kumimoji="0" lang="en-US" sz="2400">
                <a:solidFill>
                  <a:srgbClr val="FFFFFF"/>
                </a:solidFill>
              </a:rPr>
              <a:t>Output</a:t>
            </a:r>
          </a:p>
          <a:p>
            <a:pPr algn="ctr">
              <a:spcBef>
                <a:spcPct val="0"/>
              </a:spcBef>
              <a:buClrTx/>
            </a:pPr>
            <a:r>
              <a:rPr kumimoji="0" lang="en-US" sz="2400">
                <a:solidFill>
                  <a:srgbClr val="FFFFFF"/>
                </a:solidFill>
              </a:rPr>
              <a:t>function</a:t>
            </a:r>
          </a:p>
        </p:txBody>
      </p:sp>
      <p:sp>
        <p:nvSpPr>
          <p:cNvPr id="28" name="Line 5">
            <a:extLst>
              <a:ext uri="{FF2B5EF4-FFF2-40B4-BE49-F238E27FC236}">
                <a16:creationId xmlns:a16="http://schemas.microsoft.com/office/drawing/2014/main" id="{BA635659-430E-4EC3-B91E-7BE1AD239E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2384" y="2151184"/>
            <a:ext cx="2100262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6">
            <a:extLst>
              <a:ext uri="{FF2B5EF4-FFF2-40B4-BE49-F238E27FC236}">
                <a16:creationId xmlns:a16="http://schemas.microsoft.com/office/drawing/2014/main" id="{B4AE5FD3-BBBD-A791-7159-F490FE1849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62446" y="2151184"/>
            <a:ext cx="0" cy="2286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7">
            <a:extLst>
              <a:ext uri="{FF2B5EF4-FFF2-40B4-BE49-F238E27FC236}">
                <a16:creationId xmlns:a16="http://schemas.microsoft.com/office/drawing/2014/main" id="{62F64B9B-5D4A-D07A-D464-667338822D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29046" y="2151184"/>
            <a:ext cx="555625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8">
            <a:extLst>
              <a:ext uri="{FF2B5EF4-FFF2-40B4-BE49-F238E27FC236}">
                <a16:creationId xmlns:a16="http://schemas.microsoft.com/office/drawing/2014/main" id="{13D35324-17E6-A5CA-362F-0F2EDD4211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890846" y="2608384"/>
            <a:ext cx="0" cy="685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9">
            <a:extLst>
              <a:ext uri="{FF2B5EF4-FFF2-40B4-BE49-F238E27FC236}">
                <a16:creationId xmlns:a16="http://schemas.microsoft.com/office/drawing/2014/main" id="{5F58DBE8-3819-1D5F-8144-B1C472121C0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5246" y="5351584"/>
            <a:ext cx="2362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Text Box 10">
            <a:extLst>
              <a:ext uri="{FF2B5EF4-FFF2-40B4-BE49-F238E27FC236}">
                <a16:creationId xmlns:a16="http://schemas.microsoft.com/office/drawing/2014/main" id="{3D8260D1-B00D-A37B-B8A5-4B3C906AE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7646" y="1693984"/>
            <a:ext cx="1014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/>
              <a:t>Inputs</a:t>
            </a:r>
          </a:p>
        </p:txBody>
      </p:sp>
      <p:sp>
        <p:nvSpPr>
          <p:cNvPr id="34" name="Text Box 11">
            <a:extLst>
              <a:ext uri="{FF2B5EF4-FFF2-40B4-BE49-F238E27FC236}">
                <a16:creationId xmlns:a16="http://schemas.microsoft.com/office/drawing/2014/main" id="{98F9EBB7-5ED5-C853-FA2D-B8F87E041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8646" y="2760784"/>
            <a:ext cx="2030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/>
              <a:t>Present State</a:t>
            </a:r>
          </a:p>
        </p:txBody>
      </p:sp>
      <p:sp>
        <p:nvSpPr>
          <p:cNvPr id="35" name="Text Box 12">
            <a:extLst>
              <a:ext uri="{FF2B5EF4-FFF2-40B4-BE49-F238E27FC236}">
                <a16:creationId xmlns:a16="http://schemas.microsoft.com/office/drawing/2014/main" id="{4827CB40-A150-7626-3B68-F8E1F8185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0646" y="2675059"/>
            <a:ext cx="160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/>
              <a:t>Next State</a:t>
            </a:r>
          </a:p>
        </p:txBody>
      </p:sp>
      <p:sp>
        <p:nvSpPr>
          <p:cNvPr id="36" name="Text Box 13">
            <a:extLst>
              <a:ext uri="{FF2B5EF4-FFF2-40B4-BE49-F238E27FC236}">
                <a16:creationId xmlns:a16="http://schemas.microsoft.com/office/drawing/2014/main" id="{B2E18952-CD44-F78E-D459-38B095278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5846" y="4894384"/>
            <a:ext cx="1250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/>
              <a:t>Outputs</a:t>
            </a:r>
          </a:p>
        </p:txBody>
      </p:sp>
      <p:sp>
        <p:nvSpPr>
          <p:cNvPr id="37" name="Line 14">
            <a:extLst>
              <a:ext uri="{FF2B5EF4-FFF2-40B4-BE49-F238E27FC236}">
                <a16:creationId xmlns:a16="http://schemas.microsoft.com/office/drawing/2014/main" id="{8FB07AB2-9BF4-4939-9A5C-4A7C87934C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890846" y="4208584"/>
            <a:ext cx="0" cy="685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Line 15">
            <a:extLst>
              <a:ext uri="{FF2B5EF4-FFF2-40B4-BE49-F238E27FC236}">
                <a16:creationId xmlns:a16="http://schemas.microsoft.com/office/drawing/2014/main" id="{C3B24EA4-66FB-864A-EDD0-24F141BADA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47646" y="2151184"/>
            <a:ext cx="0" cy="3200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Line 16">
            <a:extLst>
              <a:ext uri="{FF2B5EF4-FFF2-40B4-BE49-F238E27FC236}">
                <a16:creationId xmlns:a16="http://schemas.microsoft.com/office/drawing/2014/main" id="{4D473543-9427-682A-AE6B-0734E13A1B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5421" y="5351584"/>
            <a:ext cx="2003425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Rectangle 17">
            <a:extLst>
              <a:ext uri="{FF2B5EF4-FFF2-40B4-BE49-F238E27FC236}">
                <a16:creationId xmlns:a16="http://schemas.microsoft.com/office/drawing/2014/main" id="{FB1C006C-E849-8EF2-A9F9-3601E895F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1346" y="3305297"/>
            <a:ext cx="2155825" cy="923925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</a:pPr>
            <a:r>
              <a:rPr kumimoji="0" lang="en-US" sz="2400" dirty="0">
                <a:solidFill>
                  <a:srgbClr val="FFFFFF"/>
                </a:solidFill>
              </a:rPr>
              <a:t>State</a:t>
            </a:r>
            <a:br>
              <a:rPr kumimoji="0" lang="en-US" sz="2400" dirty="0">
                <a:solidFill>
                  <a:srgbClr val="FFFFFF"/>
                </a:solidFill>
              </a:rPr>
            </a:br>
            <a:r>
              <a:rPr kumimoji="0" lang="en-US" sz="2400" dirty="0">
                <a:solidFill>
                  <a:srgbClr val="FFFFFF"/>
                </a:solidFill>
              </a:rPr>
              <a:t>Register</a:t>
            </a:r>
          </a:p>
        </p:txBody>
      </p:sp>
      <p:sp>
        <p:nvSpPr>
          <p:cNvPr id="41" name="Line 22">
            <a:extLst>
              <a:ext uri="{FF2B5EF4-FFF2-40B4-BE49-F238E27FC236}">
                <a16:creationId xmlns:a16="http://schemas.microsoft.com/office/drawing/2014/main" id="{059A2571-CC3D-D629-7C41-2D9688F939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11484" y="4448297"/>
            <a:ext cx="1371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Rectangle 23">
            <a:extLst>
              <a:ext uri="{FF2B5EF4-FFF2-40B4-BE49-F238E27FC236}">
                <a16:creationId xmlns:a16="http://schemas.microsoft.com/office/drawing/2014/main" id="{0088843D-0873-7D1B-596A-4706B22EC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421" y="1617784"/>
            <a:ext cx="5356225" cy="2971800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Text Box 24">
            <a:extLst>
              <a:ext uri="{FF2B5EF4-FFF2-40B4-BE49-F238E27FC236}">
                <a16:creationId xmlns:a16="http://schemas.microsoft.com/office/drawing/2014/main" id="{EB422D29-D829-3196-2F82-14041347A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1246" y="981197"/>
            <a:ext cx="3749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800" b="1">
                <a:solidFill>
                  <a:srgbClr val="990000"/>
                </a:solidFill>
                <a:cs typeface="Arial" charset="0"/>
              </a:rPr>
              <a:t>process(clock, reset)</a:t>
            </a:r>
            <a:endParaRPr kumimoji="0" lang="pl-PL" sz="2800" b="1">
              <a:solidFill>
                <a:srgbClr val="990000"/>
              </a:solidFill>
              <a:cs typeface="Arial" charset="0"/>
            </a:endParaRPr>
          </a:p>
        </p:txBody>
      </p:sp>
      <p:sp>
        <p:nvSpPr>
          <p:cNvPr id="44" name="Rectangle 25">
            <a:extLst>
              <a:ext uri="{FF2B5EF4-FFF2-40B4-BE49-F238E27FC236}">
                <a16:creationId xmlns:a16="http://schemas.microsoft.com/office/drawing/2014/main" id="{A65AC378-64FB-EE4B-B086-489194E75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421" y="4688009"/>
            <a:ext cx="3244850" cy="1262063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" name="Text Box 26">
            <a:extLst>
              <a:ext uri="{FF2B5EF4-FFF2-40B4-BE49-F238E27FC236}">
                <a16:creationId xmlns:a16="http://schemas.microsoft.com/office/drawing/2014/main" id="{86CEA1DF-F1AC-2A89-04E2-36EC59AD43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3646" y="5351584"/>
            <a:ext cx="21431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800" b="1">
                <a:solidFill>
                  <a:srgbClr val="990000"/>
                </a:solidFill>
                <a:cs typeface="Arial" charset="0"/>
              </a:rPr>
              <a:t>concurrent 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800" b="1">
                <a:solidFill>
                  <a:srgbClr val="990000"/>
                </a:solidFill>
                <a:cs typeface="Arial" charset="0"/>
              </a:rPr>
              <a:t>statements</a:t>
            </a:r>
            <a:endParaRPr kumimoji="0" lang="pl-PL" sz="2800" b="1">
              <a:solidFill>
                <a:srgbClr val="990000"/>
              </a:solidFill>
              <a:cs typeface="Arial" charset="0"/>
            </a:endParaRPr>
          </a:p>
        </p:txBody>
      </p:sp>
      <p:sp>
        <p:nvSpPr>
          <p:cNvPr id="46" name="Text Box 20">
            <a:extLst>
              <a:ext uri="{FF2B5EF4-FFF2-40B4-BE49-F238E27FC236}">
                <a16:creationId xmlns:a16="http://schemas.microsoft.com/office/drawing/2014/main" id="{8754AE94-DDC9-0C80-5444-7105E6D58E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5825" y="3267859"/>
            <a:ext cx="87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 dirty="0">
                <a:cs typeface="Arial" charset="0"/>
              </a:rPr>
              <a:t>clock</a:t>
            </a:r>
            <a:endParaRPr kumimoji="0" lang="pl-PL" sz="2400" dirty="0">
              <a:cs typeface="Arial" charset="0"/>
            </a:endParaRPr>
          </a:p>
        </p:txBody>
      </p:sp>
      <p:sp>
        <p:nvSpPr>
          <p:cNvPr id="47" name="Text Box 21">
            <a:extLst>
              <a:ext uri="{FF2B5EF4-FFF2-40B4-BE49-F238E27FC236}">
                <a16:creationId xmlns:a16="http://schemas.microsoft.com/office/drawing/2014/main" id="{0245DFE2-97CC-214B-D4A5-83EB71219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2182" y="3778818"/>
            <a:ext cx="862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 dirty="0">
                <a:cs typeface="Arial" charset="0"/>
              </a:rPr>
              <a:t>reset</a:t>
            </a:r>
            <a:endParaRPr kumimoji="0" lang="pl-PL" sz="2400" dirty="0">
              <a:cs typeface="Arial" charset="0"/>
            </a:endParaRPr>
          </a:p>
        </p:txBody>
      </p:sp>
      <p:sp>
        <p:nvSpPr>
          <p:cNvPr id="48" name="Line 18">
            <a:extLst>
              <a:ext uri="{FF2B5EF4-FFF2-40B4-BE49-F238E27FC236}">
                <a16:creationId xmlns:a16="http://schemas.microsoft.com/office/drawing/2014/main" id="{B4A00495-7717-5755-5F66-1C0B42DFE36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2097" y="4035209"/>
            <a:ext cx="1795184" cy="1256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arrow" w="lg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Line 18">
            <a:extLst>
              <a:ext uri="{FF2B5EF4-FFF2-40B4-BE49-F238E27FC236}">
                <a16:creationId xmlns:a16="http://schemas.microsoft.com/office/drawing/2014/main" id="{BC216431-2531-7C29-2951-87F36C0BBF4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7082" y="3529876"/>
            <a:ext cx="1795184" cy="1256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arrow" w="lg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4133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FSMs in VHDL (Moore FSM – Example 1)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916353"/>
            <a:ext cx="109542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Moore FSM that recognizes Sequence “10”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23</a:t>
            </a:fld>
            <a:endParaRPr lang="en-US" dirty="0"/>
          </a:p>
        </p:txBody>
      </p:sp>
      <p:sp>
        <p:nvSpPr>
          <p:cNvPr id="4" name="Oval 5">
            <a:extLst>
              <a:ext uri="{FF2B5EF4-FFF2-40B4-BE49-F238E27FC236}">
                <a16:creationId xmlns:a16="http://schemas.microsoft.com/office/drawing/2014/main" id="{C0766FED-3CCF-A724-DAA6-1BD705B1E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2093" y="3086100"/>
            <a:ext cx="838200" cy="838200"/>
          </a:xfrm>
          <a:prstGeom prst="ellipse">
            <a:avLst/>
          </a:prstGeom>
          <a:solidFill>
            <a:srgbClr val="CCCC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</a:pPr>
            <a:r>
              <a:rPr kumimoji="0" lang="en-US" sz="2400" dirty="0">
                <a:solidFill>
                  <a:srgbClr val="000000"/>
                </a:solidFill>
              </a:rPr>
              <a:t>S0 / 0</a:t>
            </a:r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D0AE639A-440C-17FF-D27A-D088F0DEC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8093" y="3086100"/>
            <a:ext cx="989844" cy="838200"/>
          </a:xfrm>
          <a:prstGeom prst="ellipse">
            <a:avLst/>
          </a:prstGeom>
          <a:solidFill>
            <a:srgbClr val="CCCC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</a:pPr>
            <a:r>
              <a:rPr kumimoji="0" lang="en-US" sz="2400" dirty="0">
                <a:solidFill>
                  <a:srgbClr val="000000"/>
                </a:solidFill>
              </a:rPr>
              <a:t>S1 / 0</a:t>
            </a:r>
          </a:p>
        </p:txBody>
      </p:sp>
      <p:sp>
        <p:nvSpPr>
          <p:cNvPr id="7" name="Oval 7">
            <a:extLst>
              <a:ext uri="{FF2B5EF4-FFF2-40B4-BE49-F238E27FC236}">
                <a16:creationId xmlns:a16="http://schemas.microsoft.com/office/drawing/2014/main" id="{DB3DA5CE-1079-92F4-4295-01371677B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6492" y="3086100"/>
            <a:ext cx="1136881" cy="838200"/>
          </a:xfrm>
          <a:prstGeom prst="ellipse">
            <a:avLst/>
          </a:prstGeom>
          <a:solidFill>
            <a:srgbClr val="CCCC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</a:pPr>
            <a:r>
              <a:rPr kumimoji="0" lang="en-US" sz="2400">
                <a:solidFill>
                  <a:srgbClr val="000000"/>
                </a:solidFill>
              </a:rPr>
              <a:t>S2 / 1</a:t>
            </a:r>
          </a:p>
        </p:txBody>
      </p:sp>
      <p:sp>
        <p:nvSpPr>
          <p:cNvPr id="8" name="Line 10">
            <a:extLst>
              <a:ext uri="{FF2B5EF4-FFF2-40B4-BE49-F238E27FC236}">
                <a16:creationId xmlns:a16="http://schemas.microsoft.com/office/drawing/2014/main" id="{C3BE02CB-BEE3-1E21-0A30-1C4AADCFA1F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90293" y="3543300"/>
            <a:ext cx="144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Freeform 13">
            <a:extLst>
              <a:ext uri="{FF2B5EF4-FFF2-40B4-BE49-F238E27FC236}">
                <a16:creationId xmlns:a16="http://schemas.microsoft.com/office/drawing/2014/main" id="{08A1C04E-787C-2C73-0FA2-740B4A6673A6}"/>
              </a:ext>
            </a:extLst>
          </p:cNvPr>
          <p:cNvSpPr>
            <a:spLocks/>
          </p:cNvSpPr>
          <p:nvPr/>
        </p:nvSpPr>
        <p:spPr bwMode="auto">
          <a:xfrm>
            <a:off x="4237893" y="3848100"/>
            <a:ext cx="4267200" cy="609600"/>
          </a:xfrm>
          <a:custGeom>
            <a:avLst/>
            <a:gdLst>
              <a:gd name="T0" fmla="*/ 2688 w 2688"/>
              <a:gd name="T1" fmla="*/ 0 h 384"/>
              <a:gd name="T2" fmla="*/ 1728 w 2688"/>
              <a:gd name="T3" fmla="*/ 288 h 384"/>
              <a:gd name="T4" fmla="*/ 912 w 2688"/>
              <a:gd name="T5" fmla="*/ 336 h 384"/>
              <a:gd name="T6" fmla="*/ 0 w 2688"/>
              <a:gd name="T7" fmla="*/ 0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2688"/>
              <a:gd name="T13" fmla="*/ 0 h 384"/>
              <a:gd name="T14" fmla="*/ 2688 w 2688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88" h="384">
                <a:moveTo>
                  <a:pt x="2688" y="0"/>
                </a:moveTo>
                <a:cubicBezTo>
                  <a:pt x="2356" y="116"/>
                  <a:pt x="2024" y="232"/>
                  <a:pt x="1728" y="288"/>
                </a:cubicBezTo>
                <a:cubicBezTo>
                  <a:pt x="1432" y="344"/>
                  <a:pt x="1200" y="384"/>
                  <a:pt x="912" y="336"/>
                </a:cubicBezTo>
                <a:cubicBezTo>
                  <a:pt x="624" y="288"/>
                  <a:pt x="152" y="48"/>
                  <a:pt x="0" y="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ext Box 14">
            <a:extLst>
              <a:ext uri="{FF2B5EF4-FFF2-40B4-BE49-F238E27FC236}">
                <a16:creationId xmlns:a16="http://schemas.microsoft.com/office/drawing/2014/main" id="{EDAC3E80-222D-6058-4AFA-51F0BFAE0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3931" y="2337237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 dirty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11" name="Text Box 15">
            <a:extLst>
              <a:ext uri="{FF2B5EF4-FFF2-40B4-BE49-F238E27FC236}">
                <a16:creationId xmlns:a16="http://schemas.microsoft.com/office/drawing/2014/main" id="{E2ABBAC3-C6D0-E8D7-2A3C-0F6CB510D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2093" y="290604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 dirty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12" name="Text Box 16">
            <a:extLst>
              <a:ext uri="{FF2B5EF4-FFF2-40B4-BE49-F238E27FC236}">
                <a16:creationId xmlns:a16="http://schemas.microsoft.com/office/drawing/2014/main" id="{6E5DBBA2-A803-9D1C-B341-DC1B9B2D4B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4293" y="43815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13" name="Text Box 17">
            <a:extLst>
              <a:ext uri="{FF2B5EF4-FFF2-40B4-BE49-F238E27FC236}">
                <a16:creationId xmlns:a16="http://schemas.microsoft.com/office/drawing/2014/main" id="{7480E4BF-8A5F-F09B-B698-9752FFAE79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5636" y="2291876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4" name="Text Box 18">
            <a:extLst>
              <a:ext uri="{FF2B5EF4-FFF2-40B4-BE49-F238E27FC236}">
                <a16:creationId xmlns:a16="http://schemas.microsoft.com/office/drawing/2014/main" id="{C021B4A7-C369-DD53-7099-28FE52B9A7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1293" y="30861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5" name="Text Box 19">
            <a:extLst>
              <a:ext uri="{FF2B5EF4-FFF2-40B4-BE49-F238E27FC236}">
                <a16:creationId xmlns:a16="http://schemas.microsoft.com/office/drawing/2014/main" id="{F8027FB8-F2AE-B724-1F83-573741699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5893" y="33147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6" name="Line 20">
            <a:extLst>
              <a:ext uri="{FF2B5EF4-FFF2-40B4-BE49-F238E27FC236}">
                <a16:creationId xmlns:a16="http://schemas.microsoft.com/office/drawing/2014/main" id="{9358D3AE-6DC3-B481-C7A2-3B51A11D50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23493" y="3771900"/>
            <a:ext cx="3048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ext Box 21">
            <a:extLst>
              <a:ext uri="{FF2B5EF4-FFF2-40B4-BE49-F238E27FC236}">
                <a16:creationId xmlns:a16="http://schemas.microsoft.com/office/drawing/2014/main" id="{BE639B2D-B5D3-B5DB-6BB0-1E1B5BBA39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1818" y="4192588"/>
            <a:ext cx="8771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>
                <a:solidFill>
                  <a:srgbClr val="000000"/>
                </a:solidFill>
              </a:rPr>
              <a:t>reset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D8FE59AD-6B21-9885-8B2B-880CA5AF1475}"/>
              </a:ext>
            </a:extLst>
          </p:cNvPr>
          <p:cNvSpPr/>
          <p:nvPr/>
        </p:nvSpPr>
        <p:spPr bwMode="auto">
          <a:xfrm>
            <a:off x="3460069" y="2754779"/>
            <a:ext cx="986548" cy="532991"/>
          </a:xfrm>
          <a:prstGeom prst="arc">
            <a:avLst>
              <a:gd name="adj1" fmla="val 8828574"/>
              <a:gd name="adj2" fmla="val 1851336"/>
            </a:avLst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lg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7E68B47E-B331-76EF-02E5-6D04B79A19C8}"/>
              </a:ext>
            </a:extLst>
          </p:cNvPr>
          <p:cNvSpPr/>
          <p:nvPr/>
        </p:nvSpPr>
        <p:spPr bwMode="auto">
          <a:xfrm>
            <a:off x="5823713" y="2714396"/>
            <a:ext cx="986548" cy="532991"/>
          </a:xfrm>
          <a:prstGeom prst="arc">
            <a:avLst>
              <a:gd name="adj1" fmla="val 8828574"/>
              <a:gd name="adj2" fmla="val 1851336"/>
            </a:avLst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lg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A49F461-F656-3FE2-5CE1-2C904B883EAE}"/>
              </a:ext>
            </a:extLst>
          </p:cNvPr>
          <p:cNvCxnSpPr/>
          <p:nvPr/>
        </p:nvCxnSpPr>
        <p:spPr bwMode="auto">
          <a:xfrm>
            <a:off x="6782578" y="3344468"/>
            <a:ext cx="1508172" cy="11340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1E6EE16-8D03-9E6C-3761-1F53A20BE30D}"/>
              </a:ext>
            </a:extLst>
          </p:cNvPr>
          <p:cNvCxnSpPr/>
          <p:nvPr/>
        </p:nvCxnSpPr>
        <p:spPr bwMode="auto">
          <a:xfrm flipH="1" flipV="1">
            <a:off x="6793918" y="3673335"/>
            <a:ext cx="1519512" cy="11340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0156762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FSMs in VHDL (Moore FSM – Example 1)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24</a:t>
            </a:fld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768C2BA-0039-519F-A200-523ABF549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46" y="1403472"/>
            <a:ext cx="8410575" cy="4543425"/>
          </a:xfrm>
          <a:prstGeom prst="rect">
            <a:avLst/>
          </a:prstGeom>
        </p:spPr>
      </p:pic>
      <p:sp>
        <p:nvSpPr>
          <p:cNvPr id="26" name="Oval 5">
            <a:extLst>
              <a:ext uri="{FF2B5EF4-FFF2-40B4-BE49-F238E27FC236}">
                <a16:creationId xmlns:a16="http://schemas.microsoft.com/office/drawing/2014/main" id="{4978A7E1-7307-548D-A4BC-2953DA2C0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6761" y="2477248"/>
            <a:ext cx="1093861" cy="838200"/>
          </a:xfrm>
          <a:prstGeom prst="ellipse">
            <a:avLst/>
          </a:prstGeom>
          <a:solidFill>
            <a:srgbClr val="CCCC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</a:pPr>
            <a:r>
              <a:rPr kumimoji="0" lang="en-US" sz="2400" dirty="0"/>
              <a:t>S0 / 0</a:t>
            </a:r>
          </a:p>
        </p:txBody>
      </p:sp>
      <p:sp>
        <p:nvSpPr>
          <p:cNvPr id="27" name="Oval 6">
            <a:extLst>
              <a:ext uri="{FF2B5EF4-FFF2-40B4-BE49-F238E27FC236}">
                <a16:creationId xmlns:a16="http://schemas.microsoft.com/office/drawing/2014/main" id="{BC8F6C53-12CC-600C-E65C-1A17526D4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8707" y="2477248"/>
            <a:ext cx="1077915" cy="838200"/>
          </a:xfrm>
          <a:prstGeom prst="ellipse">
            <a:avLst/>
          </a:prstGeom>
          <a:solidFill>
            <a:srgbClr val="CCCC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</a:pPr>
            <a:r>
              <a:rPr kumimoji="0" lang="en-US" sz="2400"/>
              <a:t>S1 / 0</a:t>
            </a:r>
          </a:p>
        </p:txBody>
      </p:sp>
      <p:sp>
        <p:nvSpPr>
          <p:cNvPr id="28" name="Freeform 8">
            <a:extLst>
              <a:ext uri="{FF2B5EF4-FFF2-40B4-BE49-F238E27FC236}">
                <a16:creationId xmlns:a16="http://schemas.microsoft.com/office/drawing/2014/main" id="{17FC916D-73E1-DC6E-404F-32A2FFA136F5}"/>
              </a:ext>
            </a:extLst>
          </p:cNvPr>
          <p:cNvSpPr>
            <a:spLocks/>
          </p:cNvSpPr>
          <p:nvPr/>
        </p:nvSpPr>
        <p:spPr bwMode="auto">
          <a:xfrm>
            <a:off x="6096000" y="2325987"/>
            <a:ext cx="504825" cy="517525"/>
          </a:xfrm>
          <a:custGeom>
            <a:avLst/>
            <a:gdLst>
              <a:gd name="T0" fmla="*/ 136 w 318"/>
              <a:gd name="T1" fmla="*/ 326 h 326"/>
              <a:gd name="T2" fmla="*/ 43 w 318"/>
              <a:gd name="T3" fmla="*/ 292 h 326"/>
              <a:gd name="T4" fmla="*/ 0 w 318"/>
              <a:gd name="T5" fmla="*/ 216 h 326"/>
              <a:gd name="T6" fmla="*/ 119 w 318"/>
              <a:gd name="T7" fmla="*/ 12 h 326"/>
              <a:gd name="T8" fmla="*/ 314 w 318"/>
              <a:gd name="T9" fmla="*/ 80 h 326"/>
              <a:gd name="T10" fmla="*/ 314 w 318"/>
              <a:gd name="T11" fmla="*/ 139 h 32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18"/>
              <a:gd name="T19" fmla="*/ 0 h 326"/>
              <a:gd name="T20" fmla="*/ 318 w 318"/>
              <a:gd name="T21" fmla="*/ 326 h 32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18" h="326">
                <a:moveTo>
                  <a:pt x="136" y="326"/>
                </a:moveTo>
                <a:cubicBezTo>
                  <a:pt x="98" y="318"/>
                  <a:pt x="75" y="314"/>
                  <a:pt x="43" y="292"/>
                </a:cubicBezTo>
                <a:cubicBezTo>
                  <a:pt x="4" y="234"/>
                  <a:pt x="16" y="260"/>
                  <a:pt x="0" y="216"/>
                </a:cubicBezTo>
                <a:cubicBezTo>
                  <a:pt x="12" y="109"/>
                  <a:pt x="33" y="70"/>
                  <a:pt x="119" y="12"/>
                </a:cubicBezTo>
                <a:cubicBezTo>
                  <a:pt x="160" y="15"/>
                  <a:pt x="298" y="0"/>
                  <a:pt x="314" y="80"/>
                </a:cubicBezTo>
                <a:cubicBezTo>
                  <a:pt x="318" y="99"/>
                  <a:pt x="314" y="119"/>
                  <a:pt x="314" y="139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10">
            <a:extLst>
              <a:ext uri="{FF2B5EF4-FFF2-40B4-BE49-F238E27FC236}">
                <a16:creationId xmlns:a16="http://schemas.microsoft.com/office/drawing/2014/main" id="{97C565C9-9FA9-96EA-A259-3060B334B3FA}"/>
              </a:ext>
            </a:extLst>
          </p:cNvPr>
          <p:cNvSpPr>
            <a:spLocks noChangeShapeType="1"/>
          </p:cNvSpPr>
          <p:nvPr/>
        </p:nvSpPr>
        <p:spPr bwMode="auto">
          <a:xfrm>
            <a:off x="7440622" y="2934448"/>
            <a:ext cx="1196746" cy="432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Text Box 14">
            <a:extLst>
              <a:ext uri="{FF2B5EF4-FFF2-40B4-BE49-F238E27FC236}">
                <a16:creationId xmlns:a16="http://schemas.microsoft.com/office/drawing/2014/main" id="{898BF992-2EC8-B622-1E52-33D246D11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5222" y="1943848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/>
              <a:t>0</a:t>
            </a:r>
          </a:p>
        </p:txBody>
      </p:sp>
      <p:sp>
        <p:nvSpPr>
          <p:cNvPr id="31" name="Text Box 18">
            <a:extLst>
              <a:ext uri="{FF2B5EF4-FFF2-40B4-BE49-F238E27FC236}">
                <a16:creationId xmlns:a16="http://schemas.microsoft.com/office/drawing/2014/main" id="{24599956-0206-4B89-3652-814DEB496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1622" y="2477248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/>
              <a:t>1</a:t>
            </a:r>
          </a:p>
        </p:txBody>
      </p:sp>
      <p:sp>
        <p:nvSpPr>
          <p:cNvPr id="32" name="Right Brace 31">
            <a:extLst>
              <a:ext uri="{FF2B5EF4-FFF2-40B4-BE49-F238E27FC236}">
                <a16:creationId xmlns:a16="http://schemas.microsoft.com/office/drawing/2014/main" id="{5BCDBFAB-284A-0F92-AB73-EBC7E7FAD3E9}"/>
              </a:ext>
            </a:extLst>
          </p:cNvPr>
          <p:cNvSpPr/>
          <p:nvPr/>
        </p:nvSpPr>
        <p:spPr bwMode="auto">
          <a:xfrm>
            <a:off x="6349761" y="4000500"/>
            <a:ext cx="495944" cy="1863969"/>
          </a:xfrm>
          <a:prstGeom prst="rightBrace">
            <a:avLst>
              <a:gd name="adj1" fmla="val 8333"/>
              <a:gd name="adj2" fmla="val 50627"/>
            </a:avLst>
          </a:prstGeom>
          <a:noFill/>
          <a:ln w="222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</a:pPr>
            <a:endParaRPr kumimoji="1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4DE6EB-0DCF-72CD-8412-7F5CC43AF0D9}"/>
              </a:ext>
            </a:extLst>
          </p:cNvPr>
          <p:cNvSpPr txBox="1"/>
          <p:nvPr/>
        </p:nvSpPr>
        <p:spPr>
          <a:xfrm>
            <a:off x="6821936" y="4701651"/>
            <a:ext cx="22376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next state logic</a:t>
            </a:r>
          </a:p>
        </p:txBody>
      </p:sp>
    </p:spTree>
    <p:extLst>
      <p:ext uri="{BB962C8B-B14F-4D97-AF65-F5344CB8AC3E}">
        <p14:creationId xmlns:p14="http://schemas.microsoft.com/office/powerpoint/2010/main" val="39454691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FSMs in VHDL (Moore FSM – Example 1)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25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7D4650-1780-B0C5-EF62-D219346A4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342" y="958986"/>
            <a:ext cx="8753475" cy="5419725"/>
          </a:xfrm>
          <a:prstGeom prst="rect">
            <a:avLst/>
          </a:prstGeom>
        </p:spPr>
      </p:pic>
      <p:sp>
        <p:nvSpPr>
          <p:cNvPr id="10" name="Right Brace 9">
            <a:extLst>
              <a:ext uri="{FF2B5EF4-FFF2-40B4-BE49-F238E27FC236}">
                <a16:creationId xmlns:a16="http://schemas.microsoft.com/office/drawing/2014/main" id="{E92659FB-E819-EBDE-112C-D6C3F9D9722C}"/>
              </a:ext>
            </a:extLst>
          </p:cNvPr>
          <p:cNvSpPr/>
          <p:nvPr/>
        </p:nvSpPr>
        <p:spPr bwMode="auto">
          <a:xfrm>
            <a:off x="7013152" y="1100215"/>
            <a:ext cx="630295" cy="3337777"/>
          </a:xfrm>
          <a:prstGeom prst="rightBrace">
            <a:avLst>
              <a:gd name="adj1" fmla="val 8333"/>
              <a:gd name="adj2" fmla="val 50627"/>
            </a:avLst>
          </a:prstGeom>
          <a:noFill/>
          <a:ln w="222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</a:pPr>
            <a:endParaRPr kumimoji="1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0E8B06-63BB-6BA1-FE38-15A9AF052017}"/>
              </a:ext>
            </a:extLst>
          </p:cNvPr>
          <p:cNvSpPr txBox="1"/>
          <p:nvPr/>
        </p:nvSpPr>
        <p:spPr>
          <a:xfrm>
            <a:off x="7742326" y="2558075"/>
            <a:ext cx="22376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next state logic</a:t>
            </a:r>
          </a:p>
        </p:txBody>
      </p:sp>
    </p:spTree>
    <p:extLst>
      <p:ext uri="{BB962C8B-B14F-4D97-AF65-F5344CB8AC3E}">
        <p14:creationId xmlns:p14="http://schemas.microsoft.com/office/powerpoint/2010/main" val="28988474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FSMs in VHDL (Mealy FSM – Example 1)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916353"/>
            <a:ext cx="109542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Mealy FSM that recognizes Sequence “10”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26</a:t>
            </a:fld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42E051-2178-74B9-EDFA-DA22551392C3}"/>
              </a:ext>
            </a:extLst>
          </p:cNvPr>
          <p:cNvGrpSpPr/>
          <p:nvPr/>
        </p:nvGrpSpPr>
        <p:grpSpPr>
          <a:xfrm>
            <a:off x="3383756" y="2494085"/>
            <a:ext cx="5424488" cy="2362200"/>
            <a:chOff x="1600200" y="2590800"/>
            <a:chExt cx="5424488" cy="2362200"/>
          </a:xfrm>
        </p:grpSpPr>
        <p:sp>
          <p:nvSpPr>
            <p:cNvPr id="23" name="Oval 4">
              <a:extLst>
                <a:ext uri="{FF2B5EF4-FFF2-40B4-BE49-F238E27FC236}">
                  <a16:creationId xmlns:a16="http://schemas.microsoft.com/office/drawing/2014/main" id="{E7FEDF47-BD98-05FC-9C64-BE0F45B192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0800" y="3276600"/>
              <a:ext cx="838200" cy="838200"/>
            </a:xfrm>
            <a:prstGeom prst="ellipse">
              <a:avLst/>
            </a:prstGeom>
            <a:solidFill>
              <a:srgbClr val="CCCCCC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>
                <a:rot lat="0" lon="0" rev="0"/>
              </a:lightRig>
            </a:scene3d>
            <a:sp3d extrusionH="254000" prstMaterial="matte"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</a:pPr>
              <a:r>
                <a:rPr kumimoji="0" lang="en-US" sz="2400" dirty="0"/>
                <a:t>S0</a:t>
              </a:r>
            </a:p>
          </p:txBody>
        </p:sp>
        <p:sp>
          <p:nvSpPr>
            <p:cNvPr id="24" name="Oval 5">
              <a:extLst>
                <a:ext uri="{FF2B5EF4-FFF2-40B4-BE49-F238E27FC236}">
                  <a16:creationId xmlns:a16="http://schemas.microsoft.com/office/drawing/2014/main" id="{58830B0B-AF33-D132-B236-4FEBDCFD4C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5000" y="3276600"/>
              <a:ext cx="838200" cy="838200"/>
            </a:xfrm>
            <a:prstGeom prst="ellipse">
              <a:avLst/>
            </a:pr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</a:pPr>
              <a:r>
                <a:rPr kumimoji="0" lang="en-US" sz="2400" dirty="0"/>
                <a:t>S1</a:t>
              </a:r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A5E94F72-3272-8E4C-94F8-71D2BF5B3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8400" y="3048000"/>
              <a:ext cx="504825" cy="517525"/>
            </a:xfrm>
            <a:custGeom>
              <a:avLst/>
              <a:gdLst>
                <a:gd name="T0" fmla="*/ 2147483647 w 318"/>
                <a:gd name="T1" fmla="*/ 2147483647 h 326"/>
                <a:gd name="T2" fmla="*/ 2147483647 w 318"/>
                <a:gd name="T3" fmla="*/ 2147483647 h 326"/>
                <a:gd name="T4" fmla="*/ 0 w 318"/>
                <a:gd name="T5" fmla="*/ 2147483647 h 326"/>
                <a:gd name="T6" fmla="*/ 2147483647 w 318"/>
                <a:gd name="T7" fmla="*/ 2147483647 h 326"/>
                <a:gd name="T8" fmla="*/ 2147483647 w 318"/>
                <a:gd name="T9" fmla="*/ 2147483647 h 326"/>
                <a:gd name="T10" fmla="*/ 2147483647 w 318"/>
                <a:gd name="T11" fmla="*/ 2147483647 h 3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8"/>
                <a:gd name="T19" fmla="*/ 0 h 326"/>
                <a:gd name="T20" fmla="*/ 318 w 318"/>
                <a:gd name="T21" fmla="*/ 326 h 32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8" h="326">
                  <a:moveTo>
                    <a:pt x="136" y="326"/>
                  </a:moveTo>
                  <a:cubicBezTo>
                    <a:pt x="98" y="318"/>
                    <a:pt x="75" y="314"/>
                    <a:pt x="43" y="292"/>
                  </a:cubicBezTo>
                  <a:cubicBezTo>
                    <a:pt x="4" y="234"/>
                    <a:pt x="16" y="260"/>
                    <a:pt x="0" y="216"/>
                  </a:cubicBezTo>
                  <a:cubicBezTo>
                    <a:pt x="12" y="109"/>
                    <a:pt x="33" y="70"/>
                    <a:pt x="119" y="12"/>
                  </a:cubicBezTo>
                  <a:cubicBezTo>
                    <a:pt x="160" y="15"/>
                    <a:pt x="298" y="0"/>
                    <a:pt x="314" y="80"/>
                  </a:cubicBezTo>
                  <a:cubicBezTo>
                    <a:pt x="318" y="99"/>
                    <a:pt x="314" y="119"/>
                    <a:pt x="314" y="13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Box 7">
              <a:extLst>
                <a:ext uri="{FF2B5EF4-FFF2-40B4-BE49-F238E27FC236}">
                  <a16:creationId xmlns:a16="http://schemas.microsoft.com/office/drawing/2014/main" id="{612120AD-81A4-84C8-30B8-78FBA700CC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9800" y="2590800"/>
              <a:ext cx="7762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spcBef>
                  <a:spcPct val="0"/>
                </a:spcBef>
                <a:buClrTx/>
              </a:pPr>
              <a:r>
                <a:rPr kumimoji="0" lang="en-US" sz="2400" dirty="0"/>
                <a:t>0 / 0</a:t>
              </a:r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0CA06544-1B42-6F04-3BFC-7DEF9AAA9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1113" y="3092450"/>
              <a:ext cx="609600" cy="631825"/>
            </a:xfrm>
            <a:custGeom>
              <a:avLst/>
              <a:gdLst>
                <a:gd name="T0" fmla="*/ 0 w 384"/>
                <a:gd name="T1" fmla="*/ 2147483647 h 398"/>
                <a:gd name="T2" fmla="*/ 2147483647 w 384"/>
                <a:gd name="T3" fmla="*/ 2147483647 h 398"/>
                <a:gd name="T4" fmla="*/ 2147483647 w 384"/>
                <a:gd name="T5" fmla="*/ 2147483647 h 398"/>
                <a:gd name="T6" fmla="*/ 2147483647 w 384"/>
                <a:gd name="T7" fmla="*/ 0 h 398"/>
                <a:gd name="T8" fmla="*/ 2147483647 w 384"/>
                <a:gd name="T9" fmla="*/ 2147483647 h 398"/>
                <a:gd name="T10" fmla="*/ 2147483647 w 384"/>
                <a:gd name="T11" fmla="*/ 2147483647 h 398"/>
                <a:gd name="T12" fmla="*/ 2147483647 w 384"/>
                <a:gd name="T13" fmla="*/ 2147483647 h 398"/>
                <a:gd name="T14" fmla="*/ 2147483647 w 384"/>
                <a:gd name="T15" fmla="*/ 2147483647 h 398"/>
                <a:gd name="T16" fmla="*/ 2147483647 w 384"/>
                <a:gd name="T17" fmla="*/ 2147483647 h 398"/>
                <a:gd name="T18" fmla="*/ 2147483647 w 384"/>
                <a:gd name="T19" fmla="*/ 2147483647 h 398"/>
                <a:gd name="T20" fmla="*/ 2147483647 w 384"/>
                <a:gd name="T21" fmla="*/ 2147483647 h 398"/>
                <a:gd name="T22" fmla="*/ 2147483647 w 384"/>
                <a:gd name="T23" fmla="*/ 2147483647 h 39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84"/>
                <a:gd name="T37" fmla="*/ 0 h 398"/>
                <a:gd name="T38" fmla="*/ 384 w 384"/>
                <a:gd name="T39" fmla="*/ 398 h 39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84" h="398">
                  <a:moveTo>
                    <a:pt x="0" y="161"/>
                  </a:moveTo>
                  <a:cubicBezTo>
                    <a:pt x="9" y="93"/>
                    <a:pt x="22" y="81"/>
                    <a:pt x="59" y="26"/>
                  </a:cubicBezTo>
                  <a:cubicBezTo>
                    <a:pt x="67" y="14"/>
                    <a:pt x="87" y="20"/>
                    <a:pt x="101" y="17"/>
                  </a:cubicBezTo>
                  <a:cubicBezTo>
                    <a:pt x="132" y="11"/>
                    <a:pt x="194" y="0"/>
                    <a:pt x="194" y="0"/>
                  </a:cubicBezTo>
                  <a:cubicBezTo>
                    <a:pt x="233" y="8"/>
                    <a:pt x="255" y="13"/>
                    <a:pt x="288" y="34"/>
                  </a:cubicBezTo>
                  <a:cubicBezTo>
                    <a:pt x="308" y="98"/>
                    <a:pt x="279" y="24"/>
                    <a:pt x="321" y="76"/>
                  </a:cubicBezTo>
                  <a:cubicBezTo>
                    <a:pt x="327" y="83"/>
                    <a:pt x="326" y="94"/>
                    <a:pt x="330" y="102"/>
                  </a:cubicBezTo>
                  <a:cubicBezTo>
                    <a:pt x="340" y="120"/>
                    <a:pt x="364" y="153"/>
                    <a:pt x="364" y="153"/>
                  </a:cubicBezTo>
                  <a:cubicBezTo>
                    <a:pt x="379" y="218"/>
                    <a:pt x="384" y="225"/>
                    <a:pt x="364" y="322"/>
                  </a:cubicBezTo>
                  <a:cubicBezTo>
                    <a:pt x="361" y="338"/>
                    <a:pt x="288" y="381"/>
                    <a:pt x="288" y="381"/>
                  </a:cubicBezTo>
                  <a:cubicBezTo>
                    <a:pt x="273" y="391"/>
                    <a:pt x="237" y="398"/>
                    <a:pt x="237" y="398"/>
                  </a:cubicBezTo>
                  <a:cubicBezTo>
                    <a:pt x="200" y="395"/>
                    <a:pt x="127" y="390"/>
                    <a:pt x="127" y="39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C7059BD7-C6AF-4DDD-6578-AA2D40B2D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9000" y="3149600"/>
              <a:ext cx="2362200" cy="355600"/>
            </a:xfrm>
            <a:custGeom>
              <a:avLst/>
              <a:gdLst>
                <a:gd name="T0" fmla="*/ 0 w 1536"/>
                <a:gd name="T1" fmla="*/ 2147483647 h 224"/>
                <a:gd name="T2" fmla="*/ 2147483647 w 1536"/>
                <a:gd name="T3" fmla="*/ 2147483647 h 224"/>
                <a:gd name="T4" fmla="*/ 2147483647 w 1536"/>
                <a:gd name="T5" fmla="*/ 2147483647 h 224"/>
                <a:gd name="T6" fmla="*/ 2147483647 w 1536"/>
                <a:gd name="T7" fmla="*/ 2147483647 h 2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36"/>
                <a:gd name="T13" fmla="*/ 0 h 224"/>
                <a:gd name="T14" fmla="*/ 1536 w 1536"/>
                <a:gd name="T15" fmla="*/ 224 h 2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36" h="224">
                  <a:moveTo>
                    <a:pt x="0" y="224"/>
                  </a:moveTo>
                  <a:cubicBezTo>
                    <a:pt x="124" y="144"/>
                    <a:pt x="248" y="64"/>
                    <a:pt x="432" y="32"/>
                  </a:cubicBezTo>
                  <a:cubicBezTo>
                    <a:pt x="616" y="0"/>
                    <a:pt x="920" y="8"/>
                    <a:pt x="1104" y="32"/>
                  </a:cubicBezTo>
                  <a:cubicBezTo>
                    <a:pt x="1288" y="56"/>
                    <a:pt x="1448" y="136"/>
                    <a:pt x="1536" y="176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255B4784-07B5-1A98-9721-63938B47F5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6600" y="3962400"/>
              <a:ext cx="2514600" cy="508000"/>
            </a:xfrm>
            <a:custGeom>
              <a:avLst/>
              <a:gdLst>
                <a:gd name="T0" fmla="*/ 2147483647 w 1680"/>
                <a:gd name="T1" fmla="*/ 0 h 320"/>
                <a:gd name="T2" fmla="*/ 2147483647 w 1680"/>
                <a:gd name="T3" fmla="*/ 2147483647 h 320"/>
                <a:gd name="T4" fmla="*/ 2147483647 w 1680"/>
                <a:gd name="T5" fmla="*/ 2147483647 h 320"/>
                <a:gd name="T6" fmla="*/ 0 w 1680"/>
                <a:gd name="T7" fmla="*/ 2147483647 h 3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0"/>
                <a:gd name="T13" fmla="*/ 0 h 320"/>
                <a:gd name="T14" fmla="*/ 1680 w 1680"/>
                <a:gd name="T15" fmla="*/ 320 h 3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0" h="320">
                  <a:moveTo>
                    <a:pt x="1680" y="0"/>
                  </a:moveTo>
                  <a:cubicBezTo>
                    <a:pt x="1528" y="96"/>
                    <a:pt x="1376" y="192"/>
                    <a:pt x="1200" y="240"/>
                  </a:cubicBezTo>
                  <a:cubicBezTo>
                    <a:pt x="1024" y="288"/>
                    <a:pt x="824" y="320"/>
                    <a:pt x="624" y="288"/>
                  </a:cubicBezTo>
                  <a:cubicBezTo>
                    <a:pt x="424" y="256"/>
                    <a:pt x="88" y="64"/>
                    <a:pt x="0" y="4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Box 11">
              <a:extLst>
                <a:ext uri="{FF2B5EF4-FFF2-40B4-BE49-F238E27FC236}">
                  <a16:creationId xmlns:a16="http://schemas.microsoft.com/office/drawing/2014/main" id="{76DE9EE8-0132-EB19-202D-458A6F0D66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1000" y="2667000"/>
              <a:ext cx="7762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spcBef>
                  <a:spcPct val="0"/>
                </a:spcBef>
                <a:buClrTx/>
              </a:pPr>
              <a:r>
                <a:rPr kumimoji="0" lang="en-US" sz="2400"/>
                <a:t>1 / 0</a:t>
              </a:r>
            </a:p>
          </p:txBody>
        </p:sp>
        <p:sp>
          <p:nvSpPr>
            <p:cNvPr id="31" name="Text Box 12">
              <a:extLst>
                <a:ext uri="{FF2B5EF4-FFF2-40B4-BE49-F238E27FC236}">
                  <a16:creationId xmlns:a16="http://schemas.microsoft.com/office/drawing/2014/main" id="{DC68D978-8DF7-4B6E-E464-F404A3FCFD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2667000"/>
              <a:ext cx="7762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spcBef>
                  <a:spcPct val="0"/>
                </a:spcBef>
                <a:buClrTx/>
              </a:pPr>
              <a:r>
                <a:rPr kumimoji="0" lang="en-US" sz="2400"/>
                <a:t>1 / 0</a:t>
              </a:r>
            </a:p>
          </p:txBody>
        </p:sp>
        <p:sp>
          <p:nvSpPr>
            <p:cNvPr id="32" name="Text Box 13">
              <a:extLst>
                <a:ext uri="{FF2B5EF4-FFF2-40B4-BE49-F238E27FC236}">
                  <a16:creationId xmlns:a16="http://schemas.microsoft.com/office/drawing/2014/main" id="{2DF7DC1C-DE05-B377-8682-2BE25A051A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00" y="4495800"/>
              <a:ext cx="7762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spcBef>
                  <a:spcPct val="0"/>
                </a:spcBef>
                <a:buClrTx/>
              </a:pPr>
              <a:r>
                <a:rPr kumimoji="0" lang="en-US" sz="2400"/>
                <a:t>0 / 1</a:t>
              </a:r>
            </a:p>
          </p:txBody>
        </p:sp>
        <p:sp>
          <p:nvSpPr>
            <p:cNvPr id="33" name="Line 14">
              <a:extLst>
                <a:ext uri="{FF2B5EF4-FFF2-40B4-BE49-F238E27FC236}">
                  <a16:creationId xmlns:a16="http://schemas.microsoft.com/office/drawing/2014/main" id="{B2B86F93-ACEB-C4AF-353E-C6FDBBAEA0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38400" y="3962400"/>
              <a:ext cx="304800" cy="304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Box 15">
              <a:extLst>
                <a:ext uri="{FF2B5EF4-FFF2-40B4-BE49-F238E27FC236}">
                  <a16:creationId xmlns:a16="http://schemas.microsoft.com/office/drawing/2014/main" id="{245C01A0-76EC-A113-F876-FAB2BC8DB4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0200" y="4419600"/>
              <a:ext cx="8620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defRPr kumimoji="1"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spcBef>
                  <a:spcPct val="0"/>
                </a:spcBef>
                <a:buClrTx/>
              </a:pPr>
              <a:r>
                <a:rPr kumimoji="0" lang="en-US" sz="2400"/>
                <a:t>reset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432891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FSMs in VHDL (Mealy FSM – Example 1)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15BB81-D723-991A-562A-925A14BCD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085" y="889122"/>
            <a:ext cx="8448675" cy="5572125"/>
          </a:xfrm>
          <a:prstGeom prst="rect">
            <a:avLst/>
          </a:prstGeom>
        </p:spPr>
      </p:pic>
      <p:sp>
        <p:nvSpPr>
          <p:cNvPr id="6" name="Right Brace 5">
            <a:extLst>
              <a:ext uri="{FF2B5EF4-FFF2-40B4-BE49-F238E27FC236}">
                <a16:creationId xmlns:a16="http://schemas.microsoft.com/office/drawing/2014/main" id="{7A763CE5-6617-835D-9AEC-39B56DE89CCD}"/>
              </a:ext>
            </a:extLst>
          </p:cNvPr>
          <p:cNvSpPr/>
          <p:nvPr/>
        </p:nvSpPr>
        <p:spPr bwMode="auto">
          <a:xfrm>
            <a:off x="6993529" y="4046665"/>
            <a:ext cx="481427" cy="2272959"/>
          </a:xfrm>
          <a:prstGeom prst="rightBrace">
            <a:avLst>
              <a:gd name="adj1" fmla="val 8333"/>
              <a:gd name="adj2" fmla="val 50627"/>
            </a:avLst>
          </a:prstGeom>
          <a:noFill/>
          <a:ln w="222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</a:pPr>
            <a:endParaRPr kumimoji="1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D43DC6-26B1-6CD6-67FE-F6BDAA02334C}"/>
              </a:ext>
            </a:extLst>
          </p:cNvPr>
          <p:cNvSpPr txBox="1"/>
          <p:nvPr/>
        </p:nvSpPr>
        <p:spPr>
          <a:xfrm>
            <a:off x="7497895" y="4924062"/>
            <a:ext cx="22376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next state logic</a:t>
            </a:r>
          </a:p>
        </p:txBody>
      </p:sp>
    </p:spTree>
    <p:extLst>
      <p:ext uri="{BB962C8B-B14F-4D97-AF65-F5344CB8AC3E}">
        <p14:creationId xmlns:p14="http://schemas.microsoft.com/office/powerpoint/2010/main" val="25320028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FSMs in VHDL (Mealy FSM – Example 1)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EEE5A4-CE6C-5D5F-D4B2-7DC77BB90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817" y="1038669"/>
            <a:ext cx="8772525" cy="5438775"/>
          </a:xfrm>
          <a:prstGeom prst="rect">
            <a:avLst/>
          </a:prstGeom>
        </p:spPr>
      </p:pic>
      <p:sp>
        <p:nvSpPr>
          <p:cNvPr id="6" name="Right Brace 5">
            <a:extLst>
              <a:ext uri="{FF2B5EF4-FFF2-40B4-BE49-F238E27FC236}">
                <a16:creationId xmlns:a16="http://schemas.microsoft.com/office/drawing/2014/main" id="{E92659FB-E819-EBDE-112C-D6C3F9D9722C}"/>
              </a:ext>
            </a:extLst>
          </p:cNvPr>
          <p:cNvSpPr/>
          <p:nvPr/>
        </p:nvSpPr>
        <p:spPr bwMode="auto">
          <a:xfrm>
            <a:off x="7013152" y="1100216"/>
            <a:ext cx="630295" cy="2082600"/>
          </a:xfrm>
          <a:prstGeom prst="rightBrace">
            <a:avLst>
              <a:gd name="adj1" fmla="val 8333"/>
              <a:gd name="adj2" fmla="val 50627"/>
            </a:avLst>
          </a:prstGeom>
          <a:noFill/>
          <a:ln w="222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</a:pPr>
            <a:endParaRPr kumimoji="1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0E8B06-63BB-6BA1-FE38-15A9AF052017}"/>
              </a:ext>
            </a:extLst>
          </p:cNvPr>
          <p:cNvSpPr txBox="1"/>
          <p:nvPr/>
        </p:nvSpPr>
        <p:spPr>
          <a:xfrm>
            <a:off x="7643447" y="1910683"/>
            <a:ext cx="22376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next state logic</a:t>
            </a:r>
          </a:p>
        </p:txBody>
      </p:sp>
    </p:spTree>
    <p:extLst>
      <p:ext uri="{BB962C8B-B14F-4D97-AF65-F5344CB8AC3E}">
        <p14:creationId xmlns:p14="http://schemas.microsoft.com/office/powerpoint/2010/main" val="62148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FSMs in VHDL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916353"/>
            <a:ext cx="109542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Generalized FSM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29</a:t>
            </a:fld>
            <a:endParaRPr lang="en-US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BA7B3D44-4C84-6B59-E8E9-EC53B0AB1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4292" y="2101361"/>
            <a:ext cx="8283575" cy="294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69644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Example: Control Unit – Arbiter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30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A1C7EC6-D0E3-7326-1E07-EC1DA285E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2333015"/>
            <a:ext cx="3048000" cy="2590800"/>
          </a:xfrm>
          <a:prstGeom prst="rect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2B127E70-BE3B-176A-6870-BACB360B49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3399815"/>
            <a:ext cx="13509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800" b="1" dirty="0"/>
              <a:t>Arbiter</a:t>
            </a:r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A287489E-2094-7B4E-ADD1-0496A47D6D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99659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5E064B9B-DE9B-DA60-E461-F922EDA2790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68239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34AAE700-034C-C6BD-6BC6-79354ABC2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436819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4680E027-EA50-ED8C-3A5E-70A5CB0C90B0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9938" y="3012465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9">
            <a:extLst>
              <a:ext uri="{FF2B5EF4-FFF2-40B4-BE49-F238E27FC236}">
                <a16:creationId xmlns:a16="http://schemas.microsoft.com/office/drawing/2014/main" id="{E8F75B2A-F645-14BD-7A7D-A956A4E39C40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9938" y="3698265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0">
            <a:extLst>
              <a:ext uri="{FF2B5EF4-FFF2-40B4-BE49-F238E27FC236}">
                <a16:creationId xmlns:a16="http://schemas.microsoft.com/office/drawing/2014/main" id="{78393D9B-1F6D-AD0D-97D5-8B8751E6A391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9938" y="4384065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1">
            <a:extLst>
              <a:ext uri="{FF2B5EF4-FFF2-40B4-BE49-F238E27FC236}">
                <a16:creationId xmlns:a16="http://schemas.microsoft.com/office/drawing/2014/main" id="{E3140713-A186-2250-BA04-CD7C7FF95AC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3238" y="1813902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91FE044A-0D55-0CD9-E60D-262498D26A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1342415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 b="1"/>
              <a:t>reset</a:t>
            </a:r>
          </a:p>
        </p:txBody>
      </p:sp>
      <p:sp>
        <p:nvSpPr>
          <p:cNvPr id="16" name="Text Box 13">
            <a:extLst>
              <a:ext uri="{FF2B5EF4-FFF2-40B4-BE49-F238E27FC236}">
                <a16:creationId xmlns:a16="http://schemas.microsoft.com/office/drawing/2014/main" id="{3CBF6755-D906-38AD-6C1A-EBDF49D7AA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6788" y="2767990"/>
            <a:ext cx="473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 b="1"/>
              <a:t>r1</a:t>
            </a:r>
          </a:p>
        </p:txBody>
      </p:sp>
      <p:sp>
        <p:nvSpPr>
          <p:cNvPr id="17" name="Text Box 14">
            <a:extLst>
              <a:ext uri="{FF2B5EF4-FFF2-40B4-BE49-F238E27FC236}">
                <a16:creationId xmlns:a16="http://schemas.microsoft.com/office/drawing/2014/main" id="{DE75E66A-AB70-B55D-DA48-F7AF6E814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6788" y="3418865"/>
            <a:ext cx="473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 b="1"/>
              <a:t>r2</a:t>
            </a:r>
          </a:p>
        </p:txBody>
      </p:sp>
      <p:sp>
        <p:nvSpPr>
          <p:cNvPr id="18" name="Text Box 15">
            <a:extLst>
              <a:ext uri="{FF2B5EF4-FFF2-40B4-BE49-F238E27FC236}">
                <a16:creationId xmlns:a16="http://schemas.microsoft.com/office/drawing/2014/main" id="{07B4AAB1-59A1-6F3F-A5C0-DE91558F6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6788" y="4131652"/>
            <a:ext cx="473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 b="1"/>
              <a:t>r3</a:t>
            </a:r>
          </a:p>
        </p:txBody>
      </p:sp>
      <p:sp>
        <p:nvSpPr>
          <p:cNvPr id="19" name="Text Box 16">
            <a:extLst>
              <a:ext uri="{FF2B5EF4-FFF2-40B4-BE49-F238E27FC236}">
                <a16:creationId xmlns:a16="http://schemas.microsoft.com/office/drawing/2014/main" id="{85511EB6-D1EA-0646-56D1-B83358951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2756877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 b="1"/>
              <a:t>g1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2AAF17F0-A919-99D0-1147-FC5F9EBAF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3407752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 b="1"/>
              <a:t>g2</a:t>
            </a:r>
          </a:p>
        </p:txBody>
      </p:sp>
      <p:sp>
        <p:nvSpPr>
          <p:cNvPr id="21" name="Text Box 18">
            <a:extLst>
              <a:ext uri="{FF2B5EF4-FFF2-40B4-BE49-F238E27FC236}">
                <a16:creationId xmlns:a16="http://schemas.microsoft.com/office/drawing/2014/main" id="{15BD5480-9956-FBA5-10B0-9196114CFE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4120540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 b="1"/>
              <a:t>g3</a:t>
            </a:r>
          </a:p>
        </p:txBody>
      </p:sp>
      <p:sp>
        <p:nvSpPr>
          <p:cNvPr id="22" name="Line 19">
            <a:extLst>
              <a:ext uri="{FF2B5EF4-FFF2-40B4-BE49-F238E27FC236}">
                <a16:creationId xmlns:a16="http://schemas.microsoft.com/office/drawing/2014/main" id="{6F5C93F0-5422-B422-F28F-5FBEC70DD6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53075" y="492064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Text Box 20">
            <a:extLst>
              <a:ext uri="{FF2B5EF4-FFF2-40B4-BE49-F238E27FC236}">
                <a16:creationId xmlns:a16="http://schemas.microsoft.com/office/drawing/2014/main" id="{9BFA8E83-7B2C-787E-E2DC-3A43BF8F9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3488" y="5523890"/>
            <a:ext cx="963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400" b="1"/>
              <a:t>clock</a:t>
            </a:r>
          </a:p>
        </p:txBody>
      </p:sp>
    </p:spTree>
    <p:extLst>
      <p:ext uri="{BB962C8B-B14F-4D97-AF65-F5344CB8AC3E}">
        <p14:creationId xmlns:p14="http://schemas.microsoft.com/office/powerpoint/2010/main" val="37908597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Example: Control Unit – Arbiter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31</a:t>
            </a:fld>
            <a:endParaRPr lang="en-US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3F3E78EA-804E-861C-968F-2A097FD64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537" y="1176473"/>
            <a:ext cx="3336925" cy="520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61429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Example: Control Unit – Arbiter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74316E-730D-E21E-834D-185C79604F99}"/>
              </a:ext>
            </a:extLst>
          </p:cNvPr>
          <p:cNvSpPr txBox="1"/>
          <p:nvPr/>
        </p:nvSpPr>
        <p:spPr>
          <a:xfrm>
            <a:off x="1724569" y="1698882"/>
            <a:ext cx="8742861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dirty="0">
                <a:solidFill>
                  <a:srgbClr val="000000"/>
                </a:solidFill>
                <a:latin typeface="Lucida Console"/>
                <a:cs typeface="Lucida Console"/>
              </a:rPr>
              <a:t>ENTITY arbiter IS</a:t>
            </a:r>
          </a:p>
          <a:p>
            <a:r>
              <a:rPr lang="pl-PL" sz="2000" dirty="0">
                <a:solidFill>
                  <a:srgbClr val="000000"/>
                </a:solidFill>
                <a:latin typeface="Lucida Console"/>
                <a:cs typeface="Lucida Console"/>
              </a:rPr>
              <a:t>   PORT(</a:t>
            </a:r>
            <a:r>
              <a:rPr lang="pl-PL" sz="2000" dirty="0" err="1">
                <a:solidFill>
                  <a:srgbClr val="000000"/>
                </a:solidFill>
                <a:latin typeface="Lucida Console"/>
                <a:cs typeface="Lucida Console"/>
              </a:rPr>
              <a:t>Clock</a:t>
            </a:r>
            <a:r>
              <a:rPr lang="pl-PL" sz="2000" dirty="0">
                <a:solidFill>
                  <a:srgbClr val="000000"/>
                </a:solidFill>
                <a:latin typeface="Lucida Console"/>
                <a:cs typeface="Lucida Console"/>
              </a:rPr>
              <a:t>, </a:t>
            </a:r>
            <a:r>
              <a:rPr lang="pl-PL" sz="2000" dirty="0" err="1">
                <a:solidFill>
                  <a:srgbClr val="000000"/>
                </a:solidFill>
                <a:latin typeface="Lucida Console"/>
                <a:cs typeface="Lucida Console"/>
              </a:rPr>
              <a:t>Resetn</a:t>
            </a:r>
            <a:r>
              <a:rPr lang="pl-PL" sz="2000" dirty="0">
                <a:solidFill>
                  <a:srgbClr val="000000"/>
                </a:solidFill>
                <a:latin typeface="Lucida Console"/>
                <a:cs typeface="Lucida Console"/>
              </a:rPr>
              <a:t> 	: IN 	STD_LOGIC ;</a:t>
            </a:r>
          </a:p>
          <a:p>
            <a:r>
              <a:rPr lang="pl-PL" sz="2000" dirty="0">
                <a:solidFill>
                  <a:srgbClr val="000000"/>
                </a:solidFill>
                <a:latin typeface="Lucida Console"/>
                <a:cs typeface="Lucida Console"/>
              </a:rPr>
              <a:t>	  r 			: IN	STD_LOGIC_VECTOR(1 TO 3);</a:t>
            </a:r>
          </a:p>
          <a:p>
            <a:r>
              <a:rPr lang="pl-PL" sz="2000" dirty="0">
                <a:solidFill>
                  <a:srgbClr val="000000"/>
                </a:solidFill>
                <a:latin typeface="Lucida Console"/>
                <a:cs typeface="Lucida Console"/>
              </a:rPr>
              <a:t>	  g 			: OUT STD_LOGIC_VECTOR(1 TO 3));</a:t>
            </a:r>
          </a:p>
          <a:p>
            <a:r>
              <a:rPr lang="pl-PL" sz="2000" dirty="0">
                <a:solidFill>
                  <a:srgbClr val="000000"/>
                </a:solidFill>
                <a:latin typeface="Lucida Console"/>
                <a:cs typeface="Lucida Console"/>
              </a:rPr>
              <a:t>END arbiter;</a:t>
            </a:r>
          </a:p>
          <a:p>
            <a:endParaRPr lang="pl-PL" sz="2000" dirty="0">
              <a:solidFill>
                <a:srgbClr val="000000"/>
              </a:solidFill>
              <a:latin typeface="Lucida Console"/>
              <a:cs typeface="Lucida Console"/>
            </a:endParaRPr>
          </a:p>
          <a:p>
            <a:r>
              <a:rPr lang="pl-PL" sz="2000" dirty="0">
                <a:solidFill>
                  <a:srgbClr val="000000"/>
                </a:solidFill>
                <a:latin typeface="Lucida Console"/>
                <a:cs typeface="Lucida Console"/>
              </a:rPr>
              <a:t>ARCHITECTURE </a:t>
            </a:r>
            <a:r>
              <a:rPr lang="pl-PL" sz="2000" dirty="0" err="1">
                <a:solidFill>
                  <a:srgbClr val="000000"/>
                </a:solidFill>
                <a:latin typeface="Lucida Console"/>
                <a:cs typeface="Lucida Console"/>
              </a:rPr>
              <a:t>Behavior</a:t>
            </a:r>
            <a:r>
              <a:rPr lang="pl-PL" sz="2000" dirty="0">
                <a:solidFill>
                  <a:srgbClr val="000000"/>
                </a:solidFill>
                <a:latin typeface="Lucida Console"/>
                <a:cs typeface="Lucida Console"/>
              </a:rPr>
              <a:t> OF arbiter IS</a:t>
            </a:r>
          </a:p>
          <a:p>
            <a:r>
              <a:rPr lang="pl-PL" sz="2000" dirty="0">
                <a:solidFill>
                  <a:srgbClr val="000000"/>
                </a:solidFill>
                <a:latin typeface="Lucida Console"/>
                <a:cs typeface="Lucida Console"/>
              </a:rPr>
              <a:t>   TYPE </a:t>
            </a:r>
            <a:r>
              <a:rPr lang="pl-PL" sz="2000" dirty="0" err="1">
                <a:solidFill>
                  <a:srgbClr val="000000"/>
                </a:solidFill>
                <a:latin typeface="Lucida Console"/>
                <a:cs typeface="Lucida Console"/>
              </a:rPr>
              <a:t>State_type</a:t>
            </a:r>
            <a:r>
              <a:rPr lang="pl-PL" sz="2000" dirty="0">
                <a:solidFill>
                  <a:srgbClr val="000000"/>
                </a:solidFill>
                <a:latin typeface="Lucida Console"/>
                <a:cs typeface="Lucida Console"/>
              </a:rPr>
              <a:t> IS (</a:t>
            </a:r>
            <a:r>
              <a:rPr lang="pl-PL" sz="2000" dirty="0" err="1">
                <a:solidFill>
                  <a:srgbClr val="000000"/>
                </a:solidFill>
                <a:latin typeface="Lucida Console"/>
                <a:cs typeface="Lucida Console"/>
              </a:rPr>
              <a:t>Idle</a:t>
            </a:r>
            <a:r>
              <a:rPr lang="pl-PL" sz="2000" dirty="0">
                <a:solidFill>
                  <a:srgbClr val="000000"/>
                </a:solidFill>
                <a:latin typeface="Lucida Console"/>
                <a:cs typeface="Lucida Console"/>
              </a:rPr>
              <a:t>, gnt1, gnt2, gnt3);</a:t>
            </a:r>
          </a:p>
          <a:p>
            <a:r>
              <a:rPr lang="pl-PL" sz="2000" dirty="0">
                <a:solidFill>
                  <a:srgbClr val="000000"/>
                </a:solidFill>
                <a:latin typeface="Lucida Console"/>
                <a:cs typeface="Lucida Console"/>
              </a:rPr>
              <a:t>   SIGNAL </a:t>
            </a:r>
            <a:r>
              <a:rPr lang="pl-PL" sz="2000" dirty="0" err="1">
                <a:solidFill>
                  <a:srgbClr val="000000"/>
                </a:solidFill>
                <a:latin typeface="Lucida Console"/>
                <a:cs typeface="Lucida Console"/>
              </a:rPr>
              <a:t>state</a:t>
            </a:r>
            <a:r>
              <a:rPr lang="pl-PL" sz="2000" dirty="0">
                <a:solidFill>
                  <a:srgbClr val="000000"/>
                </a:solidFill>
                <a:latin typeface="Lucida Console"/>
                <a:cs typeface="Lucida Console"/>
              </a:rPr>
              <a:t>: </a:t>
            </a:r>
            <a:r>
              <a:rPr lang="pl-PL" sz="2000" dirty="0" err="1">
                <a:solidFill>
                  <a:srgbClr val="000000"/>
                </a:solidFill>
                <a:latin typeface="Lucida Console"/>
                <a:cs typeface="Lucida Console"/>
              </a:rPr>
              <a:t>State_type</a:t>
            </a:r>
            <a:r>
              <a:rPr lang="pl-PL" sz="2000" dirty="0">
                <a:solidFill>
                  <a:srgbClr val="000000"/>
                </a:solidFill>
                <a:latin typeface="Lucida Console"/>
                <a:cs typeface="Lucida Console"/>
              </a:rPr>
              <a:t>;</a:t>
            </a:r>
          </a:p>
          <a:p>
            <a:r>
              <a:rPr lang="pl-PL" sz="2000" dirty="0">
                <a:solidFill>
                  <a:srgbClr val="000000"/>
                </a:solidFill>
                <a:latin typeface="Lucida Console"/>
                <a:cs typeface="Lucida Console"/>
              </a:rPr>
              <a:t>begin</a:t>
            </a:r>
          </a:p>
        </p:txBody>
      </p:sp>
    </p:spTree>
    <p:extLst>
      <p:ext uri="{BB962C8B-B14F-4D97-AF65-F5344CB8AC3E}">
        <p14:creationId xmlns:p14="http://schemas.microsoft.com/office/powerpoint/2010/main" val="2545843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Example: Control Unit – Arbiter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31D7BD-DE87-DA17-BEFB-255ABF55A0DF}"/>
              </a:ext>
            </a:extLst>
          </p:cNvPr>
          <p:cNvSpPr txBox="1"/>
          <p:nvPr/>
        </p:nvSpPr>
        <p:spPr>
          <a:xfrm>
            <a:off x="1367177" y="1178504"/>
            <a:ext cx="945764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PROCESS(</a:t>
            </a:r>
            <a:r>
              <a:rPr lang="en-US" sz="1800" dirty="0" err="1">
                <a:solidFill>
                  <a:srgbClr val="000000"/>
                </a:solidFill>
                <a:latin typeface="Lucida Console"/>
                <a:cs typeface="Lucida Console"/>
              </a:rPr>
              <a:t>Resetn</a:t>
            </a:r>
            <a:r>
              <a:rPr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, Clock)</a:t>
            </a:r>
          </a:p>
          <a:p>
            <a:r>
              <a:rPr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BEGIN</a:t>
            </a:r>
          </a:p>
          <a:p>
            <a:r>
              <a:rPr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   IF </a:t>
            </a:r>
            <a:r>
              <a:rPr lang="en-US" sz="1800" dirty="0" err="1">
                <a:solidFill>
                  <a:srgbClr val="000000"/>
                </a:solidFill>
                <a:latin typeface="Lucida Console"/>
                <a:cs typeface="Lucida Console"/>
              </a:rPr>
              <a:t>Resetn</a:t>
            </a:r>
            <a:r>
              <a:rPr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 = '0' THEN </a:t>
            </a:r>
          </a:p>
          <a:p>
            <a:r>
              <a:rPr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	</a:t>
            </a:r>
            <a:r>
              <a:rPr lang="pl-PL" sz="1800" dirty="0" err="1">
                <a:solidFill>
                  <a:srgbClr val="000000"/>
                </a:solidFill>
                <a:latin typeface="Lucida Console"/>
                <a:cs typeface="Lucida Console"/>
              </a:rPr>
              <a:t>state</a:t>
            </a:r>
            <a:r>
              <a:rPr lang="pl-PL" sz="1800" dirty="0">
                <a:solidFill>
                  <a:srgbClr val="000000"/>
                </a:solidFill>
                <a:latin typeface="Lucida Console"/>
                <a:cs typeface="Lucida Console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&lt;= Idle ;</a:t>
            </a:r>
          </a:p>
          <a:p>
            <a:r>
              <a:rPr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   ELSIF (</a:t>
            </a:r>
            <a:r>
              <a:rPr lang="en-US" sz="1800" dirty="0" err="1">
                <a:solidFill>
                  <a:srgbClr val="000000"/>
                </a:solidFill>
                <a:latin typeface="Lucida Console"/>
                <a:cs typeface="Lucida Console"/>
              </a:rPr>
              <a:t>Clock'EVENT</a:t>
            </a:r>
            <a:r>
              <a:rPr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 AND Clock = '1') THEN</a:t>
            </a:r>
          </a:p>
          <a:p>
            <a:r>
              <a:rPr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	CASE </a:t>
            </a:r>
            <a:r>
              <a:rPr lang="pl-PL" sz="1800" dirty="0" err="1">
                <a:solidFill>
                  <a:srgbClr val="000000"/>
                </a:solidFill>
                <a:latin typeface="Lucida Console"/>
                <a:cs typeface="Lucida Console"/>
              </a:rPr>
              <a:t>state</a:t>
            </a:r>
            <a:r>
              <a:rPr lang="pl-PL" sz="1800" dirty="0">
                <a:solidFill>
                  <a:srgbClr val="000000"/>
                </a:solidFill>
                <a:latin typeface="Lucida Console"/>
                <a:cs typeface="Lucida Console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IS</a:t>
            </a:r>
          </a:p>
          <a:p>
            <a:r>
              <a:rPr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	   WHEN Idle =&gt;</a:t>
            </a:r>
          </a:p>
          <a:p>
            <a:r>
              <a:rPr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		IF r(1) = '1' THEN 		</a:t>
            </a:r>
            <a:r>
              <a:rPr lang="pl-PL" sz="1800" dirty="0" err="1">
                <a:solidFill>
                  <a:srgbClr val="000000"/>
                </a:solidFill>
                <a:latin typeface="Lucida Console"/>
                <a:cs typeface="Lucida Console"/>
              </a:rPr>
              <a:t>state</a:t>
            </a:r>
            <a:r>
              <a:rPr lang="pl-PL" sz="1800" dirty="0">
                <a:solidFill>
                  <a:srgbClr val="000000"/>
                </a:solidFill>
                <a:latin typeface="Lucida Console"/>
                <a:cs typeface="Lucida Console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&lt;= gnt1 ;</a:t>
            </a:r>
          </a:p>
          <a:p>
            <a:r>
              <a:rPr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		ELSIF r(2) = '1' THEN 	</a:t>
            </a:r>
            <a:r>
              <a:rPr lang="pl-PL" sz="1800" dirty="0" err="1">
                <a:solidFill>
                  <a:srgbClr val="000000"/>
                </a:solidFill>
                <a:latin typeface="Lucida Console"/>
                <a:cs typeface="Lucida Console"/>
              </a:rPr>
              <a:t>state</a:t>
            </a:r>
            <a:r>
              <a:rPr lang="pl-PL" sz="1800" dirty="0">
                <a:solidFill>
                  <a:srgbClr val="000000"/>
                </a:solidFill>
                <a:latin typeface="Lucida Console"/>
                <a:cs typeface="Lucida Console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&lt;= gnt2 ;</a:t>
            </a:r>
          </a:p>
          <a:p>
            <a:r>
              <a:rPr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		ELSIF r(3) = '1' THEN 	</a:t>
            </a:r>
            <a:r>
              <a:rPr lang="pl-PL" sz="1800" dirty="0" err="1">
                <a:solidFill>
                  <a:srgbClr val="000000"/>
                </a:solidFill>
                <a:latin typeface="Lucida Console"/>
                <a:cs typeface="Lucida Console"/>
              </a:rPr>
              <a:t>state</a:t>
            </a:r>
            <a:r>
              <a:rPr lang="pl-PL" sz="1800" dirty="0">
                <a:solidFill>
                  <a:srgbClr val="000000"/>
                </a:solidFill>
                <a:latin typeface="Lucida Console"/>
                <a:cs typeface="Lucida Console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&lt;= gnt3 ;</a:t>
            </a:r>
          </a:p>
          <a:p>
            <a:r>
              <a:rPr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		ELSE 				</a:t>
            </a:r>
            <a:r>
              <a:rPr lang="pl-PL" sz="1800" dirty="0" err="1">
                <a:solidFill>
                  <a:srgbClr val="000000"/>
                </a:solidFill>
                <a:latin typeface="Lucida Console"/>
                <a:cs typeface="Lucida Console"/>
              </a:rPr>
              <a:t>state</a:t>
            </a:r>
            <a:r>
              <a:rPr lang="pl-PL" sz="1800" dirty="0">
                <a:solidFill>
                  <a:srgbClr val="000000"/>
                </a:solidFill>
                <a:latin typeface="Lucida Console"/>
                <a:cs typeface="Lucida Console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&lt;= Idle ;</a:t>
            </a:r>
          </a:p>
          <a:p>
            <a:r>
              <a:rPr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		END IF ;</a:t>
            </a:r>
          </a:p>
          <a:p>
            <a:r>
              <a:rPr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	   WHEN gnt1 =&gt;</a:t>
            </a:r>
          </a:p>
          <a:p>
            <a:r>
              <a:rPr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		IF r(1) = '1' THEN  	</a:t>
            </a:r>
            <a:r>
              <a:rPr lang="pl-PL" sz="1800" dirty="0" err="1">
                <a:solidFill>
                  <a:srgbClr val="000000"/>
                </a:solidFill>
                <a:latin typeface="Lucida Console"/>
                <a:cs typeface="Lucida Console"/>
              </a:rPr>
              <a:t>state</a:t>
            </a:r>
            <a:r>
              <a:rPr lang="pl-PL" sz="1800" dirty="0">
                <a:solidFill>
                  <a:srgbClr val="000000"/>
                </a:solidFill>
                <a:latin typeface="Lucida Console"/>
                <a:cs typeface="Lucida Console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&lt;= gnt1 ;</a:t>
            </a:r>
          </a:p>
          <a:p>
            <a:r>
              <a:rPr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		ELSE 				</a:t>
            </a:r>
            <a:r>
              <a:rPr lang="pl-PL" sz="1800" dirty="0" err="1">
                <a:solidFill>
                  <a:srgbClr val="000000"/>
                </a:solidFill>
                <a:latin typeface="Lucida Console"/>
                <a:cs typeface="Lucida Console"/>
              </a:rPr>
              <a:t>state</a:t>
            </a:r>
            <a:r>
              <a:rPr lang="pl-PL" sz="1800" dirty="0">
                <a:solidFill>
                  <a:srgbClr val="000000"/>
                </a:solidFill>
                <a:latin typeface="Lucida Console"/>
                <a:cs typeface="Lucida Console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&lt;= Idle ;</a:t>
            </a:r>
          </a:p>
          <a:p>
            <a:r>
              <a:rPr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		END IF ;</a:t>
            </a:r>
          </a:p>
          <a:p>
            <a:r>
              <a:rPr lang="en-US" sz="1800" dirty="0">
                <a:solidFill>
                  <a:srgbClr val="008000"/>
                </a:solidFill>
                <a:latin typeface="Lucida Console"/>
                <a:cs typeface="Lucida Console"/>
              </a:rPr>
              <a:t>-- continue on the next slide</a:t>
            </a:r>
          </a:p>
        </p:txBody>
      </p:sp>
    </p:spTree>
    <p:extLst>
      <p:ext uri="{BB962C8B-B14F-4D97-AF65-F5344CB8AC3E}">
        <p14:creationId xmlns:p14="http://schemas.microsoft.com/office/powerpoint/2010/main" val="39349839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Example: Control Unit – Arbiter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34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6E818-ACAA-BA5C-F702-7C8B24C77F2B}"/>
              </a:ext>
            </a:extLst>
          </p:cNvPr>
          <p:cNvSpPr txBox="1">
            <a:spLocks noChangeArrowheads="1"/>
          </p:cNvSpPr>
          <p:nvPr/>
        </p:nvSpPr>
        <p:spPr>
          <a:xfrm>
            <a:off x="1430200" y="1166948"/>
            <a:ext cx="9331599" cy="53041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Lucida Console"/>
                <a:ea typeface="ＭＳ Ｐゴシック" charset="0"/>
                <a:cs typeface="Lucida Console"/>
              </a:rPr>
              <a:t>	   </a:t>
            </a:r>
            <a:r>
              <a:rPr lang="en-US" sz="2000">
                <a:latin typeface="Lucida Console"/>
                <a:cs typeface="Lucida Console"/>
              </a:rPr>
              <a:t>WHEN gnt2 =&gt;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Lucida Console"/>
                <a:cs typeface="Lucida Console"/>
              </a:rPr>
              <a:t>		IF r(2) = '1' THEN 	</a:t>
            </a:r>
            <a:r>
              <a:rPr lang="pl-PL" sz="2000">
                <a:latin typeface="Lucida Console"/>
                <a:cs typeface="Lucida Console"/>
              </a:rPr>
              <a:t>state </a:t>
            </a:r>
            <a:r>
              <a:rPr lang="en-US" sz="2000">
                <a:latin typeface="Lucida Console"/>
                <a:cs typeface="Lucida Console"/>
              </a:rPr>
              <a:t>&lt;= gnt2 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Lucida Console"/>
                <a:cs typeface="Lucida Console"/>
              </a:rPr>
              <a:t>		ELSE 			</a:t>
            </a:r>
            <a:r>
              <a:rPr lang="pl-PL" sz="2000">
                <a:latin typeface="Lucida Console"/>
                <a:cs typeface="Lucida Console"/>
              </a:rPr>
              <a:t>state </a:t>
            </a:r>
            <a:r>
              <a:rPr lang="en-US" sz="2000">
                <a:latin typeface="Lucida Console"/>
                <a:cs typeface="Lucida Console"/>
              </a:rPr>
              <a:t>&lt;= Idle 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Lucida Console"/>
                <a:cs typeface="Lucida Console"/>
              </a:rPr>
              <a:t>		END IF ;</a:t>
            </a:r>
          </a:p>
          <a:p>
            <a:pPr>
              <a:buFontTx/>
              <a:buNone/>
            </a:pPr>
            <a:endParaRPr lang="en-US" sz="2000">
              <a:latin typeface="Lucida Console"/>
              <a:ea typeface="ＭＳ Ｐゴシック" charset="0"/>
              <a:cs typeface="Lucida Console"/>
            </a:endParaRPr>
          </a:p>
          <a:p>
            <a:pPr>
              <a:buFontTx/>
              <a:buNone/>
            </a:pPr>
            <a:r>
              <a:rPr lang="en-US" sz="2000">
                <a:latin typeface="Lucida Console"/>
                <a:ea typeface="ＭＳ Ｐゴシック" charset="0"/>
                <a:cs typeface="Lucida Console"/>
              </a:rPr>
              <a:t>		   WHEN gnt3 =&gt;</a:t>
            </a:r>
          </a:p>
          <a:p>
            <a:pPr>
              <a:buFontTx/>
              <a:buNone/>
            </a:pPr>
            <a:r>
              <a:rPr lang="en-US" sz="2000">
                <a:latin typeface="Lucida Console"/>
                <a:ea typeface="ＭＳ Ｐゴシック" charset="0"/>
                <a:cs typeface="Lucida Console"/>
              </a:rPr>
              <a:t>			IF r(3) = '1' THEN  </a:t>
            </a:r>
            <a:r>
              <a:rPr lang="pl-PL" sz="2000">
                <a:latin typeface="Lucida Console"/>
                <a:cs typeface="Lucida Console"/>
              </a:rPr>
              <a:t>state </a:t>
            </a:r>
            <a:r>
              <a:rPr lang="en-US" sz="2000">
                <a:latin typeface="Lucida Console"/>
                <a:ea typeface="ＭＳ Ｐゴシック" charset="0"/>
                <a:cs typeface="Lucida Console"/>
              </a:rPr>
              <a:t>&lt;= gnt3 ;</a:t>
            </a:r>
          </a:p>
          <a:p>
            <a:pPr>
              <a:buFontTx/>
              <a:buNone/>
            </a:pPr>
            <a:r>
              <a:rPr lang="en-US" sz="2000">
                <a:latin typeface="Lucida Console"/>
                <a:ea typeface="ＭＳ Ｐゴシック" charset="0"/>
                <a:cs typeface="Lucida Console"/>
              </a:rPr>
              <a:t>			ELSE 			</a:t>
            </a:r>
            <a:r>
              <a:rPr lang="pl-PL" sz="2000">
                <a:latin typeface="Lucida Console"/>
                <a:cs typeface="Lucida Console"/>
              </a:rPr>
              <a:t>state </a:t>
            </a:r>
            <a:r>
              <a:rPr lang="en-US" sz="2000">
                <a:latin typeface="Lucida Console"/>
                <a:ea typeface="ＭＳ Ｐゴシック" charset="0"/>
                <a:cs typeface="Lucida Console"/>
              </a:rPr>
              <a:t>&lt;= Idle ;</a:t>
            </a:r>
          </a:p>
          <a:p>
            <a:pPr>
              <a:buFontTx/>
              <a:buNone/>
            </a:pPr>
            <a:r>
              <a:rPr lang="en-US" sz="2000">
                <a:latin typeface="Lucida Console"/>
                <a:ea typeface="ＭＳ Ｐゴシック" charset="0"/>
                <a:cs typeface="Lucida Console"/>
              </a:rPr>
              <a:t>			END IF ;</a:t>
            </a:r>
          </a:p>
          <a:p>
            <a:pPr>
              <a:buFontTx/>
              <a:buNone/>
            </a:pPr>
            <a:r>
              <a:rPr lang="en-US" sz="2000">
                <a:latin typeface="Lucida Console"/>
                <a:ea typeface="ＭＳ Ｐゴシック" charset="0"/>
                <a:cs typeface="Lucida Console"/>
              </a:rPr>
              <a:t>		   END CASE ;</a:t>
            </a:r>
          </a:p>
          <a:p>
            <a:pPr>
              <a:buFontTx/>
              <a:buNone/>
            </a:pPr>
            <a:r>
              <a:rPr lang="en-US" sz="2000">
                <a:latin typeface="Lucida Console"/>
                <a:ea typeface="ＭＳ Ｐゴシック" charset="0"/>
                <a:cs typeface="Lucida Console"/>
              </a:rPr>
              <a:t>		END IF ;</a:t>
            </a:r>
          </a:p>
          <a:p>
            <a:pPr>
              <a:buFontTx/>
              <a:buNone/>
            </a:pPr>
            <a:r>
              <a:rPr lang="en-US" sz="2000">
                <a:latin typeface="Lucida Console"/>
                <a:ea typeface="ＭＳ Ｐゴシック" charset="0"/>
                <a:cs typeface="Lucida Console"/>
              </a:rPr>
              <a:t>	END PROCESS ;</a:t>
            </a:r>
            <a:endParaRPr lang="pl-PL" sz="2000">
              <a:latin typeface="Lucida Console"/>
              <a:ea typeface="ＭＳ Ｐゴシック" charset="0"/>
              <a:cs typeface="Lucida Console"/>
            </a:endParaRPr>
          </a:p>
          <a:p>
            <a:pPr>
              <a:buFontTx/>
              <a:buNone/>
            </a:pPr>
            <a:r>
              <a:rPr lang="pl-PL" sz="2000">
                <a:solidFill>
                  <a:srgbClr val="008000"/>
                </a:solidFill>
                <a:latin typeface="Lucida Console"/>
                <a:ea typeface="ＭＳ Ｐゴシック" charset="0"/>
                <a:cs typeface="Lucida Console"/>
              </a:rPr>
              <a:t>	-- continue on the next slide</a:t>
            </a:r>
            <a:endParaRPr lang="en-US" sz="2000" dirty="0">
              <a:solidFill>
                <a:srgbClr val="008000"/>
              </a:solidFill>
              <a:latin typeface="Lucida Console"/>
              <a:ea typeface="ＭＳ Ｐゴシック" charset="0"/>
              <a:cs typeface="Lucida Console"/>
            </a:endParaRPr>
          </a:p>
        </p:txBody>
      </p:sp>
    </p:spTree>
    <p:extLst>
      <p:ext uri="{BB962C8B-B14F-4D97-AF65-F5344CB8AC3E}">
        <p14:creationId xmlns:p14="http://schemas.microsoft.com/office/powerpoint/2010/main" val="17385800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Example: Control Unit – Arbiter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35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D91ABD-A2E7-F087-2E70-05D08A26C60A}"/>
              </a:ext>
            </a:extLst>
          </p:cNvPr>
          <p:cNvSpPr txBox="1">
            <a:spLocks noChangeArrowheads="1"/>
          </p:cNvSpPr>
          <p:nvPr/>
        </p:nvSpPr>
        <p:spPr>
          <a:xfrm>
            <a:off x="2103443" y="1942627"/>
            <a:ext cx="7985113" cy="309134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Lucida Console"/>
                <a:ea typeface="ＭＳ Ｐゴシック" charset="0"/>
                <a:cs typeface="Lucida Console"/>
              </a:rPr>
              <a:t>   </a:t>
            </a:r>
            <a:r>
              <a:rPr lang="en-US" sz="2000">
                <a:solidFill>
                  <a:srgbClr val="006666"/>
                </a:solidFill>
                <a:latin typeface="Lucida Console"/>
                <a:ea typeface="ＭＳ Ｐゴシック" charset="0"/>
                <a:cs typeface="Lucida Console"/>
              </a:rPr>
              <a:t>-- output function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Lucida Console"/>
                <a:ea typeface="ＭＳ Ｐゴシック" charset="0"/>
                <a:cs typeface="Lucida Console"/>
              </a:rPr>
              <a:t>   g(1) &lt;=	'1' WHEN y = gnt1 ELSE </a:t>
            </a:r>
          </a:p>
          <a:p>
            <a:pPr>
              <a:buFontTx/>
              <a:buNone/>
            </a:pPr>
            <a:r>
              <a:rPr lang="en-US" sz="2000">
                <a:latin typeface="Lucida Console"/>
                <a:ea typeface="ＭＳ Ｐゴシック" charset="0"/>
                <a:cs typeface="Lucida Console"/>
              </a:rPr>
              <a:t>			'0’;</a:t>
            </a:r>
          </a:p>
          <a:p>
            <a:pPr>
              <a:buFontTx/>
              <a:buNone/>
            </a:pPr>
            <a:r>
              <a:rPr lang="en-US" sz="2000">
                <a:latin typeface="Lucida Console"/>
                <a:ea typeface="ＭＳ Ｐゴシック" charset="0"/>
                <a:cs typeface="Lucida Console"/>
              </a:rPr>
              <a:t>	 g(2) &lt;= 	'1' WHEN y = gnt2 ELSE </a:t>
            </a:r>
          </a:p>
          <a:p>
            <a:pPr>
              <a:buFontTx/>
              <a:buNone/>
            </a:pPr>
            <a:r>
              <a:rPr lang="en-US" sz="2000">
                <a:latin typeface="Lucida Console"/>
                <a:ea typeface="ＭＳ Ｐゴシック" charset="0"/>
                <a:cs typeface="Lucida Console"/>
              </a:rPr>
              <a:t>		 	'0’;</a:t>
            </a:r>
          </a:p>
          <a:p>
            <a:pPr>
              <a:buFontTx/>
              <a:buNone/>
            </a:pPr>
            <a:r>
              <a:rPr lang="en-US" sz="2000">
                <a:latin typeface="Lucida Console"/>
                <a:ea typeface="ＭＳ Ｐゴシック" charset="0"/>
                <a:cs typeface="Lucida Console"/>
              </a:rPr>
              <a:t>	 g(3) &lt;= 	'1' WHEN y = gnt3 ELSE </a:t>
            </a:r>
          </a:p>
          <a:p>
            <a:pPr>
              <a:buFontTx/>
              <a:buNone/>
            </a:pPr>
            <a:r>
              <a:rPr lang="en-US" sz="2000">
                <a:latin typeface="Lucida Console"/>
                <a:ea typeface="ＭＳ Ｐゴシック" charset="0"/>
                <a:cs typeface="Lucida Console"/>
              </a:rPr>
              <a:t>		 	'0’;</a:t>
            </a:r>
          </a:p>
          <a:p>
            <a:pPr>
              <a:buFontTx/>
              <a:buNone/>
            </a:pPr>
            <a:r>
              <a:rPr lang="en-US" sz="2000">
                <a:latin typeface="Lucida Console"/>
                <a:ea typeface="ＭＳ Ｐゴシック" charset="0"/>
                <a:cs typeface="Lucida Console"/>
              </a:rPr>
              <a:t>END architecture Behavior ;</a:t>
            </a:r>
          </a:p>
          <a:p>
            <a:pPr>
              <a:buFontTx/>
              <a:buNone/>
            </a:pPr>
            <a:endParaRPr lang="pl-PL" sz="2000" dirty="0">
              <a:latin typeface="Lucida Console"/>
              <a:ea typeface="ＭＳ Ｐゴシック" charset="0"/>
              <a:cs typeface="Lucida Console"/>
            </a:endParaRPr>
          </a:p>
        </p:txBody>
      </p:sp>
    </p:spTree>
    <p:extLst>
      <p:ext uri="{BB962C8B-B14F-4D97-AF65-F5344CB8AC3E}">
        <p14:creationId xmlns:p14="http://schemas.microsoft.com/office/powerpoint/2010/main" val="25920320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Example: Fibonacci Number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36</a:t>
            </a:fld>
            <a:endParaRPr lang="en-US" dirty="0"/>
          </a:p>
        </p:txBody>
      </p:sp>
      <p:pic>
        <p:nvPicPr>
          <p:cNvPr id="3" name="Picture 2" descr="latex-image-1.pdf">
            <a:extLst>
              <a:ext uri="{FF2B5EF4-FFF2-40B4-BE49-F238E27FC236}">
                <a16:creationId xmlns:a16="http://schemas.microsoft.com/office/drawing/2014/main" id="{9A4640AD-C4AB-B53B-52D7-CA8FD9DB03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031" y="1778000"/>
            <a:ext cx="6718300" cy="1651000"/>
          </a:xfrm>
          <a:prstGeom prst="rect">
            <a:avLst/>
          </a:prstGeom>
        </p:spPr>
      </p:pic>
      <p:pic>
        <p:nvPicPr>
          <p:cNvPr id="6" name="Picture 5" descr="latex-image-1.pdf">
            <a:extLst>
              <a:ext uri="{FF2B5EF4-FFF2-40B4-BE49-F238E27FC236}">
                <a16:creationId xmlns:a16="http://schemas.microsoft.com/office/drawing/2014/main" id="{5C8AF336-5420-544B-F057-27289D736B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320" y="5050492"/>
            <a:ext cx="50292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2908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Example: Fibonacci Number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37</a:t>
            </a:fld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FAA5779-5102-BEE8-B7C3-DCE2BE2CDB20}"/>
              </a:ext>
            </a:extLst>
          </p:cNvPr>
          <p:cNvSpPr/>
          <p:nvPr/>
        </p:nvSpPr>
        <p:spPr>
          <a:xfrm>
            <a:off x="5711280" y="1856547"/>
            <a:ext cx="1041199" cy="670516"/>
          </a:xfrm>
          <a:prstGeom prst="ellipse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E2635FB-5041-D0D0-3834-4FA0D0DFE31D}"/>
              </a:ext>
            </a:extLst>
          </p:cNvPr>
          <p:cNvSpPr/>
          <p:nvPr/>
        </p:nvSpPr>
        <p:spPr>
          <a:xfrm>
            <a:off x="7496470" y="3949499"/>
            <a:ext cx="725683" cy="670516"/>
          </a:xfrm>
          <a:prstGeom prst="ellipse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EAD6F51-CADD-166D-8CCD-B58AB2DBE614}"/>
              </a:ext>
            </a:extLst>
          </p:cNvPr>
          <p:cNvSpPr/>
          <p:nvPr/>
        </p:nvSpPr>
        <p:spPr>
          <a:xfrm>
            <a:off x="8279886" y="1853698"/>
            <a:ext cx="1667166" cy="670516"/>
          </a:xfrm>
          <a:prstGeom prst="ellipse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CD93ED0-94F0-9DE5-D087-14CCBA94A0D1}"/>
              </a:ext>
            </a:extLst>
          </p:cNvPr>
          <p:cNvCxnSpPr>
            <a:endCxn id="4" idx="0"/>
          </p:cNvCxnSpPr>
          <p:nvPr/>
        </p:nvCxnSpPr>
        <p:spPr>
          <a:xfrm>
            <a:off x="5853261" y="1383242"/>
            <a:ext cx="378619" cy="473305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8D6E208-1B51-7EA9-6A87-3DE095ABF14D}"/>
              </a:ext>
            </a:extLst>
          </p:cNvPr>
          <p:cNvCxnSpPr>
            <a:cxnSpLocks/>
            <a:stCxn id="4" idx="5"/>
            <a:endCxn id="7" idx="1"/>
          </p:cNvCxnSpPr>
          <p:nvPr/>
        </p:nvCxnSpPr>
        <p:spPr>
          <a:xfrm>
            <a:off x="6599999" y="2428868"/>
            <a:ext cx="1002745" cy="1618826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Arc 10">
            <a:extLst>
              <a:ext uri="{FF2B5EF4-FFF2-40B4-BE49-F238E27FC236}">
                <a16:creationId xmlns:a16="http://schemas.microsoft.com/office/drawing/2014/main" id="{D470C71C-6682-A33A-31AC-95F470015CF1}"/>
              </a:ext>
            </a:extLst>
          </p:cNvPr>
          <p:cNvSpPr/>
          <p:nvPr/>
        </p:nvSpPr>
        <p:spPr>
          <a:xfrm>
            <a:off x="7217861" y="4578050"/>
            <a:ext cx="1206842" cy="560078"/>
          </a:xfrm>
          <a:prstGeom prst="arc">
            <a:avLst>
              <a:gd name="adj1" fmla="val 18592889"/>
              <a:gd name="adj2" fmla="val 14416297"/>
            </a:avLst>
          </a:prstGeom>
          <a:ln w="22225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C24CB5F-9AB8-2943-1B26-26F900666880}"/>
              </a:ext>
            </a:extLst>
          </p:cNvPr>
          <p:cNvCxnSpPr>
            <a:stCxn id="8" idx="2"/>
            <a:endCxn id="4" idx="6"/>
          </p:cNvCxnSpPr>
          <p:nvPr/>
        </p:nvCxnSpPr>
        <p:spPr>
          <a:xfrm flipH="1">
            <a:off x="6752479" y="2188956"/>
            <a:ext cx="1527407" cy="28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82BDE52-51F9-04BC-EA47-7FCDFF3BB20E}"/>
              </a:ext>
            </a:extLst>
          </p:cNvPr>
          <p:cNvSpPr txBox="1"/>
          <p:nvPr/>
        </p:nvSpPr>
        <p:spPr>
          <a:xfrm>
            <a:off x="5807734" y="1919667"/>
            <a:ext cx="878767" cy="4370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idle/</a:t>
            </a:r>
          </a:p>
          <a:p>
            <a:pPr algn="ctr">
              <a:lnSpc>
                <a:spcPct val="80000"/>
              </a:lnSpc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rdy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&lt;=‘1’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C0A1BE-43F5-0484-76BA-CCC8A0C37B2B}"/>
              </a:ext>
            </a:extLst>
          </p:cNvPr>
          <p:cNvSpPr txBox="1"/>
          <p:nvPr/>
        </p:nvSpPr>
        <p:spPr>
          <a:xfrm>
            <a:off x="8603702" y="1937964"/>
            <a:ext cx="1034257" cy="4370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done/</a:t>
            </a:r>
          </a:p>
          <a:p>
            <a:pPr algn="ctr">
              <a:lnSpc>
                <a:spcPct val="8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 &lt;= ‘1’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2C3077-77AC-200E-216D-2DC4A60A3CF9}"/>
              </a:ext>
            </a:extLst>
          </p:cNvPr>
          <p:cNvSpPr txBox="1"/>
          <p:nvPr/>
        </p:nvSpPr>
        <p:spPr>
          <a:xfrm>
            <a:off x="7694975" y="4133466"/>
            <a:ext cx="364202" cy="2646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5C3807-ADB4-C451-F904-88C86F8C3B17}"/>
              </a:ext>
            </a:extLst>
          </p:cNvPr>
          <p:cNvSpPr txBox="1"/>
          <p:nvPr/>
        </p:nvSpPr>
        <p:spPr>
          <a:xfrm>
            <a:off x="6074130" y="3050435"/>
            <a:ext cx="854721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=1/</a:t>
            </a:r>
          </a:p>
          <a:p>
            <a:pPr algn="ctr">
              <a:lnSpc>
                <a:spcPct val="8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 &lt;= 1</a:t>
            </a:r>
          </a:p>
          <a:p>
            <a:pPr algn="ctr">
              <a:lnSpc>
                <a:spcPct val="8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t0 &lt;= 0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93471B-AA3A-E1B0-E49E-491BB8844AE8}"/>
              </a:ext>
            </a:extLst>
          </p:cNvPr>
          <p:cNvSpPr txBox="1"/>
          <p:nvPr/>
        </p:nvSpPr>
        <p:spPr>
          <a:xfrm>
            <a:off x="7184851" y="5114150"/>
            <a:ext cx="1218603" cy="9842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&lt;=n/</a:t>
            </a:r>
            <a:endParaRPr lang="en-US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 &lt;= t1+t0</a:t>
            </a:r>
          </a:p>
          <a:p>
            <a:pPr>
              <a:lnSpc>
                <a:spcPct val="8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t0 &lt;= t1</a:t>
            </a:r>
          </a:p>
          <a:p>
            <a:pPr>
              <a:lnSpc>
                <a:spcPct val="80000"/>
              </a:lnSpc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&lt;= 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114BAB-7DD7-18EE-A953-81A359A02862}"/>
              </a:ext>
            </a:extLst>
          </p:cNvPr>
          <p:cNvSpPr txBox="1"/>
          <p:nvPr/>
        </p:nvSpPr>
        <p:spPr>
          <a:xfrm>
            <a:off x="8716255" y="3201153"/>
            <a:ext cx="508473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08E747-1EC2-F37C-B76A-5BEE9968ABE4}"/>
              </a:ext>
            </a:extLst>
          </p:cNvPr>
          <p:cNvSpPr txBox="1"/>
          <p:nvPr/>
        </p:nvSpPr>
        <p:spPr>
          <a:xfrm>
            <a:off x="1654597" y="1764480"/>
            <a:ext cx="312938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rdy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input ready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result is available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running variable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number of iterations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holds fib(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-2)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holds fib(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BEEBD09-23B4-5790-22BA-0980F09E5F24}"/>
              </a:ext>
            </a:extLst>
          </p:cNvPr>
          <p:cNvCxnSpPr>
            <a:cxnSpLocks/>
            <a:stCxn id="7" idx="7"/>
            <a:endCxn id="8" idx="4"/>
          </p:cNvCxnSpPr>
          <p:nvPr/>
        </p:nvCxnSpPr>
        <p:spPr>
          <a:xfrm flipV="1">
            <a:off x="8115879" y="2524214"/>
            <a:ext cx="997590" cy="152348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38711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Differences: Signals vs. Variables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916353"/>
            <a:ext cx="10954214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can only de declared and used within processes or procedures.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hold temporary results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Signals can only be declared in architecture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inter-process communications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are updated immediately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Signals are updated after current execution of a process is finished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Synthesis results: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Variables: wires or nothing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Signals: wires, registers, or latches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0784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Differences: Signals vs. Variables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D59F0B-2460-F604-6E02-83D567396DCE}"/>
              </a:ext>
            </a:extLst>
          </p:cNvPr>
          <p:cNvSpPr txBox="1"/>
          <p:nvPr/>
        </p:nvSpPr>
        <p:spPr>
          <a:xfrm>
            <a:off x="1378134" y="1302502"/>
            <a:ext cx="5748088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Lucida Sans Typewriter"/>
                <a:cs typeface="Lucida Sans Typewriter"/>
              </a:rPr>
              <a:t>architecture </a:t>
            </a:r>
            <a:r>
              <a:rPr lang="en-US" sz="2400" dirty="0" err="1">
                <a:solidFill>
                  <a:srgbClr val="000000"/>
                </a:solidFill>
                <a:latin typeface="Lucida Sans Typewriter"/>
                <a:cs typeface="Lucida Sans Typewriter"/>
              </a:rPr>
              <a:t>sig_ex</a:t>
            </a:r>
            <a:r>
              <a:rPr lang="en-US" sz="2400" dirty="0">
                <a:solidFill>
                  <a:srgbClr val="000000"/>
                </a:solidFill>
                <a:latin typeface="Lucida Sans Typewriter"/>
                <a:cs typeface="Lucida Sans Typewriter"/>
              </a:rPr>
              <a:t> of test is</a:t>
            </a:r>
          </a:p>
          <a:p>
            <a:r>
              <a:rPr lang="en-US" sz="2400" dirty="0">
                <a:solidFill>
                  <a:srgbClr val="FF0000"/>
                </a:solidFill>
                <a:latin typeface="Lucida Sans Typewriter"/>
                <a:cs typeface="Lucida Sans Typewriter"/>
              </a:rPr>
              <a:t>   signal out1 : </a:t>
            </a:r>
            <a:r>
              <a:rPr lang="en-US" sz="2400" dirty="0" err="1">
                <a:solidFill>
                  <a:srgbClr val="FF0000"/>
                </a:solidFill>
                <a:latin typeface="Lucida Sans Typewriter"/>
                <a:cs typeface="Lucida Sans Typewriter"/>
              </a:rPr>
              <a:t>std_logic</a:t>
            </a:r>
            <a:r>
              <a:rPr lang="en-US" sz="2400" dirty="0">
                <a:solidFill>
                  <a:srgbClr val="FF0000"/>
                </a:solidFill>
                <a:latin typeface="Lucida Sans Typewriter"/>
                <a:cs typeface="Lucida Sans Typewriter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Lucida Sans Typewriter"/>
                <a:cs typeface="Lucida Sans Typewriter"/>
              </a:rPr>
              <a:t>begin</a:t>
            </a:r>
          </a:p>
          <a:p>
            <a:r>
              <a:rPr lang="en-US" sz="2400" dirty="0">
                <a:solidFill>
                  <a:srgbClr val="000000"/>
                </a:solidFill>
                <a:latin typeface="Lucida Sans Typewriter"/>
                <a:cs typeface="Lucida Sans Typewriter"/>
              </a:rPr>
              <a:t>  process (</a:t>
            </a:r>
            <a:r>
              <a:rPr lang="en-US" sz="2400" dirty="0" err="1">
                <a:solidFill>
                  <a:srgbClr val="000000"/>
                </a:solidFill>
                <a:latin typeface="Lucida Sans Typewriter"/>
                <a:cs typeface="Lucida Sans Typewriter"/>
              </a:rPr>
              <a:t>clk</a:t>
            </a:r>
            <a:r>
              <a:rPr lang="en-US" sz="2400" dirty="0">
                <a:solidFill>
                  <a:srgbClr val="000000"/>
                </a:solidFill>
                <a:latin typeface="Lucida Sans Typewriter"/>
                <a:cs typeface="Lucida Sans Typewriter"/>
              </a:rPr>
              <a:t>)</a:t>
            </a:r>
          </a:p>
          <a:p>
            <a:r>
              <a:rPr lang="en-US" sz="2400" dirty="0">
                <a:solidFill>
                  <a:srgbClr val="000000"/>
                </a:solidFill>
                <a:latin typeface="Lucida Sans Typewriter"/>
                <a:cs typeface="Lucida Sans Typewriter"/>
              </a:rPr>
              <a:t>  begin</a:t>
            </a:r>
          </a:p>
          <a:p>
            <a:r>
              <a:rPr lang="en-US" sz="2400" dirty="0">
                <a:solidFill>
                  <a:srgbClr val="000000"/>
                </a:solidFill>
                <a:latin typeface="Lucida Sans Typewriter"/>
                <a:cs typeface="Lucida Sans Typewriter"/>
              </a:rPr>
              <a:t>    if </a:t>
            </a:r>
            <a:r>
              <a:rPr lang="en-US" sz="2400" dirty="0" err="1">
                <a:solidFill>
                  <a:srgbClr val="000000"/>
                </a:solidFill>
                <a:latin typeface="Lucida Sans Typewriter"/>
                <a:cs typeface="Lucida Sans Typewriter"/>
              </a:rPr>
              <a:t>rising_edge</a:t>
            </a:r>
            <a:r>
              <a:rPr lang="en-US" sz="2400" dirty="0">
                <a:solidFill>
                  <a:srgbClr val="000000"/>
                </a:solidFill>
                <a:latin typeface="Lucida Sans Typewriter"/>
                <a:cs typeface="Lucida Sans Typewriter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Lucida Sans Typewriter"/>
                <a:cs typeface="Lucida Sans Typewriter"/>
              </a:rPr>
              <a:t>clk</a:t>
            </a:r>
            <a:r>
              <a:rPr lang="en-US" sz="2400" dirty="0">
                <a:solidFill>
                  <a:srgbClr val="000000"/>
                </a:solidFill>
                <a:latin typeface="Lucida Sans Typewriter"/>
                <a:cs typeface="Lucida Sans Typewriter"/>
              </a:rPr>
              <a:t>) then</a:t>
            </a:r>
          </a:p>
          <a:p>
            <a:r>
              <a:rPr lang="en-US" sz="2400" dirty="0">
                <a:solidFill>
                  <a:srgbClr val="000000"/>
                </a:solidFill>
                <a:latin typeface="Lucida Sans Typewriter"/>
                <a:cs typeface="Lucida Sans Typewriter"/>
              </a:rPr>
              <a:t>      out1 &lt;= a and b;</a:t>
            </a:r>
          </a:p>
          <a:p>
            <a:r>
              <a:rPr lang="en-US" sz="2400" dirty="0">
                <a:solidFill>
                  <a:srgbClr val="000000"/>
                </a:solidFill>
                <a:latin typeface="Lucida Sans Typewriter"/>
                <a:cs typeface="Lucida Sans Typewriter"/>
              </a:rPr>
              <a:t>      out2 &lt;= out1 </a:t>
            </a:r>
            <a:r>
              <a:rPr lang="en-US" sz="2400" dirty="0" err="1">
                <a:solidFill>
                  <a:srgbClr val="000000"/>
                </a:solidFill>
                <a:latin typeface="Lucida Sans Typewriter"/>
                <a:cs typeface="Lucida Sans Typewriter"/>
              </a:rPr>
              <a:t>xor</a:t>
            </a:r>
            <a:r>
              <a:rPr lang="en-US" sz="2400" dirty="0">
                <a:solidFill>
                  <a:srgbClr val="000000"/>
                </a:solidFill>
                <a:latin typeface="Lucida Sans Typewriter"/>
                <a:cs typeface="Lucida Sans Typewriter"/>
              </a:rPr>
              <a:t> c;</a:t>
            </a:r>
          </a:p>
          <a:p>
            <a:r>
              <a:rPr lang="en-US" sz="2400" dirty="0">
                <a:solidFill>
                  <a:srgbClr val="000000"/>
                </a:solidFill>
                <a:latin typeface="Lucida Sans Typewriter"/>
                <a:cs typeface="Lucida Sans Typewriter"/>
              </a:rPr>
              <a:t>    end if;</a:t>
            </a:r>
          </a:p>
          <a:p>
            <a:r>
              <a:rPr lang="en-US" sz="2400" dirty="0">
                <a:solidFill>
                  <a:srgbClr val="000000"/>
                </a:solidFill>
                <a:latin typeface="Lucida Sans Typewriter"/>
                <a:cs typeface="Lucida Sans Typewriter"/>
              </a:rPr>
              <a:t>  end process;</a:t>
            </a:r>
          </a:p>
          <a:p>
            <a:r>
              <a:rPr lang="en-US" sz="2400" dirty="0">
                <a:solidFill>
                  <a:srgbClr val="000000"/>
                </a:solidFill>
                <a:latin typeface="Lucida Sans Typewriter"/>
                <a:cs typeface="Lucida Sans Typewriter"/>
              </a:rPr>
              <a:t>end </a:t>
            </a:r>
            <a:r>
              <a:rPr lang="en-US" sz="2400" dirty="0" err="1">
                <a:solidFill>
                  <a:srgbClr val="000000"/>
                </a:solidFill>
                <a:latin typeface="Lucida Sans Typewriter"/>
                <a:cs typeface="Lucida Sans Typewriter"/>
              </a:rPr>
              <a:t>sig_ex</a:t>
            </a:r>
            <a:r>
              <a:rPr lang="en-US" sz="2400" dirty="0">
                <a:solidFill>
                  <a:srgbClr val="000000"/>
                </a:solidFill>
                <a:latin typeface="Lucida Sans Typewriter"/>
                <a:cs typeface="Lucida Sans Typewriter"/>
              </a:rPr>
              <a:t>;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1AF8F45-6A2B-2A40-225A-FA172EBAF966}"/>
              </a:ext>
            </a:extLst>
          </p:cNvPr>
          <p:cNvGrpSpPr/>
          <p:nvPr/>
        </p:nvGrpSpPr>
        <p:grpSpPr>
          <a:xfrm>
            <a:off x="7977713" y="4092497"/>
            <a:ext cx="615253" cy="773065"/>
            <a:chOff x="1751105" y="4906601"/>
            <a:chExt cx="615253" cy="77306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C816610-CA5A-D479-B35F-E4089B8DFF02}"/>
                </a:ext>
              </a:extLst>
            </p:cNvPr>
            <p:cNvSpPr/>
            <p:nvPr/>
          </p:nvSpPr>
          <p:spPr bwMode="auto">
            <a:xfrm>
              <a:off x="1751105" y="4906601"/>
              <a:ext cx="615253" cy="773065"/>
            </a:xfrm>
            <a:prstGeom prst="rect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1143000" marR="0" indent="-2286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</a:pPr>
              <a:endParaRPr kumimoji="1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1DEE3624-AE3D-DFB8-02E3-4788E3EC9736}"/>
                </a:ext>
              </a:extLst>
            </p:cNvPr>
            <p:cNvSpPr/>
            <p:nvPr/>
          </p:nvSpPr>
          <p:spPr bwMode="auto">
            <a:xfrm>
              <a:off x="2003518" y="5506121"/>
              <a:ext cx="126204" cy="165657"/>
            </a:xfrm>
            <a:prstGeom prst="triangl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1143000" marR="0" indent="-2286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</a:pPr>
              <a:endParaRPr kumimoji="1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4640936-DE18-4224-5636-98B30A735798}"/>
                </a:ext>
              </a:extLst>
            </p:cNvPr>
            <p:cNvSpPr txBox="1"/>
            <p:nvPr/>
          </p:nvSpPr>
          <p:spPr>
            <a:xfrm>
              <a:off x="1853647" y="5088035"/>
              <a:ext cx="4353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00"/>
                  </a:solidFill>
                </a:rPr>
                <a:t>FF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9AD5C2A-4C05-82DF-BFC2-8DC70295D824}"/>
              </a:ext>
            </a:extLst>
          </p:cNvPr>
          <p:cNvGrpSpPr/>
          <p:nvPr/>
        </p:nvGrpSpPr>
        <p:grpSpPr>
          <a:xfrm>
            <a:off x="7980241" y="5112577"/>
            <a:ext cx="615253" cy="773065"/>
            <a:chOff x="1751105" y="4906601"/>
            <a:chExt cx="615253" cy="7730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976B34-3400-2431-CA5B-0244855AF702}"/>
                </a:ext>
              </a:extLst>
            </p:cNvPr>
            <p:cNvSpPr/>
            <p:nvPr/>
          </p:nvSpPr>
          <p:spPr bwMode="auto">
            <a:xfrm>
              <a:off x="1751105" y="4906601"/>
              <a:ext cx="615253" cy="773065"/>
            </a:xfrm>
            <a:prstGeom prst="rect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1143000" marR="0" indent="-2286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</a:pPr>
              <a:endParaRPr kumimoji="1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168F0652-8D60-FCC0-A0E0-26C4FF514444}"/>
                </a:ext>
              </a:extLst>
            </p:cNvPr>
            <p:cNvSpPr/>
            <p:nvPr/>
          </p:nvSpPr>
          <p:spPr bwMode="auto">
            <a:xfrm>
              <a:off x="2003518" y="5506121"/>
              <a:ext cx="126204" cy="165657"/>
            </a:xfrm>
            <a:prstGeom prst="triangl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1143000" marR="0" indent="-2286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</a:pPr>
              <a:endParaRPr kumimoji="1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3FCD8EA-AC8B-00AF-6387-17ED42E4067E}"/>
                </a:ext>
              </a:extLst>
            </p:cNvPr>
            <p:cNvSpPr txBox="1"/>
            <p:nvPr/>
          </p:nvSpPr>
          <p:spPr>
            <a:xfrm>
              <a:off x="1853647" y="5088035"/>
              <a:ext cx="4353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00"/>
                  </a:solidFill>
                </a:rPr>
                <a:t>FF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07B25E7-9561-628A-1268-D686F5814F9D}"/>
              </a:ext>
            </a:extLst>
          </p:cNvPr>
          <p:cNvSpPr/>
          <p:nvPr/>
        </p:nvSpPr>
        <p:spPr bwMode="auto">
          <a:xfrm>
            <a:off x="7039060" y="4179266"/>
            <a:ext cx="567926" cy="609523"/>
          </a:xfrm>
          <a:prstGeom prst="rect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1430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</a:pPr>
            <a:endParaRPr kumimoji="1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15" name="Elbow Connector 18">
            <a:extLst>
              <a:ext uri="{FF2B5EF4-FFF2-40B4-BE49-F238E27FC236}">
                <a16:creationId xmlns:a16="http://schemas.microsoft.com/office/drawing/2014/main" id="{4D3287A1-3CA4-A81E-6582-4CD0628498B3}"/>
              </a:ext>
            </a:extLst>
          </p:cNvPr>
          <p:cNvCxnSpPr>
            <a:stCxn id="14" idx="3"/>
            <a:endCxn id="7" idx="1"/>
          </p:cNvCxnSpPr>
          <p:nvPr/>
        </p:nvCxnSpPr>
        <p:spPr bwMode="auto">
          <a:xfrm flipV="1">
            <a:off x="7606986" y="4479030"/>
            <a:ext cx="370727" cy="4998"/>
          </a:xfrm>
          <a:prstGeom prst="bentConnector3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62BF28F-0D0A-441B-9F3F-E06B492D880B}"/>
              </a:ext>
            </a:extLst>
          </p:cNvPr>
          <p:cNvSpPr txBox="1"/>
          <p:nvPr/>
        </p:nvSpPr>
        <p:spPr>
          <a:xfrm>
            <a:off x="7015394" y="4305483"/>
            <a:ext cx="6291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AND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ADF2B72-AA33-25F3-711E-A52E814A2580}"/>
              </a:ext>
            </a:extLst>
          </p:cNvPr>
          <p:cNvCxnSpPr/>
          <p:nvPr/>
        </p:nvCxnSpPr>
        <p:spPr bwMode="auto">
          <a:xfrm>
            <a:off x="6668328" y="4297594"/>
            <a:ext cx="378617" cy="7888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75DE86E-042E-CD30-08BD-CF255BA992D0}"/>
              </a:ext>
            </a:extLst>
          </p:cNvPr>
          <p:cNvCxnSpPr/>
          <p:nvPr/>
        </p:nvCxnSpPr>
        <p:spPr bwMode="auto">
          <a:xfrm>
            <a:off x="6670858" y="4607763"/>
            <a:ext cx="378617" cy="7888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7E27060-AAE6-2298-65C0-22F559585A47}"/>
              </a:ext>
            </a:extLst>
          </p:cNvPr>
          <p:cNvCxnSpPr>
            <a:endCxn id="31" idx="1"/>
          </p:cNvCxnSpPr>
          <p:nvPr/>
        </p:nvCxnSpPr>
        <p:spPr bwMode="auto">
          <a:xfrm>
            <a:off x="8821713" y="4471139"/>
            <a:ext cx="346769" cy="2517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D04338F-247B-B306-994D-88C1EEA7458B}"/>
              </a:ext>
            </a:extLst>
          </p:cNvPr>
          <p:cNvCxnSpPr/>
          <p:nvPr/>
        </p:nvCxnSpPr>
        <p:spPr bwMode="auto">
          <a:xfrm>
            <a:off x="8595496" y="5475489"/>
            <a:ext cx="360311" cy="13257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49FC4791-1191-3C94-878D-6B2A63C7FC08}"/>
              </a:ext>
            </a:extLst>
          </p:cNvPr>
          <p:cNvSpPr/>
          <p:nvPr/>
        </p:nvSpPr>
        <p:spPr bwMode="auto">
          <a:xfrm>
            <a:off x="7136245" y="5167839"/>
            <a:ext cx="567926" cy="609523"/>
          </a:xfrm>
          <a:prstGeom prst="rect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1430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</a:pPr>
            <a:endParaRPr kumimoji="1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CDBECF9-CDAE-9E9A-DC29-EFE675A02066}"/>
              </a:ext>
            </a:extLst>
          </p:cNvPr>
          <p:cNvCxnSpPr>
            <a:stCxn id="21" idx="3"/>
            <a:endCxn id="11" idx="1"/>
          </p:cNvCxnSpPr>
          <p:nvPr/>
        </p:nvCxnSpPr>
        <p:spPr bwMode="auto">
          <a:xfrm>
            <a:off x="7704171" y="5472601"/>
            <a:ext cx="276070" cy="26509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1D6C78D-4686-BDF2-775C-2431082C79E7}"/>
              </a:ext>
            </a:extLst>
          </p:cNvPr>
          <p:cNvSpPr txBox="1"/>
          <p:nvPr/>
        </p:nvSpPr>
        <p:spPr>
          <a:xfrm>
            <a:off x="7112579" y="5294057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XOR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457D98C-9066-46F9-B02F-531BF789923C}"/>
              </a:ext>
            </a:extLst>
          </p:cNvPr>
          <p:cNvCxnSpPr/>
          <p:nvPr/>
        </p:nvCxnSpPr>
        <p:spPr bwMode="auto">
          <a:xfrm flipH="1">
            <a:off x="6936515" y="5307312"/>
            <a:ext cx="189309" cy="0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Elbow Connector 45">
            <a:extLst>
              <a:ext uri="{FF2B5EF4-FFF2-40B4-BE49-F238E27FC236}">
                <a16:creationId xmlns:a16="http://schemas.microsoft.com/office/drawing/2014/main" id="{D70E0926-6611-E62E-9789-7D795B83FB28}"/>
              </a:ext>
            </a:extLst>
          </p:cNvPr>
          <p:cNvCxnSpPr>
            <a:stCxn id="7" idx="3"/>
          </p:cNvCxnSpPr>
          <p:nvPr/>
        </p:nvCxnSpPr>
        <p:spPr bwMode="auto">
          <a:xfrm flipH="1">
            <a:off x="6936515" y="4479030"/>
            <a:ext cx="1656451" cy="520634"/>
          </a:xfrm>
          <a:prstGeom prst="bentConnector3">
            <a:avLst>
              <a:gd name="adj1" fmla="val -13801"/>
            </a:avLst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0EC814-CE1C-18E1-03A6-60CFBA8103A7}"/>
              </a:ext>
            </a:extLst>
          </p:cNvPr>
          <p:cNvCxnSpPr/>
          <p:nvPr/>
        </p:nvCxnSpPr>
        <p:spPr bwMode="auto">
          <a:xfrm>
            <a:off x="6928627" y="4983887"/>
            <a:ext cx="7888" cy="323425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5B5CF97-14E6-E03A-1B07-D3753294D6BC}"/>
              </a:ext>
            </a:extLst>
          </p:cNvPr>
          <p:cNvCxnSpPr/>
          <p:nvPr/>
        </p:nvCxnSpPr>
        <p:spPr bwMode="auto">
          <a:xfrm>
            <a:off x="6741849" y="5601705"/>
            <a:ext cx="378617" cy="7888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C5FC3A6-24FF-1412-49B8-56D7097EA9CD}"/>
              </a:ext>
            </a:extLst>
          </p:cNvPr>
          <p:cNvSpPr txBox="1"/>
          <p:nvPr/>
        </p:nvSpPr>
        <p:spPr>
          <a:xfrm>
            <a:off x="6368589" y="4100384"/>
            <a:ext cx="3273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65774B-EAC4-4ED0-953F-23478DB8EFCA}"/>
              </a:ext>
            </a:extLst>
          </p:cNvPr>
          <p:cNvSpPr txBox="1"/>
          <p:nvPr/>
        </p:nvSpPr>
        <p:spPr>
          <a:xfrm>
            <a:off x="6363232" y="4402664"/>
            <a:ext cx="3273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A5223B-7CD5-19E0-B57E-932FACE49C63}"/>
              </a:ext>
            </a:extLst>
          </p:cNvPr>
          <p:cNvSpPr txBox="1"/>
          <p:nvPr/>
        </p:nvSpPr>
        <p:spPr>
          <a:xfrm>
            <a:off x="6413089" y="538334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DA3EEC-C49A-D7C0-A158-BF291678CFBC}"/>
              </a:ext>
            </a:extLst>
          </p:cNvPr>
          <p:cNvSpPr txBox="1"/>
          <p:nvPr/>
        </p:nvSpPr>
        <p:spPr>
          <a:xfrm>
            <a:off x="9168482" y="4273601"/>
            <a:ext cx="6838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out1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2CD68C-6E3B-C104-BC49-44278D223F90}"/>
              </a:ext>
            </a:extLst>
          </p:cNvPr>
          <p:cNvSpPr txBox="1"/>
          <p:nvPr/>
        </p:nvSpPr>
        <p:spPr>
          <a:xfrm>
            <a:off x="9052695" y="5293727"/>
            <a:ext cx="6838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out2</a:t>
            </a:r>
          </a:p>
        </p:txBody>
      </p:sp>
    </p:spTree>
    <p:extLst>
      <p:ext uri="{BB962C8B-B14F-4D97-AF65-F5344CB8AC3E}">
        <p14:creationId xmlns:p14="http://schemas.microsoft.com/office/powerpoint/2010/main" val="20695591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Differences: Signals vs. Variables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9AD36B-9568-F52B-8B36-C8F5F452663F}"/>
              </a:ext>
            </a:extLst>
          </p:cNvPr>
          <p:cNvSpPr txBox="1"/>
          <p:nvPr/>
        </p:nvSpPr>
        <p:spPr>
          <a:xfrm>
            <a:off x="1300482" y="1051989"/>
            <a:ext cx="6115075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Lucida Sans Typewriter"/>
                <a:cs typeface="Lucida Sans Typewriter"/>
              </a:rPr>
              <a:t>architecture </a:t>
            </a:r>
            <a:r>
              <a:rPr lang="en-US" sz="2400" dirty="0" err="1">
                <a:solidFill>
                  <a:srgbClr val="000000"/>
                </a:solidFill>
                <a:latin typeface="Lucida Sans Typewriter"/>
                <a:cs typeface="Lucida Sans Typewriter"/>
              </a:rPr>
              <a:t>var_ex</a:t>
            </a:r>
            <a:r>
              <a:rPr lang="en-US" sz="2400" dirty="0">
                <a:solidFill>
                  <a:srgbClr val="000000"/>
                </a:solidFill>
                <a:latin typeface="Lucida Sans Typewriter"/>
                <a:cs typeface="Lucida Sans Typewriter"/>
              </a:rPr>
              <a:t> of test is</a:t>
            </a:r>
          </a:p>
          <a:p>
            <a:r>
              <a:rPr lang="en-US" sz="2400" dirty="0">
                <a:solidFill>
                  <a:srgbClr val="000000"/>
                </a:solidFill>
                <a:latin typeface="Lucida Sans Typewriter"/>
                <a:cs typeface="Lucida Sans Typewriter"/>
              </a:rPr>
              <a:t>begin</a:t>
            </a:r>
          </a:p>
          <a:p>
            <a:r>
              <a:rPr lang="en-US" sz="2400" dirty="0">
                <a:solidFill>
                  <a:srgbClr val="000000"/>
                </a:solidFill>
                <a:latin typeface="Lucida Sans Typewriter"/>
                <a:cs typeface="Lucida Sans Typewriter"/>
              </a:rPr>
              <a:t>  process (</a:t>
            </a:r>
            <a:r>
              <a:rPr lang="en-US" sz="2400" dirty="0" err="1">
                <a:solidFill>
                  <a:srgbClr val="000000"/>
                </a:solidFill>
                <a:latin typeface="Lucida Sans Typewriter"/>
                <a:cs typeface="Lucida Sans Typewriter"/>
              </a:rPr>
              <a:t>clk</a:t>
            </a:r>
            <a:r>
              <a:rPr lang="en-US" sz="2400" dirty="0">
                <a:solidFill>
                  <a:srgbClr val="000000"/>
                </a:solidFill>
                <a:latin typeface="Lucida Sans Typewriter"/>
                <a:cs typeface="Lucida Sans Typewriter"/>
              </a:rPr>
              <a:t>)</a:t>
            </a:r>
          </a:p>
          <a:p>
            <a:r>
              <a:rPr lang="en-US" sz="2400" dirty="0">
                <a:solidFill>
                  <a:srgbClr val="000000"/>
                </a:solidFill>
                <a:latin typeface="Lucida Sans Typewriter"/>
                <a:cs typeface="Lucida Sans Typewriter"/>
              </a:rPr>
              <a:t>	</a:t>
            </a:r>
            <a:r>
              <a:rPr lang="en-US" sz="2400" dirty="0">
                <a:solidFill>
                  <a:srgbClr val="FF0000"/>
                </a:solidFill>
                <a:latin typeface="Lucida Sans Typewriter"/>
                <a:cs typeface="Lucida Sans Typewriter"/>
              </a:rPr>
              <a:t>variable out3 : </a:t>
            </a:r>
            <a:r>
              <a:rPr lang="en-US" sz="2400" dirty="0" err="1">
                <a:solidFill>
                  <a:srgbClr val="FF0000"/>
                </a:solidFill>
                <a:latin typeface="Lucida Sans Typewriter"/>
                <a:cs typeface="Lucida Sans Typewriter"/>
              </a:rPr>
              <a:t>std_logic</a:t>
            </a:r>
            <a:r>
              <a:rPr lang="en-US" sz="2400" dirty="0">
                <a:solidFill>
                  <a:srgbClr val="FF0000"/>
                </a:solidFill>
                <a:latin typeface="Lucida Sans Typewriter"/>
                <a:cs typeface="Lucida Sans Typewriter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Lucida Sans Typewriter"/>
                <a:cs typeface="Lucida Sans Typewriter"/>
              </a:rPr>
              <a:t>  begin</a:t>
            </a:r>
          </a:p>
          <a:p>
            <a:r>
              <a:rPr lang="en-US" sz="2400" dirty="0">
                <a:solidFill>
                  <a:srgbClr val="000000"/>
                </a:solidFill>
                <a:latin typeface="Lucida Sans Typewriter"/>
                <a:cs typeface="Lucida Sans Typewriter"/>
              </a:rPr>
              <a:t> 	if </a:t>
            </a:r>
            <a:r>
              <a:rPr lang="en-US" sz="2400" dirty="0" err="1">
                <a:solidFill>
                  <a:srgbClr val="000000"/>
                </a:solidFill>
                <a:latin typeface="Lucida Sans Typewriter"/>
                <a:cs typeface="Lucida Sans Typewriter"/>
              </a:rPr>
              <a:t>rising_edge</a:t>
            </a:r>
            <a:r>
              <a:rPr lang="en-US" sz="2400" dirty="0">
                <a:solidFill>
                  <a:srgbClr val="000000"/>
                </a:solidFill>
                <a:latin typeface="Lucida Sans Typewriter"/>
                <a:cs typeface="Lucida Sans Typewriter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Lucida Sans Typewriter"/>
                <a:cs typeface="Lucida Sans Typewriter"/>
              </a:rPr>
              <a:t>clk</a:t>
            </a:r>
            <a:r>
              <a:rPr lang="en-US" sz="2400" dirty="0">
                <a:solidFill>
                  <a:srgbClr val="000000"/>
                </a:solidFill>
                <a:latin typeface="Lucida Sans Typewriter"/>
                <a:cs typeface="Lucida Sans Typewriter"/>
              </a:rPr>
              <a:t>) then</a:t>
            </a:r>
          </a:p>
          <a:p>
            <a:r>
              <a:rPr lang="en-US" sz="2400" dirty="0">
                <a:solidFill>
                  <a:srgbClr val="000000"/>
                </a:solidFill>
                <a:latin typeface="Lucida Sans Typewriter"/>
                <a:cs typeface="Lucida Sans Typewriter"/>
              </a:rPr>
              <a:t>  	   out3 := a and b;</a:t>
            </a:r>
          </a:p>
          <a:p>
            <a:r>
              <a:rPr lang="en-US" sz="2400" dirty="0">
                <a:solidFill>
                  <a:srgbClr val="000000"/>
                </a:solidFill>
                <a:latin typeface="Lucida Sans Typewriter"/>
                <a:cs typeface="Lucida Sans Typewriter"/>
              </a:rPr>
              <a:t>        out4 &lt;= out3 </a:t>
            </a:r>
            <a:r>
              <a:rPr lang="en-US" sz="2400" dirty="0" err="1">
                <a:solidFill>
                  <a:srgbClr val="000000"/>
                </a:solidFill>
                <a:latin typeface="Lucida Sans Typewriter"/>
                <a:cs typeface="Lucida Sans Typewriter"/>
              </a:rPr>
              <a:t>xor</a:t>
            </a:r>
            <a:r>
              <a:rPr lang="en-US" sz="2400" dirty="0">
                <a:solidFill>
                  <a:srgbClr val="000000"/>
                </a:solidFill>
                <a:latin typeface="Lucida Sans Typewriter"/>
                <a:cs typeface="Lucida Sans Typewriter"/>
              </a:rPr>
              <a:t> c;</a:t>
            </a:r>
          </a:p>
          <a:p>
            <a:r>
              <a:rPr lang="en-US" sz="2400" dirty="0">
                <a:solidFill>
                  <a:srgbClr val="000000"/>
                </a:solidFill>
                <a:latin typeface="Lucida Sans Typewriter"/>
                <a:cs typeface="Lucida Sans Typewriter"/>
              </a:rPr>
              <a:t>     end if;</a:t>
            </a:r>
          </a:p>
          <a:p>
            <a:r>
              <a:rPr lang="en-US" sz="2400" dirty="0">
                <a:solidFill>
                  <a:srgbClr val="000000"/>
                </a:solidFill>
                <a:latin typeface="Lucida Sans Typewriter"/>
                <a:cs typeface="Lucida Sans Typewriter"/>
              </a:rPr>
              <a:t>  end process;</a:t>
            </a:r>
          </a:p>
          <a:p>
            <a:r>
              <a:rPr lang="en-US" sz="2400" dirty="0">
                <a:solidFill>
                  <a:srgbClr val="000000"/>
                </a:solidFill>
                <a:latin typeface="Lucida Sans Typewriter"/>
                <a:cs typeface="Lucida Sans Typewriter"/>
              </a:rPr>
              <a:t>end </a:t>
            </a:r>
            <a:r>
              <a:rPr lang="en-US" sz="2400" dirty="0" err="1">
                <a:solidFill>
                  <a:srgbClr val="000000"/>
                </a:solidFill>
                <a:latin typeface="Lucida Sans Typewriter"/>
                <a:cs typeface="Lucida Sans Typewriter"/>
              </a:rPr>
              <a:t>var_ex</a:t>
            </a:r>
            <a:r>
              <a:rPr lang="en-US" sz="2400" dirty="0">
                <a:solidFill>
                  <a:srgbClr val="000000"/>
                </a:solidFill>
                <a:latin typeface="Lucida Sans Typewriter"/>
                <a:cs typeface="Lucida Sans Typewriter"/>
              </a:rPr>
              <a:t>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EFBBC7-CF26-8FC4-48CD-B5F45753DB37}"/>
              </a:ext>
            </a:extLst>
          </p:cNvPr>
          <p:cNvSpPr/>
          <p:nvPr/>
        </p:nvSpPr>
        <p:spPr bwMode="auto">
          <a:xfrm>
            <a:off x="5823033" y="5054844"/>
            <a:ext cx="865132" cy="738993"/>
          </a:xfrm>
          <a:prstGeom prst="rect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1430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</a:pPr>
            <a:endParaRPr kumimoji="1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7B0F89-44DE-396A-58CE-6C41A59B5C4E}"/>
              </a:ext>
            </a:extLst>
          </p:cNvPr>
          <p:cNvSpPr txBox="1"/>
          <p:nvPr/>
        </p:nvSpPr>
        <p:spPr>
          <a:xfrm>
            <a:off x="5933464" y="5244165"/>
            <a:ext cx="6291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AND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B63F77-6018-0BA4-A111-45208BAF9948}"/>
              </a:ext>
            </a:extLst>
          </p:cNvPr>
          <p:cNvSpPr/>
          <p:nvPr/>
        </p:nvSpPr>
        <p:spPr bwMode="auto">
          <a:xfrm>
            <a:off x="7403140" y="5215136"/>
            <a:ext cx="865132" cy="981013"/>
          </a:xfrm>
          <a:prstGeom prst="rect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1430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</a:pPr>
            <a:endParaRPr kumimoji="1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5869B7-CDA5-E5DC-3ACC-03952D19F88D}"/>
              </a:ext>
            </a:extLst>
          </p:cNvPr>
          <p:cNvSpPr txBox="1"/>
          <p:nvPr/>
        </p:nvSpPr>
        <p:spPr>
          <a:xfrm>
            <a:off x="7529347" y="5499113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XOR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D5A781-034C-FF96-2BB4-C0F3D5BB2159}"/>
              </a:ext>
            </a:extLst>
          </p:cNvPr>
          <p:cNvCxnSpPr>
            <a:stCxn id="6" idx="3"/>
          </p:cNvCxnSpPr>
          <p:nvPr/>
        </p:nvCxnSpPr>
        <p:spPr bwMode="auto">
          <a:xfrm>
            <a:off x="6688165" y="5424341"/>
            <a:ext cx="709907" cy="6628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F662F03-962A-5C26-9B85-AB2D4F31CB10}"/>
              </a:ext>
            </a:extLst>
          </p:cNvPr>
          <p:cNvCxnSpPr/>
          <p:nvPr/>
        </p:nvCxnSpPr>
        <p:spPr bwMode="auto">
          <a:xfrm flipH="1">
            <a:off x="5560201" y="5225870"/>
            <a:ext cx="260299" cy="0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3F09370-8AA6-D437-5D4D-6BD4CA2CF242}"/>
              </a:ext>
            </a:extLst>
          </p:cNvPr>
          <p:cNvCxnSpPr/>
          <p:nvPr/>
        </p:nvCxnSpPr>
        <p:spPr bwMode="auto">
          <a:xfrm flipH="1">
            <a:off x="5554841" y="5575470"/>
            <a:ext cx="260299" cy="0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F763E5A-C2A6-47A2-7D95-05D0BB4EF901}"/>
              </a:ext>
            </a:extLst>
          </p:cNvPr>
          <p:cNvSpPr txBox="1"/>
          <p:nvPr/>
        </p:nvSpPr>
        <p:spPr>
          <a:xfrm>
            <a:off x="5286658" y="4983852"/>
            <a:ext cx="3273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573DBE-781F-8DC0-3D8F-B58F186A55FB}"/>
              </a:ext>
            </a:extLst>
          </p:cNvPr>
          <p:cNvSpPr txBox="1"/>
          <p:nvPr/>
        </p:nvSpPr>
        <p:spPr>
          <a:xfrm>
            <a:off x="5281301" y="5341348"/>
            <a:ext cx="3273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b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1274484-4AFA-AAF5-4C31-C88C1892B907}"/>
              </a:ext>
            </a:extLst>
          </p:cNvPr>
          <p:cNvCxnSpPr/>
          <p:nvPr/>
        </p:nvCxnSpPr>
        <p:spPr bwMode="auto">
          <a:xfrm flipH="1" flipV="1">
            <a:off x="5560202" y="5998936"/>
            <a:ext cx="1837870" cy="7888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1365076-4881-A1D8-5249-279A41660AA4}"/>
              </a:ext>
            </a:extLst>
          </p:cNvPr>
          <p:cNvSpPr txBox="1"/>
          <p:nvPr/>
        </p:nvSpPr>
        <p:spPr>
          <a:xfrm>
            <a:off x="5268056" y="576195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c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7AF3C02-9A30-6C32-34D8-A5F813A9AACE}"/>
              </a:ext>
            </a:extLst>
          </p:cNvPr>
          <p:cNvGrpSpPr/>
          <p:nvPr/>
        </p:nvGrpSpPr>
        <p:grpSpPr>
          <a:xfrm>
            <a:off x="8704632" y="5317640"/>
            <a:ext cx="615253" cy="773065"/>
            <a:chOff x="1751105" y="4906601"/>
            <a:chExt cx="615253" cy="77306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B120BE8-2B89-D86D-75EB-E22AD45047F2}"/>
                </a:ext>
              </a:extLst>
            </p:cNvPr>
            <p:cNvSpPr/>
            <p:nvPr/>
          </p:nvSpPr>
          <p:spPr bwMode="auto">
            <a:xfrm>
              <a:off x="1751105" y="4906601"/>
              <a:ext cx="615253" cy="773065"/>
            </a:xfrm>
            <a:prstGeom prst="rect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1143000" marR="0" indent="-2286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</a:pPr>
              <a:endParaRPr kumimoji="1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4D3D5C0C-FA62-DCAD-163E-FA92704E0A8A}"/>
                </a:ext>
              </a:extLst>
            </p:cNvPr>
            <p:cNvSpPr/>
            <p:nvPr/>
          </p:nvSpPr>
          <p:spPr bwMode="auto">
            <a:xfrm>
              <a:off x="2003518" y="5506121"/>
              <a:ext cx="126204" cy="165657"/>
            </a:xfrm>
            <a:prstGeom prst="triangl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1143000" marR="0" indent="-2286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</a:pPr>
              <a:endParaRPr kumimoji="1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2EEFA01-6F67-F46C-991D-64D9ED83D194}"/>
                </a:ext>
              </a:extLst>
            </p:cNvPr>
            <p:cNvSpPr txBox="1"/>
            <p:nvPr/>
          </p:nvSpPr>
          <p:spPr>
            <a:xfrm>
              <a:off x="1853647" y="5088035"/>
              <a:ext cx="4353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00"/>
                  </a:solidFill>
                </a:rPr>
                <a:t>FF</a:t>
              </a:r>
            </a:p>
          </p:txBody>
        </p: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E986C70-9A39-C835-A13D-834126BD1ED1}"/>
              </a:ext>
            </a:extLst>
          </p:cNvPr>
          <p:cNvCxnSpPr>
            <a:stCxn id="8" idx="3"/>
            <a:endCxn id="18" idx="1"/>
          </p:cNvCxnSpPr>
          <p:nvPr/>
        </p:nvCxnSpPr>
        <p:spPr bwMode="auto">
          <a:xfrm flipV="1">
            <a:off x="8268272" y="5704173"/>
            <a:ext cx="436360" cy="1470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D12565A-E58D-D99A-6CC0-6AEB6646FC4A}"/>
              </a:ext>
            </a:extLst>
          </p:cNvPr>
          <p:cNvCxnSpPr/>
          <p:nvPr/>
        </p:nvCxnSpPr>
        <p:spPr bwMode="auto">
          <a:xfrm flipH="1">
            <a:off x="9333128" y="5685919"/>
            <a:ext cx="260299" cy="0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4837A03-31DE-E74F-4BC7-25AA139CEC46}"/>
              </a:ext>
            </a:extLst>
          </p:cNvPr>
          <p:cNvSpPr txBox="1"/>
          <p:nvPr/>
        </p:nvSpPr>
        <p:spPr>
          <a:xfrm>
            <a:off x="6714063" y="5054517"/>
            <a:ext cx="6838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out3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F3E117-EF09-D514-9492-95C3E1FDB21D}"/>
              </a:ext>
            </a:extLst>
          </p:cNvPr>
          <p:cNvSpPr txBox="1"/>
          <p:nvPr/>
        </p:nvSpPr>
        <p:spPr>
          <a:xfrm>
            <a:off x="9351136" y="5601332"/>
            <a:ext cx="6838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out4</a:t>
            </a:r>
          </a:p>
        </p:txBody>
      </p:sp>
    </p:spTree>
    <p:extLst>
      <p:ext uri="{BB962C8B-B14F-4D97-AF65-F5344CB8AC3E}">
        <p14:creationId xmlns:p14="http://schemas.microsoft.com/office/powerpoint/2010/main" val="4303256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Algorithmic State Machine (ASM)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916353"/>
            <a:ext cx="109542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Algorithmic State Machine: representation of a Finite State Machine suitable for FSMs with a larger number of inputs and outputs compared to FSMs expressed using state diagrams and state tables.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9300" y="5612317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41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B16061-F997-6B5D-3E0C-E34F21C45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3133" y="3840962"/>
            <a:ext cx="1622425" cy="960437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AD1248F-FC45-A20B-3475-FFC6E38C3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0946" y="3999712"/>
            <a:ext cx="10334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  <a:buClrTx/>
            </a:pPr>
            <a:r>
              <a:rPr kumimoji="0" lang="en-US" sz="1400">
                <a:solidFill>
                  <a:srgbClr val="000000"/>
                </a:solidFill>
                <a:latin typeface="Times New Roman" charset="0"/>
              </a:rPr>
              <a:t>Output signals</a:t>
            </a:r>
            <a:endParaRPr kumimoji="0" lang="en-US" sz="1400">
              <a:latin typeface="Times New Roman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B86A967-B7AA-1238-2299-D1C5FE905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6208" y="4239424"/>
            <a:ext cx="69691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  <a:buClrTx/>
            </a:pPr>
            <a:r>
              <a:rPr kumimoji="0" lang="en-US" sz="1400">
                <a:solidFill>
                  <a:srgbClr val="000000"/>
                </a:solidFill>
                <a:latin typeface="Times New Roman" charset="0"/>
              </a:rPr>
              <a:t>or actions</a:t>
            </a:r>
            <a:endParaRPr kumimoji="0" lang="en-US" sz="1400">
              <a:latin typeface="Times New Roman" charset="0"/>
            </a:endParaRPr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D79EA172-C7EF-6342-C4E2-A8683AF421F9}"/>
              </a:ext>
            </a:extLst>
          </p:cNvPr>
          <p:cNvSpPr>
            <a:spLocks/>
          </p:cNvSpPr>
          <p:nvPr/>
        </p:nvSpPr>
        <p:spPr bwMode="auto">
          <a:xfrm>
            <a:off x="2379421" y="3658399"/>
            <a:ext cx="68262" cy="138113"/>
          </a:xfrm>
          <a:custGeom>
            <a:avLst/>
            <a:gdLst>
              <a:gd name="T0" fmla="*/ 0 w 86"/>
              <a:gd name="T1" fmla="*/ 0 h 173"/>
              <a:gd name="T2" fmla="*/ 2147483647 w 86"/>
              <a:gd name="T3" fmla="*/ 2147483647 h 173"/>
              <a:gd name="T4" fmla="*/ 2147483647 w 86"/>
              <a:gd name="T5" fmla="*/ 0 h 173"/>
              <a:gd name="T6" fmla="*/ 2147483647 w 86"/>
              <a:gd name="T7" fmla="*/ 0 h 173"/>
              <a:gd name="T8" fmla="*/ 0 w 86"/>
              <a:gd name="T9" fmla="*/ 0 h 1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6"/>
              <a:gd name="T16" fmla="*/ 0 h 173"/>
              <a:gd name="T17" fmla="*/ 86 w 86"/>
              <a:gd name="T18" fmla="*/ 173 h 1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6" h="173">
                <a:moveTo>
                  <a:pt x="0" y="0"/>
                </a:moveTo>
                <a:lnTo>
                  <a:pt x="57" y="173"/>
                </a:lnTo>
                <a:lnTo>
                  <a:pt x="86" y="0"/>
                </a:lnTo>
                <a:lnTo>
                  <a:pt x="5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5B686313-50FF-BA4D-A613-1C46335211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25458" y="3201199"/>
            <a:ext cx="0" cy="4572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D627DF08-39CE-C785-E86D-81F88649446E}"/>
              </a:ext>
            </a:extLst>
          </p:cNvPr>
          <p:cNvSpPr>
            <a:spLocks/>
          </p:cNvSpPr>
          <p:nvPr/>
        </p:nvSpPr>
        <p:spPr bwMode="auto">
          <a:xfrm>
            <a:off x="2379421" y="5280824"/>
            <a:ext cx="68262" cy="136525"/>
          </a:xfrm>
          <a:custGeom>
            <a:avLst/>
            <a:gdLst>
              <a:gd name="T0" fmla="*/ 0 w 86"/>
              <a:gd name="T1" fmla="*/ 0 h 172"/>
              <a:gd name="T2" fmla="*/ 2147483647 w 86"/>
              <a:gd name="T3" fmla="*/ 2147483647 h 172"/>
              <a:gd name="T4" fmla="*/ 2147483647 w 86"/>
              <a:gd name="T5" fmla="*/ 0 h 172"/>
              <a:gd name="T6" fmla="*/ 2147483647 w 86"/>
              <a:gd name="T7" fmla="*/ 0 h 172"/>
              <a:gd name="T8" fmla="*/ 0 w 86"/>
              <a:gd name="T9" fmla="*/ 0 h 1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6"/>
              <a:gd name="T16" fmla="*/ 0 h 172"/>
              <a:gd name="T17" fmla="*/ 86 w 86"/>
              <a:gd name="T18" fmla="*/ 172 h 1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6" h="172">
                <a:moveTo>
                  <a:pt x="0" y="0"/>
                </a:moveTo>
                <a:lnTo>
                  <a:pt x="57" y="172"/>
                </a:lnTo>
                <a:lnTo>
                  <a:pt x="86" y="0"/>
                </a:lnTo>
                <a:lnTo>
                  <a:pt x="5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49AB5588-0C3A-1722-7725-DB7E2B90C9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25458" y="4801399"/>
            <a:ext cx="1588" cy="4794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512108B5-68F7-905F-9E58-20F6BEBF2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3333" y="4479137"/>
            <a:ext cx="942975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  <a:buClrTx/>
            </a:pPr>
            <a:r>
              <a:rPr kumimoji="0" lang="en-US" sz="1400">
                <a:solidFill>
                  <a:srgbClr val="000000"/>
                </a:solidFill>
                <a:latin typeface="Times New Roman" charset="0"/>
              </a:rPr>
              <a:t>(Moore type)</a:t>
            </a:r>
            <a:endParaRPr kumimoji="0" lang="en-US" sz="1400">
              <a:latin typeface="Times New Roman" charset="0"/>
            </a:endParaRP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5B570C0-6022-8717-C959-1209EA9D3894}"/>
              </a:ext>
            </a:extLst>
          </p:cNvPr>
          <p:cNvSpPr>
            <a:spLocks/>
          </p:cNvSpPr>
          <p:nvPr/>
        </p:nvSpPr>
        <p:spPr bwMode="auto">
          <a:xfrm>
            <a:off x="5046662" y="3759205"/>
            <a:ext cx="1939925" cy="960437"/>
          </a:xfrm>
          <a:custGeom>
            <a:avLst/>
            <a:gdLst>
              <a:gd name="T0" fmla="*/ 2147483647 w 2446"/>
              <a:gd name="T1" fmla="*/ 2147483647 h 1208"/>
              <a:gd name="T2" fmla="*/ 2147483647 w 2446"/>
              <a:gd name="T3" fmla="*/ 2147483647 h 1208"/>
              <a:gd name="T4" fmla="*/ 0 w 2446"/>
              <a:gd name="T5" fmla="*/ 2147483647 h 1208"/>
              <a:gd name="T6" fmla="*/ 2147483647 w 2446"/>
              <a:gd name="T7" fmla="*/ 0 h 1208"/>
              <a:gd name="T8" fmla="*/ 2147483647 w 2446"/>
              <a:gd name="T9" fmla="*/ 2147483647 h 120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46"/>
              <a:gd name="T16" fmla="*/ 0 h 1208"/>
              <a:gd name="T17" fmla="*/ 2446 w 2446"/>
              <a:gd name="T18" fmla="*/ 1208 h 120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46" h="1208">
                <a:moveTo>
                  <a:pt x="2446" y="604"/>
                </a:moveTo>
                <a:lnTo>
                  <a:pt x="1237" y="1208"/>
                </a:lnTo>
                <a:lnTo>
                  <a:pt x="0" y="604"/>
                </a:lnTo>
                <a:lnTo>
                  <a:pt x="1237" y="0"/>
                </a:lnTo>
                <a:lnTo>
                  <a:pt x="2446" y="604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5B8A6447-ED5B-1E91-A5FD-DAD8B3E16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758" y="3391699"/>
            <a:ext cx="13588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  <a:buClrTx/>
            </a:pPr>
            <a:r>
              <a:rPr kumimoji="0" lang="en-US" sz="2400" dirty="0">
                <a:solidFill>
                  <a:srgbClr val="000000"/>
                </a:solidFill>
                <a:latin typeface="Times New Roman" charset="0"/>
              </a:rPr>
              <a:t>State name</a:t>
            </a:r>
            <a:endParaRPr kumimoji="0" lang="en-US" sz="2400" dirty="0">
              <a:latin typeface="Times New Roman" charset="0"/>
            </a:endParaRP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9427E01D-66F6-F27B-2D89-6415A419E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3725" y="4043367"/>
            <a:ext cx="7556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  <a:buClrTx/>
            </a:pPr>
            <a:r>
              <a:rPr kumimoji="0" lang="en-US" sz="1400">
                <a:solidFill>
                  <a:srgbClr val="000000"/>
                </a:solidFill>
                <a:latin typeface="Times New Roman" charset="0"/>
              </a:rPr>
              <a:t>Condition </a:t>
            </a:r>
            <a:endParaRPr kumimoji="0" lang="en-US" sz="1400">
              <a:latin typeface="Times New Roman" charset="0"/>
            </a:endParaRPr>
          </a:p>
        </p:txBody>
      </p:sp>
      <p:sp>
        <p:nvSpPr>
          <p:cNvPr id="16" name="Freeform 14">
            <a:extLst>
              <a:ext uri="{FF2B5EF4-FFF2-40B4-BE49-F238E27FC236}">
                <a16:creationId xmlns:a16="http://schemas.microsoft.com/office/drawing/2014/main" id="{083D640B-6CED-ACA4-B507-73567B4F6AF8}"/>
              </a:ext>
            </a:extLst>
          </p:cNvPr>
          <p:cNvSpPr>
            <a:spLocks/>
          </p:cNvSpPr>
          <p:nvPr/>
        </p:nvSpPr>
        <p:spPr bwMode="auto">
          <a:xfrm>
            <a:off x="5981700" y="3576642"/>
            <a:ext cx="69850" cy="138113"/>
          </a:xfrm>
          <a:custGeom>
            <a:avLst/>
            <a:gdLst>
              <a:gd name="T0" fmla="*/ 0 w 86"/>
              <a:gd name="T1" fmla="*/ 0 h 173"/>
              <a:gd name="T2" fmla="*/ 2147483647 w 86"/>
              <a:gd name="T3" fmla="*/ 2147483647 h 173"/>
              <a:gd name="T4" fmla="*/ 2147483647 w 86"/>
              <a:gd name="T5" fmla="*/ 0 h 173"/>
              <a:gd name="T6" fmla="*/ 2147483647 w 86"/>
              <a:gd name="T7" fmla="*/ 0 h 173"/>
              <a:gd name="T8" fmla="*/ 0 w 86"/>
              <a:gd name="T9" fmla="*/ 0 h 1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6"/>
              <a:gd name="T16" fmla="*/ 0 h 173"/>
              <a:gd name="T17" fmla="*/ 86 w 86"/>
              <a:gd name="T18" fmla="*/ 173 h 1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6" h="173">
                <a:moveTo>
                  <a:pt x="0" y="0"/>
                </a:moveTo>
                <a:lnTo>
                  <a:pt x="57" y="173"/>
                </a:lnTo>
                <a:lnTo>
                  <a:pt x="86" y="0"/>
                </a:lnTo>
                <a:lnTo>
                  <a:pt x="5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727A5154-AA22-1690-12F2-0C840370918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27736" y="3136904"/>
            <a:ext cx="1" cy="43973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Freeform 16">
            <a:extLst>
              <a:ext uri="{FF2B5EF4-FFF2-40B4-BE49-F238E27FC236}">
                <a16:creationId xmlns:a16="http://schemas.microsoft.com/office/drawing/2014/main" id="{74B399F6-F047-1570-4FDD-C7EDD16DEF78}"/>
              </a:ext>
            </a:extLst>
          </p:cNvPr>
          <p:cNvSpPr>
            <a:spLocks/>
          </p:cNvSpPr>
          <p:nvPr/>
        </p:nvSpPr>
        <p:spPr bwMode="auto">
          <a:xfrm>
            <a:off x="4703762" y="4878392"/>
            <a:ext cx="46038" cy="138113"/>
          </a:xfrm>
          <a:custGeom>
            <a:avLst/>
            <a:gdLst>
              <a:gd name="T0" fmla="*/ 0 w 57"/>
              <a:gd name="T1" fmla="*/ 0 h 172"/>
              <a:gd name="T2" fmla="*/ 2147483647 w 57"/>
              <a:gd name="T3" fmla="*/ 2147483647 h 172"/>
              <a:gd name="T4" fmla="*/ 2147483647 w 57"/>
              <a:gd name="T5" fmla="*/ 0 h 172"/>
              <a:gd name="T6" fmla="*/ 2147483647 w 57"/>
              <a:gd name="T7" fmla="*/ 0 h 172"/>
              <a:gd name="T8" fmla="*/ 0 w 57"/>
              <a:gd name="T9" fmla="*/ 0 h 1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"/>
              <a:gd name="T16" fmla="*/ 0 h 172"/>
              <a:gd name="T17" fmla="*/ 57 w 57"/>
              <a:gd name="T18" fmla="*/ 172 h 1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" h="172">
                <a:moveTo>
                  <a:pt x="0" y="0"/>
                </a:moveTo>
                <a:lnTo>
                  <a:pt x="28" y="172"/>
                </a:lnTo>
                <a:lnTo>
                  <a:pt x="57" y="0"/>
                </a:lnTo>
                <a:lnTo>
                  <a:pt x="2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" name="Freeform 17">
            <a:extLst>
              <a:ext uri="{FF2B5EF4-FFF2-40B4-BE49-F238E27FC236}">
                <a16:creationId xmlns:a16="http://schemas.microsoft.com/office/drawing/2014/main" id="{AAC62213-33E0-606D-8B84-12FBED6CC83E}"/>
              </a:ext>
            </a:extLst>
          </p:cNvPr>
          <p:cNvSpPr>
            <a:spLocks/>
          </p:cNvSpPr>
          <p:nvPr/>
        </p:nvSpPr>
        <p:spPr bwMode="auto">
          <a:xfrm>
            <a:off x="4725987" y="4238630"/>
            <a:ext cx="320675" cy="639762"/>
          </a:xfrm>
          <a:custGeom>
            <a:avLst/>
            <a:gdLst>
              <a:gd name="T0" fmla="*/ 0 w 403"/>
              <a:gd name="T1" fmla="*/ 2147483647 h 806"/>
              <a:gd name="T2" fmla="*/ 0 w 403"/>
              <a:gd name="T3" fmla="*/ 0 h 806"/>
              <a:gd name="T4" fmla="*/ 2147483647 w 403"/>
              <a:gd name="T5" fmla="*/ 0 h 806"/>
              <a:gd name="T6" fmla="*/ 0 60000 65536"/>
              <a:gd name="T7" fmla="*/ 0 60000 65536"/>
              <a:gd name="T8" fmla="*/ 0 60000 65536"/>
              <a:gd name="T9" fmla="*/ 0 w 403"/>
              <a:gd name="T10" fmla="*/ 0 h 806"/>
              <a:gd name="T11" fmla="*/ 403 w 403"/>
              <a:gd name="T12" fmla="*/ 806 h 80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3" h="806">
                <a:moveTo>
                  <a:pt x="0" y="806"/>
                </a:moveTo>
                <a:lnTo>
                  <a:pt x="0" y="0"/>
                </a:lnTo>
                <a:lnTo>
                  <a:pt x="403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Freeform 18">
            <a:extLst>
              <a:ext uri="{FF2B5EF4-FFF2-40B4-BE49-F238E27FC236}">
                <a16:creationId xmlns:a16="http://schemas.microsoft.com/office/drawing/2014/main" id="{0A457B6D-5D55-729C-290E-F5921A5B44E6}"/>
              </a:ext>
            </a:extLst>
          </p:cNvPr>
          <p:cNvSpPr>
            <a:spLocks/>
          </p:cNvSpPr>
          <p:nvPr/>
        </p:nvSpPr>
        <p:spPr bwMode="auto">
          <a:xfrm>
            <a:off x="7283450" y="4878392"/>
            <a:ext cx="68262" cy="138113"/>
          </a:xfrm>
          <a:custGeom>
            <a:avLst/>
            <a:gdLst>
              <a:gd name="T0" fmla="*/ 0 w 86"/>
              <a:gd name="T1" fmla="*/ 0 h 172"/>
              <a:gd name="T2" fmla="*/ 2147483647 w 86"/>
              <a:gd name="T3" fmla="*/ 2147483647 h 172"/>
              <a:gd name="T4" fmla="*/ 2147483647 w 86"/>
              <a:gd name="T5" fmla="*/ 0 h 172"/>
              <a:gd name="T6" fmla="*/ 2147483647 w 86"/>
              <a:gd name="T7" fmla="*/ 0 h 172"/>
              <a:gd name="T8" fmla="*/ 0 w 86"/>
              <a:gd name="T9" fmla="*/ 0 h 1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6"/>
              <a:gd name="T16" fmla="*/ 0 h 172"/>
              <a:gd name="T17" fmla="*/ 86 w 86"/>
              <a:gd name="T18" fmla="*/ 172 h 1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6" h="172">
                <a:moveTo>
                  <a:pt x="0" y="0"/>
                </a:moveTo>
                <a:lnTo>
                  <a:pt x="28" y="172"/>
                </a:lnTo>
                <a:lnTo>
                  <a:pt x="86" y="0"/>
                </a:lnTo>
                <a:lnTo>
                  <a:pt x="2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 19">
            <a:extLst>
              <a:ext uri="{FF2B5EF4-FFF2-40B4-BE49-F238E27FC236}">
                <a16:creationId xmlns:a16="http://schemas.microsoft.com/office/drawing/2014/main" id="{76353229-EF13-9E82-4D15-B19DF61D5506}"/>
              </a:ext>
            </a:extLst>
          </p:cNvPr>
          <p:cNvSpPr>
            <a:spLocks/>
          </p:cNvSpPr>
          <p:nvPr/>
        </p:nvSpPr>
        <p:spPr bwMode="auto">
          <a:xfrm>
            <a:off x="6986587" y="4238630"/>
            <a:ext cx="320675" cy="639762"/>
          </a:xfrm>
          <a:custGeom>
            <a:avLst/>
            <a:gdLst>
              <a:gd name="T0" fmla="*/ 2147483647 w 402"/>
              <a:gd name="T1" fmla="*/ 2147483647 h 806"/>
              <a:gd name="T2" fmla="*/ 2147483647 w 402"/>
              <a:gd name="T3" fmla="*/ 0 h 806"/>
              <a:gd name="T4" fmla="*/ 0 w 402"/>
              <a:gd name="T5" fmla="*/ 0 h 806"/>
              <a:gd name="T6" fmla="*/ 0 60000 65536"/>
              <a:gd name="T7" fmla="*/ 0 60000 65536"/>
              <a:gd name="T8" fmla="*/ 0 60000 65536"/>
              <a:gd name="T9" fmla="*/ 0 w 402"/>
              <a:gd name="T10" fmla="*/ 0 h 806"/>
              <a:gd name="T11" fmla="*/ 402 w 402"/>
              <a:gd name="T12" fmla="*/ 806 h 80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2" h="806">
                <a:moveTo>
                  <a:pt x="402" y="806"/>
                </a:moveTo>
                <a:lnTo>
                  <a:pt x="402" y="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Rectangle 20">
            <a:extLst>
              <a:ext uri="{FF2B5EF4-FFF2-40B4-BE49-F238E27FC236}">
                <a16:creationId xmlns:a16="http://schemas.microsoft.com/office/drawing/2014/main" id="{87B86CEA-7BC1-AC98-4DF3-E3E229333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5150" y="4248155"/>
            <a:ext cx="7620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  <a:buClrTx/>
            </a:pPr>
            <a:r>
              <a:rPr kumimoji="0" lang="en-US" sz="1400">
                <a:solidFill>
                  <a:srgbClr val="000000"/>
                </a:solidFill>
                <a:latin typeface="Times New Roman" charset="0"/>
              </a:rPr>
              <a:t>expression</a:t>
            </a:r>
            <a:endParaRPr kumimoji="0" lang="en-US" sz="1400">
              <a:latin typeface="Times New Roman" charset="0"/>
            </a:endParaRPr>
          </a:p>
        </p:txBody>
      </p:sp>
      <p:sp>
        <p:nvSpPr>
          <p:cNvPr id="36" name="Rectangle 21">
            <a:extLst>
              <a:ext uri="{FF2B5EF4-FFF2-40B4-BE49-F238E27FC236}">
                <a16:creationId xmlns:a16="http://schemas.microsoft.com/office/drawing/2014/main" id="{A6169214-6CCA-C2FE-5F59-7C06F0BF5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1487" y="3959230"/>
            <a:ext cx="67151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  <a:buClrTx/>
            </a:pPr>
            <a:r>
              <a:rPr kumimoji="0" lang="en-US" sz="1400">
                <a:solidFill>
                  <a:srgbClr val="000000"/>
                </a:solidFill>
                <a:latin typeface="Times New Roman" charset="0"/>
              </a:rPr>
              <a:t>0 (False) </a:t>
            </a:r>
            <a:endParaRPr kumimoji="0" lang="en-US" sz="1400">
              <a:latin typeface="Times New Roman" charset="0"/>
            </a:endParaRPr>
          </a:p>
        </p:txBody>
      </p:sp>
      <p:sp>
        <p:nvSpPr>
          <p:cNvPr id="37" name="Freeform 22">
            <a:extLst>
              <a:ext uri="{FF2B5EF4-FFF2-40B4-BE49-F238E27FC236}">
                <a16:creationId xmlns:a16="http://schemas.microsoft.com/office/drawing/2014/main" id="{039F5B55-D009-A03B-73A0-99CCDBE10572}"/>
              </a:ext>
            </a:extLst>
          </p:cNvPr>
          <p:cNvSpPr>
            <a:spLocks/>
          </p:cNvSpPr>
          <p:nvPr/>
        </p:nvSpPr>
        <p:spPr bwMode="auto">
          <a:xfrm>
            <a:off x="8855869" y="3936210"/>
            <a:ext cx="2603500" cy="639763"/>
          </a:xfrm>
          <a:custGeom>
            <a:avLst/>
            <a:gdLst>
              <a:gd name="T0" fmla="*/ 2147483647 w 3280"/>
              <a:gd name="T1" fmla="*/ 2147483647 h 806"/>
              <a:gd name="T2" fmla="*/ 2147483647 w 3280"/>
              <a:gd name="T3" fmla="*/ 2147483647 h 806"/>
              <a:gd name="T4" fmla="*/ 2147483647 w 3280"/>
              <a:gd name="T5" fmla="*/ 2147483647 h 806"/>
              <a:gd name="T6" fmla="*/ 2147483647 w 3280"/>
              <a:gd name="T7" fmla="*/ 2147483647 h 806"/>
              <a:gd name="T8" fmla="*/ 2147483647 w 3280"/>
              <a:gd name="T9" fmla="*/ 2147483647 h 806"/>
              <a:gd name="T10" fmla="*/ 2147483647 w 3280"/>
              <a:gd name="T11" fmla="*/ 2147483647 h 806"/>
              <a:gd name="T12" fmla="*/ 2147483647 w 3280"/>
              <a:gd name="T13" fmla="*/ 2147483647 h 806"/>
              <a:gd name="T14" fmla="*/ 2147483647 w 3280"/>
              <a:gd name="T15" fmla="*/ 2147483647 h 806"/>
              <a:gd name="T16" fmla="*/ 2147483647 w 3280"/>
              <a:gd name="T17" fmla="*/ 2147483647 h 806"/>
              <a:gd name="T18" fmla="*/ 2147483647 w 3280"/>
              <a:gd name="T19" fmla="*/ 2147483647 h 806"/>
              <a:gd name="T20" fmla="*/ 2147483647 w 3280"/>
              <a:gd name="T21" fmla="*/ 2147483647 h 806"/>
              <a:gd name="T22" fmla="*/ 2147483647 w 3280"/>
              <a:gd name="T23" fmla="*/ 0 h 806"/>
              <a:gd name="T24" fmla="*/ 2147483647 w 3280"/>
              <a:gd name="T25" fmla="*/ 2147483647 h 806"/>
              <a:gd name="T26" fmla="*/ 2147483647 w 3280"/>
              <a:gd name="T27" fmla="*/ 2147483647 h 806"/>
              <a:gd name="T28" fmla="*/ 2147483647 w 3280"/>
              <a:gd name="T29" fmla="*/ 2147483647 h 806"/>
              <a:gd name="T30" fmla="*/ 2147483647 w 3280"/>
              <a:gd name="T31" fmla="*/ 2147483647 h 806"/>
              <a:gd name="T32" fmla="*/ 2147483647 w 3280"/>
              <a:gd name="T33" fmla="*/ 2147483647 h 806"/>
              <a:gd name="T34" fmla="*/ 2147483647 w 3280"/>
              <a:gd name="T35" fmla="*/ 2147483647 h 806"/>
              <a:gd name="T36" fmla="*/ 2147483647 w 3280"/>
              <a:gd name="T37" fmla="*/ 2147483647 h 806"/>
              <a:gd name="T38" fmla="*/ 2147483647 w 3280"/>
              <a:gd name="T39" fmla="*/ 2147483647 h 806"/>
              <a:gd name="T40" fmla="*/ 2147483647 w 3280"/>
              <a:gd name="T41" fmla="*/ 2147483647 h 806"/>
              <a:gd name="T42" fmla="*/ 2147483647 w 3280"/>
              <a:gd name="T43" fmla="*/ 2147483647 h 806"/>
              <a:gd name="T44" fmla="*/ 2147483647 w 3280"/>
              <a:gd name="T45" fmla="*/ 2147483647 h 806"/>
              <a:gd name="T46" fmla="*/ 2147483647 w 3280"/>
              <a:gd name="T47" fmla="*/ 2147483647 h 806"/>
              <a:gd name="T48" fmla="*/ 2147483647 w 3280"/>
              <a:gd name="T49" fmla="*/ 2147483647 h 806"/>
              <a:gd name="T50" fmla="*/ 2147483647 w 3280"/>
              <a:gd name="T51" fmla="*/ 2147483647 h 806"/>
              <a:gd name="T52" fmla="*/ 2147483647 w 3280"/>
              <a:gd name="T53" fmla="*/ 2147483647 h 806"/>
              <a:gd name="T54" fmla="*/ 2147483647 w 3280"/>
              <a:gd name="T55" fmla="*/ 2147483647 h 806"/>
              <a:gd name="T56" fmla="*/ 2147483647 w 3280"/>
              <a:gd name="T57" fmla="*/ 2147483647 h 806"/>
              <a:gd name="T58" fmla="*/ 2147483647 w 3280"/>
              <a:gd name="T59" fmla="*/ 2147483647 h 806"/>
              <a:gd name="T60" fmla="*/ 2147483647 w 3280"/>
              <a:gd name="T61" fmla="*/ 2147483647 h 806"/>
              <a:gd name="T62" fmla="*/ 2147483647 w 3280"/>
              <a:gd name="T63" fmla="*/ 2147483647 h 806"/>
              <a:gd name="T64" fmla="*/ 2147483647 w 3280"/>
              <a:gd name="T65" fmla="*/ 2147483647 h 806"/>
              <a:gd name="T66" fmla="*/ 2147483647 w 3280"/>
              <a:gd name="T67" fmla="*/ 2147483647 h 806"/>
              <a:gd name="T68" fmla="*/ 2147483647 w 3280"/>
              <a:gd name="T69" fmla="*/ 2147483647 h 806"/>
              <a:gd name="T70" fmla="*/ 2147483647 w 3280"/>
              <a:gd name="T71" fmla="*/ 2147483647 h 806"/>
              <a:gd name="T72" fmla="*/ 2147483647 w 3280"/>
              <a:gd name="T73" fmla="*/ 2147483647 h 806"/>
              <a:gd name="T74" fmla="*/ 2147483647 w 3280"/>
              <a:gd name="T75" fmla="*/ 2147483647 h 806"/>
              <a:gd name="T76" fmla="*/ 2147483647 w 3280"/>
              <a:gd name="T77" fmla="*/ 2147483647 h 806"/>
              <a:gd name="T78" fmla="*/ 2147483647 w 3280"/>
              <a:gd name="T79" fmla="*/ 2147483647 h 806"/>
              <a:gd name="T80" fmla="*/ 2147483647 w 3280"/>
              <a:gd name="T81" fmla="*/ 2147483647 h 806"/>
              <a:gd name="T82" fmla="*/ 2147483647 w 3280"/>
              <a:gd name="T83" fmla="*/ 2147483647 h 806"/>
              <a:gd name="T84" fmla="*/ 2147483647 w 3280"/>
              <a:gd name="T85" fmla="*/ 2147483647 h 806"/>
              <a:gd name="T86" fmla="*/ 2147483647 w 3280"/>
              <a:gd name="T87" fmla="*/ 2147483647 h 806"/>
              <a:gd name="T88" fmla="*/ 2147483647 w 3280"/>
              <a:gd name="T89" fmla="*/ 2147483647 h 806"/>
              <a:gd name="T90" fmla="*/ 2147483647 w 3280"/>
              <a:gd name="T91" fmla="*/ 2147483647 h 806"/>
              <a:gd name="T92" fmla="*/ 2147483647 w 3280"/>
              <a:gd name="T93" fmla="*/ 2147483647 h 806"/>
              <a:gd name="T94" fmla="*/ 2147483647 w 3280"/>
              <a:gd name="T95" fmla="*/ 2147483647 h 806"/>
              <a:gd name="T96" fmla="*/ 2147483647 w 3280"/>
              <a:gd name="T97" fmla="*/ 2147483647 h 806"/>
              <a:gd name="T98" fmla="*/ 2147483647 w 3280"/>
              <a:gd name="T99" fmla="*/ 2147483647 h 806"/>
              <a:gd name="T100" fmla="*/ 2147483647 w 3280"/>
              <a:gd name="T101" fmla="*/ 2147483647 h 806"/>
              <a:gd name="T102" fmla="*/ 2147483647 w 3280"/>
              <a:gd name="T103" fmla="*/ 2147483647 h 806"/>
              <a:gd name="T104" fmla="*/ 2147483647 w 3280"/>
              <a:gd name="T105" fmla="*/ 2147483647 h 806"/>
              <a:gd name="T106" fmla="*/ 2147483647 w 3280"/>
              <a:gd name="T107" fmla="*/ 2147483647 h 806"/>
              <a:gd name="T108" fmla="*/ 2147483647 w 3280"/>
              <a:gd name="T109" fmla="*/ 2147483647 h 806"/>
              <a:gd name="T110" fmla="*/ 2147483647 w 3280"/>
              <a:gd name="T111" fmla="*/ 2147483647 h 80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3280"/>
              <a:gd name="T169" fmla="*/ 0 h 806"/>
              <a:gd name="T170" fmla="*/ 3280 w 3280"/>
              <a:gd name="T171" fmla="*/ 806 h 80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3280" h="806">
                <a:moveTo>
                  <a:pt x="0" y="398"/>
                </a:moveTo>
                <a:lnTo>
                  <a:pt x="0" y="409"/>
                </a:lnTo>
                <a:lnTo>
                  <a:pt x="1" y="387"/>
                </a:lnTo>
                <a:lnTo>
                  <a:pt x="3" y="367"/>
                </a:lnTo>
                <a:lnTo>
                  <a:pt x="6" y="347"/>
                </a:lnTo>
                <a:lnTo>
                  <a:pt x="9" y="327"/>
                </a:lnTo>
                <a:lnTo>
                  <a:pt x="13" y="306"/>
                </a:lnTo>
                <a:lnTo>
                  <a:pt x="19" y="288"/>
                </a:lnTo>
                <a:lnTo>
                  <a:pt x="26" y="268"/>
                </a:lnTo>
                <a:lnTo>
                  <a:pt x="33" y="250"/>
                </a:lnTo>
                <a:lnTo>
                  <a:pt x="40" y="232"/>
                </a:lnTo>
                <a:lnTo>
                  <a:pt x="50" y="214"/>
                </a:lnTo>
                <a:lnTo>
                  <a:pt x="60" y="197"/>
                </a:lnTo>
                <a:lnTo>
                  <a:pt x="70" y="180"/>
                </a:lnTo>
                <a:lnTo>
                  <a:pt x="82" y="164"/>
                </a:lnTo>
                <a:lnTo>
                  <a:pt x="93" y="150"/>
                </a:lnTo>
                <a:lnTo>
                  <a:pt x="106" y="134"/>
                </a:lnTo>
                <a:lnTo>
                  <a:pt x="119" y="121"/>
                </a:lnTo>
                <a:lnTo>
                  <a:pt x="134" y="106"/>
                </a:lnTo>
                <a:lnTo>
                  <a:pt x="149" y="93"/>
                </a:lnTo>
                <a:lnTo>
                  <a:pt x="164" y="82"/>
                </a:lnTo>
                <a:lnTo>
                  <a:pt x="180" y="70"/>
                </a:lnTo>
                <a:lnTo>
                  <a:pt x="197" y="60"/>
                </a:lnTo>
                <a:lnTo>
                  <a:pt x="214" y="50"/>
                </a:lnTo>
                <a:lnTo>
                  <a:pt x="231" y="40"/>
                </a:lnTo>
                <a:lnTo>
                  <a:pt x="250" y="33"/>
                </a:lnTo>
                <a:lnTo>
                  <a:pt x="267" y="26"/>
                </a:lnTo>
                <a:lnTo>
                  <a:pt x="288" y="19"/>
                </a:lnTo>
                <a:lnTo>
                  <a:pt x="306" y="13"/>
                </a:lnTo>
                <a:lnTo>
                  <a:pt x="326" y="9"/>
                </a:lnTo>
                <a:lnTo>
                  <a:pt x="347" y="6"/>
                </a:lnTo>
                <a:lnTo>
                  <a:pt x="367" y="3"/>
                </a:lnTo>
                <a:lnTo>
                  <a:pt x="387" y="1"/>
                </a:lnTo>
                <a:lnTo>
                  <a:pt x="408" y="0"/>
                </a:lnTo>
                <a:lnTo>
                  <a:pt x="2872" y="0"/>
                </a:lnTo>
                <a:lnTo>
                  <a:pt x="2894" y="1"/>
                </a:lnTo>
                <a:lnTo>
                  <a:pt x="2914" y="3"/>
                </a:lnTo>
                <a:lnTo>
                  <a:pt x="2934" y="6"/>
                </a:lnTo>
                <a:lnTo>
                  <a:pt x="2954" y="9"/>
                </a:lnTo>
                <a:lnTo>
                  <a:pt x="2975" y="13"/>
                </a:lnTo>
                <a:lnTo>
                  <a:pt x="2993" y="19"/>
                </a:lnTo>
                <a:lnTo>
                  <a:pt x="3013" y="26"/>
                </a:lnTo>
                <a:lnTo>
                  <a:pt x="3031" y="33"/>
                </a:lnTo>
                <a:lnTo>
                  <a:pt x="3049" y="40"/>
                </a:lnTo>
                <a:lnTo>
                  <a:pt x="3067" y="50"/>
                </a:lnTo>
                <a:lnTo>
                  <a:pt x="3084" y="60"/>
                </a:lnTo>
                <a:lnTo>
                  <a:pt x="3101" y="70"/>
                </a:lnTo>
                <a:lnTo>
                  <a:pt x="3117" y="82"/>
                </a:lnTo>
                <a:lnTo>
                  <a:pt x="3131" y="93"/>
                </a:lnTo>
                <a:lnTo>
                  <a:pt x="3147" y="106"/>
                </a:lnTo>
                <a:lnTo>
                  <a:pt x="3160" y="121"/>
                </a:lnTo>
                <a:lnTo>
                  <a:pt x="3175" y="134"/>
                </a:lnTo>
                <a:lnTo>
                  <a:pt x="3187" y="150"/>
                </a:lnTo>
                <a:lnTo>
                  <a:pt x="3199" y="164"/>
                </a:lnTo>
                <a:lnTo>
                  <a:pt x="3211" y="180"/>
                </a:lnTo>
                <a:lnTo>
                  <a:pt x="3221" y="197"/>
                </a:lnTo>
                <a:lnTo>
                  <a:pt x="3231" y="214"/>
                </a:lnTo>
                <a:lnTo>
                  <a:pt x="3241" y="232"/>
                </a:lnTo>
                <a:lnTo>
                  <a:pt x="3248" y="250"/>
                </a:lnTo>
                <a:lnTo>
                  <a:pt x="3255" y="268"/>
                </a:lnTo>
                <a:lnTo>
                  <a:pt x="3262" y="288"/>
                </a:lnTo>
                <a:lnTo>
                  <a:pt x="3268" y="306"/>
                </a:lnTo>
                <a:lnTo>
                  <a:pt x="3272" y="327"/>
                </a:lnTo>
                <a:lnTo>
                  <a:pt x="3275" y="347"/>
                </a:lnTo>
                <a:lnTo>
                  <a:pt x="3278" y="367"/>
                </a:lnTo>
                <a:lnTo>
                  <a:pt x="3280" y="387"/>
                </a:lnTo>
                <a:lnTo>
                  <a:pt x="3280" y="409"/>
                </a:lnTo>
                <a:lnTo>
                  <a:pt x="3280" y="398"/>
                </a:lnTo>
                <a:lnTo>
                  <a:pt x="3280" y="420"/>
                </a:lnTo>
                <a:lnTo>
                  <a:pt x="3278" y="440"/>
                </a:lnTo>
                <a:lnTo>
                  <a:pt x="3275" y="460"/>
                </a:lnTo>
                <a:lnTo>
                  <a:pt x="3272" y="480"/>
                </a:lnTo>
                <a:lnTo>
                  <a:pt x="3268" y="501"/>
                </a:lnTo>
                <a:lnTo>
                  <a:pt x="3262" y="519"/>
                </a:lnTo>
                <a:lnTo>
                  <a:pt x="3255" y="539"/>
                </a:lnTo>
                <a:lnTo>
                  <a:pt x="3248" y="557"/>
                </a:lnTo>
                <a:lnTo>
                  <a:pt x="3241" y="575"/>
                </a:lnTo>
                <a:lnTo>
                  <a:pt x="3231" y="593"/>
                </a:lnTo>
                <a:lnTo>
                  <a:pt x="3221" y="610"/>
                </a:lnTo>
                <a:lnTo>
                  <a:pt x="3211" y="627"/>
                </a:lnTo>
                <a:lnTo>
                  <a:pt x="3199" y="643"/>
                </a:lnTo>
                <a:lnTo>
                  <a:pt x="3187" y="657"/>
                </a:lnTo>
                <a:lnTo>
                  <a:pt x="3175" y="673"/>
                </a:lnTo>
                <a:lnTo>
                  <a:pt x="3160" y="686"/>
                </a:lnTo>
                <a:lnTo>
                  <a:pt x="3147" y="701"/>
                </a:lnTo>
                <a:lnTo>
                  <a:pt x="3131" y="714"/>
                </a:lnTo>
                <a:lnTo>
                  <a:pt x="3117" y="725"/>
                </a:lnTo>
                <a:lnTo>
                  <a:pt x="3101" y="737"/>
                </a:lnTo>
                <a:lnTo>
                  <a:pt x="3084" y="747"/>
                </a:lnTo>
                <a:lnTo>
                  <a:pt x="3067" y="757"/>
                </a:lnTo>
                <a:lnTo>
                  <a:pt x="3049" y="767"/>
                </a:lnTo>
                <a:lnTo>
                  <a:pt x="3031" y="774"/>
                </a:lnTo>
                <a:lnTo>
                  <a:pt x="3013" y="781"/>
                </a:lnTo>
                <a:lnTo>
                  <a:pt x="2993" y="788"/>
                </a:lnTo>
                <a:lnTo>
                  <a:pt x="2975" y="794"/>
                </a:lnTo>
                <a:lnTo>
                  <a:pt x="2954" y="798"/>
                </a:lnTo>
                <a:lnTo>
                  <a:pt x="2934" y="801"/>
                </a:lnTo>
                <a:lnTo>
                  <a:pt x="2914" y="804"/>
                </a:lnTo>
                <a:lnTo>
                  <a:pt x="2894" y="806"/>
                </a:lnTo>
                <a:lnTo>
                  <a:pt x="2872" y="806"/>
                </a:lnTo>
                <a:lnTo>
                  <a:pt x="408" y="806"/>
                </a:lnTo>
                <a:lnTo>
                  <a:pt x="387" y="806"/>
                </a:lnTo>
                <a:lnTo>
                  <a:pt x="367" y="804"/>
                </a:lnTo>
                <a:lnTo>
                  <a:pt x="347" y="801"/>
                </a:lnTo>
                <a:lnTo>
                  <a:pt x="326" y="798"/>
                </a:lnTo>
                <a:lnTo>
                  <a:pt x="306" y="794"/>
                </a:lnTo>
                <a:lnTo>
                  <a:pt x="288" y="788"/>
                </a:lnTo>
                <a:lnTo>
                  <a:pt x="267" y="781"/>
                </a:lnTo>
                <a:lnTo>
                  <a:pt x="250" y="774"/>
                </a:lnTo>
                <a:lnTo>
                  <a:pt x="231" y="767"/>
                </a:lnTo>
                <a:lnTo>
                  <a:pt x="214" y="757"/>
                </a:lnTo>
                <a:lnTo>
                  <a:pt x="197" y="747"/>
                </a:lnTo>
                <a:lnTo>
                  <a:pt x="180" y="737"/>
                </a:lnTo>
                <a:lnTo>
                  <a:pt x="164" y="725"/>
                </a:lnTo>
                <a:lnTo>
                  <a:pt x="149" y="714"/>
                </a:lnTo>
                <a:lnTo>
                  <a:pt x="134" y="701"/>
                </a:lnTo>
                <a:lnTo>
                  <a:pt x="119" y="686"/>
                </a:lnTo>
                <a:lnTo>
                  <a:pt x="106" y="673"/>
                </a:lnTo>
                <a:lnTo>
                  <a:pt x="93" y="657"/>
                </a:lnTo>
                <a:lnTo>
                  <a:pt x="82" y="643"/>
                </a:lnTo>
                <a:lnTo>
                  <a:pt x="70" y="627"/>
                </a:lnTo>
                <a:lnTo>
                  <a:pt x="60" y="610"/>
                </a:lnTo>
                <a:lnTo>
                  <a:pt x="50" y="593"/>
                </a:lnTo>
                <a:lnTo>
                  <a:pt x="40" y="575"/>
                </a:lnTo>
                <a:lnTo>
                  <a:pt x="33" y="557"/>
                </a:lnTo>
                <a:lnTo>
                  <a:pt x="26" y="539"/>
                </a:lnTo>
                <a:lnTo>
                  <a:pt x="19" y="519"/>
                </a:lnTo>
                <a:lnTo>
                  <a:pt x="13" y="501"/>
                </a:lnTo>
                <a:lnTo>
                  <a:pt x="9" y="480"/>
                </a:lnTo>
                <a:lnTo>
                  <a:pt x="6" y="460"/>
                </a:lnTo>
                <a:lnTo>
                  <a:pt x="3" y="440"/>
                </a:lnTo>
                <a:lnTo>
                  <a:pt x="1" y="420"/>
                </a:lnTo>
                <a:lnTo>
                  <a:pt x="0" y="398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Rectangle 23">
            <a:extLst>
              <a:ext uri="{FF2B5EF4-FFF2-40B4-BE49-F238E27FC236}">
                <a16:creationId xmlns:a16="http://schemas.microsoft.com/office/drawing/2014/main" id="{8BB2401F-2AB4-897E-10C3-55CA68DC1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5025" y="3962405"/>
            <a:ext cx="585787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  <a:buClrTx/>
            </a:pPr>
            <a:r>
              <a:rPr kumimoji="0" lang="en-US" sz="1400">
                <a:solidFill>
                  <a:srgbClr val="000000"/>
                </a:solidFill>
                <a:latin typeface="Times New Roman" charset="0"/>
              </a:rPr>
              <a:t>1 (True)</a:t>
            </a:r>
            <a:endParaRPr kumimoji="0" lang="en-US" sz="1400">
              <a:latin typeface="Times New Roman" charset="0"/>
            </a:endParaRPr>
          </a:p>
        </p:txBody>
      </p:sp>
      <p:sp>
        <p:nvSpPr>
          <p:cNvPr id="39" name="Rectangle 24">
            <a:extLst>
              <a:ext uri="{FF2B5EF4-FFF2-40B4-BE49-F238E27FC236}">
                <a16:creationId xmlns:a16="http://schemas.microsoft.com/office/drawing/2014/main" id="{68F02A44-7A6B-204A-3B08-9CE1873A4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3081" y="4047335"/>
            <a:ext cx="145256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  <a:buClrTx/>
            </a:pPr>
            <a:r>
              <a:rPr kumimoji="0" lang="en-US" sz="1400">
                <a:solidFill>
                  <a:srgbClr val="000000"/>
                </a:solidFill>
                <a:latin typeface="Times New Roman" charset="0"/>
              </a:rPr>
              <a:t>Conditional outputs </a:t>
            </a:r>
            <a:endParaRPr kumimoji="0" lang="en-US" sz="1400">
              <a:latin typeface="Times New Roman" charset="0"/>
            </a:endParaRPr>
          </a:p>
        </p:txBody>
      </p:sp>
      <p:sp>
        <p:nvSpPr>
          <p:cNvPr id="40" name="Freeform 25">
            <a:extLst>
              <a:ext uri="{FF2B5EF4-FFF2-40B4-BE49-F238E27FC236}">
                <a16:creationId xmlns:a16="http://schemas.microsoft.com/office/drawing/2014/main" id="{F5BF7873-F6DF-C59E-2F86-857044926180}"/>
              </a:ext>
            </a:extLst>
          </p:cNvPr>
          <p:cNvSpPr>
            <a:spLocks/>
          </p:cNvSpPr>
          <p:nvPr/>
        </p:nvSpPr>
        <p:spPr bwMode="auto">
          <a:xfrm>
            <a:off x="10133806" y="3753648"/>
            <a:ext cx="46038" cy="138112"/>
          </a:xfrm>
          <a:custGeom>
            <a:avLst/>
            <a:gdLst>
              <a:gd name="T0" fmla="*/ 0 w 57"/>
              <a:gd name="T1" fmla="*/ 0 h 172"/>
              <a:gd name="T2" fmla="*/ 2147483647 w 57"/>
              <a:gd name="T3" fmla="*/ 2147483647 h 172"/>
              <a:gd name="T4" fmla="*/ 2147483647 w 57"/>
              <a:gd name="T5" fmla="*/ 0 h 172"/>
              <a:gd name="T6" fmla="*/ 2147483647 w 57"/>
              <a:gd name="T7" fmla="*/ 0 h 172"/>
              <a:gd name="T8" fmla="*/ 0 w 57"/>
              <a:gd name="T9" fmla="*/ 0 h 1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"/>
              <a:gd name="T16" fmla="*/ 0 h 172"/>
              <a:gd name="T17" fmla="*/ 57 w 57"/>
              <a:gd name="T18" fmla="*/ 172 h 1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" h="172">
                <a:moveTo>
                  <a:pt x="0" y="0"/>
                </a:moveTo>
                <a:lnTo>
                  <a:pt x="29" y="172"/>
                </a:lnTo>
                <a:lnTo>
                  <a:pt x="57" y="0"/>
                </a:lnTo>
                <a:lnTo>
                  <a:pt x="2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" name="Line 26">
            <a:extLst>
              <a:ext uri="{FF2B5EF4-FFF2-40B4-BE49-F238E27FC236}">
                <a16:creationId xmlns:a16="http://schemas.microsoft.com/office/drawing/2014/main" id="{CCF2D2C4-9EA1-4A87-E96C-AAF4EADCDF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157619" y="3464723"/>
            <a:ext cx="1587" cy="4794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Freeform 27">
            <a:extLst>
              <a:ext uri="{FF2B5EF4-FFF2-40B4-BE49-F238E27FC236}">
                <a16:creationId xmlns:a16="http://schemas.microsoft.com/office/drawing/2014/main" id="{F60F572F-C8CA-EFED-E858-570AA89E708C}"/>
              </a:ext>
            </a:extLst>
          </p:cNvPr>
          <p:cNvSpPr>
            <a:spLocks/>
          </p:cNvSpPr>
          <p:nvPr/>
        </p:nvSpPr>
        <p:spPr bwMode="auto">
          <a:xfrm>
            <a:off x="10133806" y="5055398"/>
            <a:ext cx="46038" cy="138112"/>
          </a:xfrm>
          <a:custGeom>
            <a:avLst/>
            <a:gdLst>
              <a:gd name="T0" fmla="*/ 0 w 57"/>
              <a:gd name="T1" fmla="*/ 0 h 173"/>
              <a:gd name="T2" fmla="*/ 2147483647 w 57"/>
              <a:gd name="T3" fmla="*/ 2147483647 h 173"/>
              <a:gd name="T4" fmla="*/ 2147483647 w 57"/>
              <a:gd name="T5" fmla="*/ 0 h 173"/>
              <a:gd name="T6" fmla="*/ 2147483647 w 57"/>
              <a:gd name="T7" fmla="*/ 0 h 173"/>
              <a:gd name="T8" fmla="*/ 0 w 57"/>
              <a:gd name="T9" fmla="*/ 0 h 1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"/>
              <a:gd name="T16" fmla="*/ 0 h 173"/>
              <a:gd name="T17" fmla="*/ 57 w 57"/>
              <a:gd name="T18" fmla="*/ 173 h 1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" h="173">
                <a:moveTo>
                  <a:pt x="0" y="0"/>
                </a:moveTo>
                <a:lnTo>
                  <a:pt x="29" y="173"/>
                </a:lnTo>
                <a:lnTo>
                  <a:pt x="57" y="0"/>
                </a:lnTo>
                <a:lnTo>
                  <a:pt x="2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" name="Line 28">
            <a:extLst>
              <a:ext uri="{FF2B5EF4-FFF2-40B4-BE49-F238E27FC236}">
                <a16:creationId xmlns:a16="http://schemas.microsoft.com/office/drawing/2014/main" id="{9856E611-6BA8-4685-F2CF-346A012140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157619" y="4575973"/>
            <a:ext cx="1587" cy="4794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Rectangle 29">
            <a:extLst>
              <a:ext uri="{FF2B5EF4-FFF2-40B4-BE49-F238E27FC236}">
                <a16:creationId xmlns:a16="http://schemas.microsoft.com/office/drawing/2014/main" id="{4355E521-18C1-D917-40B5-31F148B6E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5444" y="4263235"/>
            <a:ext cx="1709737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  <a:buClrTx/>
            </a:pPr>
            <a:r>
              <a:rPr kumimoji="0" lang="en-US" sz="1400" dirty="0">
                <a:solidFill>
                  <a:srgbClr val="000000"/>
                </a:solidFill>
                <a:latin typeface="Times New Roman" charset="0"/>
              </a:rPr>
              <a:t>or actions (Mealy type) </a:t>
            </a:r>
            <a:endParaRPr kumimoji="0" lang="en-US" sz="1400" dirty="0">
              <a:latin typeface="Times New Roman" charset="0"/>
            </a:endParaRPr>
          </a:p>
        </p:txBody>
      </p:sp>
      <p:sp>
        <p:nvSpPr>
          <p:cNvPr id="45" name="Rectangle 30">
            <a:extLst>
              <a:ext uri="{FF2B5EF4-FFF2-40B4-BE49-F238E27FC236}">
                <a16:creationId xmlns:a16="http://schemas.microsoft.com/office/drawing/2014/main" id="{D69BF7D7-73C6-12D8-D70B-02D969A24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0758" y="5525299"/>
            <a:ext cx="157735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  <a:buClrTx/>
            </a:pPr>
            <a:r>
              <a:rPr kumimoji="0" lang="en-US" sz="2400" dirty="0">
                <a:solidFill>
                  <a:srgbClr val="000000"/>
                </a:solidFill>
                <a:latin typeface="Times New Roman" charset="0"/>
              </a:rPr>
              <a:t>(a) State box </a:t>
            </a:r>
            <a:endParaRPr kumimoji="0" lang="en-US" sz="2400" dirty="0">
              <a:latin typeface="Times New Roman" charset="0"/>
            </a:endParaRPr>
          </a:p>
        </p:txBody>
      </p:sp>
      <p:sp>
        <p:nvSpPr>
          <p:cNvPr id="46" name="Rectangle 31">
            <a:extLst>
              <a:ext uri="{FF2B5EF4-FFF2-40B4-BE49-F238E27FC236}">
                <a16:creationId xmlns:a16="http://schemas.microsoft.com/office/drawing/2014/main" id="{63BDF7A8-3F36-986A-A69A-05CFEF3C4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9862" y="5443542"/>
            <a:ext cx="20684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  <a:buClrTx/>
            </a:pPr>
            <a:r>
              <a:rPr kumimoji="0" lang="en-US" sz="2400" dirty="0">
                <a:solidFill>
                  <a:srgbClr val="000000"/>
                </a:solidFill>
                <a:latin typeface="Times New Roman" charset="0"/>
              </a:rPr>
              <a:t>(b) Decision box</a:t>
            </a:r>
            <a:endParaRPr kumimoji="0" lang="en-US" sz="2400" dirty="0">
              <a:latin typeface="Times New Roman" charset="0"/>
            </a:endParaRPr>
          </a:p>
        </p:txBody>
      </p:sp>
      <p:sp>
        <p:nvSpPr>
          <p:cNvPr id="47" name="Rectangle 32">
            <a:extLst>
              <a:ext uri="{FF2B5EF4-FFF2-40B4-BE49-F238E27FC236}">
                <a16:creationId xmlns:a16="http://schemas.microsoft.com/office/drawing/2014/main" id="{607C0E6D-572C-F03E-98E0-943A0D518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4081" y="5422110"/>
            <a:ext cx="327403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  <a:buClrTx/>
            </a:pPr>
            <a:r>
              <a:rPr kumimoji="0" lang="en-US" sz="2400" dirty="0">
                <a:solidFill>
                  <a:srgbClr val="000000"/>
                </a:solidFill>
                <a:latin typeface="Times New Roman" charset="0"/>
              </a:rPr>
              <a:t>(c) Conditional output box</a:t>
            </a:r>
            <a:endParaRPr kumimoji="0" lang="en-US" sz="2400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4743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ASM: State Box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C21000-77FD-48CB-9804-FF113B305C0D}"/>
                  </a:ext>
                </a:extLst>
              </p:cNvPr>
              <p:cNvSpPr txBox="1"/>
              <p:nvPr/>
            </p:nvSpPr>
            <p:spPr>
              <a:xfrm>
                <a:off x="827479" y="916353"/>
                <a:ext cx="9142998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state box represents a state</a:t>
                </a:r>
              </a:p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Equivalent to a node in a state diagram or a row in a state table.</a:t>
                </a:r>
              </a:p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Contains register transfer actions or output signals</a:t>
                </a:r>
              </a:p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Moore-type outputs are listed inside of the box</a:t>
                </a:r>
              </a:p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customary to write only the name of the signal that has to be asserted in the given state, e.g., </a:t>
                </a:r>
                <a14:m>
                  <m:oMath xmlns:m="http://schemas.openxmlformats.org/officeDocument/2006/math">
                    <m:r>
                      <a:rPr lang="en-US" altLang="en-US" sz="3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instead of </a:t>
                </a:r>
                <a14:m>
                  <m:oMath xmlns:m="http://schemas.openxmlformats.org/officeDocument/2006/math"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&lt;= 1.</a:t>
                </a:r>
              </a:p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Also, it might be useful to write an action to be taken, e.g., </a:t>
                </a:r>
                <a14:m>
                  <m:oMath xmlns:m="http://schemas.openxmlformats.org/officeDocument/2006/math"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𝑐𝑜𝑢𝑛𝑡</m:t>
                    </m:r>
                  </m:oMath>
                </a14:m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&lt;= </a:t>
                </a:r>
                <a14:m>
                  <m:oMath xmlns:m="http://schemas.openxmlformats.org/officeDocument/2006/math"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𝑐𝑜𝑢𝑛𝑡</m:t>
                    </m:r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only later translate it to asserting control signal that causes a given action to take place (e.g., enable signal of a counter).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C21000-77FD-48CB-9804-FF113B305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479" y="916353"/>
                <a:ext cx="9142998" cy="5632311"/>
              </a:xfrm>
              <a:prstGeom prst="rect">
                <a:avLst/>
              </a:prstGeom>
              <a:blipFill>
                <a:blip r:embed="rId2"/>
                <a:stretch>
                  <a:fillRect l="-1400" t="-1407" r="-1000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ectangle 4">
            <a:extLst>
              <a:ext uri="{FF2B5EF4-FFF2-40B4-BE49-F238E27FC236}">
                <a16:creationId xmlns:a16="http://schemas.microsoft.com/office/drawing/2014/main" id="{BFE9AD95-7E88-8527-7386-E7D259564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99944" y="3265243"/>
            <a:ext cx="1622425" cy="960438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Rectangle 5">
            <a:extLst>
              <a:ext uri="{FF2B5EF4-FFF2-40B4-BE49-F238E27FC236}">
                <a16:creationId xmlns:a16="http://schemas.microsoft.com/office/drawing/2014/main" id="{4C05E777-BD3D-9EB7-C291-C06CD7076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77757" y="3423993"/>
            <a:ext cx="10334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  <a:buClrTx/>
            </a:pPr>
            <a:r>
              <a:rPr kumimoji="0" lang="en-US" sz="1400">
                <a:solidFill>
                  <a:srgbClr val="000000"/>
                </a:solidFill>
                <a:latin typeface="Times New Roman" charset="0"/>
              </a:rPr>
              <a:t>Output signals</a:t>
            </a:r>
            <a:endParaRPr kumimoji="0" lang="en-US" sz="1400">
              <a:latin typeface="Times New Roman" charset="0"/>
            </a:endParaRPr>
          </a:p>
        </p:txBody>
      </p:sp>
      <p:sp>
        <p:nvSpPr>
          <p:cNvPr id="50" name="Rectangle 6">
            <a:extLst>
              <a:ext uri="{FF2B5EF4-FFF2-40B4-BE49-F238E27FC236}">
                <a16:creationId xmlns:a16="http://schemas.microsoft.com/office/drawing/2014/main" id="{E794CB6A-FB2F-8879-EB66-538CD8F2E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3019" y="3663706"/>
            <a:ext cx="69691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  <a:buClrTx/>
            </a:pPr>
            <a:r>
              <a:rPr kumimoji="0" lang="en-US" sz="1400">
                <a:solidFill>
                  <a:srgbClr val="000000"/>
                </a:solidFill>
                <a:latin typeface="Times New Roman" charset="0"/>
              </a:rPr>
              <a:t>or actions</a:t>
            </a:r>
            <a:endParaRPr kumimoji="0" lang="en-US" sz="1400">
              <a:latin typeface="Times New Roman" charset="0"/>
            </a:endParaRPr>
          </a:p>
        </p:txBody>
      </p:sp>
      <p:sp>
        <p:nvSpPr>
          <p:cNvPr id="51" name="Freeform 7">
            <a:extLst>
              <a:ext uri="{FF2B5EF4-FFF2-40B4-BE49-F238E27FC236}">
                <a16:creationId xmlns:a16="http://schemas.microsoft.com/office/drawing/2014/main" id="{1130E1E2-1230-E870-CBA2-36A2F2205874}"/>
              </a:ext>
            </a:extLst>
          </p:cNvPr>
          <p:cNvSpPr>
            <a:spLocks/>
          </p:cNvSpPr>
          <p:nvPr/>
        </p:nvSpPr>
        <p:spPr bwMode="auto">
          <a:xfrm>
            <a:off x="11076232" y="3082681"/>
            <a:ext cx="68262" cy="138112"/>
          </a:xfrm>
          <a:custGeom>
            <a:avLst/>
            <a:gdLst>
              <a:gd name="T0" fmla="*/ 0 w 86"/>
              <a:gd name="T1" fmla="*/ 0 h 173"/>
              <a:gd name="T2" fmla="*/ 2147483647 w 86"/>
              <a:gd name="T3" fmla="*/ 2147483647 h 173"/>
              <a:gd name="T4" fmla="*/ 2147483647 w 86"/>
              <a:gd name="T5" fmla="*/ 0 h 173"/>
              <a:gd name="T6" fmla="*/ 2147483647 w 86"/>
              <a:gd name="T7" fmla="*/ 0 h 173"/>
              <a:gd name="T8" fmla="*/ 0 w 86"/>
              <a:gd name="T9" fmla="*/ 0 h 1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6"/>
              <a:gd name="T16" fmla="*/ 0 h 173"/>
              <a:gd name="T17" fmla="*/ 86 w 86"/>
              <a:gd name="T18" fmla="*/ 173 h 1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6" h="173">
                <a:moveTo>
                  <a:pt x="0" y="0"/>
                </a:moveTo>
                <a:lnTo>
                  <a:pt x="57" y="173"/>
                </a:lnTo>
                <a:lnTo>
                  <a:pt x="86" y="0"/>
                </a:lnTo>
                <a:lnTo>
                  <a:pt x="5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2" name="Line 8">
            <a:extLst>
              <a:ext uri="{FF2B5EF4-FFF2-40B4-BE49-F238E27FC236}">
                <a16:creationId xmlns:a16="http://schemas.microsoft.com/office/drawing/2014/main" id="{1C5CD764-61D2-4EBF-3965-8672C196C4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22269" y="2625481"/>
            <a:ext cx="1588" cy="4572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Freeform 9">
            <a:extLst>
              <a:ext uri="{FF2B5EF4-FFF2-40B4-BE49-F238E27FC236}">
                <a16:creationId xmlns:a16="http://schemas.microsoft.com/office/drawing/2014/main" id="{BD6F2638-B97D-F228-7835-CB6819A43316}"/>
              </a:ext>
            </a:extLst>
          </p:cNvPr>
          <p:cNvSpPr>
            <a:spLocks/>
          </p:cNvSpPr>
          <p:nvPr/>
        </p:nvSpPr>
        <p:spPr bwMode="auto">
          <a:xfrm>
            <a:off x="11076232" y="4705106"/>
            <a:ext cx="68262" cy="136525"/>
          </a:xfrm>
          <a:custGeom>
            <a:avLst/>
            <a:gdLst>
              <a:gd name="T0" fmla="*/ 0 w 86"/>
              <a:gd name="T1" fmla="*/ 0 h 172"/>
              <a:gd name="T2" fmla="*/ 2147483647 w 86"/>
              <a:gd name="T3" fmla="*/ 2147483647 h 172"/>
              <a:gd name="T4" fmla="*/ 2147483647 w 86"/>
              <a:gd name="T5" fmla="*/ 0 h 172"/>
              <a:gd name="T6" fmla="*/ 2147483647 w 86"/>
              <a:gd name="T7" fmla="*/ 0 h 172"/>
              <a:gd name="T8" fmla="*/ 0 w 86"/>
              <a:gd name="T9" fmla="*/ 0 h 1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6"/>
              <a:gd name="T16" fmla="*/ 0 h 172"/>
              <a:gd name="T17" fmla="*/ 86 w 86"/>
              <a:gd name="T18" fmla="*/ 172 h 1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6" h="172">
                <a:moveTo>
                  <a:pt x="0" y="0"/>
                </a:moveTo>
                <a:lnTo>
                  <a:pt x="57" y="172"/>
                </a:lnTo>
                <a:lnTo>
                  <a:pt x="86" y="0"/>
                </a:lnTo>
                <a:lnTo>
                  <a:pt x="5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" name="Line 10">
            <a:extLst>
              <a:ext uri="{FF2B5EF4-FFF2-40B4-BE49-F238E27FC236}">
                <a16:creationId xmlns:a16="http://schemas.microsoft.com/office/drawing/2014/main" id="{AF1D40B3-09ED-E503-7347-B086E0A42D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22269" y="4225681"/>
            <a:ext cx="1588" cy="4794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" name="Rectangle 11">
            <a:extLst>
              <a:ext uri="{FF2B5EF4-FFF2-40B4-BE49-F238E27FC236}">
                <a16:creationId xmlns:a16="http://schemas.microsoft.com/office/drawing/2014/main" id="{06346D38-07FF-1885-6295-44323ED48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30144" y="3903418"/>
            <a:ext cx="942975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  <a:buClrTx/>
            </a:pPr>
            <a:r>
              <a:rPr kumimoji="0" lang="en-US" sz="1400">
                <a:solidFill>
                  <a:srgbClr val="000000"/>
                </a:solidFill>
                <a:latin typeface="Times New Roman" charset="0"/>
              </a:rPr>
              <a:t>(Moore type)</a:t>
            </a:r>
            <a:endParaRPr kumimoji="0" lang="en-US" sz="1400">
              <a:latin typeface="Times New Roman" charset="0"/>
            </a:endParaRPr>
          </a:p>
        </p:txBody>
      </p:sp>
      <p:sp>
        <p:nvSpPr>
          <p:cNvPr id="56" name="Rectangle 12">
            <a:extLst>
              <a:ext uri="{FF2B5EF4-FFF2-40B4-BE49-F238E27FC236}">
                <a16:creationId xmlns:a16="http://schemas.microsoft.com/office/drawing/2014/main" id="{665A032B-1187-44CD-4091-00CEC7E52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398" y="2839793"/>
            <a:ext cx="113237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  <a:buClrTx/>
            </a:pPr>
            <a:r>
              <a:rPr kumimoji="0" lang="en-US" sz="2000" dirty="0">
                <a:solidFill>
                  <a:srgbClr val="000000"/>
                </a:solidFill>
                <a:latin typeface="Times New Roman" charset="0"/>
              </a:rPr>
              <a:t>State name</a:t>
            </a:r>
            <a:endParaRPr kumimoji="0" lang="en-US" sz="2000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6707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ASM: Decision Box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916353"/>
            <a:ext cx="1095421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decision box indicates that a given condition is to be tested and the exit path is to be chosen accordingly.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condition expression may include one or more inputs to the FSM.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Freeform 4">
            <a:extLst>
              <a:ext uri="{FF2B5EF4-FFF2-40B4-BE49-F238E27FC236}">
                <a16:creationId xmlns:a16="http://schemas.microsoft.com/office/drawing/2014/main" id="{C6036923-AA31-F22F-B408-5B5DCC57698B}"/>
              </a:ext>
            </a:extLst>
          </p:cNvPr>
          <p:cNvSpPr>
            <a:spLocks/>
          </p:cNvSpPr>
          <p:nvPr/>
        </p:nvSpPr>
        <p:spPr bwMode="auto">
          <a:xfrm>
            <a:off x="4957396" y="3956773"/>
            <a:ext cx="1939925" cy="960437"/>
          </a:xfrm>
          <a:custGeom>
            <a:avLst/>
            <a:gdLst>
              <a:gd name="T0" fmla="*/ 2147483647 w 2446"/>
              <a:gd name="T1" fmla="*/ 2147483647 h 1208"/>
              <a:gd name="T2" fmla="*/ 2147483647 w 2446"/>
              <a:gd name="T3" fmla="*/ 2147483647 h 1208"/>
              <a:gd name="T4" fmla="*/ 0 w 2446"/>
              <a:gd name="T5" fmla="*/ 2147483647 h 1208"/>
              <a:gd name="T6" fmla="*/ 2147483647 w 2446"/>
              <a:gd name="T7" fmla="*/ 0 h 1208"/>
              <a:gd name="T8" fmla="*/ 2147483647 w 2446"/>
              <a:gd name="T9" fmla="*/ 2147483647 h 120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46"/>
              <a:gd name="T16" fmla="*/ 0 h 1208"/>
              <a:gd name="T17" fmla="*/ 2446 w 2446"/>
              <a:gd name="T18" fmla="*/ 1208 h 120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46" h="1208">
                <a:moveTo>
                  <a:pt x="2446" y="604"/>
                </a:moveTo>
                <a:lnTo>
                  <a:pt x="1237" y="1208"/>
                </a:lnTo>
                <a:lnTo>
                  <a:pt x="0" y="604"/>
                </a:lnTo>
                <a:lnTo>
                  <a:pt x="1237" y="0"/>
                </a:lnTo>
                <a:lnTo>
                  <a:pt x="2446" y="604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31EF7A6B-A928-2F5D-941D-FD84152B9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4459" y="4240935"/>
            <a:ext cx="7556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  <a:buClrTx/>
            </a:pPr>
            <a:r>
              <a:rPr kumimoji="0" lang="en-US" sz="1400">
                <a:solidFill>
                  <a:srgbClr val="000000"/>
                </a:solidFill>
                <a:latin typeface="Times New Roman" charset="0"/>
              </a:rPr>
              <a:t>Condition </a:t>
            </a:r>
            <a:endParaRPr kumimoji="0" lang="en-US" sz="1400">
              <a:latin typeface="Times New Roman" charset="0"/>
            </a:endParaRPr>
          </a:p>
        </p:txBody>
      </p:sp>
      <p:sp>
        <p:nvSpPr>
          <p:cNvPr id="24" name="Freeform 6">
            <a:extLst>
              <a:ext uri="{FF2B5EF4-FFF2-40B4-BE49-F238E27FC236}">
                <a16:creationId xmlns:a16="http://schemas.microsoft.com/office/drawing/2014/main" id="{30088070-2A91-5E88-0014-DF3762B17368}"/>
              </a:ext>
            </a:extLst>
          </p:cNvPr>
          <p:cNvSpPr>
            <a:spLocks/>
          </p:cNvSpPr>
          <p:nvPr/>
        </p:nvSpPr>
        <p:spPr bwMode="auto">
          <a:xfrm>
            <a:off x="5892434" y="3774210"/>
            <a:ext cx="69850" cy="138113"/>
          </a:xfrm>
          <a:custGeom>
            <a:avLst/>
            <a:gdLst>
              <a:gd name="T0" fmla="*/ 0 w 86"/>
              <a:gd name="T1" fmla="*/ 0 h 173"/>
              <a:gd name="T2" fmla="*/ 2147483647 w 86"/>
              <a:gd name="T3" fmla="*/ 2147483647 h 173"/>
              <a:gd name="T4" fmla="*/ 2147483647 w 86"/>
              <a:gd name="T5" fmla="*/ 0 h 173"/>
              <a:gd name="T6" fmla="*/ 2147483647 w 86"/>
              <a:gd name="T7" fmla="*/ 0 h 173"/>
              <a:gd name="T8" fmla="*/ 0 w 86"/>
              <a:gd name="T9" fmla="*/ 0 h 1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6"/>
              <a:gd name="T16" fmla="*/ 0 h 173"/>
              <a:gd name="T17" fmla="*/ 86 w 86"/>
              <a:gd name="T18" fmla="*/ 173 h 1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6" h="173">
                <a:moveTo>
                  <a:pt x="0" y="0"/>
                </a:moveTo>
                <a:lnTo>
                  <a:pt x="57" y="173"/>
                </a:lnTo>
                <a:lnTo>
                  <a:pt x="86" y="0"/>
                </a:lnTo>
                <a:lnTo>
                  <a:pt x="5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" name="Line 7">
            <a:extLst>
              <a:ext uri="{FF2B5EF4-FFF2-40B4-BE49-F238E27FC236}">
                <a16:creationId xmlns:a16="http://schemas.microsoft.com/office/drawing/2014/main" id="{9D8F4722-1160-BBB0-5E5B-1CC1E6EEA16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30901" y="3317010"/>
            <a:ext cx="7570" cy="4572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Freeform 8">
            <a:extLst>
              <a:ext uri="{FF2B5EF4-FFF2-40B4-BE49-F238E27FC236}">
                <a16:creationId xmlns:a16="http://schemas.microsoft.com/office/drawing/2014/main" id="{E7444DE0-FC97-A385-7B22-47998822800E}"/>
              </a:ext>
            </a:extLst>
          </p:cNvPr>
          <p:cNvSpPr>
            <a:spLocks/>
          </p:cNvSpPr>
          <p:nvPr/>
        </p:nvSpPr>
        <p:spPr bwMode="auto">
          <a:xfrm>
            <a:off x="4614496" y="5075960"/>
            <a:ext cx="46038" cy="138113"/>
          </a:xfrm>
          <a:custGeom>
            <a:avLst/>
            <a:gdLst>
              <a:gd name="T0" fmla="*/ 0 w 57"/>
              <a:gd name="T1" fmla="*/ 0 h 172"/>
              <a:gd name="T2" fmla="*/ 2147483647 w 57"/>
              <a:gd name="T3" fmla="*/ 2147483647 h 172"/>
              <a:gd name="T4" fmla="*/ 2147483647 w 57"/>
              <a:gd name="T5" fmla="*/ 0 h 172"/>
              <a:gd name="T6" fmla="*/ 2147483647 w 57"/>
              <a:gd name="T7" fmla="*/ 0 h 172"/>
              <a:gd name="T8" fmla="*/ 0 w 57"/>
              <a:gd name="T9" fmla="*/ 0 h 1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"/>
              <a:gd name="T16" fmla="*/ 0 h 172"/>
              <a:gd name="T17" fmla="*/ 57 w 57"/>
              <a:gd name="T18" fmla="*/ 172 h 1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" h="172">
                <a:moveTo>
                  <a:pt x="0" y="0"/>
                </a:moveTo>
                <a:lnTo>
                  <a:pt x="28" y="172"/>
                </a:lnTo>
                <a:lnTo>
                  <a:pt x="57" y="0"/>
                </a:lnTo>
                <a:lnTo>
                  <a:pt x="2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" name="Freeform 9">
            <a:extLst>
              <a:ext uri="{FF2B5EF4-FFF2-40B4-BE49-F238E27FC236}">
                <a16:creationId xmlns:a16="http://schemas.microsoft.com/office/drawing/2014/main" id="{8316B512-D9CB-CBAE-0B85-7BD9C96DEA02}"/>
              </a:ext>
            </a:extLst>
          </p:cNvPr>
          <p:cNvSpPr>
            <a:spLocks/>
          </p:cNvSpPr>
          <p:nvPr/>
        </p:nvSpPr>
        <p:spPr bwMode="auto">
          <a:xfrm>
            <a:off x="4636721" y="4436198"/>
            <a:ext cx="320675" cy="639762"/>
          </a:xfrm>
          <a:custGeom>
            <a:avLst/>
            <a:gdLst>
              <a:gd name="T0" fmla="*/ 0 w 403"/>
              <a:gd name="T1" fmla="*/ 2147483647 h 806"/>
              <a:gd name="T2" fmla="*/ 0 w 403"/>
              <a:gd name="T3" fmla="*/ 0 h 806"/>
              <a:gd name="T4" fmla="*/ 2147483647 w 403"/>
              <a:gd name="T5" fmla="*/ 0 h 806"/>
              <a:gd name="T6" fmla="*/ 0 60000 65536"/>
              <a:gd name="T7" fmla="*/ 0 60000 65536"/>
              <a:gd name="T8" fmla="*/ 0 60000 65536"/>
              <a:gd name="T9" fmla="*/ 0 w 403"/>
              <a:gd name="T10" fmla="*/ 0 h 806"/>
              <a:gd name="T11" fmla="*/ 403 w 403"/>
              <a:gd name="T12" fmla="*/ 806 h 80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3" h="806">
                <a:moveTo>
                  <a:pt x="0" y="806"/>
                </a:moveTo>
                <a:lnTo>
                  <a:pt x="0" y="0"/>
                </a:lnTo>
                <a:lnTo>
                  <a:pt x="403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Freeform 10">
            <a:extLst>
              <a:ext uri="{FF2B5EF4-FFF2-40B4-BE49-F238E27FC236}">
                <a16:creationId xmlns:a16="http://schemas.microsoft.com/office/drawing/2014/main" id="{3FDAE7FF-8D66-82ED-94BE-25F807EB1614}"/>
              </a:ext>
            </a:extLst>
          </p:cNvPr>
          <p:cNvSpPr>
            <a:spLocks/>
          </p:cNvSpPr>
          <p:nvPr/>
        </p:nvSpPr>
        <p:spPr bwMode="auto">
          <a:xfrm>
            <a:off x="7194184" y="5075960"/>
            <a:ext cx="68262" cy="138113"/>
          </a:xfrm>
          <a:custGeom>
            <a:avLst/>
            <a:gdLst>
              <a:gd name="T0" fmla="*/ 0 w 86"/>
              <a:gd name="T1" fmla="*/ 0 h 172"/>
              <a:gd name="T2" fmla="*/ 2147483647 w 86"/>
              <a:gd name="T3" fmla="*/ 2147483647 h 172"/>
              <a:gd name="T4" fmla="*/ 2147483647 w 86"/>
              <a:gd name="T5" fmla="*/ 0 h 172"/>
              <a:gd name="T6" fmla="*/ 2147483647 w 86"/>
              <a:gd name="T7" fmla="*/ 0 h 172"/>
              <a:gd name="T8" fmla="*/ 0 w 86"/>
              <a:gd name="T9" fmla="*/ 0 h 1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6"/>
              <a:gd name="T16" fmla="*/ 0 h 172"/>
              <a:gd name="T17" fmla="*/ 86 w 86"/>
              <a:gd name="T18" fmla="*/ 172 h 1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6" h="172">
                <a:moveTo>
                  <a:pt x="0" y="0"/>
                </a:moveTo>
                <a:lnTo>
                  <a:pt x="28" y="172"/>
                </a:lnTo>
                <a:lnTo>
                  <a:pt x="86" y="0"/>
                </a:lnTo>
                <a:lnTo>
                  <a:pt x="2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" name="Freeform 11">
            <a:extLst>
              <a:ext uri="{FF2B5EF4-FFF2-40B4-BE49-F238E27FC236}">
                <a16:creationId xmlns:a16="http://schemas.microsoft.com/office/drawing/2014/main" id="{D6EBE849-49F1-5C87-F2D3-B1C5138389DC}"/>
              </a:ext>
            </a:extLst>
          </p:cNvPr>
          <p:cNvSpPr>
            <a:spLocks/>
          </p:cNvSpPr>
          <p:nvPr/>
        </p:nvSpPr>
        <p:spPr bwMode="auto">
          <a:xfrm>
            <a:off x="6897321" y="4436198"/>
            <a:ext cx="320675" cy="639762"/>
          </a:xfrm>
          <a:custGeom>
            <a:avLst/>
            <a:gdLst>
              <a:gd name="T0" fmla="*/ 2147483647 w 402"/>
              <a:gd name="T1" fmla="*/ 2147483647 h 806"/>
              <a:gd name="T2" fmla="*/ 2147483647 w 402"/>
              <a:gd name="T3" fmla="*/ 0 h 806"/>
              <a:gd name="T4" fmla="*/ 0 w 402"/>
              <a:gd name="T5" fmla="*/ 0 h 806"/>
              <a:gd name="T6" fmla="*/ 0 60000 65536"/>
              <a:gd name="T7" fmla="*/ 0 60000 65536"/>
              <a:gd name="T8" fmla="*/ 0 60000 65536"/>
              <a:gd name="T9" fmla="*/ 0 w 402"/>
              <a:gd name="T10" fmla="*/ 0 h 806"/>
              <a:gd name="T11" fmla="*/ 402 w 402"/>
              <a:gd name="T12" fmla="*/ 806 h 80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2" h="806">
                <a:moveTo>
                  <a:pt x="402" y="806"/>
                </a:moveTo>
                <a:lnTo>
                  <a:pt x="402" y="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Rectangle 12">
            <a:extLst>
              <a:ext uri="{FF2B5EF4-FFF2-40B4-BE49-F238E27FC236}">
                <a16:creationId xmlns:a16="http://schemas.microsoft.com/office/drawing/2014/main" id="{753F17DF-41CB-3D54-3C92-84081FBBF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5884" y="4445723"/>
            <a:ext cx="7620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  <a:buClrTx/>
            </a:pPr>
            <a:r>
              <a:rPr kumimoji="0" lang="en-US" sz="1400">
                <a:solidFill>
                  <a:srgbClr val="000000"/>
                </a:solidFill>
                <a:latin typeface="Times New Roman" charset="0"/>
              </a:rPr>
              <a:t>expression</a:t>
            </a:r>
            <a:endParaRPr kumimoji="0" lang="en-US" sz="1400">
              <a:latin typeface="Times New Roman" charset="0"/>
            </a:endParaRPr>
          </a:p>
        </p:txBody>
      </p:sp>
      <p:sp>
        <p:nvSpPr>
          <p:cNvPr id="31" name="Rectangle 13">
            <a:extLst>
              <a:ext uri="{FF2B5EF4-FFF2-40B4-BE49-F238E27FC236}">
                <a16:creationId xmlns:a16="http://schemas.microsoft.com/office/drawing/2014/main" id="{D21BCAFD-E48E-B1AB-5641-3F7F86B72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2221" y="4156798"/>
            <a:ext cx="67151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  <a:buClrTx/>
            </a:pPr>
            <a:r>
              <a:rPr kumimoji="0" lang="en-US" sz="1400">
                <a:solidFill>
                  <a:srgbClr val="000000"/>
                </a:solidFill>
                <a:latin typeface="Times New Roman" charset="0"/>
              </a:rPr>
              <a:t>0 (False) </a:t>
            </a:r>
            <a:endParaRPr kumimoji="0" lang="en-US" sz="1400">
              <a:latin typeface="Times New Roman" charset="0"/>
            </a:endParaRPr>
          </a:p>
        </p:txBody>
      </p:sp>
      <p:sp>
        <p:nvSpPr>
          <p:cNvPr id="32" name="Rectangle 14">
            <a:extLst>
              <a:ext uri="{FF2B5EF4-FFF2-40B4-BE49-F238E27FC236}">
                <a16:creationId xmlns:a16="http://schemas.microsoft.com/office/drawing/2014/main" id="{02BC7DE2-14DE-5FED-B541-DC9FC6571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5759" y="4159973"/>
            <a:ext cx="585787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  <a:buClrTx/>
            </a:pPr>
            <a:r>
              <a:rPr kumimoji="0" lang="en-US" sz="1400">
                <a:solidFill>
                  <a:srgbClr val="000000"/>
                </a:solidFill>
                <a:latin typeface="Times New Roman" charset="0"/>
              </a:rPr>
              <a:t>1 (True)</a:t>
            </a:r>
            <a:endParaRPr kumimoji="0" lang="en-US" sz="14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1686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ASM: Conditional Output Box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916353"/>
            <a:ext cx="109542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conditional output box denotes output signals that are of the Mealy type.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condition that determines whether such outputs are generated is specified in the decision box.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CB46F93-84A4-4813-7D20-2D39B128F9F9}"/>
              </a:ext>
            </a:extLst>
          </p:cNvPr>
          <p:cNvSpPr>
            <a:spLocks/>
          </p:cNvSpPr>
          <p:nvPr/>
        </p:nvSpPr>
        <p:spPr bwMode="auto">
          <a:xfrm>
            <a:off x="4940300" y="3900487"/>
            <a:ext cx="2603500" cy="639763"/>
          </a:xfrm>
          <a:custGeom>
            <a:avLst/>
            <a:gdLst>
              <a:gd name="T0" fmla="*/ 2147483647 w 3280"/>
              <a:gd name="T1" fmla="*/ 2147483647 h 806"/>
              <a:gd name="T2" fmla="*/ 2147483647 w 3280"/>
              <a:gd name="T3" fmla="*/ 2147483647 h 806"/>
              <a:gd name="T4" fmla="*/ 2147483647 w 3280"/>
              <a:gd name="T5" fmla="*/ 2147483647 h 806"/>
              <a:gd name="T6" fmla="*/ 2147483647 w 3280"/>
              <a:gd name="T7" fmla="*/ 2147483647 h 806"/>
              <a:gd name="T8" fmla="*/ 2147483647 w 3280"/>
              <a:gd name="T9" fmla="*/ 2147483647 h 806"/>
              <a:gd name="T10" fmla="*/ 2147483647 w 3280"/>
              <a:gd name="T11" fmla="*/ 2147483647 h 806"/>
              <a:gd name="T12" fmla="*/ 2147483647 w 3280"/>
              <a:gd name="T13" fmla="*/ 2147483647 h 806"/>
              <a:gd name="T14" fmla="*/ 2147483647 w 3280"/>
              <a:gd name="T15" fmla="*/ 2147483647 h 806"/>
              <a:gd name="T16" fmla="*/ 2147483647 w 3280"/>
              <a:gd name="T17" fmla="*/ 2147483647 h 806"/>
              <a:gd name="T18" fmla="*/ 2147483647 w 3280"/>
              <a:gd name="T19" fmla="*/ 2147483647 h 806"/>
              <a:gd name="T20" fmla="*/ 2147483647 w 3280"/>
              <a:gd name="T21" fmla="*/ 2147483647 h 806"/>
              <a:gd name="T22" fmla="*/ 2147483647 w 3280"/>
              <a:gd name="T23" fmla="*/ 0 h 806"/>
              <a:gd name="T24" fmla="*/ 2147483647 w 3280"/>
              <a:gd name="T25" fmla="*/ 2147483647 h 806"/>
              <a:gd name="T26" fmla="*/ 2147483647 w 3280"/>
              <a:gd name="T27" fmla="*/ 2147483647 h 806"/>
              <a:gd name="T28" fmla="*/ 2147483647 w 3280"/>
              <a:gd name="T29" fmla="*/ 2147483647 h 806"/>
              <a:gd name="T30" fmla="*/ 2147483647 w 3280"/>
              <a:gd name="T31" fmla="*/ 2147483647 h 806"/>
              <a:gd name="T32" fmla="*/ 2147483647 w 3280"/>
              <a:gd name="T33" fmla="*/ 2147483647 h 806"/>
              <a:gd name="T34" fmla="*/ 2147483647 w 3280"/>
              <a:gd name="T35" fmla="*/ 2147483647 h 806"/>
              <a:gd name="T36" fmla="*/ 2147483647 w 3280"/>
              <a:gd name="T37" fmla="*/ 2147483647 h 806"/>
              <a:gd name="T38" fmla="*/ 2147483647 w 3280"/>
              <a:gd name="T39" fmla="*/ 2147483647 h 806"/>
              <a:gd name="T40" fmla="*/ 2147483647 w 3280"/>
              <a:gd name="T41" fmla="*/ 2147483647 h 806"/>
              <a:gd name="T42" fmla="*/ 2147483647 w 3280"/>
              <a:gd name="T43" fmla="*/ 2147483647 h 806"/>
              <a:gd name="T44" fmla="*/ 2147483647 w 3280"/>
              <a:gd name="T45" fmla="*/ 2147483647 h 806"/>
              <a:gd name="T46" fmla="*/ 2147483647 w 3280"/>
              <a:gd name="T47" fmla="*/ 2147483647 h 806"/>
              <a:gd name="T48" fmla="*/ 2147483647 w 3280"/>
              <a:gd name="T49" fmla="*/ 2147483647 h 806"/>
              <a:gd name="T50" fmla="*/ 2147483647 w 3280"/>
              <a:gd name="T51" fmla="*/ 2147483647 h 806"/>
              <a:gd name="T52" fmla="*/ 2147483647 w 3280"/>
              <a:gd name="T53" fmla="*/ 2147483647 h 806"/>
              <a:gd name="T54" fmla="*/ 2147483647 w 3280"/>
              <a:gd name="T55" fmla="*/ 2147483647 h 806"/>
              <a:gd name="T56" fmla="*/ 2147483647 w 3280"/>
              <a:gd name="T57" fmla="*/ 2147483647 h 806"/>
              <a:gd name="T58" fmla="*/ 2147483647 w 3280"/>
              <a:gd name="T59" fmla="*/ 2147483647 h 806"/>
              <a:gd name="T60" fmla="*/ 2147483647 w 3280"/>
              <a:gd name="T61" fmla="*/ 2147483647 h 806"/>
              <a:gd name="T62" fmla="*/ 2147483647 w 3280"/>
              <a:gd name="T63" fmla="*/ 2147483647 h 806"/>
              <a:gd name="T64" fmla="*/ 2147483647 w 3280"/>
              <a:gd name="T65" fmla="*/ 2147483647 h 806"/>
              <a:gd name="T66" fmla="*/ 2147483647 w 3280"/>
              <a:gd name="T67" fmla="*/ 2147483647 h 806"/>
              <a:gd name="T68" fmla="*/ 2147483647 w 3280"/>
              <a:gd name="T69" fmla="*/ 2147483647 h 806"/>
              <a:gd name="T70" fmla="*/ 2147483647 w 3280"/>
              <a:gd name="T71" fmla="*/ 2147483647 h 806"/>
              <a:gd name="T72" fmla="*/ 2147483647 w 3280"/>
              <a:gd name="T73" fmla="*/ 2147483647 h 806"/>
              <a:gd name="T74" fmla="*/ 2147483647 w 3280"/>
              <a:gd name="T75" fmla="*/ 2147483647 h 806"/>
              <a:gd name="T76" fmla="*/ 2147483647 w 3280"/>
              <a:gd name="T77" fmla="*/ 2147483647 h 806"/>
              <a:gd name="T78" fmla="*/ 2147483647 w 3280"/>
              <a:gd name="T79" fmla="*/ 2147483647 h 806"/>
              <a:gd name="T80" fmla="*/ 2147483647 w 3280"/>
              <a:gd name="T81" fmla="*/ 2147483647 h 806"/>
              <a:gd name="T82" fmla="*/ 2147483647 w 3280"/>
              <a:gd name="T83" fmla="*/ 2147483647 h 806"/>
              <a:gd name="T84" fmla="*/ 2147483647 w 3280"/>
              <a:gd name="T85" fmla="*/ 2147483647 h 806"/>
              <a:gd name="T86" fmla="*/ 2147483647 w 3280"/>
              <a:gd name="T87" fmla="*/ 2147483647 h 806"/>
              <a:gd name="T88" fmla="*/ 2147483647 w 3280"/>
              <a:gd name="T89" fmla="*/ 2147483647 h 806"/>
              <a:gd name="T90" fmla="*/ 2147483647 w 3280"/>
              <a:gd name="T91" fmla="*/ 2147483647 h 806"/>
              <a:gd name="T92" fmla="*/ 2147483647 w 3280"/>
              <a:gd name="T93" fmla="*/ 2147483647 h 806"/>
              <a:gd name="T94" fmla="*/ 2147483647 w 3280"/>
              <a:gd name="T95" fmla="*/ 2147483647 h 806"/>
              <a:gd name="T96" fmla="*/ 2147483647 w 3280"/>
              <a:gd name="T97" fmla="*/ 2147483647 h 806"/>
              <a:gd name="T98" fmla="*/ 2147483647 w 3280"/>
              <a:gd name="T99" fmla="*/ 2147483647 h 806"/>
              <a:gd name="T100" fmla="*/ 2147483647 w 3280"/>
              <a:gd name="T101" fmla="*/ 2147483647 h 806"/>
              <a:gd name="T102" fmla="*/ 2147483647 w 3280"/>
              <a:gd name="T103" fmla="*/ 2147483647 h 806"/>
              <a:gd name="T104" fmla="*/ 2147483647 w 3280"/>
              <a:gd name="T105" fmla="*/ 2147483647 h 806"/>
              <a:gd name="T106" fmla="*/ 2147483647 w 3280"/>
              <a:gd name="T107" fmla="*/ 2147483647 h 806"/>
              <a:gd name="T108" fmla="*/ 2147483647 w 3280"/>
              <a:gd name="T109" fmla="*/ 2147483647 h 806"/>
              <a:gd name="T110" fmla="*/ 2147483647 w 3280"/>
              <a:gd name="T111" fmla="*/ 2147483647 h 80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3280"/>
              <a:gd name="T169" fmla="*/ 0 h 806"/>
              <a:gd name="T170" fmla="*/ 3280 w 3280"/>
              <a:gd name="T171" fmla="*/ 806 h 80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3280" h="806">
                <a:moveTo>
                  <a:pt x="0" y="398"/>
                </a:moveTo>
                <a:lnTo>
                  <a:pt x="0" y="409"/>
                </a:lnTo>
                <a:lnTo>
                  <a:pt x="1" y="387"/>
                </a:lnTo>
                <a:lnTo>
                  <a:pt x="3" y="367"/>
                </a:lnTo>
                <a:lnTo>
                  <a:pt x="6" y="347"/>
                </a:lnTo>
                <a:lnTo>
                  <a:pt x="9" y="327"/>
                </a:lnTo>
                <a:lnTo>
                  <a:pt x="13" y="306"/>
                </a:lnTo>
                <a:lnTo>
                  <a:pt x="19" y="288"/>
                </a:lnTo>
                <a:lnTo>
                  <a:pt x="26" y="268"/>
                </a:lnTo>
                <a:lnTo>
                  <a:pt x="33" y="250"/>
                </a:lnTo>
                <a:lnTo>
                  <a:pt x="40" y="232"/>
                </a:lnTo>
                <a:lnTo>
                  <a:pt x="50" y="214"/>
                </a:lnTo>
                <a:lnTo>
                  <a:pt x="60" y="197"/>
                </a:lnTo>
                <a:lnTo>
                  <a:pt x="70" y="180"/>
                </a:lnTo>
                <a:lnTo>
                  <a:pt x="82" y="164"/>
                </a:lnTo>
                <a:lnTo>
                  <a:pt x="93" y="150"/>
                </a:lnTo>
                <a:lnTo>
                  <a:pt x="106" y="134"/>
                </a:lnTo>
                <a:lnTo>
                  <a:pt x="119" y="121"/>
                </a:lnTo>
                <a:lnTo>
                  <a:pt x="134" y="106"/>
                </a:lnTo>
                <a:lnTo>
                  <a:pt x="149" y="93"/>
                </a:lnTo>
                <a:lnTo>
                  <a:pt x="164" y="82"/>
                </a:lnTo>
                <a:lnTo>
                  <a:pt x="180" y="70"/>
                </a:lnTo>
                <a:lnTo>
                  <a:pt x="197" y="60"/>
                </a:lnTo>
                <a:lnTo>
                  <a:pt x="214" y="50"/>
                </a:lnTo>
                <a:lnTo>
                  <a:pt x="231" y="40"/>
                </a:lnTo>
                <a:lnTo>
                  <a:pt x="250" y="33"/>
                </a:lnTo>
                <a:lnTo>
                  <a:pt x="267" y="26"/>
                </a:lnTo>
                <a:lnTo>
                  <a:pt x="288" y="19"/>
                </a:lnTo>
                <a:lnTo>
                  <a:pt x="306" y="13"/>
                </a:lnTo>
                <a:lnTo>
                  <a:pt x="326" y="9"/>
                </a:lnTo>
                <a:lnTo>
                  <a:pt x="347" y="6"/>
                </a:lnTo>
                <a:lnTo>
                  <a:pt x="367" y="3"/>
                </a:lnTo>
                <a:lnTo>
                  <a:pt x="387" y="1"/>
                </a:lnTo>
                <a:lnTo>
                  <a:pt x="408" y="0"/>
                </a:lnTo>
                <a:lnTo>
                  <a:pt x="2872" y="0"/>
                </a:lnTo>
                <a:lnTo>
                  <a:pt x="2894" y="1"/>
                </a:lnTo>
                <a:lnTo>
                  <a:pt x="2914" y="3"/>
                </a:lnTo>
                <a:lnTo>
                  <a:pt x="2934" y="6"/>
                </a:lnTo>
                <a:lnTo>
                  <a:pt x="2954" y="9"/>
                </a:lnTo>
                <a:lnTo>
                  <a:pt x="2975" y="13"/>
                </a:lnTo>
                <a:lnTo>
                  <a:pt x="2993" y="19"/>
                </a:lnTo>
                <a:lnTo>
                  <a:pt x="3013" y="26"/>
                </a:lnTo>
                <a:lnTo>
                  <a:pt x="3031" y="33"/>
                </a:lnTo>
                <a:lnTo>
                  <a:pt x="3049" y="40"/>
                </a:lnTo>
                <a:lnTo>
                  <a:pt x="3067" y="50"/>
                </a:lnTo>
                <a:lnTo>
                  <a:pt x="3084" y="60"/>
                </a:lnTo>
                <a:lnTo>
                  <a:pt x="3101" y="70"/>
                </a:lnTo>
                <a:lnTo>
                  <a:pt x="3117" y="82"/>
                </a:lnTo>
                <a:lnTo>
                  <a:pt x="3131" y="93"/>
                </a:lnTo>
                <a:lnTo>
                  <a:pt x="3147" y="106"/>
                </a:lnTo>
                <a:lnTo>
                  <a:pt x="3160" y="121"/>
                </a:lnTo>
                <a:lnTo>
                  <a:pt x="3175" y="134"/>
                </a:lnTo>
                <a:lnTo>
                  <a:pt x="3187" y="150"/>
                </a:lnTo>
                <a:lnTo>
                  <a:pt x="3199" y="164"/>
                </a:lnTo>
                <a:lnTo>
                  <a:pt x="3211" y="180"/>
                </a:lnTo>
                <a:lnTo>
                  <a:pt x="3221" y="197"/>
                </a:lnTo>
                <a:lnTo>
                  <a:pt x="3231" y="214"/>
                </a:lnTo>
                <a:lnTo>
                  <a:pt x="3241" y="232"/>
                </a:lnTo>
                <a:lnTo>
                  <a:pt x="3248" y="250"/>
                </a:lnTo>
                <a:lnTo>
                  <a:pt x="3255" y="268"/>
                </a:lnTo>
                <a:lnTo>
                  <a:pt x="3262" y="288"/>
                </a:lnTo>
                <a:lnTo>
                  <a:pt x="3268" y="306"/>
                </a:lnTo>
                <a:lnTo>
                  <a:pt x="3272" y="327"/>
                </a:lnTo>
                <a:lnTo>
                  <a:pt x="3275" y="347"/>
                </a:lnTo>
                <a:lnTo>
                  <a:pt x="3278" y="367"/>
                </a:lnTo>
                <a:lnTo>
                  <a:pt x="3280" y="387"/>
                </a:lnTo>
                <a:lnTo>
                  <a:pt x="3280" y="409"/>
                </a:lnTo>
                <a:lnTo>
                  <a:pt x="3280" y="398"/>
                </a:lnTo>
                <a:lnTo>
                  <a:pt x="3280" y="420"/>
                </a:lnTo>
                <a:lnTo>
                  <a:pt x="3278" y="440"/>
                </a:lnTo>
                <a:lnTo>
                  <a:pt x="3275" y="460"/>
                </a:lnTo>
                <a:lnTo>
                  <a:pt x="3272" y="480"/>
                </a:lnTo>
                <a:lnTo>
                  <a:pt x="3268" y="501"/>
                </a:lnTo>
                <a:lnTo>
                  <a:pt x="3262" y="519"/>
                </a:lnTo>
                <a:lnTo>
                  <a:pt x="3255" y="539"/>
                </a:lnTo>
                <a:lnTo>
                  <a:pt x="3248" y="557"/>
                </a:lnTo>
                <a:lnTo>
                  <a:pt x="3241" y="575"/>
                </a:lnTo>
                <a:lnTo>
                  <a:pt x="3231" y="593"/>
                </a:lnTo>
                <a:lnTo>
                  <a:pt x="3221" y="610"/>
                </a:lnTo>
                <a:lnTo>
                  <a:pt x="3211" y="627"/>
                </a:lnTo>
                <a:lnTo>
                  <a:pt x="3199" y="643"/>
                </a:lnTo>
                <a:lnTo>
                  <a:pt x="3187" y="657"/>
                </a:lnTo>
                <a:lnTo>
                  <a:pt x="3175" y="673"/>
                </a:lnTo>
                <a:lnTo>
                  <a:pt x="3160" y="686"/>
                </a:lnTo>
                <a:lnTo>
                  <a:pt x="3147" y="701"/>
                </a:lnTo>
                <a:lnTo>
                  <a:pt x="3131" y="714"/>
                </a:lnTo>
                <a:lnTo>
                  <a:pt x="3117" y="725"/>
                </a:lnTo>
                <a:lnTo>
                  <a:pt x="3101" y="737"/>
                </a:lnTo>
                <a:lnTo>
                  <a:pt x="3084" y="747"/>
                </a:lnTo>
                <a:lnTo>
                  <a:pt x="3067" y="757"/>
                </a:lnTo>
                <a:lnTo>
                  <a:pt x="3049" y="767"/>
                </a:lnTo>
                <a:lnTo>
                  <a:pt x="3031" y="774"/>
                </a:lnTo>
                <a:lnTo>
                  <a:pt x="3013" y="781"/>
                </a:lnTo>
                <a:lnTo>
                  <a:pt x="2993" y="788"/>
                </a:lnTo>
                <a:lnTo>
                  <a:pt x="2975" y="794"/>
                </a:lnTo>
                <a:lnTo>
                  <a:pt x="2954" y="798"/>
                </a:lnTo>
                <a:lnTo>
                  <a:pt x="2934" y="801"/>
                </a:lnTo>
                <a:lnTo>
                  <a:pt x="2914" y="804"/>
                </a:lnTo>
                <a:lnTo>
                  <a:pt x="2894" y="806"/>
                </a:lnTo>
                <a:lnTo>
                  <a:pt x="2872" y="806"/>
                </a:lnTo>
                <a:lnTo>
                  <a:pt x="408" y="806"/>
                </a:lnTo>
                <a:lnTo>
                  <a:pt x="387" y="806"/>
                </a:lnTo>
                <a:lnTo>
                  <a:pt x="367" y="804"/>
                </a:lnTo>
                <a:lnTo>
                  <a:pt x="347" y="801"/>
                </a:lnTo>
                <a:lnTo>
                  <a:pt x="326" y="798"/>
                </a:lnTo>
                <a:lnTo>
                  <a:pt x="306" y="794"/>
                </a:lnTo>
                <a:lnTo>
                  <a:pt x="288" y="788"/>
                </a:lnTo>
                <a:lnTo>
                  <a:pt x="267" y="781"/>
                </a:lnTo>
                <a:lnTo>
                  <a:pt x="250" y="774"/>
                </a:lnTo>
                <a:lnTo>
                  <a:pt x="231" y="767"/>
                </a:lnTo>
                <a:lnTo>
                  <a:pt x="214" y="757"/>
                </a:lnTo>
                <a:lnTo>
                  <a:pt x="197" y="747"/>
                </a:lnTo>
                <a:lnTo>
                  <a:pt x="180" y="737"/>
                </a:lnTo>
                <a:lnTo>
                  <a:pt x="164" y="725"/>
                </a:lnTo>
                <a:lnTo>
                  <a:pt x="149" y="714"/>
                </a:lnTo>
                <a:lnTo>
                  <a:pt x="134" y="701"/>
                </a:lnTo>
                <a:lnTo>
                  <a:pt x="119" y="686"/>
                </a:lnTo>
                <a:lnTo>
                  <a:pt x="106" y="673"/>
                </a:lnTo>
                <a:lnTo>
                  <a:pt x="93" y="657"/>
                </a:lnTo>
                <a:lnTo>
                  <a:pt x="82" y="643"/>
                </a:lnTo>
                <a:lnTo>
                  <a:pt x="70" y="627"/>
                </a:lnTo>
                <a:lnTo>
                  <a:pt x="60" y="610"/>
                </a:lnTo>
                <a:lnTo>
                  <a:pt x="50" y="593"/>
                </a:lnTo>
                <a:lnTo>
                  <a:pt x="40" y="575"/>
                </a:lnTo>
                <a:lnTo>
                  <a:pt x="33" y="557"/>
                </a:lnTo>
                <a:lnTo>
                  <a:pt x="26" y="539"/>
                </a:lnTo>
                <a:lnTo>
                  <a:pt x="19" y="519"/>
                </a:lnTo>
                <a:lnTo>
                  <a:pt x="13" y="501"/>
                </a:lnTo>
                <a:lnTo>
                  <a:pt x="9" y="480"/>
                </a:lnTo>
                <a:lnTo>
                  <a:pt x="6" y="460"/>
                </a:lnTo>
                <a:lnTo>
                  <a:pt x="3" y="440"/>
                </a:lnTo>
                <a:lnTo>
                  <a:pt x="1" y="420"/>
                </a:lnTo>
                <a:lnTo>
                  <a:pt x="0" y="398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E672C0B-00EA-7F3D-E0E2-F3F240B8E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7513" y="4011612"/>
            <a:ext cx="14525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  <a:buClrTx/>
            </a:pPr>
            <a:r>
              <a:rPr kumimoji="0" lang="en-US" sz="1400">
                <a:solidFill>
                  <a:srgbClr val="000000"/>
                </a:solidFill>
                <a:latin typeface="Times New Roman" charset="0"/>
              </a:rPr>
              <a:t>Conditional outputs </a:t>
            </a:r>
            <a:endParaRPr kumimoji="0" lang="en-US" sz="1400">
              <a:latin typeface="Times New Roman" charset="0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9FB98B6-05AA-9AD5-6005-88E261A4831B}"/>
              </a:ext>
            </a:extLst>
          </p:cNvPr>
          <p:cNvSpPr>
            <a:spLocks/>
          </p:cNvSpPr>
          <p:nvPr/>
        </p:nvSpPr>
        <p:spPr bwMode="auto">
          <a:xfrm>
            <a:off x="6218238" y="3717925"/>
            <a:ext cx="46037" cy="138112"/>
          </a:xfrm>
          <a:custGeom>
            <a:avLst/>
            <a:gdLst>
              <a:gd name="T0" fmla="*/ 0 w 57"/>
              <a:gd name="T1" fmla="*/ 0 h 172"/>
              <a:gd name="T2" fmla="*/ 2147483647 w 57"/>
              <a:gd name="T3" fmla="*/ 2147483647 h 172"/>
              <a:gd name="T4" fmla="*/ 2147483647 w 57"/>
              <a:gd name="T5" fmla="*/ 0 h 172"/>
              <a:gd name="T6" fmla="*/ 2147483647 w 57"/>
              <a:gd name="T7" fmla="*/ 0 h 172"/>
              <a:gd name="T8" fmla="*/ 0 w 57"/>
              <a:gd name="T9" fmla="*/ 0 h 1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"/>
              <a:gd name="T16" fmla="*/ 0 h 172"/>
              <a:gd name="T17" fmla="*/ 57 w 57"/>
              <a:gd name="T18" fmla="*/ 172 h 1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" h="172">
                <a:moveTo>
                  <a:pt x="0" y="0"/>
                </a:moveTo>
                <a:lnTo>
                  <a:pt x="29" y="172"/>
                </a:lnTo>
                <a:lnTo>
                  <a:pt x="57" y="0"/>
                </a:lnTo>
                <a:lnTo>
                  <a:pt x="2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Line 7">
            <a:extLst>
              <a:ext uri="{FF2B5EF4-FFF2-40B4-BE49-F238E27FC236}">
                <a16:creationId xmlns:a16="http://schemas.microsoft.com/office/drawing/2014/main" id="{D498D414-F058-0C14-2A5A-FF5469FBE1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2050" y="3421061"/>
            <a:ext cx="0" cy="4873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41E9C97-902E-64F6-7DC1-8B3A02A83FF7}"/>
              </a:ext>
            </a:extLst>
          </p:cNvPr>
          <p:cNvSpPr>
            <a:spLocks/>
          </p:cNvSpPr>
          <p:nvPr/>
        </p:nvSpPr>
        <p:spPr bwMode="auto">
          <a:xfrm>
            <a:off x="6218238" y="5019675"/>
            <a:ext cx="46037" cy="138112"/>
          </a:xfrm>
          <a:custGeom>
            <a:avLst/>
            <a:gdLst>
              <a:gd name="T0" fmla="*/ 0 w 57"/>
              <a:gd name="T1" fmla="*/ 0 h 173"/>
              <a:gd name="T2" fmla="*/ 2147483647 w 57"/>
              <a:gd name="T3" fmla="*/ 2147483647 h 173"/>
              <a:gd name="T4" fmla="*/ 2147483647 w 57"/>
              <a:gd name="T5" fmla="*/ 0 h 173"/>
              <a:gd name="T6" fmla="*/ 2147483647 w 57"/>
              <a:gd name="T7" fmla="*/ 0 h 173"/>
              <a:gd name="T8" fmla="*/ 0 w 57"/>
              <a:gd name="T9" fmla="*/ 0 h 1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"/>
              <a:gd name="T16" fmla="*/ 0 h 173"/>
              <a:gd name="T17" fmla="*/ 57 w 57"/>
              <a:gd name="T18" fmla="*/ 173 h 1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" h="173">
                <a:moveTo>
                  <a:pt x="0" y="0"/>
                </a:moveTo>
                <a:lnTo>
                  <a:pt x="29" y="173"/>
                </a:lnTo>
                <a:lnTo>
                  <a:pt x="57" y="0"/>
                </a:lnTo>
                <a:lnTo>
                  <a:pt x="2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E02AE89B-6341-AB0E-BE91-A1E0E2D600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2050" y="4540250"/>
            <a:ext cx="1588" cy="4794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74253F7C-7EAA-63B2-8B7C-B284B6D97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9875" y="4227512"/>
            <a:ext cx="1709738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  <a:buClrTx/>
            </a:pPr>
            <a:r>
              <a:rPr kumimoji="0" lang="en-US" sz="1400">
                <a:solidFill>
                  <a:srgbClr val="000000"/>
                </a:solidFill>
                <a:latin typeface="Times New Roman" charset="0"/>
              </a:rPr>
              <a:t>or actions (Mealy type) </a:t>
            </a:r>
            <a:endParaRPr kumimoji="0" lang="en-US" sz="14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3016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ASM: Moore FSM Example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916353"/>
            <a:ext cx="109542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ASMs can model both Mealy and Moore FSMs.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also model machines that are of mix type.</a:t>
            </a:r>
          </a:p>
        </p:txBody>
      </p:sp>
      <p:grpSp>
        <p:nvGrpSpPr>
          <p:cNvPr id="11" name="Group 3">
            <a:extLst>
              <a:ext uri="{FF2B5EF4-FFF2-40B4-BE49-F238E27FC236}">
                <a16:creationId xmlns:a16="http://schemas.microsoft.com/office/drawing/2014/main" id="{778BDB0A-2359-62DD-6541-E69FBF61D521}"/>
              </a:ext>
            </a:extLst>
          </p:cNvPr>
          <p:cNvGrpSpPr>
            <a:grpSpLocks/>
          </p:cNvGrpSpPr>
          <p:nvPr/>
        </p:nvGrpSpPr>
        <p:grpSpPr bwMode="auto">
          <a:xfrm>
            <a:off x="3142024" y="1932016"/>
            <a:ext cx="5328111" cy="4441466"/>
            <a:chOff x="1392" y="722"/>
            <a:chExt cx="3008" cy="2672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D3ADC5D1-AD09-AA61-6B90-FD3032F8A0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8" y="1525"/>
              <a:ext cx="72" cy="72"/>
            </a:xfrm>
            <a:custGeom>
              <a:avLst/>
              <a:gdLst>
                <a:gd name="T0" fmla="*/ 0 w 145"/>
                <a:gd name="T1" fmla="*/ 1 h 144"/>
                <a:gd name="T2" fmla="*/ 0 w 145"/>
                <a:gd name="T3" fmla="*/ 0 h 144"/>
                <a:gd name="T4" fmla="*/ 0 w 145"/>
                <a:gd name="T5" fmla="*/ 1 h 144"/>
                <a:gd name="T6" fmla="*/ 0 w 145"/>
                <a:gd name="T7" fmla="*/ 1 h 144"/>
                <a:gd name="T8" fmla="*/ 0 w 145"/>
                <a:gd name="T9" fmla="*/ 1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5"/>
                <a:gd name="T16" fmla="*/ 0 h 144"/>
                <a:gd name="T17" fmla="*/ 145 w 145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5" h="144">
                  <a:moveTo>
                    <a:pt x="58" y="144"/>
                  </a:moveTo>
                  <a:lnTo>
                    <a:pt x="145" y="0"/>
                  </a:lnTo>
                  <a:lnTo>
                    <a:pt x="0" y="86"/>
                  </a:lnTo>
                  <a:lnTo>
                    <a:pt x="29" y="115"/>
                  </a:lnTo>
                  <a:lnTo>
                    <a:pt x="58" y="144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3C63A77-8D6C-8436-D59F-3DB9A4FB5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1209"/>
              <a:ext cx="418" cy="404"/>
            </a:xfrm>
            <a:custGeom>
              <a:avLst/>
              <a:gdLst>
                <a:gd name="T0" fmla="*/ 0 w 837"/>
                <a:gd name="T1" fmla="*/ 0 h 809"/>
                <a:gd name="T2" fmla="*/ 0 w 837"/>
                <a:gd name="T3" fmla="*/ 0 h 809"/>
                <a:gd name="T4" fmla="*/ 0 w 837"/>
                <a:gd name="T5" fmla="*/ 0 h 809"/>
                <a:gd name="T6" fmla="*/ 0 w 837"/>
                <a:gd name="T7" fmla="*/ 0 h 809"/>
                <a:gd name="T8" fmla="*/ 0 w 837"/>
                <a:gd name="T9" fmla="*/ 0 h 809"/>
                <a:gd name="T10" fmla="*/ 0 w 837"/>
                <a:gd name="T11" fmla="*/ 0 h 809"/>
                <a:gd name="T12" fmla="*/ 0 w 837"/>
                <a:gd name="T13" fmla="*/ 0 h 809"/>
                <a:gd name="T14" fmla="*/ 0 w 837"/>
                <a:gd name="T15" fmla="*/ 0 h 809"/>
                <a:gd name="T16" fmla="*/ 0 w 837"/>
                <a:gd name="T17" fmla="*/ 0 h 809"/>
                <a:gd name="T18" fmla="*/ 0 w 837"/>
                <a:gd name="T19" fmla="*/ 0 h 809"/>
                <a:gd name="T20" fmla="*/ 0 w 837"/>
                <a:gd name="T21" fmla="*/ 0 h 809"/>
                <a:gd name="T22" fmla="*/ 0 w 837"/>
                <a:gd name="T23" fmla="*/ 0 h 809"/>
                <a:gd name="T24" fmla="*/ 0 w 837"/>
                <a:gd name="T25" fmla="*/ 0 h 809"/>
                <a:gd name="T26" fmla="*/ 0 w 837"/>
                <a:gd name="T27" fmla="*/ 0 h 809"/>
                <a:gd name="T28" fmla="*/ 0 w 837"/>
                <a:gd name="T29" fmla="*/ 0 h 809"/>
                <a:gd name="T30" fmla="*/ 0 w 837"/>
                <a:gd name="T31" fmla="*/ 0 h 809"/>
                <a:gd name="T32" fmla="*/ 0 w 837"/>
                <a:gd name="T33" fmla="*/ 0 h 809"/>
                <a:gd name="T34" fmla="*/ 0 w 837"/>
                <a:gd name="T35" fmla="*/ 0 h 809"/>
                <a:gd name="T36" fmla="*/ 0 w 837"/>
                <a:gd name="T37" fmla="*/ 0 h 809"/>
                <a:gd name="T38" fmla="*/ 0 w 837"/>
                <a:gd name="T39" fmla="*/ 0 h 809"/>
                <a:gd name="T40" fmla="*/ 0 w 837"/>
                <a:gd name="T41" fmla="*/ 0 h 809"/>
                <a:gd name="T42" fmla="*/ 0 w 837"/>
                <a:gd name="T43" fmla="*/ 0 h 809"/>
                <a:gd name="T44" fmla="*/ 0 w 837"/>
                <a:gd name="T45" fmla="*/ 0 h 809"/>
                <a:gd name="T46" fmla="*/ 0 w 837"/>
                <a:gd name="T47" fmla="*/ 0 h 809"/>
                <a:gd name="T48" fmla="*/ 0 w 837"/>
                <a:gd name="T49" fmla="*/ 0 h 809"/>
                <a:gd name="T50" fmla="*/ 0 w 837"/>
                <a:gd name="T51" fmla="*/ 0 h 809"/>
                <a:gd name="T52" fmla="*/ 0 w 837"/>
                <a:gd name="T53" fmla="*/ 0 h 809"/>
                <a:gd name="T54" fmla="*/ 0 w 837"/>
                <a:gd name="T55" fmla="*/ 0 h 809"/>
                <a:gd name="T56" fmla="*/ 0 w 837"/>
                <a:gd name="T57" fmla="*/ 0 h 809"/>
                <a:gd name="T58" fmla="*/ 0 w 837"/>
                <a:gd name="T59" fmla="*/ 0 h 809"/>
                <a:gd name="T60" fmla="*/ 0 w 837"/>
                <a:gd name="T61" fmla="*/ 0 h 809"/>
                <a:gd name="T62" fmla="*/ 0 w 837"/>
                <a:gd name="T63" fmla="*/ 0 h 809"/>
                <a:gd name="T64" fmla="*/ 0 w 837"/>
                <a:gd name="T65" fmla="*/ 0 h 809"/>
                <a:gd name="T66" fmla="*/ 0 w 837"/>
                <a:gd name="T67" fmla="*/ 0 h 809"/>
                <a:gd name="T68" fmla="*/ 0 w 837"/>
                <a:gd name="T69" fmla="*/ 0 h 809"/>
                <a:gd name="T70" fmla="*/ 0 w 837"/>
                <a:gd name="T71" fmla="*/ 0 h 809"/>
                <a:gd name="T72" fmla="*/ 0 w 837"/>
                <a:gd name="T73" fmla="*/ 0 h 809"/>
                <a:gd name="T74" fmla="*/ 0 w 837"/>
                <a:gd name="T75" fmla="*/ 0 h 809"/>
                <a:gd name="T76" fmla="*/ 0 w 837"/>
                <a:gd name="T77" fmla="*/ 0 h 809"/>
                <a:gd name="T78" fmla="*/ 0 w 837"/>
                <a:gd name="T79" fmla="*/ 0 h 809"/>
                <a:gd name="T80" fmla="*/ 0 w 837"/>
                <a:gd name="T81" fmla="*/ 0 h 809"/>
                <a:gd name="T82" fmla="*/ 0 w 837"/>
                <a:gd name="T83" fmla="*/ 0 h 809"/>
                <a:gd name="T84" fmla="*/ 0 w 837"/>
                <a:gd name="T85" fmla="*/ 0 h 809"/>
                <a:gd name="T86" fmla="*/ 0 w 837"/>
                <a:gd name="T87" fmla="*/ 0 h 809"/>
                <a:gd name="T88" fmla="*/ 0 w 837"/>
                <a:gd name="T89" fmla="*/ 0 h 809"/>
                <a:gd name="T90" fmla="*/ 0 w 837"/>
                <a:gd name="T91" fmla="*/ 0 h 809"/>
                <a:gd name="T92" fmla="*/ 0 w 837"/>
                <a:gd name="T93" fmla="*/ 0 h 809"/>
                <a:gd name="T94" fmla="*/ 0 w 837"/>
                <a:gd name="T95" fmla="*/ 0 h 809"/>
                <a:gd name="T96" fmla="*/ 0 w 837"/>
                <a:gd name="T97" fmla="*/ 0 h 809"/>
                <a:gd name="T98" fmla="*/ 0 w 837"/>
                <a:gd name="T99" fmla="*/ 0 h 809"/>
                <a:gd name="T100" fmla="*/ 0 w 837"/>
                <a:gd name="T101" fmla="*/ 0 h 809"/>
                <a:gd name="T102" fmla="*/ 0 w 837"/>
                <a:gd name="T103" fmla="*/ 0 h 809"/>
                <a:gd name="T104" fmla="*/ 0 w 837"/>
                <a:gd name="T105" fmla="*/ 0 h 809"/>
                <a:gd name="T106" fmla="*/ 0 w 837"/>
                <a:gd name="T107" fmla="*/ 0 h 809"/>
                <a:gd name="T108" fmla="*/ 0 w 837"/>
                <a:gd name="T109" fmla="*/ 0 h 809"/>
                <a:gd name="T110" fmla="*/ 0 w 837"/>
                <a:gd name="T111" fmla="*/ 0 h 809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837"/>
                <a:gd name="T169" fmla="*/ 0 h 809"/>
                <a:gd name="T170" fmla="*/ 837 w 837"/>
                <a:gd name="T171" fmla="*/ 809 h 809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837" h="809">
                  <a:moveTo>
                    <a:pt x="0" y="400"/>
                  </a:moveTo>
                  <a:lnTo>
                    <a:pt x="0" y="410"/>
                  </a:lnTo>
                  <a:lnTo>
                    <a:pt x="2" y="389"/>
                  </a:lnTo>
                  <a:lnTo>
                    <a:pt x="3" y="368"/>
                  </a:lnTo>
                  <a:lnTo>
                    <a:pt x="6" y="347"/>
                  </a:lnTo>
                  <a:lnTo>
                    <a:pt x="9" y="328"/>
                  </a:lnTo>
                  <a:lnTo>
                    <a:pt x="13" y="308"/>
                  </a:lnTo>
                  <a:lnTo>
                    <a:pt x="19" y="288"/>
                  </a:lnTo>
                  <a:lnTo>
                    <a:pt x="26" y="269"/>
                  </a:lnTo>
                  <a:lnTo>
                    <a:pt x="33" y="250"/>
                  </a:lnTo>
                  <a:lnTo>
                    <a:pt x="41" y="233"/>
                  </a:lnTo>
                  <a:lnTo>
                    <a:pt x="51" y="215"/>
                  </a:lnTo>
                  <a:lnTo>
                    <a:pt x="61" y="198"/>
                  </a:lnTo>
                  <a:lnTo>
                    <a:pt x="71" y="181"/>
                  </a:lnTo>
                  <a:lnTo>
                    <a:pt x="82" y="165"/>
                  </a:lnTo>
                  <a:lnTo>
                    <a:pt x="94" y="149"/>
                  </a:lnTo>
                  <a:lnTo>
                    <a:pt x="107" y="135"/>
                  </a:lnTo>
                  <a:lnTo>
                    <a:pt x="120" y="120"/>
                  </a:lnTo>
                  <a:lnTo>
                    <a:pt x="134" y="107"/>
                  </a:lnTo>
                  <a:lnTo>
                    <a:pt x="150" y="94"/>
                  </a:lnTo>
                  <a:lnTo>
                    <a:pt x="165" y="83"/>
                  </a:lnTo>
                  <a:lnTo>
                    <a:pt x="181" y="71"/>
                  </a:lnTo>
                  <a:lnTo>
                    <a:pt x="198" y="59"/>
                  </a:lnTo>
                  <a:lnTo>
                    <a:pt x="215" y="49"/>
                  </a:lnTo>
                  <a:lnTo>
                    <a:pt x="233" y="41"/>
                  </a:lnTo>
                  <a:lnTo>
                    <a:pt x="251" y="32"/>
                  </a:lnTo>
                  <a:lnTo>
                    <a:pt x="269" y="25"/>
                  </a:lnTo>
                  <a:lnTo>
                    <a:pt x="289" y="19"/>
                  </a:lnTo>
                  <a:lnTo>
                    <a:pt x="308" y="13"/>
                  </a:lnTo>
                  <a:lnTo>
                    <a:pt x="328" y="9"/>
                  </a:lnTo>
                  <a:lnTo>
                    <a:pt x="348" y="5"/>
                  </a:lnTo>
                  <a:lnTo>
                    <a:pt x="368" y="3"/>
                  </a:lnTo>
                  <a:lnTo>
                    <a:pt x="389" y="2"/>
                  </a:lnTo>
                  <a:lnTo>
                    <a:pt x="410" y="0"/>
                  </a:lnTo>
                  <a:lnTo>
                    <a:pt x="429" y="0"/>
                  </a:lnTo>
                  <a:lnTo>
                    <a:pt x="451" y="2"/>
                  </a:lnTo>
                  <a:lnTo>
                    <a:pt x="471" y="3"/>
                  </a:lnTo>
                  <a:lnTo>
                    <a:pt x="491" y="5"/>
                  </a:lnTo>
                  <a:lnTo>
                    <a:pt x="511" y="9"/>
                  </a:lnTo>
                  <a:lnTo>
                    <a:pt x="531" y="13"/>
                  </a:lnTo>
                  <a:lnTo>
                    <a:pt x="550" y="19"/>
                  </a:lnTo>
                  <a:lnTo>
                    <a:pt x="570" y="25"/>
                  </a:lnTo>
                  <a:lnTo>
                    <a:pt x="588" y="32"/>
                  </a:lnTo>
                  <a:lnTo>
                    <a:pt x="606" y="41"/>
                  </a:lnTo>
                  <a:lnTo>
                    <a:pt x="624" y="49"/>
                  </a:lnTo>
                  <a:lnTo>
                    <a:pt x="641" y="59"/>
                  </a:lnTo>
                  <a:lnTo>
                    <a:pt x="658" y="71"/>
                  </a:lnTo>
                  <a:lnTo>
                    <a:pt x="674" y="83"/>
                  </a:lnTo>
                  <a:lnTo>
                    <a:pt x="689" y="94"/>
                  </a:lnTo>
                  <a:lnTo>
                    <a:pt x="705" y="107"/>
                  </a:lnTo>
                  <a:lnTo>
                    <a:pt x="718" y="120"/>
                  </a:lnTo>
                  <a:lnTo>
                    <a:pt x="732" y="135"/>
                  </a:lnTo>
                  <a:lnTo>
                    <a:pt x="745" y="149"/>
                  </a:lnTo>
                  <a:lnTo>
                    <a:pt x="757" y="165"/>
                  </a:lnTo>
                  <a:lnTo>
                    <a:pt x="768" y="181"/>
                  </a:lnTo>
                  <a:lnTo>
                    <a:pt x="778" y="198"/>
                  </a:lnTo>
                  <a:lnTo>
                    <a:pt x="788" y="215"/>
                  </a:lnTo>
                  <a:lnTo>
                    <a:pt x="798" y="233"/>
                  </a:lnTo>
                  <a:lnTo>
                    <a:pt x="806" y="250"/>
                  </a:lnTo>
                  <a:lnTo>
                    <a:pt x="813" y="269"/>
                  </a:lnTo>
                  <a:lnTo>
                    <a:pt x="820" y="288"/>
                  </a:lnTo>
                  <a:lnTo>
                    <a:pt x="826" y="308"/>
                  </a:lnTo>
                  <a:lnTo>
                    <a:pt x="830" y="328"/>
                  </a:lnTo>
                  <a:lnTo>
                    <a:pt x="833" y="347"/>
                  </a:lnTo>
                  <a:lnTo>
                    <a:pt x="836" y="368"/>
                  </a:lnTo>
                  <a:lnTo>
                    <a:pt x="837" y="389"/>
                  </a:lnTo>
                  <a:lnTo>
                    <a:pt x="837" y="410"/>
                  </a:lnTo>
                  <a:lnTo>
                    <a:pt x="837" y="400"/>
                  </a:lnTo>
                  <a:lnTo>
                    <a:pt x="837" y="420"/>
                  </a:lnTo>
                  <a:lnTo>
                    <a:pt x="836" y="442"/>
                  </a:lnTo>
                  <a:lnTo>
                    <a:pt x="833" y="462"/>
                  </a:lnTo>
                  <a:lnTo>
                    <a:pt x="830" y="483"/>
                  </a:lnTo>
                  <a:lnTo>
                    <a:pt x="826" y="503"/>
                  </a:lnTo>
                  <a:lnTo>
                    <a:pt x="820" y="521"/>
                  </a:lnTo>
                  <a:lnTo>
                    <a:pt x="813" y="540"/>
                  </a:lnTo>
                  <a:lnTo>
                    <a:pt x="806" y="559"/>
                  </a:lnTo>
                  <a:lnTo>
                    <a:pt x="798" y="578"/>
                  </a:lnTo>
                  <a:lnTo>
                    <a:pt x="788" y="595"/>
                  </a:lnTo>
                  <a:lnTo>
                    <a:pt x="778" y="612"/>
                  </a:lnTo>
                  <a:lnTo>
                    <a:pt x="768" y="628"/>
                  </a:lnTo>
                  <a:lnTo>
                    <a:pt x="757" y="644"/>
                  </a:lnTo>
                  <a:lnTo>
                    <a:pt x="745" y="660"/>
                  </a:lnTo>
                  <a:lnTo>
                    <a:pt x="732" y="675"/>
                  </a:lnTo>
                  <a:lnTo>
                    <a:pt x="718" y="689"/>
                  </a:lnTo>
                  <a:lnTo>
                    <a:pt x="705" y="703"/>
                  </a:lnTo>
                  <a:lnTo>
                    <a:pt x="689" y="716"/>
                  </a:lnTo>
                  <a:lnTo>
                    <a:pt x="674" y="728"/>
                  </a:lnTo>
                  <a:lnTo>
                    <a:pt x="658" y="740"/>
                  </a:lnTo>
                  <a:lnTo>
                    <a:pt x="641" y="750"/>
                  </a:lnTo>
                  <a:lnTo>
                    <a:pt x="624" y="760"/>
                  </a:lnTo>
                  <a:lnTo>
                    <a:pt x="606" y="768"/>
                  </a:lnTo>
                  <a:lnTo>
                    <a:pt x="588" y="777"/>
                  </a:lnTo>
                  <a:lnTo>
                    <a:pt x="570" y="784"/>
                  </a:lnTo>
                  <a:lnTo>
                    <a:pt x="550" y="790"/>
                  </a:lnTo>
                  <a:lnTo>
                    <a:pt x="531" y="796"/>
                  </a:lnTo>
                  <a:lnTo>
                    <a:pt x="511" y="800"/>
                  </a:lnTo>
                  <a:lnTo>
                    <a:pt x="491" y="805"/>
                  </a:lnTo>
                  <a:lnTo>
                    <a:pt x="471" y="807"/>
                  </a:lnTo>
                  <a:lnTo>
                    <a:pt x="451" y="809"/>
                  </a:lnTo>
                  <a:lnTo>
                    <a:pt x="429" y="809"/>
                  </a:lnTo>
                  <a:lnTo>
                    <a:pt x="410" y="809"/>
                  </a:lnTo>
                  <a:lnTo>
                    <a:pt x="389" y="809"/>
                  </a:lnTo>
                  <a:lnTo>
                    <a:pt x="368" y="807"/>
                  </a:lnTo>
                  <a:lnTo>
                    <a:pt x="348" y="805"/>
                  </a:lnTo>
                  <a:lnTo>
                    <a:pt x="328" y="800"/>
                  </a:lnTo>
                  <a:lnTo>
                    <a:pt x="308" y="796"/>
                  </a:lnTo>
                  <a:lnTo>
                    <a:pt x="289" y="790"/>
                  </a:lnTo>
                  <a:lnTo>
                    <a:pt x="269" y="784"/>
                  </a:lnTo>
                  <a:lnTo>
                    <a:pt x="251" y="777"/>
                  </a:lnTo>
                  <a:lnTo>
                    <a:pt x="233" y="768"/>
                  </a:lnTo>
                  <a:lnTo>
                    <a:pt x="215" y="760"/>
                  </a:lnTo>
                  <a:lnTo>
                    <a:pt x="198" y="750"/>
                  </a:lnTo>
                  <a:lnTo>
                    <a:pt x="181" y="740"/>
                  </a:lnTo>
                  <a:lnTo>
                    <a:pt x="165" y="728"/>
                  </a:lnTo>
                  <a:lnTo>
                    <a:pt x="150" y="716"/>
                  </a:lnTo>
                  <a:lnTo>
                    <a:pt x="134" y="703"/>
                  </a:lnTo>
                  <a:lnTo>
                    <a:pt x="120" y="689"/>
                  </a:lnTo>
                  <a:lnTo>
                    <a:pt x="107" y="675"/>
                  </a:lnTo>
                  <a:lnTo>
                    <a:pt x="94" y="660"/>
                  </a:lnTo>
                  <a:lnTo>
                    <a:pt x="82" y="644"/>
                  </a:lnTo>
                  <a:lnTo>
                    <a:pt x="71" y="628"/>
                  </a:lnTo>
                  <a:lnTo>
                    <a:pt x="61" y="612"/>
                  </a:lnTo>
                  <a:lnTo>
                    <a:pt x="51" y="595"/>
                  </a:lnTo>
                  <a:lnTo>
                    <a:pt x="41" y="578"/>
                  </a:lnTo>
                  <a:lnTo>
                    <a:pt x="33" y="559"/>
                  </a:lnTo>
                  <a:lnTo>
                    <a:pt x="26" y="540"/>
                  </a:lnTo>
                  <a:lnTo>
                    <a:pt x="19" y="521"/>
                  </a:lnTo>
                  <a:lnTo>
                    <a:pt x="13" y="503"/>
                  </a:lnTo>
                  <a:lnTo>
                    <a:pt x="9" y="483"/>
                  </a:lnTo>
                  <a:lnTo>
                    <a:pt x="6" y="462"/>
                  </a:lnTo>
                  <a:lnTo>
                    <a:pt x="3" y="442"/>
                  </a:lnTo>
                  <a:lnTo>
                    <a:pt x="2" y="420"/>
                  </a:lnTo>
                  <a:lnTo>
                    <a:pt x="0" y="400"/>
                  </a:lnTo>
                  <a:close/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EED8297D-3A01-D733-32BC-50BC3A8A4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5" y="2848"/>
              <a:ext cx="72" cy="72"/>
            </a:xfrm>
            <a:custGeom>
              <a:avLst/>
              <a:gdLst>
                <a:gd name="T0" fmla="*/ 1 w 144"/>
                <a:gd name="T1" fmla="*/ 1 h 144"/>
                <a:gd name="T2" fmla="*/ 1 w 144"/>
                <a:gd name="T3" fmla="*/ 0 h 144"/>
                <a:gd name="T4" fmla="*/ 0 w 144"/>
                <a:gd name="T5" fmla="*/ 1 h 144"/>
                <a:gd name="T6" fmla="*/ 1 w 144"/>
                <a:gd name="T7" fmla="*/ 1 h 144"/>
                <a:gd name="T8" fmla="*/ 1 w 144"/>
                <a:gd name="T9" fmla="*/ 1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"/>
                <a:gd name="T16" fmla="*/ 0 h 144"/>
                <a:gd name="T17" fmla="*/ 144 w 144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" h="144">
                  <a:moveTo>
                    <a:pt x="57" y="144"/>
                  </a:moveTo>
                  <a:lnTo>
                    <a:pt x="144" y="0"/>
                  </a:lnTo>
                  <a:lnTo>
                    <a:pt x="0" y="86"/>
                  </a:lnTo>
                  <a:lnTo>
                    <a:pt x="29" y="115"/>
                  </a:lnTo>
                  <a:lnTo>
                    <a:pt x="57" y="144"/>
                  </a:lnTo>
                  <a:close/>
                </a:path>
              </a:pathLst>
            </a:custGeom>
            <a:solidFill>
              <a:srgbClr val="0000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A35E7234-1774-7C4D-C6B4-316D03E9F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9" y="2811"/>
              <a:ext cx="404" cy="405"/>
            </a:xfrm>
            <a:custGeom>
              <a:avLst/>
              <a:gdLst>
                <a:gd name="T0" fmla="*/ 1 w 808"/>
                <a:gd name="T1" fmla="*/ 1 h 808"/>
                <a:gd name="T2" fmla="*/ 1 w 808"/>
                <a:gd name="T3" fmla="*/ 1 h 808"/>
                <a:gd name="T4" fmla="*/ 1 w 808"/>
                <a:gd name="T5" fmla="*/ 1 h 808"/>
                <a:gd name="T6" fmla="*/ 1 w 808"/>
                <a:gd name="T7" fmla="*/ 1 h 808"/>
                <a:gd name="T8" fmla="*/ 1 w 808"/>
                <a:gd name="T9" fmla="*/ 1 h 808"/>
                <a:gd name="T10" fmla="*/ 1 w 808"/>
                <a:gd name="T11" fmla="*/ 1 h 808"/>
                <a:gd name="T12" fmla="*/ 1 w 808"/>
                <a:gd name="T13" fmla="*/ 1 h 808"/>
                <a:gd name="T14" fmla="*/ 1 w 808"/>
                <a:gd name="T15" fmla="*/ 1 h 808"/>
                <a:gd name="T16" fmla="*/ 1 w 808"/>
                <a:gd name="T17" fmla="*/ 1 h 808"/>
                <a:gd name="T18" fmla="*/ 1 w 808"/>
                <a:gd name="T19" fmla="*/ 1 h 808"/>
                <a:gd name="T20" fmla="*/ 1 w 808"/>
                <a:gd name="T21" fmla="*/ 1 h 808"/>
                <a:gd name="T22" fmla="*/ 1 w 808"/>
                <a:gd name="T23" fmla="*/ 0 h 808"/>
                <a:gd name="T24" fmla="*/ 1 w 808"/>
                <a:gd name="T25" fmla="*/ 1 h 808"/>
                <a:gd name="T26" fmla="*/ 1 w 808"/>
                <a:gd name="T27" fmla="*/ 1 h 808"/>
                <a:gd name="T28" fmla="*/ 1 w 808"/>
                <a:gd name="T29" fmla="*/ 1 h 808"/>
                <a:gd name="T30" fmla="*/ 1 w 808"/>
                <a:gd name="T31" fmla="*/ 1 h 808"/>
                <a:gd name="T32" fmla="*/ 1 w 808"/>
                <a:gd name="T33" fmla="*/ 1 h 808"/>
                <a:gd name="T34" fmla="*/ 1 w 808"/>
                <a:gd name="T35" fmla="*/ 1 h 808"/>
                <a:gd name="T36" fmla="*/ 1 w 808"/>
                <a:gd name="T37" fmla="*/ 1 h 808"/>
                <a:gd name="T38" fmla="*/ 1 w 808"/>
                <a:gd name="T39" fmla="*/ 1 h 808"/>
                <a:gd name="T40" fmla="*/ 1 w 808"/>
                <a:gd name="T41" fmla="*/ 1 h 808"/>
                <a:gd name="T42" fmla="*/ 1 w 808"/>
                <a:gd name="T43" fmla="*/ 1 h 808"/>
                <a:gd name="T44" fmla="*/ 1 w 808"/>
                <a:gd name="T45" fmla="*/ 1 h 808"/>
                <a:gd name="T46" fmla="*/ 1 w 808"/>
                <a:gd name="T47" fmla="*/ 1 h 808"/>
                <a:gd name="T48" fmla="*/ 1 w 808"/>
                <a:gd name="T49" fmla="*/ 1 h 808"/>
                <a:gd name="T50" fmla="*/ 1 w 808"/>
                <a:gd name="T51" fmla="*/ 1 h 808"/>
                <a:gd name="T52" fmla="*/ 1 w 808"/>
                <a:gd name="T53" fmla="*/ 1 h 808"/>
                <a:gd name="T54" fmla="*/ 1 w 808"/>
                <a:gd name="T55" fmla="*/ 1 h 808"/>
                <a:gd name="T56" fmla="*/ 1 w 808"/>
                <a:gd name="T57" fmla="*/ 1 h 808"/>
                <a:gd name="T58" fmla="*/ 1 w 808"/>
                <a:gd name="T59" fmla="*/ 1 h 808"/>
                <a:gd name="T60" fmla="*/ 1 w 808"/>
                <a:gd name="T61" fmla="*/ 1 h 808"/>
                <a:gd name="T62" fmla="*/ 1 w 808"/>
                <a:gd name="T63" fmla="*/ 1 h 808"/>
                <a:gd name="T64" fmla="*/ 1 w 808"/>
                <a:gd name="T65" fmla="*/ 1 h 808"/>
                <a:gd name="T66" fmla="*/ 1 w 808"/>
                <a:gd name="T67" fmla="*/ 1 h 808"/>
                <a:gd name="T68" fmla="*/ 1 w 808"/>
                <a:gd name="T69" fmla="*/ 1 h 808"/>
                <a:gd name="T70" fmla="*/ 1 w 808"/>
                <a:gd name="T71" fmla="*/ 1 h 808"/>
                <a:gd name="T72" fmla="*/ 1 w 808"/>
                <a:gd name="T73" fmla="*/ 1 h 808"/>
                <a:gd name="T74" fmla="*/ 1 w 808"/>
                <a:gd name="T75" fmla="*/ 1 h 808"/>
                <a:gd name="T76" fmla="*/ 1 w 808"/>
                <a:gd name="T77" fmla="*/ 1 h 808"/>
                <a:gd name="T78" fmla="*/ 1 w 808"/>
                <a:gd name="T79" fmla="*/ 1 h 808"/>
                <a:gd name="T80" fmla="*/ 1 w 808"/>
                <a:gd name="T81" fmla="*/ 1 h 808"/>
                <a:gd name="T82" fmla="*/ 1 w 808"/>
                <a:gd name="T83" fmla="*/ 1 h 808"/>
                <a:gd name="T84" fmla="*/ 1 w 808"/>
                <a:gd name="T85" fmla="*/ 1 h 808"/>
                <a:gd name="T86" fmla="*/ 1 w 808"/>
                <a:gd name="T87" fmla="*/ 1 h 808"/>
                <a:gd name="T88" fmla="*/ 1 w 808"/>
                <a:gd name="T89" fmla="*/ 1 h 808"/>
                <a:gd name="T90" fmla="*/ 1 w 808"/>
                <a:gd name="T91" fmla="*/ 1 h 808"/>
                <a:gd name="T92" fmla="*/ 1 w 808"/>
                <a:gd name="T93" fmla="*/ 1 h 808"/>
                <a:gd name="T94" fmla="*/ 1 w 808"/>
                <a:gd name="T95" fmla="*/ 1 h 808"/>
                <a:gd name="T96" fmla="*/ 1 w 808"/>
                <a:gd name="T97" fmla="*/ 1 h 808"/>
                <a:gd name="T98" fmla="*/ 1 w 808"/>
                <a:gd name="T99" fmla="*/ 1 h 808"/>
                <a:gd name="T100" fmla="*/ 1 w 808"/>
                <a:gd name="T101" fmla="*/ 1 h 808"/>
                <a:gd name="T102" fmla="*/ 1 w 808"/>
                <a:gd name="T103" fmla="*/ 1 h 808"/>
                <a:gd name="T104" fmla="*/ 1 w 808"/>
                <a:gd name="T105" fmla="*/ 1 h 808"/>
                <a:gd name="T106" fmla="*/ 1 w 808"/>
                <a:gd name="T107" fmla="*/ 1 h 808"/>
                <a:gd name="T108" fmla="*/ 1 w 808"/>
                <a:gd name="T109" fmla="*/ 1 h 808"/>
                <a:gd name="T110" fmla="*/ 1 w 808"/>
                <a:gd name="T111" fmla="*/ 1 h 80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808"/>
                <a:gd name="T169" fmla="*/ 0 h 808"/>
                <a:gd name="T170" fmla="*/ 808 w 808"/>
                <a:gd name="T171" fmla="*/ 808 h 808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808" h="808">
                  <a:moveTo>
                    <a:pt x="0" y="400"/>
                  </a:moveTo>
                  <a:lnTo>
                    <a:pt x="0" y="410"/>
                  </a:lnTo>
                  <a:lnTo>
                    <a:pt x="1" y="388"/>
                  </a:lnTo>
                  <a:lnTo>
                    <a:pt x="3" y="368"/>
                  </a:lnTo>
                  <a:lnTo>
                    <a:pt x="6" y="346"/>
                  </a:lnTo>
                  <a:lnTo>
                    <a:pt x="8" y="328"/>
                  </a:lnTo>
                  <a:lnTo>
                    <a:pt x="13" y="307"/>
                  </a:lnTo>
                  <a:lnTo>
                    <a:pt x="19" y="287"/>
                  </a:lnTo>
                  <a:lnTo>
                    <a:pt x="26" y="268"/>
                  </a:lnTo>
                  <a:lnTo>
                    <a:pt x="33" y="250"/>
                  </a:lnTo>
                  <a:lnTo>
                    <a:pt x="40" y="232"/>
                  </a:lnTo>
                  <a:lnTo>
                    <a:pt x="50" y="215"/>
                  </a:lnTo>
                  <a:lnTo>
                    <a:pt x="60" y="198"/>
                  </a:lnTo>
                  <a:lnTo>
                    <a:pt x="70" y="180"/>
                  </a:lnTo>
                  <a:lnTo>
                    <a:pt x="82" y="164"/>
                  </a:lnTo>
                  <a:lnTo>
                    <a:pt x="94" y="149"/>
                  </a:lnTo>
                  <a:lnTo>
                    <a:pt x="107" y="134"/>
                  </a:lnTo>
                  <a:lnTo>
                    <a:pt x="120" y="120"/>
                  </a:lnTo>
                  <a:lnTo>
                    <a:pt x="134" y="107"/>
                  </a:lnTo>
                  <a:lnTo>
                    <a:pt x="150" y="94"/>
                  </a:lnTo>
                  <a:lnTo>
                    <a:pt x="164" y="82"/>
                  </a:lnTo>
                  <a:lnTo>
                    <a:pt x="180" y="71"/>
                  </a:lnTo>
                  <a:lnTo>
                    <a:pt x="198" y="59"/>
                  </a:lnTo>
                  <a:lnTo>
                    <a:pt x="215" y="49"/>
                  </a:lnTo>
                  <a:lnTo>
                    <a:pt x="232" y="40"/>
                  </a:lnTo>
                  <a:lnTo>
                    <a:pt x="251" y="32"/>
                  </a:lnTo>
                  <a:lnTo>
                    <a:pt x="268" y="24"/>
                  </a:lnTo>
                  <a:lnTo>
                    <a:pt x="288" y="19"/>
                  </a:lnTo>
                  <a:lnTo>
                    <a:pt x="307" y="13"/>
                  </a:lnTo>
                  <a:lnTo>
                    <a:pt x="327" y="8"/>
                  </a:lnTo>
                  <a:lnTo>
                    <a:pt x="348" y="4"/>
                  </a:lnTo>
                  <a:lnTo>
                    <a:pt x="368" y="3"/>
                  </a:lnTo>
                  <a:lnTo>
                    <a:pt x="388" y="1"/>
                  </a:lnTo>
                  <a:lnTo>
                    <a:pt x="410" y="0"/>
                  </a:lnTo>
                  <a:lnTo>
                    <a:pt x="400" y="0"/>
                  </a:lnTo>
                  <a:lnTo>
                    <a:pt x="421" y="1"/>
                  </a:lnTo>
                  <a:lnTo>
                    <a:pt x="441" y="3"/>
                  </a:lnTo>
                  <a:lnTo>
                    <a:pt x="462" y="4"/>
                  </a:lnTo>
                  <a:lnTo>
                    <a:pt x="482" y="8"/>
                  </a:lnTo>
                  <a:lnTo>
                    <a:pt x="502" y="13"/>
                  </a:lnTo>
                  <a:lnTo>
                    <a:pt x="521" y="19"/>
                  </a:lnTo>
                  <a:lnTo>
                    <a:pt x="541" y="24"/>
                  </a:lnTo>
                  <a:lnTo>
                    <a:pt x="558" y="32"/>
                  </a:lnTo>
                  <a:lnTo>
                    <a:pt x="577" y="40"/>
                  </a:lnTo>
                  <a:lnTo>
                    <a:pt x="594" y="49"/>
                  </a:lnTo>
                  <a:lnTo>
                    <a:pt x="612" y="59"/>
                  </a:lnTo>
                  <a:lnTo>
                    <a:pt x="629" y="71"/>
                  </a:lnTo>
                  <a:lnTo>
                    <a:pt x="645" y="82"/>
                  </a:lnTo>
                  <a:lnTo>
                    <a:pt x="659" y="94"/>
                  </a:lnTo>
                  <a:lnTo>
                    <a:pt x="675" y="107"/>
                  </a:lnTo>
                  <a:lnTo>
                    <a:pt x="688" y="120"/>
                  </a:lnTo>
                  <a:lnTo>
                    <a:pt x="703" y="134"/>
                  </a:lnTo>
                  <a:lnTo>
                    <a:pt x="716" y="149"/>
                  </a:lnTo>
                  <a:lnTo>
                    <a:pt x="727" y="164"/>
                  </a:lnTo>
                  <a:lnTo>
                    <a:pt x="739" y="180"/>
                  </a:lnTo>
                  <a:lnTo>
                    <a:pt x="749" y="198"/>
                  </a:lnTo>
                  <a:lnTo>
                    <a:pt x="759" y="215"/>
                  </a:lnTo>
                  <a:lnTo>
                    <a:pt x="769" y="232"/>
                  </a:lnTo>
                  <a:lnTo>
                    <a:pt x="776" y="250"/>
                  </a:lnTo>
                  <a:lnTo>
                    <a:pt x="784" y="268"/>
                  </a:lnTo>
                  <a:lnTo>
                    <a:pt x="791" y="287"/>
                  </a:lnTo>
                  <a:lnTo>
                    <a:pt x="797" y="307"/>
                  </a:lnTo>
                  <a:lnTo>
                    <a:pt x="801" y="328"/>
                  </a:lnTo>
                  <a:lnTo>
                    <a:pt x="804" y="346"/>
                  </a:lnTo>
                  <a:lnTo>
                    <a:pt x="807" y="368"/>
                  </a:lnTo>
                  <a:lnTo>
                    <a:pt x="808" y="388"/>
                  </a:lnTo>
                  <a:lnTo>
                    <a:pt x="808" y="410"/>
                  </a:lnTo>
                  <a:lnTo>
                    <a:pt x="808" y="400"/>
                  </a:lnTo>
                  <a:lnTo>
                    <a:pt x="808" y="420"/>
                  </a:lnTo>
                  <a:lnTo>
                    <a:pt x="807" y="442"/>
                  </a:lnTo>
                  <a:lnTo>
                    <a:pt x="804" y="462"/>
                  </a:lnTo>
                  <a:lnTo>
                    <a:pt x="801" y="482"/>
                  </a:lnTo>
                  <a:lnTo>
                    <a:pt x="797" y="502"/>
                  </a:lnTo>
                  <a:lnTo>
                    <a:pt x="791" y="521"/>
                  </a:lnTo>
                  <a:lnTo>
                    <a:pt x="784" y="540"/>
                  </a:lnTo>
                  <a:lnTo>
                    <a:pt x="776" y="559"/>
                  </a:lnTo>
                  <a:lnTo>
                    <a:pt x="769" y="577"/>
                  </a:lnTo>
                  <a:lnTo>
                    <a:pt x="759" y="595"/>
                  </a:lnTo>
                  <a:lnTo>
                    <a:pt x="749" y="612"/>
                  </a:lnTo>
                  <a:lnTo>
                    <a:pt x="739" y="628"/>
                  </a:lnTo>
                  <a:lnTo>
                    <a:pt x="727" y="644"/>
                  </a:lnTo>
                  <a:lnTo>
                    <a:pt x="716" y="660"/>
                  </a:lnTo>
                  <a:lnTo>
                    <a:pt x="703" y="674"/>
                  </a:lnTo>
                  <a:lnTo>
                    <a:pt x="688" y="689"/>
                  </a:lnTo>
                  <a:lnTo>
                    <a:pt x="675" y="703"/>
                  </a:lnTo>
                  <a:lnTo>
                    <a:pt x="659" y="715"/>
                  </a:lnTo>
                  <a:lnTo>
                    <a:pt x="645" y="728"/>
                  </a:lnTo>
                  <a:lnTo>
                    <a:pt x="629" y="739"/>
                  </a:lnTo>
                  <a:lnTo>
                    <a:pt x="612" y="749"/>
                  </a:lnTo>
                  <a:lnTo>
                    <a:pt x="594" y="759"/>
                  </a:lnTo>
                  <a:lnTo>
                    <a:pt x="577" y="768"/>
                  </a:lnTo>
                  <a:lnTo>
                    <a:pt x="558" y="777"/>
                  </a:lnTo>
                  <a:lnTo>
                    <a:pt x="541" y="784"/>
                  </a:lnTo>
                  <a:lnTo>
                    <a:pt x="521" y="790"/>
                  </a:lnTo>
                  <a:lnTo>
                    <a:pt x="502" y="795"/>
                  </a:lnTo>
                  <a:lnTo>
                    <a:pt x="482" y="800"/>
                  </a:lnTo>
                  <a:lnTo>
                    <a:pt x="462" y="804"/>
                  </a:lnTo>
                  <a:lnTo>
                    <a:pt x="441" y="807"/>
                  </a:lnTo>
                  <a:lnTo>
                    <a:pt x="421" y="808"/>
                  </a:lnTo>
                  <a:lnTo>
                    <a:pt x="400" y="808"/>
                  </a:lnTo>
                  <a:lnTo>
                    <a:pt x="410" y="808"/>
                  </a:lnTo>
                  <a:lnTo>
                    <a:pt x="388" y="808"/>
                  </a:lnTo>
                  <a:lnTo>
                    <a:pt x="368" y="807"/>
                  </a:lnTo>
                  <a:lnTo>
                    <a:pt x="348" y="804"/>
                  </a:lnTo>
                  <a:lnTo>
                    <a:pt x="327" y="800"/>
                  </a:lnTo>
                  <a:lnTo>
                    <a:pt x="307" y="795"/>
                  </a:lnTo>
                  <a:lnTo>
                    <a:pt x="288" y="790"/>
                  </a:lnTo>
                  <a:lnTo>
                    <a:pt x="268" y="784"/>
                  </a:lnTo>
                  <a:lnTo>
                    <a:pt x="251" y="777"/>
                  </a:lnTo>
                  <a:lnTo>
                    <a:pt x="232" y="768"/>
                  </a:lnTo>
                  <a:lnTo>
                    <a:pt x="215" y="759"/>
                  </a:lnTo>
                  <a:lnTo>
                    <a:pt x="198" y="749"/>
                  </a:lnTo>
                  <a:lnTo>
                    <a:pt x="180" y="739"/>
                  </a:lnTo>
                  <a:lnTo>
                    <a:pt x="164" y="728"/>
                  </a:lnTo>
                  <a:lnTo>
                    <a:pt x="150" y="715"/>
                  </a:lnTo>
                  <a:lnTo>
                    <a:pt x="134" y="703"/>
                  </a:lnTo>
                  <a:lnTo>
                    <a:pt x="120" y="689"/>
                  </a:lnTo>
                  <a:lnTo>
                    <a:pt x="107" y="674"/>
                  </a:lnTo>
                  <a:lnTo>
                    <a:pt x="94" y="660"/>
                  </a:lnTo>
                  <a:lnTo>
                    <a:pt x="82" y="644"/>
                  </a:lnTo>
                  <a:lnTo>
                    <a:pt x="70" y="628"/>
                  </a:lnTo>
                  <a:lnTo>
                    <a:pt x="60" y="612"/>
                  </a:lnTo>
                  <a:lnTo>
                    <a:pt x="50" y="595"/>
                  </a:lnTo>
                  <a:lnTo>
                    <a:pt x="40" y="577"/>
                  </a:lnTo>
                  <a:lnTo>
                    <a:pt x="33" y="559"/>
                  </a:lnTo>
                  <a:lnTo>
                    <a:pt x="26" y="540"/>
                  </a:lnTo>
                  <a:lnTo>
                    <a:pt x="19" y="521"/>
                  </a:lnTo>
                  <a:lnTo>
                    <a:pt x="13" y="502"/>
                  </a:lnTo>
                  <a:lnTo>
                    <a:pt x="8" y="482"/>
                  </a:lnTo>
                  <a:lnTo>
                    <a:pt x="6" y="462"/>
                  </a:lnTo>
                  <a:lnTo>
                    <a:pt x="3" y="442"/>
                  </a:lnTo>
                  <a:lnTo>
                    <a:pt x="1" y="420"/>
                  </a:lnTo>
                  <a:lnTo>
                    <a:pt x="0" y="400"/>
                  </a:lnTo>
                  <a:close/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83275AE-BE57-712C-DA01-764A8F7F7C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4" y="2435"/>
              <a:ext cx="716" cy="409"/>
            </a:xfrm>
            <a:custGeom>
              <a:avLst/>
              <a:gdLst>
                <a:gd name="T0" fmla="*/ 1 w 1432"/>
                <a:gd name="T1" fmla="*/ 1 h 817"/>
                <a:gd name="T2" fmla="*/ 1 w 1432"/>
                <a:gd name="T3" fmla="*/ 1 h 817"/>
                <a:gd name="T4" fmla="*/ 1 w 1432"/>
                <a:gd name="T5" fmla="*/ 1 h 817"/>
                <a:gd name="T6" fmla="*/ 1 w 1432"/>
                <a:gd name="T7" fmla="*/ 1 h 817"/>
                <a:gd name="T8" fmla="*/ 1 w 1432"/>
                <a:gd name="T9" fmla="*/ 1 h 817"/>
                <a:gd name="T10" fmla="*/ 1 w 1432"/>
                <a:gd name="T11" fmla="*/ 1 h 817"/>
                <a:gd name="T12" fmla="*/ 1 w 1432"/>
                <a:gd name="T13" fmla="*/ 1 h 817"/>
                <a:gd name="T14" fmla="*/ 1 w 1432"/>
                <a:gd name="T15" fmla="*/ 1 h 817"/>
                <a:gd name="T16" fmla="*/ 1 w 1432"/>
                <a:gd name="T17" fmla="*/ 1 h 817"/>
                <a:gd name="T18" fmla="*/ 1 w 1432"/>
                <a:gd name="T19" fmla="*/ 1 h 817"/>
                <a:gd name="T20" fmla="*/ 0 w 1432"/>
                <a:gd name="T21" fmla="*/ 1 h 817"/>
                <a:gd name="T22" fmla="*/ 1 w 1432"/>
                <a:gd name="T23" fmla="*/ 1 h 817"/>
                <a:gd name="T24" fmla="*/ 1 w 1432"/>
                <a:gd name="T25" fmla="*/ 1 h 817"/>
                <a:gd name="T26" fmla="*/ 1 w 1432"/>
                <a:gd name="T27" fmla="*/ 1 h 817"/>
                <a:gd name="T28" fmla="*/ 1 w 1432"/>
                <a:gd name="T29" fmla="*/ 1 h 817"/>
                <a:gd name="T30" fmla="*/ 1 w 1432"/>
                <a:gd name="T31" fmla="*/ 1 h 817"/>
                <a:gd name="T32" fmla="*/ 1 w 1432"/>
                <a:gd name="T33" fmla="*/ 1 h 817"/>
                <a:gd name="T34" fmla="*/ 1 w 1432"/>
                <a:gd name="T35" fmla="*/ 1 h 817"/>
                <a:gd name="T36" fmla="*/ 1 w 1432"/>
                <a:gd name="T37" fmla="*/ 1 h 817"/>
                <a:gd name="T38" fmla="*/ 1 w 1432"/>
                <a:gd name="T39" fmla="*/ 1 h 817"/>
                <a:gd name="T40" fmla="*/ 1 w 1432"/>
                <a:gd name="T41" fmla="*/ 1 h 817"/>
                <a:gd name="T42" fmla="*/ 1 w 1432"/>
                <a:gd name="T43" fmla="*/ 1 h 817"/>
                <a:gd name="T44" fmla="*/ 1 w 1432"/>
                <a:gd name="T45" fmla="*/ 1 h 817"/>
                <a:gd name="T46" fmla="*/ 1 w 1432"/>
                <a:gd name="T47" fmla="*/ 1 h 817"/>
                <a:gd name="T48" fmla="*/ 1 w 1432"/>
                <a:gd name="T49" fmla="*/ 1 h 817"/>
                <a:gd name="T50" fmla="*/ 1 w 1432"/>
                <a:gd name="T51" fmla="*/ 1 h 817"/>
                <a:gd name="T52" fmla="*/ 1 w 1432"/>
                <a:gd name="T53" fmla="*/ 1 h 817"/>
                <a:gd name="T54" fmla="*/ 1 w 1432"/>
                <a:gd name="T55" fmla="*/ 1 h 817"/>
                <a:gd name="T56" fmla="*/ 1 w 1432"/>
                <a:gd name="T57" fmla="*/ 1 h 817"/>
                <a:gd name="T58" fmla="*/ 1 w 1432"/>
                <a:gd name="T59" fmla="*/ 1 h 817"/>
                <a:gd name="T60" fmla="*/ 1 w 1432"/>
                <a:gd name="T61" fmla="*/ 1 h 817"/>
                <a:gd name="T62" fmla="*/ 1 w 1432"/>
                <a:gd name="T63" fmla="*/ 1 h 817"/>
                <a:gd name="T64" fmla="*/ 1 w 1432"/>
                <a:gd name="T65" fmla="*/ 1 h 817"/>
                <a:gd name="T66" fmla="*/ 1 w 1432"/>
                <a:gd name="T67" fmla="*/ 1 h 817"/>
                <a:gd name="T68" fmla="*/ 1 w 1432"/>
                <a:gd name="T69" fmla="*/ 1 h 817"/>
                <a:gd name="T70" fmla="*/ 1 w 1432"/>
                <a:gd name="T71" fmla="*/ 1 h 817"/>
                <a:gd name="T72" fmla="*/ 1 w 1432"/>
                <a:gd name="T73" fmla="*/ 1 h 817"/>
                <a:gd name="T74" fmla="*/ 1 w 1432"/>
                <a:gd name="T75" fmla="*/ 1 h 817"/>
                <a:gd name="T76" fmla="*/ 1 w 1432"/>
                <a:gd name="T77" fmla="*/ 1 h 817"/>
                <a:gd name="T78" fmla="*/ 1 w 1432"/>
                <a:gd name="T79" fmla="*/ 1 h 817"/>
                <a:gd name="T80" fmla="*/ 1 w 1432"/>
                <a:gd name="T81" fmla="*/ 1 h 817"/>
                <a:gd name="T82" fmla="*/ 1 w 1432"/>
                <a:gd name="T83" fmla="*/ 1 h 817"/>
                <a:gd name="T84" fmla="*/ 1 w 1432"/>
                <a:gd name="T85" fmla="*/ 1 h 817"/>
                <a:gd name="T86" fmla="*/ 1 w 1432"/>
                <a:gd name="T87" fmla="*/ 0 h 81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432"/>
                <a:gd name="T133" fmla="*/ 0 h 817"/>
                <a:gd name="T134" fmla="*/ 1432 w 1432"/>
                <a:gd name="T135" fmla="*/ 817 h 817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432" h="817">
                  <a:moveTo>
                    <a:pt x="716" y="0"/>
                  </a:moveTo>
                  <a:lnTo>
                    <a:pt x="680" y="0"/>
                  </a:lnTo>
                  <a:lnTo>
                    <a:pt x="643" y="1"/>
                  </a:lnTo>
                  <a:lnTo>
                    <a:pt x="607" y="4"/>
                  </a:lnTo>
                  <a:lnTo>
                    <a:pt x="573" y="7"/>
                  </a:lnTo>
                  <a:lnTo>
                    <a:pt x="538" y="11"/>
                  </a:lnTo>
                  <a:lnTo>
                    <a:pt x="503" y="17"/>
                  </a:lnTo>
                  <a:lnTo>
                    <a:pt x="470" y="24"/>
                  </a:lnTo>
                  <a:lnTo>
                    <a:pt x="437" y="31"/>
                  </a:lnTo>
                  <a:lnTo>
                    <a:pt x="405" y="39"/>
                  </a:lnTo>
                  <a:lnTo>
                    <a:pt x="375" y="49"/>
                  </a:lnTo>
                  <a:lnTo>
                    <a:pt x="345" y="59"/>
                  </a:lnTo>
                  <a:lnTo>
                    <a:pt x="316" y="69"/>
                  </a:lnTo>
                  <a:lnTo>
                    <a:pt x="288" y="80"/>
                  </a:lnTo>
                  <a:lnTo>
                    <a:pt x="261" y="92"/>
                  </a:lnTo>
                  <a:lnTo>
                    <a:pt x="235" y="105"/>
                  </a:lnTo>
                  <a:lnTo>
                    <a:pt x="210" y="119"/>
                  </a:lnTo>
                  <a:lnTo>
                    <a:pt x="186" y="132"/>
                  </a:lnTo>
                  <a:lnTo>
                    <a:pt x="164" y="148"/>
                  </a:lnTo>
                  <a:lnTo>
                    <a:pt x="143" y="163"/>
                  </a:lnTo>
                  <a:lnTo>
                    <a:pt x="122" y="179"/>
                  </a:lnTo>
                  <a:lnTo>
                    <a:pt x="104" y="196"/>
                  </a:lnTo>
                  <a:lnTo>
                    <a:pt x="86" y="213"/>
                  </a:lnTo>
                  <a:lnTo>
                    <a:pt x="70" y="231"/>
                  </a:lnTo>
                  <a:lnTo>
                    <a:pt x="56" y="249"/>
                  </a:lnTo>
                  <a:lnTo>
                    <a:pt x="44" y="267"/>
                  </a:lnTo>
                  <a:lnTo>
                    <a:pt x="33" y="287"/>
                  </a:lnTo>
                  <a:lnTo>
                    <a:pt x="23" y="306"/>
                  </a:lnTo>
                  <a:lnTo>
                    <a:pt x="16" y="326"/>
                  </a:lnTo>
                  <a:lnTo>
                    <a:pt x="8" y="346"/>
                  </a:lnTo>
                  <a:lnTo>
                    <a:pt x="4" y="366"/>
                  </a:lnTo>
                  <a:lnTo>
                    <a:pt x="1" y="386"/>
                  </a:lnTo>
                  <a:lnTo>
                    <a:pt x="0" y="408"/>
                  </a:lnTo>
                  <a:lnTo>
                    <a:pt x="1" y="428"/>
                  </a:lnTo>
                  <a:lnTo>
                    <a:pt x="4" y="450"/>
                  </a:lnTo>
                  <a:lnTo>
                    <a:pt x="8" y="470"/>
                  </a:lnTo>
                  <a:lnTo>
                    <a:pt x="16" y="490"/>
                  </a:lnTo>
                  <a:lnTo>
                    <a:pt x="23" y="511"/>
                  </a:lnTo>
                  <a:lnTo>
                    <a:pt x="33" y="529"/>
                  </a:lnTo>
                  <a:lnTo>
                    <a:pt x="44" y="548"/>
                  </a:lnTo>
                  <a:lnTo>
                    <a:pt x="56" y="567"/>
                  </a:lnTo>
                  <a:lnTo>
                    <a:pt x="70" y="586"/>
                  </a:lnTo>
                  <a:lnTo>
                    <a:pt x="86" y="603"/>
                  </a:lnTo>
                  <a:lnTo>
                    <a:pt x="104" y="620"/>
                  </a:lnTo>
                  <a:lnTo>
                    <a:pt x="122" y="636"/>
                  </a:lnTo>
                  <a:lnTo>
                    <a:pt x="143" y="652"/>
                  </a:lnTo>
                  <a:lnTo>
                    <a:pt x="164" y="668"/>
                  </a:lnTo>
                  <a:lnTo>
                    <a:pt x="186" y="683"/>
                  </a:lnTo>
                  <a:lnTo>
                    <a:pt x="210" y="697"/>
                  </a:lnTo>
                  <a:lnTo>
                    <a:pt x="235" y="711"/>
                  </a:lnTo>
                  <a:lnTo>
                    <a:pt x="261" y="724"/>
                  </a:lnTo>
                  <a:lnTo>
                    <a:pt x="288" y="736"/>
                  </a:lnTo>
                  <a:lnTo>
                    <a:pt x="316" y="747"/>
                  </a:lnTo>
                  <a:lnTo>
                    <a:pt x="345" y="758"/>
                  </a:lnTo>
                  <a:lnTo>
                    <a:pt x="375" y="768"/>
                  </a:lnTo>
                  <a:lnTo>
                    <a:pt x="405" y="776"/>
                  </a:lnTo>
                  <a:lnTo>
                    <a:pt x="437" y="785"/>
                  </a:lnTo>
                  <a:lnTo>
                    <a:pt x="470" y="792"/>
                  </a:lnTo>
                  <a:lnTo>
                    <a:pt x="503" y="799"/>
                  </a:lnTo>
                  <a:lnTo>
                    <a:pt x="538" y="804"/>
                  </a:lnTo>
                  <a:lnTo>
                    <a:pt x="573" y="810"/>
                  </a:lnTo>
                  <a:lnTo>
                    <a:pt x="607" y="812"/>
                  </a:lnTo>
                  <a:lnTo>
                    <a:pt x="643" y="815"/>
                  </a:lnTo>
                  <a:lnTo>
                    <a:pt x="680" y="817"/>
                  </a:lnTo>
                  <a:lnTo>
                    <a:pt x="716" y="817"/>
                  </a:lnTo>
                  <a:lnTo>
                    <a:pt x="753" y="817"/>
                  </a:lnTo>
                  <a:lnTo>
                    <a:pt x="789" y="815"/>
                  </a:lnTo>
                  <a:lnTo>
                    <a:pt x="825" y="812"/>
                  </a:lnTo>
                  <a:lnTo>
                    <a:pt x="860" y="810"/>
                  </a:lnTo>
                  <a:lnTo>
                    <a:pt x="895" y="804"/>
                  </a:lnTo>
                  <a:lnTo>
                    <a:pt x="929" y="799"/>
                  </a:lnTo>
                  <a:lnTo>
                    <a:pt x="962" y="792"/>
                  </a:lnTo>
                  <a:lnTo>
                    <a:pt x="996" y="785"/>
                  </a:lnTo>
                  <a:lnTo>
                    <a:pt x="1027" y="776"/>
                  </a:lnTo>
                  <a:lnTo>
                    <a:pt x="1058" y="768"/>
                  </a:lnTo>
                  <a:lnTo>
                    <a:pt x="1088" y="758"/>
                  </a:lnTo>
                  <a:lnTo>
                    <a:pt x="1117" y="747"/>
                  </a:lnTo>
                  <a:lnTo>
                    <a:pt x="1144" y="736"/>
                  </a:lnTo>
                  <a:lnTo>
                    <a:pt x="1172" y="724"/>
                  </a:lnTo>
                  <a:lnTo>
                    <a:pt x="1198" y="711"/>
                  </a:lnTo>
                  <a:lnTo>
                    <a:pt x="1222" y="697"/>
                  </a:lnTo>
                  <a:lnTo>
                    <a:pt x="1247" y="683"/>
                  </a:lnTo>
                  <a:lnTo>
                    <a:pt x="1268" y="668"/>
                  </a:lnTo>
                  <a:lnTo>
                    <a:pt x="1290" y="652"/>
                  </a:lnTo>
                  <a:lnTo>
                    <a:pt x="1310" y="636"/>
                  </a:lnTo>
                  <a:lnTo>
                    <a:pt x="1329" y="620"/>
                  </a:lnTo>
                  <a:lnTo>
                    <a:pt x="1346" y="603"/>
                  </a:lnTo>
                  <a:lnTo>
                    <a:pt x="1362" y="586"/>
                  </a:lnTo>
                  <a:lnTo>
                    <a:pt x="1377" y="567"/>
                  </a:lnTo>
                  <a:lnTo>
                    <a:pt x="1388" y="548"/>
                  </a:lnTo>
                  <a:lnTo>
                    <a:pt x="1400" y="529"/>
                  </a:lnTo>
                  <a:lnTo>
                    <a:pt x="1410" y="511"/>
                  </a:lnTo>
                  <a:lnTo>
                    <a:pt x="1417" y="490"/>
                  </a:lnTo>
                  <a:lnTo>
                    <a:pt x="1424" y="470"/>
                  </a:lnTo>
                  <a:lnTo>
                    <a:pt x="1429" y="450"/>
                  </a:lnTo>
                  <a:lnTo>
                    <a:pt x="1432" y="428"/>
                  </a:lnTo>
                  <a:lnTo>
                    <a:pt x="1432" y="408"/>
                  </a:lnTo>
                  <a:lnTo>
                    <a:pt x="1432" y="386"/>
                  </a:lnTo>
                  <a:lnTo>
                    <a:pt x="1429" y="366"/>
                  </a:lnTo>
                  <a:lnTo>
                    <a:pt x="1424" y="346"/>
                  </a:lnTo>
                  <a:lnTo>
                    <a:pt x="1417" y="326"/>
                  </a:lnTo>
                  <a:lnTo>
                    <a:pt x="1410" y="306"/>
                  </a:lnTo>
                  <a:lnTo>
                    <a:pt x="1400" y="287"/>
                  </a:lnTo>
                  <a:lnTo>
                    <a:pt x="1388" y="267"/>
                  </a:lnTo>
                  <a:lnTo>
                    <a:pt x="1377" y="249"/>
                  </a:lnTo>
                  <a:lnTo>
                    <a:pt x="1362" y="231"/>
                  </a:lnTo>
                  <a:lnTo>
                    <a:pt x="1346" y="213"/>
                  </a:lnTo>
                  <a:lnTo>
                    <a:pt x="1329" y="196"/>
                  </a:lnTo>
                  <a:lnTo>
                    <a:pt x="1310" y="179"/>
                  </a:lnTo>
                  <a:lnTo>
                    <a:pt x="1290" y="163"/>
                  </a:lnTo>
                  <a:lnTo>
                    <a:pt x="1268" y="148"/>
                  </a:lnTo>
                  <a:lnTo>
                    <a:pt x="1247" y="132"/>
                  </a:lnTo>
                  <a:lnTo>
                    <a:pt x="1222" y="119"/>
                  </a:lnTo>
                  <a:lnTo>
                    <a:pt x="1198" y="105"/>
                  </a:lnTo>
                  <a:lnTo>
                    <a:pt x="1172" y="92"/>
                  </a:lnTo>
                  <a:lnTo>
                    <a:pt x="1144" y="80"/>
                  </a:lnTo>
                  <a:lnTo>
                    <a:pt x="1117" y="69"/>
                  </a:lnTo>
                  <a:lnTo>
                    <a:pt x="1088" y="59"/>
                  </a:lnTo>
                  <a:lnTo>
                    <a:pt x="1058" y="49"/>
                  </a:lnTo>
                  <a:lnTo>
                    <a:pt x="1027" y="39"/>
                  </a:lnTo>
                  <a:lnTo>
                    <a:pt x="996" y="31"/>
                  </a:lnTo>
                  <a:lnTo>
                    <a:pt x="962" y="24"/>
                  </a:lnTo>
                  <a:lnTo>
                    <a:pt x="929" y="17"/>
                  </a:lnTo>
                  <a:lnTo>
                    <a:pt x="895" y="11"/>
                  </a:lnTo>
                  <a:lnTo>
                    <a:pt x="860" y="7"/>
                  </a:lnTo>
                  <a:lnTo>
                    <a:pt x="825" y="4"/>
                  </a:lnTo>
                  <a:lnTo>
                    <a:pt x="789" y="1"/>
                  </a:lnTo>
                  <a:lnTo>
                    <a:pt x="753" y="0"/>
                  </a:lnTo>
                  <a:lnTo>
                    <a:pt x="716" y="0"/>
                  </a:lnTo>
                </a:path>
              </a:pathLst>
            </a:custGeom>
            <a:solidFill>
              <a:schemeClr val="bg1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F95546D0-353C-9798-932D-D72D71389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1" y="2560"/>
              <a:ext cx="11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C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18" name="Rectangle 10">
              <a:extLst>
                <a:ext uri="{FF2B5EF4-FFF2-40B4-BE49-F238E27FC236}">
                  <a16:creationId xmlns:a16="http://schemas.microsoft.com/office/drawing/2014/main" id="{AE3A7434-5328-1C78-71EF-0CC276A332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5" y="2560"/>
              <a:ext cx="89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z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19" name="Rectangle 11">
              <a:extLst>
                <a:ext uri="{FF2B5EF4-FFF2-40B4-BE49-F238E27FC236}">
                  <a16:creationId xmlns:a16="http://schemas.microsoft.com/office/drawing/2014/main" id="{3821F32A-E9D1-818B-3F21-4681B5AE9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2" y="2560"/>
              <a:ext cx="9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20" name="Rectangle 12">
              <a:extLst>
                <a:ext uri="{FF2B5EF4-FFF2-40B4-BE49-F238E27FC236}">
                  <a16:creationId xmlns:a16="http://schemas.microsoft.com/office/drawing/2014/main" id="{46C1E630-6E0C-FD9C-B82A-F2ADE6051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" y="2560"/>
              <a:ext cx="10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21" name="Rectangle 13">
              <a:extLst>
                <a:ext uri="{FF2B5EF4-FFF2-40B4-BE49-F238E27FC236}">
                  <a16:creationId xmlns:a16="http://schemas.microsoft.com/office/drawing/2014/main" id="{1C67242E-C620-EFC4-B209-47B3F40E3D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0" y="2556"/>
              <a:ext cx="57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1700">
                  <a:solidFill>
                    <a:srgbClr val="000000"/>
                  </a:solidFill>
                  <a:latin typeface="Symbol" charset="0"/>
                </a:rPr>
                <a:t>¤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5514C02D-4C20-AF16-5352-6B6D936ED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4" y="1208"/>
              <a:ext cx="716" cy="409"/>
            </a:xfrm>
            <a:custGeom>
              <a:avLst/>
              <a:gdLst>
                <a:gd name="T0" fmla="*/ 1 w 1432"/>
                <a:gd name="T1" fmla="*/ 1 h 817"/>
                <a:gd name="T2" fmla="*/ 1 w 1432"/>
                <a:gd name="T3" fmla="*/ 1 h 817"/>
                <a:gd name="T4" fmla="*/ 1 w 1432"/>
                <a:gd name="T5" fmla="*/ 1 h 817"/>
                <a:gd name="T6" fmla="*/ 1 w 1432"/>
                <a:gd name="T7" fmla="*/ 1 h 817"/>
                <a:gd name="T8" fmla="*/ 1 w 1432"/>
                <a:gd name="T9" fmla="*/ 1 h 817"/>
                <a:gd name="T10" fmla="*/ 1 w 1432"/>
                <a:gd name="T11" fmla="*/ 1 h 817"/>
                <a:gd name="T12" fmla="*/ 1 w 1432"/>
                <a:gd name="T13" fmla="*/ 1 h 817"/>
                <a:gd name="T14" fmla="*/ 1 w 1432"/>
                <a:gd name="T15" fmla="*/ 1 h 817"/>
                <a:gd name="T16" fmla="*/ 1 w 1432"/>
                <a:gd name="T17" fmla="*/ 1 h 817"/>
                <a:gd name="T18" fmla="*/ 1 w 1432"/>
                <a:gd name="T19" fmla="*/ 1 h 817"/>
                <a:gd name="T20" fmla="*/ 0 w 1432"/>
                <a:gd name="T21" fmla="*/ 1 h 817"/>
                <a:gd name="T22" fmla="*/ 1 w 1432"/>
                <a:gd name="T23" fmla="*/ 1 h 817"/>
                <a:gd name="T24" fmla="*/ 1 w 1432"/>
                <a:gd name="T25" fmla="*/ 1 h 817"/>
                <a:gd name="T26" fmla="*/ 1 w 1432"/>
                <a:gd name="T27" fmla="*/ 1 h 817"/>
                <a:gd name="T28" fmla="*/ 1 w 1432"/>
                <a:gd name="T29" fmla="*/ 1 h 817"/>
                <a:gd name="T30" fmla="*/ 1 w 1432"/>
                <a:gd name="T31" fmla="*/ 1 h 817"/>
                <a:gd name="T32" fmla="*/ 1 w 1432"/>
                <a:gd name="T33" fmla="*/ 1 h 817"/>
                <a:gd name="T34" fmla="*/ 1 w 1432"/>
                <a:gd name="T35" fmla="*/ 1 h 817"/>
                <a:gd name="T36" fmla="*/ 1 w 1432"/>
                <a:gd name="T37" fmla="*/ 1 h 817"/>
                <a:gd name="T38" fmla="*/ 1 w 1432"/>
                <a:gd name="T39" fmla="*/ 1 h 817"/>
                <a:gd name="T40" fmla="*/ 1 w 1432"/>
                <a:gd name="T41" fmla="*/ 1 h 817"/>
                <a:gd name="T42" fmla="*/ 1 w 1432"/>
                <a:gd name="T43" fmla="*/ 1 h 817"/>
                <a:gd name="T44" fmla="*/ 1 w 1432"/>
                <a:gd name="T45" fmla="*/ 1 h 817"/>
                <a:gd name="T46" fmla="*/ 1 w 1432"/>
                <a:gd name="T47" fmla="*/ 1 h 817"/>
                <a:gd name="T48" fmla="*/ 1 w 1432"/>
                <a:gd name="T49" fmla="*/ 1 h 817"/>
                <a:gd name="T50" fmla="*/ 1 w 1432"/>
                <a:gd name="T51" fmla="*/ 1 h 817"/>
                <a:gd name="T52" fmla="*/ 1 w 1432"/>
                <a:gd name="T53" fmla="*/ 1 h 817"/>
                <a:gd name="T54" fmla="*/ 1 w 1432"/>
                <a:gd name="T55" fmla="*/ 1 h 817"/>
                <a:gd name="T56" fmla="*/ 1 w 1432"/>
                <a:gd name="T57" fmla="*/ 1 h 817"/>
                <a:gd name="T58" fmla="*/ 1 w 1432"/>
                <a:gd name="T59" fmla="*/ 1 h 817"/>
                <a:gd name="T60" fmla="*/ 1 w 1432"/>
                <a:gd name="T61" fmla="*/ 1 h 817"/>
                <a:gd name="T62" fmla="*/ 1 w 1432"/>
                <a:gd name="T63" fmla="*/ 1 h 817"/>
                <a:gd name="T64" fmla="*/ 1 w 1432"/>
                <a:gd name="T65" fmla="*/ 1 h 817"/>
                <a:gd name="T66" fmla="*/ 1 w 1432"/>
                <a:gd name="T67" fmla="*/ 1 h 817"/>
                <a:gd name="T68" fmla="*/ 1 w 1432"/>
                <a:gd name="T69" fmla="*/ 1 h 817"/>
                <a:gd name="T70" fmla="*/ 1 w 1432"/>
                <a:gd name="T71" fmla="*/ 1 h 817"/>
                <a:gd name="T72" fmla="*/ 1 w 1432"/>
                <a:gd name="T73" fmla="*/ 1 h 817"/>
                <a:gd name="T74" fmla="*/ 1 w 1432"/>
                <a:gd name="T75" fmla="*/ 1 h 817"/>
                <a:gd name="T76" fmla="*/ 1 w 1432"/>
                <a:gd name="T77" fmla="*/ 1 h 817"/>
                <a:gd name="T78" fmla="*/ 1 w 1432"/>
                <a:gd name="T79" fmla="*/ 1 h 817"/>
                <a:gd name="T80" fmla="*/ 1 w 1432"/>
                <a:gd name="T81" fmla="*/ 1 h 817"/>
                <a:gd name="T82" fmla="*/ 1 w 1432"/>
                <a:gd name="T83" fmla="*/ 1 h 817"/>
                <a:gd name="T84" fmla="*/ 1 w 1432"/>
                <a:gd name="T85" fmla="*/ 1 h 817"/>
                <a:gd name="T86" fmla="*/ 1 w 1432"/>
                <a:gd name="T87" fmla="*/ 0 h 81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432"/>
                <a:gd name="T133" fmla="*/ 0 h 817"/>
                <a:gd name="T134" fmla="*/ 1432 w 1432"/>
                <a:gd name="T135" fmla="*/ 817 h 817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432" h="817">
                  <a:moveTo>
                    <a:pt x="716" y="0"/>
                  </a:moveTo>
                  <a:lnTo>
                    <a:pt x="680" y="0"/>
                  </a:lnTo>
                  <a:lnTo>
                    <a:pt x="643" y="1"/>
                  </a:lnTo>
                  <a:lnTo>
                    <a:pt x="607" y="4"/>
                  </a:lnTo>
                  <a:lnTo>
                    <a:pt x="573" y="7"/>
                  </a:lnTo>
                  <a:lnTo>
                    <a:pt x="538" y="11"/>
                  </a:lnTo>
                  <a:lnTo>
                    <a:pt x="503" y="17"/>
                  </a:lnTo>
                  <a:lnTo>
                    <a:pt x="470" y="24"/>
                  </a:lnTo>
                  <a:lnTo>
                    <a:pt x="437" y="32"/>
                  </a:lnTo>
                  <a:lnTo>
                    <a:pt x="405" y="39"/>
                  </a:lnTo>
                  <a:lnTo>
                    <a:pt x="375" y="49"/>
                  </a:lnTo>
                  <a:lnTo>
                    <a:pt x="345" y="59"/>
                  </a:lnTo>
                  <a:lnTo>
                    <a:pt x="316" y="69"/>
                  </a:lnTo>
                  <a:lnTo>
                    <a:pt x="288" y="81"/>
                  </a:lnTo>
                  <a:lnTo>
                    <a:pt x="261" y="92"/>
                  </a:lnTo>
                  <a:lnTo>
                    <a:pt x="235" y="105"/>
                  </a:lnTo>
                  <a:lnTo>
                    <a:pt x="210" y="120"/>
                  </a:lnTo>
                  <a:lnTo>
                    <a:pt x="186" y="133"/>
                  </a:lnTo>
                  <a:lnTo>
                    <a:pt x="164" y="149"/>
                  </a:lnTo>
                  <a:lnTo>
                    <a:pt x="143" y="163"/>
                  </a:lnTo>
                  <a:lnTo>
                    <a:pt x="122" y="179"/>
                  </a:lnTo>
                  <a:lnTo>
                    <a:pt x="104" y="196"/>
                  </a:lnTo>
                  <a:lnTo>
                    <a:pt x="86" y="213"/>
                  </a:lnTo>
                  <a:lnTo>
                    <a:pt x="70" y="231"/>
                  </a:lnTo>
                  <a:lnTo>
                    <a:pt x="56" y="250"/>
                  </a:lnTo>
                  <a:lnTo>
                    <a:pt x="44" y="267"/>
                  </a:lnTo>
                  <a:lnTo>
                    <a:pt x="33" y="287"/>
                  </a:lnTo>
                  <a:lnTo>
                    <a:pt x="23" y="306"/>
                  </a:lnTo>
                  <a:lnTo>
                    <a:pt x="15" y="326"/>
                  </a:lnTo>
                  <a:lnTo>
                    <a:pt x="8" y="346"/>
                  </a:lnTo>
                  <a:lnTo>
                    <a:pt x="4" y="367"/>
                  </a:lnTo>
                  <a:lnTo>
                    <a:pt x="1" y="387"/>
                  </a:lnTo>
                  <a:lnTo>
                    <a:pt x="0" y="408"/>
                  </a:lnTo>
                  <a:lnTo>
                    <a:pt x="1" y="430"/>
                  </a:lnTo>
                  <a:lnTo>
                    <a:pt x="4" y="450"/>
                  </a:lnTo>
                  <a:lnTo>
                    <a:pt x="8" y="471"/>
                  </a:lnTo>
                  <a:lnTo>
                    <a:pt x="15" y="491"/>
                  </a:lnTo>
                  <a:lnTo>
                    <a:pt x="23" y="511"/>
                  </a:lnTo>
                  <a:lnTo>
                    <a:pt x="33" y="530"/>
                  </a:lnTo>
                  <a:lnTo>
                    <a:pt x="44" y="548"/>
                  </a:lnTo>
                  <a:lnTo>
                    <a:pt x="56" y="567"/>
                  </a:lnTo>
                  <a:lnTo>
                    <a:pt x="70" y="586"/>
                  </a:lnTo>
                  <a:lnTo>
                    <a:pt x="86" y="603"/>
                  </a:lnTo>
                  <a:lnTo>
                    <a:pt x="104" y="621"/>
                  </a:lnTo>
                  <a:lnTo>
                    <a:pt x="122" y="637"/>
                  </a:lnTo>
                  <a:lnTo>
                    <a:pt x="143" y="652"/>
                  </a:lnTo>
                  <a:lnTo>
                    <a:pt x="164" y="668"/>
                  </a:lnTo>
                  <a:lnTo>
                    <a:pt x="186" y="683"/>
                  </a:lnTo>
                  <a:lnTo>
                    <a:pt x="210" y="697"/>
                  </a:lnTo>
                  <a:lnTo>
                    <a:pt x="235" y="712"/>
                  </a:lnTo>
                  <a:lnTo>
                    <a:pt x="261" y="725"/>
                  </a:lnTo>
                  <a:lnTo>
                    <a:pt x="288" y="736"/>
                  </a:lnTo>
                  <a:lnTo>
                    <a:pt x="316" y="748"/>
                  </a:lnTo>
                  <a:lnTo>
                    <a:pt x="345" y="758"/>
                  </a:lnTo>
                  <a:lnTo>
                    <a:pt x="375" y="768"/>
                  </a:lnTo>
                  <a:lnTo>
                    <a:pt x="405" y="777"/>
                  </a:lnTo>
                  <a:lnTo>
                    <a:pt x="437" y="785"/>
                  </a:lnTo>
                  <a:lnTo>
                    <a:pt x="470" y="793"/>
                  </a:lnTo>
                  <a:lnTo>
                    <a:pt x="503" y="800"/>
                  </a:lnTo>
                  <a:lnTo>
                    <a:pt x="538" y="804"/>
                  </a:lnTo>
                  <a:lnTo>
                    <a:pt x="573" y="810"/>
                  </a:lnTo>
                  <a:lnTo>
                    <a:pt x="607" y="813"/>
                  </a:lnTo>
                  <a:lnTo>
                    <a:pt x="643" y="816"/>
                  </a:lnTo>
                  <a:lnTo>
                    <a:pt x="680" y="817"/>
                  </a:lnTo>
                  <a:lnTo>
                    <a:pt x="716" y="817"/>
                  </a:lnTo>
                  <a:lnTo>
                    <a:pt x="753" y="817"/>
                  </a:lnTo>
                  <a:lnTo>
                    <a:pt x="789" y="816"/>
                  </a:lnTo>
                  <a:lnTo>
                    <a:pt x="825" y="813"/>
                  </a:lnTo>
                  <a:lnTo>
                    <a:pt x="860" y="810"/>
                  </a:lnTo>
                  <a:lnTo>
                    <a:pt x="895" y="804"/>
                  </a:lnTo>
                  <a:lnTo>
                    <a:pt x="929" y="800"/>
                  </a:lnTo>
                  <a:lnTo>
                    <a:pt x="962" y="793"/>
                  </a:lnTo>
                  <a:lnTo>
                    <a:pt x="996" y="785"/>
                  </a:lnTo>
                  <a:lnTo>
                    <a:pt x="1027" y="777"/>
                  </a:lnTo>
                  <a:lnTo>
                    <a:pt x="1058" y="768"/>
                  </a:lnTo>
                  <a:lnTo>
                    <a:pt x="1088" y="758"/>
                  </a:lnTo>
                  <a:lnTo>
                    <a:pt x="1117" y="748"/>
                  </a:lnTo>
                  <a:lnTo>
                    <a:pt x="1144" y="736"/>
                  </a:lnTo>
                  <a:lnTo>
                    <a:pt x="1172" y="725"/>
                  </a:lnTo>
                  <a:lnTo>
                    <a:pt x="1198" y="712"/>
                  </a:lnTo>
                  <a:lnTo>
                    <a:pt x="1222" y="697"/>
                  </a:lnTo>
                  <a:lnTo>
                    <a:pt x="1247" y="683"/>
                  </a:lnTo>
                  <a:lnTo>
                    <a:pt x="1268" y="668"/>
                  </a:lnTo>
                  <a:lnTo>
                    <a:pt x="1290" y="652"/>
                  </a:lnTo>
                  <a:lnTo>
                    <a:pt x="1310" y="637"/>
                  </a:lnTo>
                  <a:lnTo>
                    <a:pt x="1329" y="621"/>
                  </a:lnTo>
                  <a:lnTo>
                    <a:pt x="1346" y="603"/>
                  </a:lnTo>
                  <a:lnTo>
                    <a:pt x="1362" y="586"/>
                  </a:lnTo>
                  <a:lnTo>
                    <a:pt x="1377" y="567"/>
                  </a:lnTo>
                  <a:lnTo>
                    <a:pt x="1388" y="548"/>
                  </a:lnTo>
                  <a:lnTo>
                    <a:pt x="1400" y="530"/>
                  </a:lnTo>
                  <a:lnTo>
                    <a:pt x="1410" y="511"/>
                  </a:lnTo>
                  <a:lnTo>
                    <a:pt x="1417" y="491"/>
                  </a:lnTo>
                  <a:lnTo>
                    <a:pt x="1424" y="471"/>
                  </a:lnTo>
                  <a:lnTo>
                    <a:pt x="1429" y="450"/>
                  </a:lnTo>
                  <a:lnTo>
                    <a:pt x="1432" y="430"/>
                  </a:lnTo>
                  <a:lnTo>
                    <a:pt x="1432" y="408"/>
                  </a:lnTo>
                  <a:lnTo>
                    <a:pt x="1432" y="387"/>
                  </a:lnTo>
                  <a:lnTo>
                    <a:pt x="1429" y="367"/>
                  </a:lnTo>
                  <a:lnTo>
                    <a:pt x="1424" y="346"/>
                  </a:lnTo>
                  <a:lnTo>
                    <a:pt x="1417" y="326"/>
                  </a:lnTo>
                  <a:lnTo>
                    <a:pt x="1410" y="306"/>
                  </a:lnTo>
                  <a:lnTo>
                    <a:pt x="1400" y="287"/>
                  </a:lnTo>
                  <a:lnTo>
                    <a:pt x="1388" y="267"/>
                  </a:lnTo>
                  <a:lnTo>
                    <a:pt x="1377" y="250"/>
                  </a:lnTo>
                  <a:lnTo>
                    <a:pt x="1362" y="231"/>
                  </a:lnTo>
                  <a:lnTo>
                    <a:pt x="1346" y="213"/>
                  </a:lnTo>
                  <a:lnTo>
                    <a:pt x="1329" y="196"/>
                  </a:lnTo>
                  <a:lnTo>
                    <a:pt x="1310" y="179"/>
                  </a:lnTo>
                  <a:lnTo>
                    <a:pt x="1290" y="163"/>
                  </a:lnTo>
                  <a:lnTo>
                    <a:pt x="1268" y="149"/>
                  </a:lnTo>
                  <a:lnTo>
                    <a:pt x="1247" y="133"/>
                  </a:lnTo>
                  <a:lnTo>
                    <a:pt x="1222" y="120"/>
                  </a:lnTo>
                  <a:lnTo>
                    <a:pt x="1198" y="105"/>
                  </a:lnTo>
                  <a:lnTo>
                    <a:pt x="1172" y="92"/>
                  </a:lnTo>
                  <a:lnTo>
                    <a:pt x="1144" y="81"/>
                  </a:lnTo>
                  <a:lnTo>
                    <a:pt x="1117" y="69"/>
                  </a:lnTo>
                  <a:lnTo>
                    <a:pt x="1088" y="59"/>
                  </a:lnTo>
                  <a:lnTo>
                    <a:pt x="1058" y="49"/>
                  </a:lnTo>
                  <a:lnTo>
                    <a:pt x="1027" y="39"/>
                  </a:lnTo>
                  <a:lnTo>
                    <a:pt x="996" y="32"/>
                  </a:lnTo>
                  <a:lnTo>
                    <a:pt x="962" y="24"/>
                  </a:lnTo>
                  <a:lnTo>
                    <a:pt x="929" y="17"/>
                  </a:lnTo>
                  <a:lnTo>
                    <a:pt x="895" y="11"/>
                  </a:lnTo>
                  <a:lnTo>
                    <a:pt x="860" y="7"/>
                  </a:lnTo>
                  <a:lnTo>
                    <a:pt x="825" y="4"/>
                  </a:lnTo>
                  <a:lnTo>
                    <a:pt x="789" y="1"/>
                  </a:lnTo>
                  <a:lnTo>
                    <a:pt x="753" y="0"/>
                  </a:lnTo>
                  <a:lnTo>
                    <a:pt x="716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Rectangle 15">
              <a:extLst>
                <a:ext uri="{FF2B5EF4-FFF2-40B4-BE49-F238E27FC236}">
                  <a16:creationId xmlns:a16="http://schemas.microsoft.com/office/drawing/2014/main" id="{38F5DC37-41AA-D6A0-9531-49B6FCBC5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1" y="722"/>
              <a:ext cx="31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Reset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24" name="Rectangle 16">
              <a:extLst>
                <a:ext uri="{FF2B5EF4-FFF2-40B4-BE49-F238E27FC236}">
                  <a16:creationId xmlns:a16="http://schemas.microsoft.com/office/drawing/2014/main" id="{4FFE13C6-1707-086C-510C-2AB2A05C9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9" y="1333"/>
              <a:ext cx="11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B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25" name="Rectangle 17">
              <a:extLst>
                <a:ext uri="{FF2B5EF4-FFF2-40B4-BE49-F238E27FC236}">
                  <a16:creationId xmlns:a16="http://schemas.microsoft.com/office/drawing/2014/main" id="{DFB330AD-F8D6-097B-DA05-B6334BC59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2" y="1333"/>
              <a:ext cx="89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z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26" name="Rectangle 18">
              <a:extLst>
                <a:ext uri="{FF2B5EF4-FFF2-40B4-BE49-F238E27FC236}">
                  <a16:creationId xmlns:a16="http://schemas.microsoft.com/office/drawing/2014/main" id="{2AF9332C-3B2E-424B-D90F-A700EB288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9" y="1333"/>
              <a:ext cx="9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27" name="Rectangle 19">
              <a:extLst>
                <a:ext uri="{FF2B5EF4-FFF2-40B4-BE49-F238E27FC236}">
                  <a16:creationId xmlns:a16="http://schemas.microsoft.com/office/drawing/2014/main" id="{E8F2F667-E61A-F61D-EE13-A0C6EB162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3" y="1333"/>
              <a:ext cx="10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6E798F1A-123A-F9FE-057D-1DCFCA7DFB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9" y="1208"/>
              <a:ext cx="716" cy="409"/>
            </a:xfrm>
            <a:custGeom>
              <a:avLst/>
              <a:gdLst>
                <a:gd name="T0" fmla="*/ 1 w 1431"/>
                <a:gd name="T1" fmla="*/ 1 h 817"/>
                <a:gd name="T2" fmla="*/ 1 w 1431"/>
                <a:gd name="T3" fmla="*/ 1 h 817"/>
                <a:gd name="T4" fmla="*/ 1 w 1431"/>
                <a:gd name="T5" fmla="*/ 1 h 817"/>
                <a:gd name="T6" fmla="*/ 1 w 1431"/>
                <a:gd name="T7" fmla="*/ 1 h 817"/>
                <a:gd name="T8" fmla="*/ 1 w 1431"/>
                <a:gd name="T9" fmla="*/ 1 h 817"/>
                <a:gd name="T10" fmla="*/ 1 w 1431"/>
                <a:gd name="T11" fmla="*/ 1 h 817"/>
                <a:gd name="T12" fmla="*/ 1 w 1431"/>
                <a:gd name="T13" fmla="*/ 1 h 817"/>
                <a:gd name="T14" fmla="*/ 1 w 1431"/>
                <a:gd name="T15" fmla="*/ 1 h 817"/>
                <a:gd name="T16" fmla="*/ 1 w 1431"/>
                <a:gd name="T17" fmla="*/ 1 h 817"/>
                <a:gd name="T18" fmla="*/ 1 w 1431"/>
                <a:gd name="T19" fmla="*/ 1 h 817"/>
                <a:gd name="T20" fmla="*/ 0 w 1431"/>
                <a:gd name="T21" fmla="*/ 1 h 817"/>
                <a:gd name="T22" fmla="*/ 1 w 1431"/>
                <a:gd name="T23" fmla="*/ 1 h 817"/>
                <a:gd name="T24" fmla="*/ 1 w 1431"/>
                <a:gd name="T25" fmla="*/ 1 h 817"/>
                <a:gd name="T26" fmla="*/ 1 w 1431"/>
                <a:gd name="T27" fmla="*/ 1 h 817"/>
                <a:gd name="T28" fmla="*/ 1 w 1431"/>
                <a:gd name="T29" fmla="*/ 1 h 817"/>
                <a:gd name="T30" fmla="*/ 1 w 1431"/>
                <a:gd name="T31" fmla="*/ 1 h 817"/>
                <a:gd name="T32" fmla="*/ 1 w 1431"/>
                <a:gd name="T33" fmla="*/ 1 h 817"/>
                <a:gd name="T34" fmla="*/ 1 w 1431"/>
                <a:gd name="T35" fmla="*/ 1 h 817"/>
                <a:gd name="T36" fmla="*/ 1 w 1431"/>
                <a:gd name="T37" fmla="*/ 1 h 817"/>
                <a:gd name="T38" fmla="*/ 1 w 1431"/>
                <a:gd name="T39" fmla="*/ 1 h 817"/>
                <a:gd name="T40" fmla="*/ 1 w 1431"/>
                <a:gd name="T41" fmla="*/ 1 h 817"/>
                <a:gd name="T42" fmla="*/ 1 w 1431"/>
                <a:gd name="T43" fmla="*/ 1 h 817"/>
                <a:gd name="T44" fmla="*/ 1 w 1431"/>
                <a:gd name="T45" fmla="*/ 1 h 817"/>
                <a:gd name="T46" fmla="*/ 1 w 1431"/>
                <a:gd name="T47" fmla="*/ 1 h 817"/>
                <a:gd name="T48" fmla="*/ 1 w 1431"/>
                <a:gd name="T49" fmla="*/ 1 h 817"/>
                <a:gd name="T50" fmla="*/ 1 w 1431"/>
                <a:gd name="T51" fmla="*/ 1 h 817"/>
                <a:gd name="T52" fmla="*/ 1 w 1431"/>
                <a:gd name="T53" fmla="*/ 1 h 817"/>
                <a:gd name="T54" fmla="*/ 1 w 1431"/>
                <a:gd name="T55" fmla="*/ 1 h 817"/>
                <a:gd name="T56" fmla="*/ 1 w 1431"/>
                <a:gd name="T57" fmla="*/ 1 h 817"/>
                <a:gd name="T58" fmla="*/ 1 w 1431"/>
                <a:gd name="T59" fmla="*/ 1 h 817"/>
                <a:gd name="T60" fmla="*/ 1 w 1431"/>
                <a:gd name="T61" fmla="*/ 1 h 817"/>
                <a:gd name="T62" fmla="*/ 1 w 1431"/>
                <a:gd name="T63" fmla="*/ 1 h 817"/>
                <a:gd name="T64" fmla="*/ 1 w 1431"/>
                <a:gd name="T65" fmla="*/ 1 h 817"/>
                <a:gd name="T66" fmla="*/ 1 w 1431"/>
                <a:gd name="T67" fmla="*/ 1 h 817"/>
                <a:gd name="T68" fmla="*/ 1 w 1431"/>
                <a:gd name="T69" fmla="*/ 1 h 817"/>
                <a:gd name="T70" fmla="*/ 1 w 1431"/>
                <a:gd name="T71" fmla="*/ 1 h 817"/>
                <a:gd name="T72" fmla="*/ 1 w 1431"/>
                <a:gd name="T73" fmla="*/ 1 h 817"/>
                <a:gd name="T74" fmla="*/ 1 w 1431"/>
                <a:gd name="T75" fmla="*/ 1 h 817"/>
                <a:gd name="T76" fmla="*/ 1 w 1431"/>
                <a:gd name="T77" fmla="*/ 1 h 817"/>
                <a:gd name="T78" fmla="*/ 1 w 1431"/>
                <a:gd name="T79" fmla="*/ 1 h 817"/>
                <a:gd name="T80" fmla="*/ 1 w 1431"/>
                <a:gd name="T81" fmla="*/ 1 h 817"/>
                <a:gd name="T82" fmla="*/ 1 w 1431"/>
                <a:gd name="T83" fmla="*/ 1 h 817"/>
                <a:gd name="T84" fmla="*/ 1 w 1431"/>
                <a:gd name="T85" fmla="*/ 1 h 817"/>
                <a:gd name="T86" fmla="*/ 1 w 1431"/>
                <a:gd name="T87" fmla="*/ 0 h 81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431"/>
                <a:gd name="T133" fmla="*/ 0 h 817"/>
                <a:gd name="T134" fmla="*/ 1431 w 1431"/>
                <a:gd name="T135" fmla="*/ 817 h 817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431" h="817">
                  <a:moveTo>
                    <a:pt x="716" y="0"/>
                  </a:moveTo>
                  <a:lnTo>
                    <a:pt x="679" y="0"/>
                  </a:lnTo>
                  <a:lnTo>
                    <a:pt x="643" y="1"/>
                  </a:lnTo>
                  <a:lnTo>
                    <a:pt x="607" y="4"/>
                  </a:lnTo>
                  <a:lnTo>
                    <a:pt x="573" y="7"/>
                  </a:lnTo>
                  <a:lnTo>
                    <a:pt x="538" y="11"/>
                  </a:lnTo>
                  <a:lnTo>
                    <a:pt x="503" y="17"/>
                  </a:lnTo>
                  <a:lnTo>
                    <a:pt x="470" y="24"/>
                  </a:lnTo>
                  <a:lnTo>
                    <a:pt x="437" y="32"/>
                  </a:lnTo>
                  <a:lnTo>
                    <a:pt x="405" y="39"/>
                  </a:lnTo>
                  <a:lnTo>
                    <a:pt x="375" y="49"/>
                  </a:lnTo>
                  <a:lnTo>
                    <a:pt x="345" y="59"/>
                  </a:lnTo>
                  <a:lnTo>
                    <a:pt x="316" y="69"/>
                  </a:lnTo>
                  <a:lnTo>
                    <a:pt x="288" y="81"/>
                  </a:lnTo>
                  <a:lnTo>
                    <a:pt x="261" y="92"/>
                  </a:lnTo>
                  <a:lnTo>
                    <a:pt x="235" y="105"/>
                  </a:lnTo>
                  <a:lnTo>
                    <a:pt x="210" y="120"/>
                  </a:lnTo>
                  <a:lnTo>
                    <a:pt x="186" y="133"/>
                  </a:lnTo>
                  <a:lnTo>
                    <a:pt x="164" y="149"/>
                  </a:lnTo>
                  <a:lnTo>
                    <a:pt x="142" y="163"/>
                  </a:lnTo>
                  <a:lnTo>
                    <a:pt x="122" y="179"/>
                  </a:lnTo>
                  <a:lnTo>
                    <a:pt x="103" y="196"/>
                  </a:lnTo>
                  <a:lnTo>
                    <a:pt x="86" y="213"/>
                  </a:lnTo>
                  <a:lnTo>
                    <a:pt x="70" y="231"/>
                  </a:lnTo>
                  <a:lnTo>
                    <a:pt x="56" y="250"/>
                  </a:lnTo>
                  <a:lnTo>
                    <a:pt x="44" y="267"/>
                  </a:lnTo>
                  <a:lnTo>
                    <a:pt x="33" y="287"/>
                  </a:lnTo>
                  <a:lnTo>
                    <a:pt x="23" y="306"/>
                  </a:lnTo>
                  <a:lnTo>
                    <a:pt x="15" y="326"/>
                  </a:lnTo>
                  <a:lnTo>
                    <a:pt x="8" y="346"/>
                  </a:lnTo>
                  <a:lnTo>
                    <a:pt x="4" y="367"/>
                  </a:lnTo>
                  <a:lnTo>
                    <a:pt x="1" y="387"/>
                  </a:lnTo>
                  <a:lnTo>
                    <a:pt x="0" y="408"/>
                  </a:lnTo>
                  <a:lnTo>
                    <a:pt x="1" y="430"/>
                  </a:lnTo>
                  <a:lnTo>
                    <a:pt x="4" y="450"/>
                  </a:lnTo>
                  <a:lnTo>
                    <a:pt x="8" y="471"/>
                  </a:lnTo>
                  <a:lnTo>
                    <a:pt x="15" y="491"/>
                  </a:lnTo>
                  <a:lnTo>
                    <a:pt x="23" y="511"/>
                  </a:lnTo>
                  <a:lnTo>
                    <a:pt x="33" y="530"/>
                  </a:lnTo>
                  <a:lnTo>
                    <a:pt x="44" y="548"/>
                  </a:lnTo>
                  <a:lnTo>
                    <a:pt x="56" y="567"/>
                  </a:lnTo>
                  <a:lnTo>
                    <a:pt x="70" y="586"/>
                  </a:lnTo>
                  <a:lnTo>
                    <a:pt x="86" y="603"/>
                  </a:lnTo>
                  <a:lnTo>
                    <a:pt x="103" y="621"/>
                  </a:lnTo>
                  <a:lnTo>
                    <a:pt x="122" y="637"/>
                  </a:lnTo>
                  <a:lnTo>
                    <a:pt x="142" y="652"/>
                  </a:lnTo>
                  <a:lnTo>
                    <a:pt x="164" y="668"/>
                  </a:lnTo>
                  <a:lnTo>
                    <a:pt x="186" y="683"/>
                  </a:lnTo>
                  <a:lnTo>
                    <a:pt x="210" y="697"/>
                  </a:lnTo>
                  <a:lnTo>
                    <a:pt x="235" y="712"/>
                  </a:lnTo>
                  <a:lnTo>
                    <a:pt x="261" y="725"/>
                  </a:lnTo>
                  <a:lnTo>
                    <a:pt x="288" y="736"/>
                  </a:lnTo>
                  <a:lnTo>
                    <a:pt x="316" y="748"/>
                  </a:lnTo>
                  <a:lnTo>
                    <a:pt x="345" y="758"/>
                  </a:lnTo>
                  <a:lnTo>
                    <a:pt x="375" y="768"/>
                  </a:lnTo>
                  <a:lnTo>
                    <a:pt x="405" y="777"/>
                  </a:lnTo>
                  <a:lnTo>
                    <a:pt x="437" y="785"/>
                  </a:lnTo>
                  <a:lnTo>
                    <a:pt x="470" y="793"/>
                  </a:lnTo>
                  <a:lnTo>
                    <a:pt x="503" y="800"/>
                  </a:lnTo>
                  <a:lnTo>
                    <a:pt x="538" y="804"/>
                  </a:lnTo>
                  <a:lnTo>
                    <a:pt x="573" y="810"/>
                  </a:lnTo>
                  <a:lnTo>
                    <a:pt x="607" y="813"/>
                  </a:lnTo>
                  <a:lnTo>
                    <a:pt x="643" y="816"/>
                  </a:lnTo>
                  <a:lnTo>
                    <a:pt x="679" y="817"/>
                  </a:lnTo>
                  <a:lnTo>
                    <a:pt x="716" y="817"/>
                  </a:lnTo>
                  <a:lnTo>
                    <a:pt x="753" y="817"/>
                  </a:lnTo>
                  <a:lnTo>
                    <a:pt x="789" y="816"/>
                  </a:lnTo>
                  <a:lnTo>
                    <a:pt x="825" y="813"/>
                  </a:lnTo>
                  <a:lnTo>
                    <a:pt x="860" y="810"/>
                  </a:lnTo>
                  <a:lnTo>
                    <a:pt x="895" y="804"/>
                  </a:lnTo>
                  <a:lnTo>
                    <a:pt x="929" y="800"/>
                  </a:lnTo>
                  <a:lnTo>
                    <a:pt x="962" y="793"/>
                  </a:lnTo>
                  <a:lnTo>
                    <a:pt x="996" y="785"/>
                  </a:lnTo>
                  <a:lnTo>
                    <a:pt x="1027" y="777"/>
                  </a:lnTo>
                  <a:lnTo>
                    <a:pt x="1058" y="768"/>
                  </a:lnTo>
                  <a:lnTo>
                    <a:pt x="1088" y="758"/>
                  </a:lnTo>
                  <a:lnTo>
                    <a:pt x="1117" y="748"/>
                  </a:lnTo>
                  <a:lnTo>
                    <a:pt x="1144" y="736"/>
                  </a:lnTo>
                  <a:lnTo>
                    <a:pt x="1172" y="725"/>
                  </a:lnTo>
                  <a:lnTo>
                    <a:pt x="1198" y="712"/>
                  </a:lnTo>
                  <a:lnTo>
                    <a:pt x="1222" y="697"/>
                  </a:lnTo>
                  <a:lnTo>
                    <a:pt x="1247" y="683"/>
                  </a:lnTo>
                  <a:lnTo>
                    <a:pt x="1268" y="668"/>
                  </a:lnTo>
                  <a:lnTo>
                    <a:pt x="1290" y="652"/>
                  </a:lnTo>
                  <a:lnTo>
                    <a:pt x="1310" y="637"/>
                  </a:lnTo>
                  <a:lnTo>
                    <a:pt x="1329" y="621"/>
                  </a:lnTo>
                  <a:lnTo>
                    <a:pt x="1346" y="603"/>
                  </a:lnTo>
                  <a:lnTo>
                    <a:pt x="1362" y="586"/>
                  </a:lnTo>
                  <a:lnTo>
                    <a:pt x="1377" y="567"/>
                  </a:lnTo>
                  <a:lnTo>
                    <a:pt x="1388" y="548"/>
                  </a:lnTo>
                  <a:lnTo>
                    <a:pt x="1400" y="530"/>
                  </a:lnTo>
                  <a:lnTo>
                    <a:pt x="1410" y="511"/>
                  </a:lnTo>
                  <a:lnTo>
                    <a:pt x="1417" y="491"/>
                  </a:lnTo>
                  <a:lnTo>
                    <a:pt x="1424" y="471"/>
                  </a:lnTo>
                  <a:lnTo>
                    <a:pt x="1429" y="450"/>
                  </a:lnTo>
                  <a:lnTo>
                    <a:pt x="1431" y="430"/>
                  </a:lnTo>
                  <a:lnTo>
                    <a:pt x="1431" y="408"/>
                  </a:lnTo>
                  <a:lnTo>
                    <a:pt x="1431" y="387"/>
                  </a:lnTo>
                  <a:lnTo>
                    <a:pt x="1429" y="367"/>
                  </a:lnTo>
                  <a:lnTo>
                    <a:pt x="1424" y="346"/>
                  </a:lnTo>
                  <a:lnTo>
                    <a:pt x="1417" y="326"/>
                  </a:lnTo>
                  <a:lnTo>
                    <a:pt x="1410" y="306"/>
                  </a:lnTo>
                  <a:lnTo>
                    <a:pt x="1400" y="287"/>
                  </a:lnTo>
                  <a:lnTo>
                    <a:pt x="1388" y="267"/>
                  </a:lnTo>
                  <a:lnTo>
                    <a:pt x="1377" y="250"/>
                  </a:lnTo>
                  <a:lnTo>
                    <a:pt x="1362" y="231"/>
                  </a:lnTo>
                  <a:lnTo>
                    <a:pt x="1346" y="213"/>
                  </a:lnTo>
                  <a:lnTo>
                    <a:pt x="1329" y="196"/>
                  </a:lnTo>
                  <a:lnTo>
                    <a:pt x="1310" y="179"/>
                  </a:lnTo>
                  <a:lnTo>
                    <a:pt x="1290" y="163"/>
                  </a:lnTo>
                  <a:lnTo>
                    <a:pt x="1268" y="149"/>
                  </a:lnTo>
                  <a:lnTo>
                    <a:pt x="1247" y="133"/>
                  </a:lnTo>
                  <a:lnTo>
                    <a:pt x="1222" y="120"/>
                  </a:lnTo>
                  <a:lnTo>
                    <a:pt x="1198" y="105"/>
                  </a:lnTo>
                  <a:lnTo>
                    <a:pt x="1172" y="92"/>
                  </a:lnTo>
                  <a:lnTo>
                    <a:pt x="1144" y="81"/>
                  </a:lnTo>
                  <a:lnTo>
                    <a:pt x="1117" y="69"/>
                  </a:lnTo>
                  <a:lnTo>
                    <a:pt x="1088" y="59"/>
                  </a:lnTo>
                  <a:lnTo>
                    <a:pt x="1058" y="49"/>
                  </a:lnTo>
                  <a:lnTo>
                    <a:pt x="1027" y="39"/>
                  </a:lnTo>
                  <a:lnTo>
                    <a:pt x="996" y="32"/>
                  </a:lnTo>
                  <a:lnTo>
                    <a:pt x="962" y="24"/>
                  </a:lnTo>
                  <a:lnTo>
                    <a:pt x="929" y="17"/>
                  </a:lnTo>
                  <a:lnTo>
                    <a:pt x="895" y="11"/>
                  </a:lnTo>
                  <a:lnTo>
                    <a:pt x="860" y="7"/>
                  </a:lnTo>
                  <a:lnTo>
                    <a:pt x="825" y="4"/>
                  </a:lnTo>
                  <a:lnTo>
                    <a:pt x="789" y="1"/>
                  </a:lnTo>
                  <a:lnTo>
                    <a:pt x="753" y="0"/>
                  </a:lnTo>
                  <a:lnTo>
                    <a:pt x="716" y="0"/>
                  </a:lnTo>
                </a:path>
              </a:pathLst>
            </a:custGeom>
            <a:solidFill>
              <a:schemeClr val="bg1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Rectangle 21">
              <a:extLst>
                <a:ext uri="{FF2B5EF4-FFF2-40B4-BE49-F238E27FC236}">
                  <a16:creationId xmlns:a16="http://schemas.microsoft.com/office/drawing/2014/main" id="{38F46B42-1968-BF64-5B29-B7D9E85619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8" y="1329"/>
              <a:ext cx="57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1700" dirty="0">
                  <a:solidFill>
                    <a:srgbClr val="000000"/>
                  </a:solidFill>
                  <a:latin typeface="Symbol" charset="0"/>
                </a:rPr>
                <a:t>¤ </a:t>
              </a:r>
              <a:endParaRPr kumimoji="0" lang="en-US" sz="2400" dirty="0">
                <a:latin typeface="Times New Roman" charset="0"/>
              </a:endParaRPr>
            </a:p>
          </p:txBody>
        </p:sp>
        <p:sp>
          <p:nvSpPr>
            <p:cNvPr id="30" name="Rectangle 22">
              <a:extLst>
                <a:ext uri="{FF2B5EF4-FFF2-40B4-BE49-F238E27FC236}">
                  <a16:creationId xmlns:a16="http://schemas.microsoft.com/office/drawing/2014/main" id="{F373D9B9-2D8D-1CF1-8D30-008EF0D6C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7" y="1333"/>
              <a:ext cx="12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A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31" name="Rectangle 23">
              <a:extLst>
                <a:ext uri="{FF2B5EF4-FFF2-40B4-BE49-F238E27FC236}">
                  <a16:creationId xmlns:a16="http://schemas.microsoft.com/office/drawing/2014/main" id="{9CE2DBC8-EF32-CC19-08F3-5EB68D90C7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8" y="1333"/>
              <a:ext cx="89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z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32" name="Rectangle 24">
              <a:extLst>
                <a:ext uri="{FF2B5EF4-FFF2-40B4-BE49-F238E27FC236}">
                  <a16:creationId xmlns:a16="http://schemas.microsoft.com/office/drawing/2014/main" id="{50C08FF8-1B77-022F-C3DB-884ECC3415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5" y="1333"/>
              <a:ext cx="9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33" name="Rectangle 25">
              <a:extLst>
                <a:ext uri="{FF2B5EF4-FFF2-40B4-BE49-F238E27FC236}">
                  <a16:creationId xmlns:a16="http://schemas.microsoft.com/office/drawing/2014/main" id="{6D845BF3-C28C-F5B2-429C-1F57E37E7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9" y="1333"/>
              <a:ext cx="10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E9A08FF9-CB5D-FD80-6FDC-A36A45C666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" y="1469"/>
              <a:ext cx="86" cy="43"/>
            </a:xfrm>
            <a:custGeom>
              <a:avLst/>
              <a:gdLst>
                <a:gd name="T0" fmla="*/ 0 w 173"/>
                <a:gd name="T1" fmla="*/ 0 h 87"/>
                <a:gd name="T2" fmla="*/ 0 w 173"/>
                <a:gd name="T3" fmla="*/ 0 h 87"/>
                <a:gd name="T4" fmla="*/ 0 w 173"/>
                <a:gd name="T5" fmla="*/ 0 h 87"/>
                <a:gd name="T6" fmla="*/ 0 w 173"/>
                <a:gd name="T7" fmla="*/ 0 h 87"/>
                <a:gd name="T8" fmla="*/ 0 w 173"/>
                <a:gd name="T9" fmla="*/ 0 h 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3"/>
                <a:gd name="T16" fmla="*/ 0 h 87"/>
                <a:gd name="T17" fmla="*/ 173 w 173"/>
                <a:gd name="T18" fmla="*/ 87 h 8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3" h="87">
                  <a:moveTo>
                    <a:pt x="173" y="29"/>
                  </a:moveTo>
                  <a:lnTo>
                    <a:pt x="0" y="0"/>
                  </a:lnTo>
                  <a:lnTo>
                    <a:pt x="144" y="87"/>
                  </a:lnTo>
                  <a:lnTo>
                    <a:pt x="144" y="58"/>
                  </a:lnTo>
                  <a:lnTo>
                    <a:pt x="173" y="29"/>
                  </a:lnTo>
                  <a:close/>
                </a:path>
              </a:pathLst>
            </a:custGeom>
            <a:solidFill>
              <a:srgbClr val="0000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2368965A-498B-717A-1D40-12021B3FEC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7" y="1502"/>
              <a:ext cx="312" cy="38"/>
            </a:xfrm>
            <a:custGeom>
              <a:avLst/>
              <a:gdLst>
                <a:gd name="T0" fmla="*/ 0 w 625"/>
                <a:gd name="T1" fmla="*/ 1 h 75"/>
                <a:gd name="T2" fmla="*/ 0 w 625"/>
                <a:gd name="T3" fmla="*/ 1 h 75"/>
                <a:gd name="T4" fmla="*/ 0 w 625"/>
                <a:gd name="T5" fmla="*/ 1 h 75"/>
                <a:gd name="T6" fmla="*/ 0 w 625"/>
                <a:gd name="T7" fmla="*/ 1 h 75"/>
                <a:gd name="T8" fmla="*/ 0 w 625"/>
                <a:gd name="T9" fmla="*/ 1 h 75"/>
                <a:gd name="T10" fmla="*/ 0 w 625"/>
                <a:gd name="T11" fmla="*/ 1 h 75"/>
                <a:gd name="T12" fmla="*/ 0 w 625"/>
                <a:gd name="T13" fmla="*/ 1 h 75"/>
                <a:gd name="T14" fmla="*/ 0 w 625"/>
                <a:gd name="T15" fmla="*/ 1 h 75"/>
                <a:gd name="T16" fmla="*/ 0 w 625"/>
                <a:gd name="T17" fmla="*/ 1 h 75"/>
                <a:gd name="T18" fmla="*/ 0 w 625"/>
                <a:gd name="T19" fmla="*/ 1 h 75"/>
                <a:gd name="T20" fmla="*/ 0 w 625"/>
                <a:gd name="T21" fmla="*/ 1 h 75"/>
                <a:gd name="T22" fmla="*/ 0 w 625"/>
                <a:gd name="T23" fmla="*/ 1 h 75"/>
                <a:gd name="T24" fmla="*/ 0 w 625"/>
                <a:gd name="T25" fmla="*/ 1 h 75"/>
                <a:gd name="T26" fmla="*/ 0 w 625"/>
                <a:gd name="T27" fmla="*/ 1 h 75"/>
                <a:gd name="T28" fmla="*/ 0 w 625"/>
                <a:gd name="T29" fmla="*/ 1 h 75"/>
                <a:gd name="T30" fmla="*/ 0 w 625"/>
                <a:gd name="T31" fmla="*/ 1 h 75"/>
                <a:gd name="T32" fmla="*/ 0 w 625"/>
                <a:gd name="T33" fmla="*/ 1 h 75"/>
                <a:gd name="T34" fmla="*/ 0 w 625"/>
                <a:gd name="T35" fmla="*/ 1 h 75"/>
                <a:gd name="T36" fmla="*/ 0 w 625"/>
                <a:gd name="T37" fmla="*/ 1 h 75"/>
                <a:gd name="T38" fmla="*/ 0 w 625"/>
                <a:gd name="T39" fmla="*/ 1 h 75"/>
                <a:gd name="T40" fmla="*/ 0 w 625"/>
                <a:gd name="T41" fmla="*/ 1 h 75"/>
                <a:gd name="T42" fmla="*/ 0 w 625"/>
                <a:gd name="T43" fmla="*/ 1 h 75"/>
                <a:gd name="T44" fmla="*/ 0 w 625"/>
                <a:gd name="T45" fmla="*/ 1 h 75"/>
                <a:gd name="T46" fmla="*/ 0 w 625"/>
                <a:gd name="T47" fmla="*/ 1 h 75"/>
                <a:gd name="T48" fmla="*/ 0 w 625"/>
                <a:gd name="T49" fmla="*/ 1 h 75"/>
                <a:gd name="T50" fmla="*/ 0 w 625"/>
                <a:gd name="T51" fmla="*/ 1 h 75"/>
                <a:gd name="T52" fmla="*/ 0 w 625"/>
                <a:gd name="T53" fmla="*/ 1 h 75"/>
                <a:gd name="T54" fmla="*/ 0 w 625"/>
                <a:gd name="T55" fmla="*/ 1 h 75"/>
                <a:gd name="T56" fmla="*/ 0 w 625"/>
                <a:gd name="T57" fmla="*/ 1 h 75"/>
                <a:gd name="T58" fmla="*/ 0 w 625"/>
                <a:gd name="T59" fmla="*/ 1 h 75"/>
                <a:gd name="T60" fmla="*/ 0 w 625"/>
                <a:gd name="T61" fmla="*/ 1 h 75"/>
                <a:gd name="T62" fmla="*/ 0 w 625"/>
                <a:gd name="T63" fmla="*/ 1 h 75"/>
                <a:gd name="T64" fmla="*/ 0 w 625"/>
                <a:gd name="T65" fmla="*/ 1 h 75"/>
                <a:gd name="T66" fmla="*/ 0 w 625"/>
                <a:gd name="T67" fmla="*/ 1 h 75"/>
                <a:gd name="T68" fmla="*/ 0 w 625"/>
                <a:gd name="T69" fmla="*/ 1 h 75"/>
                <a:gd name="T70" fmla="*/ 0 w 625"/>
                <a:gd name="T71" fmla="*/ 1 h 75"/>
                <a:gd name="T72" fmla="*/ 0 w 625"/>
                <a:gd name="T73" fmla="*/ 1 h 75"/>
                <a:gd name="T74" fmla="*/ 0 w 625"/>
                <a:gd name="T75" fmla="*/ 1 h 75"/>
                <a:gd name="T76" fmla="*/ 0 w 625"/>
                <a:gd name="T77" fmla="*/ 1 h 75"/>
                <a:gd name="T78" fmla="*/ 0 w 625"/>
                <a:gd name="T79" fmla="*/ 1 h 75"/>
                <a:gd name="T80" fmla="*/ 0 w 625"/>
                <a:gd name="T81" fmla="*/ 1 h 75"/>
                <a:gd name="T82" fmla="*/ 0 w 625"/>
                <a:gd name="T83" fmla="*/ 1 h 75"/>
                <a:gd name="T84" fmla="*/ 0 w 625"/>
                <a:gd name="T85" fmla="*/ 1 h 75"/>
                <a:gd name="T86" fmla="*/ 0 w 625"/>
                <a:gd name="T87" fmla="*/ 1 h 75"/>
                <a:gd name="T88" fmla="*/ 0 w 625"/>
                <a:gd name="T89" fmla="*/ 1 h 75"/>
                <a:gd name="T90" fmla="*/ 0 w 625"/>
                <a:gd name="T91" fmla="*/ 1 h 75"/>
                <a:gd name="T92" fmla="*/ 0 w 625"/>
                <a:gd name="T93" fmla="*/ 1 h 75"/>
                <a:gd name="T94" fmla="*/ 0 w 625"/>
                <a:gd name="T95" fmla="*/ 1 h 75"/>
                <a:gd name="T96" fmla="*/ 0 w 625"/>
                <a:gd name="T97" fmla="*/ 1 h 75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625"/>
                <a:gd name="T148" fmla="*/ 0 h 75"/>
                <a:gd name="T149" fmla="*/ 625 w 625"/>
                <a:gd name="T150" fmla="*/ 75 h 75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625" h="75">
                  <a:moveTo>
                    <a:pt x="0" y="0"/>
                  </a:moveTo>
                  <a:lnTo>
                    <a:pt x="4" y="1"/>
                  </a:lnTo>
                  <a:lnTo>
                    <a:pt x="8" y="3"/>
                  </a:lnTo>
                  <a:lnTo>
                    <a:pt x="13" y="4"/>
                  </a:lnTo>
                  <a:lnTo>
                    <a:pt x="17" y="6"/>
                  </a:lnTo>
                  <a:lnTo>
                    <a:pt x="21" y="7"/>
                  </a:lnTo>
                  <a:lnTo>
                    <a:pt x="24" y="9"/>
                  </a:lnTo>
                  <a:lnTo>
                    <a:pt x="29" y="10"/>
                  </a:lnTo>
                  <a:lnTo>
                    <a:pt x="33" y="10"/>
                  </a:lnTo>
                  <a:lnTo>
                    <a:pt x="36" y="11"/>
                  </a:lnTo>
                  <a:lnTo>
                    <a:pt x="40" y="13"/>
                  </a:lnTo>
                  <a:lnTo>
                    <a:pt x="45" y="14"/>
                  </a:lnTo>
                  <a:lnTo>
                    <a:pt x="47" y="14"/>
                  </a:lnTo>
                  <a:lnTo>
                    <a:pt x="52" y="16"/>
                  </a:lnTo>
                  <a:lnTo>
                    <a:pt x="56" y="16"/>
                  </a:lnTo>
                  <a:lnTo>
                    <a:pt x="59" y="17"/>
                  </a:lnTo>
                  <a:lnTo>
                    <a:pt x="63" y="19"/>
                  </a:lnTo>
                  <a:lnTo>
                    <a:pt x="68" y="19"/>
                  </a:lnTo>
                  <a:lnTo>
                    <a:pt x="71" y="20"/>
                  </a:lnTo>
                  <a:lnTo>
                    <a:pt x="75" y="20"/>
                  </a:lnTo>
                  <a:lnTo>
                    <a:pt x="79" y="22"/>
                  </a:lnTo>
                  <a:lnTo>
                    <a:pt x="84" y="22"/>
                  </a:lnTo>
                  <a:lnTo>
                    <a:pt x="88" y="23"/>
                  </a:lnTo>
                  <a:lnTo>
                    <a:pt x="92" y="23"/>
                  </a:lnTo>
                  <a:lnTo>
                    <a:pt x="97" y="24"/>
                  </a:lnTo>
                  <a:lnTo>
                    <a:pt x="101" y="26"/>
                  </a:lnTo>
                  <a:lnTo>
                    <a:pt x="105" y="26"/>
                  </a:lnTo>
                  <a:lnTo>
                    <a:pt x="111" y="27"/>
                  </a:lnTo>
                  <a:lnTo>
                    <a:pt x="115" y="27"/>
                  </a:lnTo>
                  <a:lnTo>
                    <a:pt x="121" y="29"/>
                  </a:lnTo>
                  <a:lnTo>
                    <a:pt x="125" y="30"/>
                  </a:lnTo>
                  <a:lnTo>
                    <a:pt x="131" y="30"/>
                  </a:lnTo>
                  <a:lnTo>
                    <a:pt x="137" y="32"/>
                  </a:lnTo>
                  <a:lnTo>
                    <a:pt x="147" y="35"/>
                  </a:lnTo>
                  <a:lnTo>
                    <a:pt x="157" y="36"/>
                  </a:lnTo>
                  <a:lnTo>
                    <a:pt x="167" y="37"/>
                  </a:lnTo>
                  <a:lnTo>
                    <a:pt x="176" y="39"/>
                  </a:lnTo>
                  <a:lnTo>
                    <a:pt x="185" y="40"/>
                  </a:lnTo>
                  <a:lnTo>
                    <a:pt x="192" y="42"/>
                  </a:lnTo>
                  <a:lnTo>
                    <a:pt x="199" y="43"/>
                  </a:lnTo>
                  <a:lnTo>
                    <a:pt x="206" y="45"/>
                  </a:lnTo>
                  <a:lnTo>
                    <a:pt x="213" y="46"/>
                  </a:lnTo>
                  <a:lnTo>
                    <a:pt x="219" y="48"/>
                  </a:lnTo>
                  <a:lnTo>
                    <a:pt x="226" y="48"/>
                  </a:lnTo>
                  <a:lnTo>
                    <a:pt x="232" y="49"/>
                  </a:lnTo>
                  <a:lnTo>
                    <a:pt x="238" y="50"/>
                  </a:lnTo>
                  <a:lnTo>
                    <a:pt x="244" y="50"/>
                  </a:lnTo>
                  <a:lnTo>
                    <a:pt x="250" y="52"/>
                  </a:lnTo>
                  <a:lnTo>
                    <a:pt x="257" y="52"/>
                  </a:lnTo>
                  <a:lnTo>
                    <a:pt x="263" y="53"/>
                  </a:lnTo>
                  <a:lnTo>
                    <a:pt x="268" y="53"/>
                  </a:lnTo>
                  <a:lnTo>
                    <a:pt x="274" y="55"/>
                  </a:lnTo>
                  <a:lnTo>
                    <a:pt x="281" y="55"/>
                  </a:lnTo>
                  <a:lnTo>
                    <a:pt x="289" y="56"/>
                  </a:lnTo>
                  <a:lnTo>
                    <a:pt x="294" y="56"/>
                  </a:lnTo>
                  <a:lnTo>
                    <a:pt x="303" y="58"/>
                  </a:lnTo>
                  <a:lnTo>
                    <a:pt x="310" y="58"/>
                  </a:lnTo>
                  <a:lnTo>
                    <a:pt x="319" y="59"/>
                  </a:lnTo>
                  <a:lnTo>
                    <a:pt x="327" y="59"/>
                  </a:lnTo>
                  <a:lnTo>
                    <a:pt x="336" y="61"/>
                  </a:lnTo>
                  <a:lnTo>
                    <a:pt x="346" y="61"/>
                  </a:lnTo>
                  <a:lnTo>
                    <a:pt x="356" y="62"/>
                  </a:lnTo>
                  <a:lnTo>
                    <a:pt x="368" y="62"/>
                  </a:lnTo>
                  <a:lnTo>
                    <a:pt x="379" y="63"/>
                  </a:lnTo>
                  <a:lnTo>
                    <a:pt x="392" y="65"/>
                  </a:lnTo>
                  <a:lnTo>
                    <a:pt x="405" y="65"/>
                  </a:lnTo>
                  <a:lnTo>
                    <a:pt x="417" y="66"/>
                  </a:lnTo>
                  <a:lnTo>
                    <a:pt x="429" y="68"/>
                  </a:lnTo>
                  <a:lnTo>
                    <a:pt x="439" y="68"/>
                  </a:lnTo>
                  <a:lnTo>
                    <a:pt x="449" y="69"/>
                  </a:lnTo>
                  <a:lnTo>
                    <a:pt x="457" y="69"/>
                  </a:lnTo>
                  <a:lnTo>
                    <a:pt x="466" y="71"/>
                  </a:lnTo>
                  <a:lnTo>
                    <a:pt x="475" y="71"/>
                  </a:lnTo>
                  <a:lnTo>
                    <a:pt x="482" y="71"/>
                  </a:lnTo>
                  <a:lnTo>
                    <a:pt x="489" y="72"/>
                  </a:lnTo>
                  <a:lnTo>
                    <a:pt x="496" y="72"/>
                  </a:lnTo>
                  <a:lnTo>
                    <a:pt x="504" y="72"/>
                  </a:lnTo>
                  <a:lnTo>
                    <a:pt x="509" y="74"/>
                  </a:lnTo>
                  <a:lnTo>
                    <a:pt x="515" y="74"/>
                  </a:lnTo>
                  <a:lnTo>
                    <a:pt x="521" y="74"/>
                  </a:lnTo>
                  <a:lnTo>
                    <a:pt x="527" y="74"/>
                  </a:lnTo>
                  <a:lnTo>
                    <a:pt x="531" y="74"/>
                  </a:lnTo>
                  <a:lnTo>
                    <a:pt x="537" y="75"/>
                  </a:lnTo>
                  <a:lnTo>
                    <a:pt x="543" y="75"/>
                  </a:lnTo>
                  <a:lnTo>
                    <a:pt x="547" y="75"/>
                  </a:lnTo>
                  <a:lnTo>
                    <a:pt x="553" y="75"/>
                  </a:lnTo>
                  <a:lnTo>
                    <a:pt x="558" y="75"/>
                  </a:lnTo>
                  <a:lnTo>
                    <a:pt x="563" y="75"/>
                  </a:lnTo>
                  <a:lnTo>
                    <a:pt x="569" y="75"/>
                  </a:lnTo>
                  <a:lnTo>
                    <a:pt x="574" y="75"/>
                  </a:lnTo>
                  <a:lnTo>
                    <a:pt x="582" y="75"/>
                  </a:lnTo>
                  <a:lnTo>
                    <a:pt x="587" y="75"/>
                  </a:lnTo>
                  <a:lnTo>
                    <a:pt x="595" y="75"/>
                  </a:lnTo>
                  <a:lnTo>
                    <a:pt x="602" y="75"/>
                  </a:lnTo>
                  <a:lnTo>
                    <a:pt x="609" y="75"/>
                  </a:lnTo>
                  <a:lnTo>
                    <a:pt x="616" y="75"/>
                  </a:lnTo>
                  <a:lnTo>
                    <a:pt x="625" y="75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DBAE0CB3-3C6B-231B-E888-D2F871D83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9" y="1464"/>
              <a:ext cx="443" cy="76"/>
            </a:xfrm>
            <a:custGeom>
              <a:avLst/>
              <a:gdLst>
                <a:gd name="T0" fmla="*/ 1 w 845"/>
                <a:gd name="T1" fmla="*/ 1 h 152"/>
                <a:gd name="T2" fmla="*/ 1 w 845"/>
                <a:gd name="T3" fmla="*/ 1 h 152"/>
                <a:gd name="T4" fmla="*/ 1 w 845"/>
                <a:gd name="T5" fmla="*/ 1 h 152"/>
                <a:gd name="T6" fmla="*/ 1 w 845"/>
                <a:gd name="T7" fmla="*/ 1 h 152"/>
                <a:gd name="T8" fmla="*/ 1 w 845"/>
                <a:gd name="T9" fmla="*/ 1 h 152"/>
                <a:gd name="T10" fmla="*/ 1 w 845"/>
                <a:gd name="T11" fmla="*/ 1 h 152"/>
                <a:gd name="T12" fmla="*/ 1 w 845"/>
                <a:gd name="T13" fmla="*/ 1 h 152"/>
                <a:gd name="T14" fmla="*/ 1 w 845"/>
                <a:gd name="T15" fmla="*/ 1 h 152"/>
                <a:gd name="T16" fmla="*/ 1 w 845"/>
                <a:gd name="T17" fmla="*/ 1 h 152"/>
                <a:gd name="T18" fmla="*/ 1 w 845"/>
                <a:gd name="T19" fmla="*/ 1 h 152"/>
                <a:gd name="T20" fmla="*/ 1 w 845"/>
                <a:gd name="T21" fmla="*/ 1 h 152"/>
                <a:gd name="T22" fmla="*/ 1 w 845"/>
                <a:gd name="T23" fmla="*/ 1 h 152"/>
                <a:gd name="T24" fmla="*/ 1 w 845"/>
                <a:gd name="T25" fmla="*/ 1 h 152"/>
                <a:gd name="T26" fmla="*/ 1 w 845"/>
                <a:gd name="T27" fmla="*/ 1 h 152"/>
                <a:gd name="T28" fmla="*/ 1 w 845"/>
                <a:gd name="T29" fmla="*/ 1 h 152"/>
                <a:gd name="T30" fmla="*/ 1 w 845"/>
                <a:gd name="T31" fmla="*/ 1 h 152"/>
                <a:gd name="T32" fmla="*/ 1 w 845"/>
                <a:gd name="T33" fmla="*/ 1 h 152"/>
                <a:gd name="T34" fmla="*/ 1 w 845"/>
                <a:gd name="T35" fmla="*/ 1 h 152"/>
                <a:gd name="T36" fmla="*/ 1 w 845"/>
                <a:gd name="T37" fmla="*/ 1 h 152"/>
                <a:gd name="T38" fmla="*/ 1 w 845"/>
                <a:gd name="T39" fmla="*/ 1 h 152"/>
                <a:gd name="T40" fmla="*/ 1 w 845"/>
                <a:gd name="T41" fmla="*/ 1 h 152"/>
                <a:gd name="T42" fmla="*/ 1 w 845"/>
                <a:gd name="T43" fmla="*/ 1 h 152"/>
                <a:gd name="T44" fmla="*/ 1 w 845"/>
                <a:gd name="T45" fmla="*/ 1 h 152"/>
                <a:gd name="T46" fmla="*/ 1 w 845"/>
                <a:gd name="T47" fmla="*/ 1 h 152"/>
                <a:gd name="T48" fmla="*/ 1 w 845"/>
                <a:gd name="T49" fmla="*/ 1 h 152"/>
                <a:gd name="T50" fmla="*/ 1 w 845"/>
                <a:gd name="T51" fmla="*/ 1 h 152"/>
                <a:gd name="T52" fmla="*/ 1 w 845"/>
                <a:gd name="T53" fmla="*/ 1 h 152"/>
                <a:gd name="T54" fmla="*/ 1 w 845"/>
                <a:gd name="T55" fmla="*/ 1 h 152"/>
                <a:gd name="T56" fmla="*/ 1 w 845"/>
                <a:gd name="T57" fmla="*/ 1 h 152"/>
                <a:gd name="T58" fmla="*/ 1 w 845"/>
                <a:gd name="T59" fmla="*/ 1 h 152"/>
                <a:gd name="T60" fmla="*/ 1 w 845"/>
                <a:gd name="T61" fmla="*/ 1 h 152"/>
                <a:gd name="T62" fmla="*/ 1 w 845"/>
                <a:gd name="T63" fmla="*/ 1 h 152"/>
                <a:gd name="T64" fmla="*/ 1 w 845"/>
                <a:gd name="T65" fmla="*/ 1 h 152"/>
                <a:gd name="T66" fmla="*/ 1 w 845"/>
                <a:gd name="T67" fmla="*/ 1 h 152"/>
                <a:gd name="T68" fmla="*/ 1 w 845"/>
                <a:gd name="T69" fmla="*/ 1 h 152"/>
                <a:gd name="T70" fmla="*/ 1 w 845"/>
                <a:gd name="T71" fmla="*/ 1 h 152"/>
                <a:gd name="T72" fmla="*/ 1 w 845"/>
                <a:gd name="T73" fmla="*/ 1 h 152"/>
                <a:gd name="T74" fmla="*/ 1 w 845"/>
                <a:gd name="T75" fmla="*/ 1 h 152"/>
                <a:gd name="T76" fmla="*/ 1 w 845"/>
                <a:gd name="T77" fmla="*/ 1 h 152"/>
                <a:gd name="T78" fmla="*/ 1 w 845"/>
                <a:gd name="T79" fmla="*/ 1 h 152"/>
                <a:gd name="T80" fmla="*/ 1 w 845"/>
                <a:gd name="T81" fmla="*/ 1 h 152"/>
                <a:gd name="T82" fmla="*/ 1 w 845"/>
                <a:gd name="T83" fmla="*/ 1 h 152"/>
                <a:gd name="T84" fmla="*/ 1 w 845"/>
                <a:gd name="T85" fmla="*/ 1 h 152"/>
                <a:gd name="T86" fmla="*/ 1 w 845"/>
                <a:gd name="T87" fmla="*/ 1 h 152"/>
                <a:gd name="T88" fmla="*/ 1 w 845"/>
                <a:gd name="T89" fmla="*/ 1 h 152"/>
                <a:gd name="T90" fmla="*/ 1 w 845"/>
                <a:gd name="T91" fmla="*/ 1 h 152"/>
                <a:gd name="T92" fmla="*/ 1 w 845"/>
                <a:gd name="T93" fmla="*/ 1 h 152"/>
                <a:gd name="T94" fmla="*/ 1 w 845"/>
                <a:gd name="T95" fmla="*/ 1 h 152"/>
                <a:gd name="T96" fmla="*/ 1 w 845"/>
                <a:gd name="T97" fmla="*/ 1 h 15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845"/>
                <a:gd name="T148" fmla="*/ 0 h 152"/>
                <a:gd name="T149" fmla="*/ 845 w 845"/>
                <a:gd name="T150" fmla="*/ 152 h 152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845" h="152">
                  <a:moveTo>
                    <a:pt x="845" y="0"/>
                  </a:moveTo>
                  <a:lnTo>
                    <a:pt x="824" y="8"/>
                  </a:lnTo>
                  <a:lnTo>
                    <a:pt x="804" y="16"/>
                  </a:lnTo>
                  <a:lnTo>
                    <a:pt x="785" y="22"/>
                  </a:lnTo>
                  <a:lnTo>
                    <a:pt x="768" y="29"/>
                  </a:lnTo>
                  <a:lnTo>
                    <a:pt x="752" y="35"/>
                  </a:lnTo>
                  <a:lnTo>
                    <a:pt x="736" y="41"/>
                  </a:lnTo>
                  <a:lnTo>
                    <a:pt x="721" y="47"/>
                  </a:lnTo>
                  <a:lnTo>
                    <a:pt x="708" y="51"/>
                  </a:lnTo>
                  <a:lnTo>
                    <a:pt x="695" y="55"/>
                  </a:lnTo>
                  <a:lnTo>
                    <a:pt x="684" y="60"/>
                  </a:lnTo>
                  <a:lnTo>
                    <a:pt x="672" y="64"/>
                  </a:lnTo>
                  <a:lnTo>
                    <a:pt x="662" y="67"/>
                  </a:lnTo>
                  <a:lnTo>
                    <a:pt x="652" y="71"/>
                  </a:lnTo>
                  <a:lnTo>
                    <a:pt x="642" y="74"/>
                  </a:lnTo>
                  <a:lnTo>
                    <a:pt x="633" y="77"/>
                  </a:lnTo>
                  <a:lnTo>
                    <a:pt x="625" y="80"/>
                  </a:lnTo>
                  <a:lnTo>
                    <a:pt x="617" y="81"/>
                  </a:lnTo>
                  <a:lnTo>
                    <a:pt x="609" y="84"/>
                  </a:lnTo>
                  <a:lnTo>
                    <a:pt x="602" y="86"/>
                  </a:lnTo>
                  <a:lnTo>
                    <a:pt x="594" y="88"/>
                  </a:lnTo>
                  <a:lnTo>
                    <a:pt x="587" y="90"/>
                  </a:lnTo>
                  <a:lnTo>
                    <a:pt x="580" y="91"/>
                  </a:lnTo>
                  <a:lnTo>
                    <a:pt x="573" y="93"/>
                  </a:lnTo>
                  <a:lnTo>
                    <a:pt x="564" y="96"/>
                  </a:lnTo>
                  <a:lnTo>
                    <a:pt x="557" y="97"/>
                  </a:lnTo>
                  <a:lnTo>
                    <a:pt x="550" y="99"/>
                  </a:lnTo>
                  <a:lnTo>
                    <a:pt x="541" y="100"/>
                  </a:lnTo>
                  <a:lnTo>
                    <a:pt x="532" y="101"/>
                  </a:lnTo>
                  <a:lnTo>
                    <a:pt x="524" y="103"/>
                  </a:lnTo>
                  <a:lnTo>
                    <a:pt x="513" y="106"/>
                  </a:lnTo>
                  <a:lnTo>
                    <a:pt x="503" y="107"/>
                  </a:lnTo>
                  <a:lnTo>
                    <a:pt x="493" y="109"/>
                  </a:lnTo>
                  <a:lnTo>
                    <a:pt x="482" y="112"/>
                  </a:lnTo>
                  <a:lnTo>
                    <a:pt x="472" y="113"/>
                  </a:lnTo>
                  <a:lnTo>
                    <a:pt x="463" y="114"/>
                  </a:lnTo>
                  <a:lnTo>
                    <a:pt x="454" y="116"/>
                  </a:lnTo>
                  <a:lnTo>
                    <a:pt x="446" y="117"/>
                  </a:lnTo>
                  <a:lnTo>
                    <a:pt x="437" y="119"/>
                  </a:lnTo>
                  <a:lnTo>
                    <a:pt x="430" y="120"/>
                  </a:lnTo>
                  <a:lnTo>
                    <a:pt x="423" y="122"/>
                  </a:lnTo>
                  <a:lnTo>
                    <a:pt x="415" y="123"/>
                  </a:lnTo>
                  <a:lnTo>
                    <a:pt x="410" y="125"/>
                  </a:lnTo>
                  <a:lnTo>
                    <a:pt x="402" y="125"/>
                  </a:lnTo>
                  <a:lnTo>
                    <a:pt x="397" y="126"/>
                  </a:lnTo>
                  <a:lnTo>
                    <a:pt x="391" y="127"/>
                  </a:lnTo>
                  <a:lnTo>
                    <a:pt x="385" y="127"/>
                  </a:lnTo>
                  <a:lnTo>
                    <a:pt x="378" y="129"/>
                  </a:lnTo>
                  <a:lnTo>
                    <a:pt x="372" y="129"/>
                  </a:lnTo>
                  <a:lnTo>
                    <a:pt x="366" y="130"/>
                  </a:lnTo>
                  <a:lnTo>
                    <a:pt x="360" y="130"/>
                  </a:lnTo>
                  <a:lnTo>
                    <a:pt x="353" y="132"/>
                  </a:lnTo>
                  <a:lnTo>
                    <a:pt x="347" y="132"/>
                  </a:lnTo>
                  <a:lnTo>
                    <a:pt x="340" y="133"/>
                  </a:lnTo>
                  <a:lnTo>
                    <a:pt x="333" y="133"/>
                  </a:lnTo>
                  <a:lnTo>
                    <a:pt x="326" y="135"/>
                  </a:lnTo>
                  <a:lnTo>
                    <a:pt x="317" y="135"/>
                  </a:lnTo>
                  <a:lnTo>
                    <a:pt x="310" y="136"/>
                  </a:lnTo>
                  <a:lnTo>
                    <a:pt x="300" y="136"/>
                  </a:lnTo>
                  <a:lnTo>
                    <a:pt x="291" y="138"/>
                  </a:lnTo>
                  <a:lnTo>
                    <a:pt x="281" y="138"/>
                  </a:lnTo>
                  <a:lnTo>
                    <a:pt x="271" y="139"/>
                  </a:lnTo>
                  <a:lnTo>
                    <a:pt x="259" y="139"/>
                  </a:lnTo>
                  <a:lnTo>
                    <a:pt x="246" y="140"/>
                  </a:lnTo>
                  <a:lnTo>
                    <a:pt x="233" y="142"/>
                  </a:lnTo>
                  <a:lnTo>
                    <a:pt x="222" y="143"/>
                  </a:lnTo>
                  <a:lnTo>
                    <a:pt x="209" y="143"/>
                  </a:lnTo>
                  <a:lnTo>
                    <a:pt x="197" y="145"/>
                  </a:lnTo>
                  <a:lnTo>
                    <a:pt x="187" y="145"/>
                  </a:lnTo>
                  <a:lnTo>
                    <a:pt x="177" y="146"/>
                  </a:lnTo>
                  <a:lnTo>
                    <a:pt x="168" y="146"/>
                  </a:lnTo>
                  <a:lnTo>
                    <a:pt x="160" y="148"/>
                  </a:lnTo>
                  <a:lnTo>
                    <a:pt x="151" y="148"/>
                  </a:lnTo>
                  <a:lnTo>
                    <a:pt x="144" y="149"/>
                  </a:lnTo>
                  <a:lnTo>
                    <a:pt x="137" y="149"/>
                  </a:lnTo>
                  <a:lnTo>
                    <a:pt x="130" y="149"/>
                  </a:lnTo>
                  <a:lnTo>
                    <a:pt x="122" y="151"/>
                  </a:lnTo>
                  <a:lnTo>
                    <a:pt x="117" y="151"/>
                  </a:lnTo>
                  <a:lnTo>
                    <a:pt x="111" y="151"/>
                  </a:lnTo>
                  <a:lnTo>
                    <a:pt x="105" y="151"/>
                  </a:lnTo>
                  <a:lnTo>
                    <a:pt x="99" y="151"/>
                  </a:lnTo>
                  <a:lnTo>
                    <a:pt x="93" y="152"/>
                  </a:lnTo>
                  <a:lnTo>
                    <a:pt x="88" y="152"/>
                  </a:lnTo>
                  <a:lnTo>
                    <a:pt x="83" y="152"/>
                  </a:lnTo>
                  <a:lnTo>
                    <a:pt x="78" y="152"/>
                  </a:lnTo>
                  <a:lnTo>
                    <a:pt x="72" y="152"/>
                  </a:lnTo>
                  <a:lnTo>
                    <a:pt x="67" y="152"/>
                  </a:lnTo>
                  <a:lnTo>
                    <a:pt x="62" y="152"/>
                  </a:lnTo>
                  <a:lnTo>
                    <a:pt x="56" y="152"/>
                  </a:lnTo>
                  <a:lnTo>
                    <a:pt x="50" y="152"/>
                  </a:lnTo>
                  <a:lnTo>
                    <a:pt x="44" y="152"/>
                  </a:lnTo>
                  <a:lnTo>
                    <a:pt x="37" y="152"/>
                  </a:lnTo>
                  <a:lnTo>
                    <a:pt x="30" y="152"/>
                  </a:lnTo>
                  <a:lnTo>
                    <a:pt x="23" y="152"/>
                  </a:lnTo>
                  <a:lnTo>
                    <a:pt x="15" y="152"/>
                  </a:lnTo>
                  <a:lnTo>
                    <a:pt x="8" y="152"/>
                  </a:lnTo>
                  <a:lnTo>
                    <a:pt x="0" y="152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Rectangle 29">
              <a:extLst>
                <a:ext uri="{FF2B5EF4-FFF2-40B4-BE49-F238E27FC236}">
                  <a16:creationId xmlns:a16="http://schemas.microsoft.com/office/drawing/2014/main" id="{DE9FFE8F-2145-16B5-1F16-F75CA5606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3" y="1329"/>
              <a:ext cx="57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1700">
                  <a:solidFill>
                    <a:srgbClr val="000000"/>
                  </a:solidFill>
                  <a:latin typeface="Symbol" charset="0"/>
                </a:rPr>
                <a:t>¤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38" name="Rectangle 30">
              <a:extLst>
                <a:ext uri="{FF2B5EF4-FFF2-40B4-BE49-F238E27FC236}">
                  <a16:creationId xmlns:a16="http://schemas.microsoft.com/office/drawing/2014/main" id="{AB149E2A-7E95-A4B7-85C5-CA8B8ABC9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1334"/>
              <a:ext cx="11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39" name="Rectangle 31">
              <a:extLst>
                <a:ext uri="{FF2B5EF4-FFF2-40B4-BE49-F238E27FC236}">
                  <a16:creationId xmlns:a16="http://schemas.microsoft.com/office/drawing/2014/main" id="{25EFDC7F-CF3F-F62C-FFC0-D2BA195DBD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2" y="1334"/>
              <a:ext cx="9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40" name="Freeform 32">
              <a:extLst>
                <a:ext uri="{FF2B5EF4-FFF2-40B4-BE49-F238E27FC236}">
                  <a16:creationId xmlns:a16="http://schemas.microsoft.com/office/drawing/2014/main" id="{CFF79659-2006-C95B-340A-4F60619A10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7" y="1093"/>
              <a:ext cx="43" cy="87"/>
            </a:xfrm>
            <a:custGeom>
              <a:avLst/>
              <a:gdLst>
                <a:gd name="T0" fmla="*/ 0 w 87"/>
                <a:gd name="T1" fmla="*/ 0 h 173"/>
                <a:gd name="T2" fmla="*/ 0 w 87"/>
                <a:gd name="T3" fmla="*/ 1 h 173"/>
                <a:gd name="T4" fmla="*/ 0 w 87"/>
                <a:gd name="T5" fmla="*/ 0 h 173"/>
                <a:gd name="T6" fmla="*/ 0 w 87"/>
                <a:gd name="T7" fmla="*/ 0 h 173"/>
                <a:gd name="T8" fmla="*/ 0 w 87"/>
                <a:gd name="T9" fmla="*/ 0 h 1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"/>
                <a:gd name="T16" fmla="*/ 0 h 173"/>
                <a:gd name="T17" fmla="*/ 87 w 87"/>
                <a:gd name="T18" fmla="*/ 173 h 1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" h="173">
                  <a:moveTo>
                    <a:pt x="0" y="0"/>
                  </a:moveTo>
                  <a:lnTo>
                    <a:pt x="58" y="173"/>
                  </a:lnTo>
                  <a:lnTo>
                    <a:pt x="87" y="0"/>
                  </a:lnTo>
                  <a:lnTo>
                    <a:pt x="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33">
              <a:extLst>
                <a:ext uri="{FF2B5EF4-FFF2-40B4-BE49-F238E27FC236}">
                  <a16:creationId xmlns:a16="http://schemas.microsoft.com/office/drawing/2014/main" id="{066E232C-4148-BE98-7DA8-0C92D8CAE7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6" y="905"/>
              <a:ext cx="1" cy="1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Rectangle 34">
              <a:extLst>
                <a:ext uri="{FF2B5EF4-FFF2-40B4-BE49-F238E27FC236}">
                  <a16:creationId xmlns:a16="http://schemas.microsoft.com/office/drawing/2014/main" id="{CF410DD2-DE76-3C53-2C65-9A599C023D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4" y="1334"/>
              <a:ext cx="10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43" name="Rectangle 35">
              <a:extLst>
                <a:ext uri="{FF2B5EF4-FFF2-40B4-BE49-F238E27FC236}">
                  <a16:creationId xmlns:a16="http://schemas.microsoft.com/office/drawing/2014/main" id="{B0BAF741-67CE-6936-23F1-4A2A4D914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5" y="3240"/>
              <a:ext cx="11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44" name="Rectangle 36">
              <a:extLst>
                <a:ext uri="{FF2B5EF4-FFF2-40B4-BE49-F238E27FC236}">
                  <a16:creationId xmlns:a16="http://schemas.microsoft.com/office/drawing/2014/main" id="{9E73430A-9B1C-1EEC-D2DA-9BA0E6CD5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5" y="3240"/>
              <a:ext cx="9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45" name="Rectangle 37">
              <a:extLst>
                <a:ext uri="{FF2B5EF4-FFF2-40B4-BE49-F238E27FC236}">
                  <a16:creationId xmlns:a16="http://schemas.microsoft.com/office/drawing/2014/main" id="{81AA4098-805B-DC0D-91C8-96A3F0AA1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7" y="3240"/>
              <a:ext cx="10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46" name="Rectangle 38">
              <a:extLst>
                <a:ext uri="{FF2B5EF4-FFF2-40B4-BE49-F238E27FC236}">
                  <a16:creationId xmlns:a16="http://schemas.microsoft.com/office/drawing/2014/main" id="{FEBC4B25-509B-F751-3656-2C0032392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7" y="1093"/>
              <a:ext cx="11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47" name="Rectangle 39">
              <a:extLst>
                <a:ext uri="{FF2B5EF4-FFF2-40B4-BE49-F238E27FC236}">
                  <a16:creationId xmlns:a16="http://schemas.microsoft.com/office/drawing/2014/main" id="{2EBBB091-0714-0577-9CBA-7B72E5AF30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6" y="1093"/>
              <a:ext cx="9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48" name="Rectangle 40">
              <a:extLst>
                <a:ext uri="{FF2B5EF4-FFF2-40B4-BE49-F238E27FC236}">
                  <a16:creationId xmlns:a16="http://schemas.microsoft.com/office/drawing/2014/main" id="{031711DB-B85F-C739-7C16-F71967D26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9" y="1093"/>
              <a:ext cx="10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49" name="Rectangle 41">
              <a:extLst>
                <a:ext uri="{FF2B5EF4-FFF2-40B4-BE49-F238E27FC236}">
                  <a16:creationId xmlns:a16="http://schemas.microsoft.com/office/drawing/2014/main" id="{B769011B-63DA-03BF-020A-248C5A8BC2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7" y="1613"/>
              <a:ext cx="11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50" name="Rectangle 42">
              <a:extLst>
                <a:ext uri="{FF2B5EF4-FFF2-40B4-BE49-F238E27FC236}">
                  <a16:creationId xmlns:a16="http://schemas.microsoft.com/office/drawing/2014/main" id="{F6ED203A-18B5-5500-C242-25FF40BCA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6" y="1613"/>
              <a:ext cx="9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51" name="Freeform 43">
              <a:extLst>
                <a:ext uri="{FF2B5EF4-FFF2-40B4-BE49-F238E27FC236}">
                  <a16:creationId xmlns:a16="http://schemas.microsoft.com/office/drawing/2014/main" id="{F3BB022A-B703-E50A-DDBC-1FB52C8FB9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5" y="1613"/>
              <a:ext cx="43" cy="87"/>
            </a:xfrm>
            <a:custGeom>
              <a:avLst/>
              <a:gdLst>
                <a:gd name="T0" fmla="*/ 0 w 87"/>
                <a:gd name="T1" fmla="*/ 1 h 173"/>
                <a:gd name="T2" fmla="*/ 0 w 87"/>
                <a:gd name="T3" fmla="*/ 0 h 173"/>
                <a:gd name="T4" fmla="*/ 0 w 87"/>
                <a:gd name="T5" fmla="*/ 1 h 173"/>
                <a:gd name="T6" fmla="*/ 0 w 87"/>
                <a:gd name="T7" fmla="*/ 1 h 173"/>
                <a:gd name="T8" fmla="*/ 0 w 87"/>
                <a:gd name="T9" fmla="*/ 1 h 1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"/>
                <a:gd name="T16" fmla="*/ 0 h 173"/>
                <a:gd name="T17" fmla="*/ 87 w 87"/>
                <a:gd name="T18" fmla="*/ 173 h 1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" h="173">
                  <a:moveTo>
                    <a:pt x="87" y="144"/>
                  </a:moveTo>
                  <a:lnTo>
                    <a:pt x="0" y="0"/>
                  </a:lnTo>
                  <a:lnTo>
                    <a:pt x="29" y="173"/>
                  </a:lnTo>
                  <a:lnTo>
                    <a:pt x="58" y="173"/>
                  </a:lnTo>
                  <a:lnTo>
                    <a:pt x="87" y="144"/>
                  </a:lnTo>
                  <a:close/>
                </a:path>
              </a:pathLst>
            </a:custGeom>
            <a:solidFill>
              <a:srgbClr val="0000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Line 44">
              <a:extLst>
                <a:ext uri="{FF2B5EF4-FFF2-40B4-BE49-F238E27FC236}">
                  <a16:creationId xmlns:a16="http://schemas.microsoft.com/office/drawing/2014/main" id="{F331C651-A29F-4CF5-80DC-B8EE8D9061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4" y="1700"/>
              <a:ext cx="360" cy="765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5">
              <a:extLst>
                <a:ext uri="{FF2B5EF4-FFF2-40B4-BE49-F238E27FC236}">
                  <a16:creationId xmlns:a16="http://schemas.microsoft.com/office/drawing/2014/main" id="{1D0B4630-7155-FAF6-32FB-DDB332EF0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7" y="2364"/>
              <a:ext cx="58" cy="86"/>
            </a:xfrm>
            <a:custGeom>
              <a:avLst/>
              <a:gdLst>
                <a:gd name="T0" fmla="*/ 1 w 115"/>
                <a:gd name="T1" fmla="*/ 0 h 173"/>
                <a:gd name="T2" fmla="*/ 0 w 115"/>
                <a:gd name="T3" fmla="*/ 0 h 173"/>
                <a:gd name="T4" fmla="*/ 1 w 115"/>
                <a:gd name="T5" fmla="*/ 0 h 173"/>
                <a:gd name="T6" fmla="*/ 1 w 115"/>
                <a:gd name="T7" fmla="*/ 0 h 173"/>
                <a:gd name="T8" fmla="*/ 1 w 115"/>
                <a:gd name="T9" fmla="*/ 0 h 1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5"/>
                <a:gd name="T16" fmla="*/ 0 h 173"/>
                <a:gd name="T17" fmla="*/ 115 w 115"/>
                <a:gd name="T18" fmla="*/ 173 h 1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5" h="173">
                  <a:moveTo>
                    <a:pt x="29" y="0"/>
                  </a:moveTo>
                  <a:lnTo>
                    <a:pt x="0" y="173"/>
                  </a:lnTo>
                  <a:lnTo>
                    <a:pt x="115" y="28"/>
                  </a:lnTo>
                  <a:lnTo>
                    <a:pt x="87" y="28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Line 46">
              <a:extLst>
                <a:ext uri="{FF2B5EF4-FFF2-40B4-BE49-F238E27FC236}">
                  <a16:creationId xmlns:a16="http://schemas.microsoft.com/office/drawing/2014/main" id="{60CBBC4F-9EF6-21B2-8044-5006025326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31" y="1598"/>
              <a:ext cx="361" cy="766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Rectangle 47">
              <a:extLst>
                <a:ext uri="{FF2B5EF4-FFF2-40B4-BE49-F238E27FC236}">
                  <a16:creationId xmlns:a16="http://schemas.microsoft.com/office/drawing/2014/main" id="{919CDDBF-192B-4FB1-51DB-6AC87F554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9" y="1613"/>
              <a:ext cx="10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56" name="Rectangle 48">
              <a:extLst>
                <a:ext uri="{FF2B5EF4-FFF2-40B4-BE49-F238E27FC236}">
                  <a16:creationId xmlns:a16="http://schemas.microsoft.com/office/drawing/2014/main" id="{9E2514AA-30B1-F240-8AE9-3B85ED9F2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1" y="1944"/>
              <a:ext cx="11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57" name="Rectangle 49">
              <a:extLst>
                <a:ext uri="{FF2B5EF4-FFF2-40B4-BE49-F238E27FC236}">
                  <a16:creationId xmlns:a16="http://schemas.microsoft.com/office/drawing/2014/main" id="{52AF3F99-E4EF-CBE7-A215-A75EDD090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1" y="1944"/>
              <a:ext cx="9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58" name="Rectangle 50">
              <a:extLst>
                <a:ext uri="{FF2B5EF4-FFF2-40B4-BE49-F238E27FC236}">
                  <a16:creationId xmlns:a16="http://schemas.microsoft.com/office/drawing/2014/main" id="{CEC36C84-B940-A644-41FE-727D3451E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3" y="1944"/>
              <a:ext cx="10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59" name="Rectangle 51">
              <a:extLst>
                <a:ext uri="{FF2B5EF4-FFF2-40B4-BE49-F238E27FC236}">
                  <a16:creationId xmlns:a16="http://schemas.microsoft.com/office/drawing/2014/main" id="{21F38623-43C2-9D3D-9298-0FABC93BA2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3" y="1942"/>
              <a:ext cx="11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60" name="Rectangle 52">
              <a:extLst>
                <a:ext uri="{FF2B5EF4-FFF2-40B4-BE49-F238E27FC236}">
                  <a16:creationId xmlns:a16="http://schemas.microsoft.com/office/drawing/2014/main" id="{DC8C4B09-DAA6-CD81-8082-C5E5EB9FE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3" y="1942"/>
              <a:ext cx="9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61" name="Freeform 53">
              <a:extLst>
                <a:ext uri="{FF2B5EF4-FFF2-40B4-BE49-F238E27FC236}">
                  <a16:creationId xmlns:a16="http://schemas.microsoft.com/office/drawing/2014/main" id="{1272B378-11E8-CB5E-4DB2-DEE38D7AA9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9" y="1295"/>
              <a:ext cx="86" cy="58"/>
            </a:xfrm>
            <a:custGeom>
              <a:avLst/>
              <a:gdLst>
                <a:gd name="T0" fmla="*/ 0 w 173"/>
                <a:gd name="T1" fmla="*/ 1 h 116"/>
                <a:gd name="T2" fmla="*/ 0 w 173"/>
                <a:gd name="T3" fmla="*/ 1 h 116"/>
                <a:gd name="T4" fmla="*/ 0 w 173"/>
                <a:gd name="T5" fmla="*/ 0 h 116"/>
                <a:gd name="T6" fmla="*/ 0 w 173"/>
                <a:gd name="T7" fmla="*/ 1 h 116"/>
                <a:gd name="T8" fmla="*/ 0 w 173"/>
                <a:gd name="T9" fmla="*/ 1 h 1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3"/>
                <a:gd name="T16" fmla="*/ 0 h 116"/>
                <a:gd name="T17" fmla="*/ 173 w 173"/>
                <a:gd name="T18" fmla="*/ 116 h 1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3" h="116">
                  <a:moveTo>
                    <a:pt x="0" y="87"/>
                  </a:moveTo>
                  <a:lnTo>
                    <a:pt x="173" y="116"/>
                  </a:lnTo>
                  <a:lnTo>
                    <a:pt x="29" y="0"/>
                  </a:lnTo>
                  <a:lnTo>
                    <a:pt x="0" y="58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rgbClr val="0000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4">
              <a:extLst>
                <a:ext uri="{FF2B5EF4-FFF2-40B4-BE49-F238E27FC236}">
                  <a16:creationId xmlns:a16="http://schemas.microsoft.com/office/drawing/2014/main" id="{504E83AE-94DB-CEDC-34E1-35B8B49C0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4" y="1279"/>
              <a:ext cx="312" cy="37"/>
            </a:xfrm>
            <a:custGeom>
              <a:avLst/>
              <a:gdLst>
                <a:gd name="T0" fmla="*/ 1 w 623"/>
                <a:gd name="T1" fmla="*/ 0 h 75"/>
                <a:gd name="T2" fmla="*/ 1 w 623"/>
                <a:gd name="T3" fmla="*/ 0 h 75"/>
                <a:gd name="T4" fmla="*/ 1 w 623"/>
                <a:gd name="T5" fmla="*/ 0 h 75"/>
                <a:gd name="T6" fmla="*/ 1 w 623"/>
                <a:gd name="T7" fmla="*/ 0 h 75"/>
                <a:gd name="T8" fmla="*/ 1 w 623"/>
                <a:gd name="T9" fmla="*/ 0 h 75"/>
                <a:gd name="T10" fmla="*/ 1 w 623"/>
                <a:gd name="T11" fmla="*/ 0 h 75"/>
                <a:gd name="T12" fmla="*/ 1 w 623"/>
                <a:gd name="T13" fmla="*/ 0 h 75"/>
                <a:gd name="T14" fmla="*/ 1 w 623"/>
                <a:gd name="T15" fmla="*/ 0 h 75"/>
                <a:gd name="T16" fmla="*/ 1 w 623"/>
                <a:gd name="T17" fmla="*/ 0 h 75"/>
                <a:gd name="T18" fmla="*/ 1 w 623"/>
                <a:gd name="T19" fmla="*/ 0 h 75"/>
                <a:gd name="T20" fmla="*/ 1 w 623"/>
                <a:gd name="T21" fmla="*/ 0 h 75"/>
                <a:gd name="T22" fmla="*/ 1 w 623"/>
                <a:gd name="T23" fmla="*/ 0 h 75"/>
                <a:gd name="T24" fmla="*/ 1 w 623"/>
                <a:gd name="T25" fmla="*/ 0 h 75"/>
                <a:gd name="T26" fmla="*/ 1 w 623"/>
                <a:gd name="T27" fmla="*/ 0 h 75"/>
                <a:gd name="T28" fmla="*/ 1 w 623"/>
                <a:gd name="T29" fmla="*/ 0 h 75"/>
                <a:gd name="T30" fmla="*/ 1 w 623"/>
                <a:gd name="T31" fmla="*/ 0 h 75"/>
                <a:gd name="T32" fmla="*/ 1 w 623"/>
                <a:gd name="T33" fmla="*/ 0 h 75"/>
                <a:gd name="T34" fmla="*/ 1 w 623"/>
                <a:gd name="T35" fmla="*/ 0 h 75"/>
                <a:gd name="T36" fmla="*/ 1 w 623"/>
                <a:gd name="T37" fmla="*/ 0 h 75"/>
                <a:gd name="T38" fmla="*/ 1 w 623"/>
                <a:gd name="T39" fmla="*/ 0 h 75"/>
                <a:gd name="T40" fmla="*/ 1 w 623"/>
                <a:gd name="T41" fmla="*/ 0 h 75"/>
                <a:gd name="T42" fmla="*/ 1 w 623"/>
                <a:gd name="T43" fmla="*/ 0 h 75"/>
                <a:gd name="T44" fmla="*/ 1 w 623"/>
                <a:gd name="T45" fmla="*/ 0 h 75"/>
                <a:gd name="T46" fmla="*/ 1 w 623"/>
                <a:gd name="T47" fmla="*/ 0 h 75"/>
                <a:gd name="T48" fmla="*/ 1 w 623"/>
                <a:gd name="T49" fmla="*/ 0 h 75"/>
                <a:gd name="T50" fmla="*/ 1 w 623"/>
                <a:gd name="T51" fmla="*/ 0 h 75"/>
                <a:gd name="T52" fmla="*/ 1 w 623"/>
                <a:gd name="T53" fmla="*/ 0 h 75"/>
                <a:gd name="T54" fmla="*/ 1 w 623"/>
                <a:gd name="T55" fmla="*/ 0 h 75"/>
                <a:gd name="T56" fmla="*/ 1 w 623"/>
                <a:gd name="T57" fmla="*/ 0 h 75"/>
                <a:gd name="T58" fmla="*/ 1 w 623"/>
                <a:gd name="T59" fmla="*/ 0 h 75"/>
                <a:gd name="T60" fmla="*/ 1 w 623"/>
                <a:gd name="T61" fmla="*/ 0 h 75"/>
                <a:gd name="T62" fmla="*/ 1 w 623"/>
                <a:gd name="T63" fmla="*/ 0 h 75"/>
                <a:gd name="T64" fmla="*/ 1 w 623"/>
                <a:gd name="T65" fmla="*/ 0 h 75"/>
                <a:gd name="T66" fmla="*/ 1 w 623"/>
                <a:gd name="T67" fmla="*/ 0 h 75"/>
                <a:gd name="T68" fmla="*/ 1 w 623"/>
                <a:gd name="T69" fmla="*/ 0 h 75"/>
                <a:gd name="T70" fmla="*/ 1 w 623"/>
                <a:gd name="T71" fmla="*/ 0 h 75"/>
                <a:gd name="T72" fmla="*/ 1 w 623"/>
                <a:gd name="T73" fmla="*/ 0 h 75"/>
                <a:gd name="T74" fmla="*/ 1 w 623"/>
                <a:gd name="T75" fmla="*/ 0 h 75"/>
                <a:gd name="T76" fmla="*/ 1 w 623"/>
                <a:gd name="T77" fmla="*/ 0 h 75"/>
                <a:gd name="T78" fmla="*/ 1 w 623"/>
                <a:gd name="T79" fmla="*/ 0 h 75"/>
                <a:gd name="T80" fmla="*/ 1 w 623"/>
                <a:gd name="T81" fmla="*/ 0 h 75"/>
                <a:gd name="T82" fmla="*/ 1 w 623"/>
                <a:gd name="T83" fmla="*/ 0 h 75"/>
                <a:gd name="T84" fmla="*/ 1 w 623"/>
                <a:gd name="T85" fmla="*/ 0 h 75"/>
                <a:gd name="T86" fmla="*/ 1 w 623"/>
                <a:gd name="T87" fmla="*/ 0 h 75"/>
                <a:gd name="T88" fmla="*/ 1 w 623"/>
                <a:gd name="T89" fmla="*/ 0 h 75"/>
                <a:gd name="T90" fmla="*/ 1 w 623"/>
                <a:gd name="T91" fmla="*/ 0 h 75"/>
                <a:gd name="T92" fmla="*/ 1 w 623"/>
                <a:gd name="T93" fmla="*/ 0 h 75"/>
                <a:gd name="T94" fmla="*/ 1 w 623"/>
                <a:gd name="T95" fmla="*/ 0 h 75"/>
                <a:gd name="T96" fmla="*/ 1 w 623"/>
                <a:gd name="T97" fmla="*/ 0 h 75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623"/>
                <a:gd name="T148" fmla="*/ 0 h 75"/>
                <a:gd name="T149" fmla="*/ 623 w 623"/>
                <a:gd name="T150" fmla="*/ 75 h 75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623" h="75">
                  <a:moveTo>
                    <a:pt x="623" y="75"/>
                  </a:moveTo>
                  <a:lnTo>
                    <a:pt x="620" y="74"/>
                  </a:lnTo>
                  <a:lnTo>
                    <a:pt x="616" y="72"/>
                  </a:lnTo>
                  <a:lnTo>
                    <a:pt x="612" y="71"/>
                  </a:lnTo>
                  <a:lnTo>
                    <a:pt x="607" y="70"/>
                  </a:lnTo>
                  <a:lnTo>
                    <a:pt x="603" y="68"/>
                  </a:lnTo>
                  <a:lnTo>
                    <a:pt x="599" y="67"/>
                  </a:lnTo>
                  <a:lnTo>
                    <a:pt x="596" y="65"/>
                  </a:lnTo>
                  <a:lnTo>
                    <a:pt x="592" y="64"/>
                  </a:lnTo>
                  <a:lnTo>
                    <a:pt x="587" y="64"/>
                  </a:lnTo>
                  <a:lnTo>
                    <a:pt x="584" y="62"/>
                  </a:lnTo>
                  <a:lnTo>
                    <a:pt x="580" y="61"/>
                  </a:lnTo>
                  <a:lnTo>
                    <a:pt x="576" y="61"/>
                  </a:lnTo>
                  <a:lnTo>
                    <a:pt x="573" y="59"/>
                  </a:lnTo>
                  <a:lnTo>
                    <a:pt x="568" y="58"/>
                  </a:lnTo>
                  <a:lnTo>
                    <a:pt x="564" y="58"/>
                  </a:lnTo>
                  <a:lnTo>
                    <a:pt x="561" y="57"/>
                  </a:lnTo>
                  <a:lnTo>
                    <a:pt x="557" y="57"/>
                  </a:lnTo>
                  <a:lnTo>
                    <a:pt x="553" y="55"/>
                  </a:lnTo>
                  <a:lnTo>
                    <a:pt x="548" y="55"/>
                  </a:lnTo>
                  <a:lnTo>
                    <a:pt x="545" y="54"/>
                  </a:lnTo>
                  <a:lnTo>
                    <a:pt x="541" y="52"/>
                  </a:lnTo>
                  <a:lnTo>
                    <a:pt x="537" y="52"/>
                  </a:lnTo>
                  <a:lnTo>
                    <a:pt x="532" y="51"/>
                  </a:lnTo>
                  <a:lnTo>
                    <a:pt x="528" y="51"/>
                  </a:lnTo>
                  <a:lnTo>
                    <a:pt x="524" y="49"/>
                  </a:lnTo>
                  <a:lnTo>
                    <a:pt x="518" y="49"/>
                  </a:lnTo>
                  <a:lnTo>
                    <a:pt x="514" y="48"/>
                  </a:lnTo>
                  <a:lnTo>
                    <a:pt x="508" y="46"/>
                  </a:lnTo>
                  <a:lnTo>
                    <a:pt x="503" y="46"/>
                  </a:lnTo>
                  <a:lnTo>
                    <a:pt x="498" y="45"/>
                  </a:lnTo>
                  <a:lnTo>
                    <a:pt x="493" y="44"/>
                  </a:lnTo>
                  <a:lnTo>
                    <a:pt x="488" y="44"/>
                  </a:lnTo>
                  <a:lnTo>
                    <a:pt x="476" y="41"/>
                  </a:lnTo>
                  <a:lnTo>
                    <a:pt x="467" y="39"/>
                  </a:lnTo>
                  <a:lnTo>
                    <a:pt x="457" y="38"/>
                  </a:lnTo>
                  <a:lnTo>
                    <a:pt x="449" y="36"/>
                  </a:lnTo>
                  <a:lnTo>
                    <a:pt x="440" y="35"/>
                  </a:lnTo>
                  <a:lnTo>
                    <a:pt x="433" y="33"/>
                  </a:lnTo>
                  <a:lnTo>
                    <a:pt x="426" y="32"/>
                  </a:lnTo>
                  <a:lnTo>
                    <a:pt x="418" y="31"/>
                  </a:lnTo>
                  <a:lnTo>
                    <a:pt x="411" y="29"/>
                  </a:lnTo>
                  <a:lnTo>
                    <a:pt x="404" y="28"/>
                  </a:lnTo>
                  <a:lnTo>
                    <a:pt x="398" y="28"/>
                  </a:lnTo>
                  <a:lnTo>
                    <a:pt x="392" y="26"/>
                  </a:lnTo>
                  <a:lnTo>
                    <a:pt x="387" y="25"/>
                  </a:lnTo>
                  <a:lnTo>
                    <a:pt x="381" y="25"/>
                  </a:lnTo>
                  <a:lnTo>
                    <a:pt x="374" y="23"/>
                  </a:lnTo>
                  <a:lnTo>
                    <a:pt x="368" y="23"/>
                  </a:lnTo>
                  <a:lnTo>
                    <a:pt x="362" y="22"/>
                  </a:lnTo>
                  <a:lnTo>
                    <a:pt x="356" y="22"/>
                  </a:lnTo>
                  <a:lnTo>
                    <a:pt x="349" y="21"/>
                  </a:lnTo>
                  <a:lnTo>
                    <a:pt x="343" y="21"/>
                  </a:lnTo>
                  <a:lnTo>
                    <a:pt x="336" y="19"/>
                  </a:lnTo>
                  <a:lnTo>
                    <a:pt x="329" y="19"/>
                  </a:lnTo>
                  <a:lnTo>
                    <a:pt x="322" y="18"/>
                  </a:lnTo>
                  <a:lnTo>
                    <a:pt x="314" y="18"/>
                  </a:lnTo>
                  <a:lnTo>
                    <a:pt x="306" y="16"/>
                  </a:lnTo>
                  <a:lnTo>
                    <a:pt x="297" y="16"/>
                  </a:lnTo>
                  <a:lnTo>
                    <a:pt x="288" y="15"/>
                  </a:lnTo>
                  <a:lnTo>
                    <a:pt x="278" y="15"/>
                  </a:lnTo>
                  <a:lnTo>
                    <a:pt x="267" y="13"/>
                  </a:lnTo>
                  <a:lnTo>
                    <a:pt x="257" y="12"/>
                  </a:lnTo>
                  <a:lnTo>
                    <a:pt x="244" y="12"/>
                  </a:lnTo>
                  <a:lnTo>
                    <a:pt x="232" y="10"/>
                  </a:lnTo>
                  <a:lnTo>
                    <a:pt x="219" y="9"/>
                  </a:lnTo>
                  <a:lnTo>
                    <a:pt x="208" y="9"/>
                  </a:lnTo>
                  <a:lnTo>
                    <a:pt x="196" y="8"/>
                  </a:lnTo>
                  <a:lnTo>
                    <a:pt x="186" y="8"/>
                  </a:lnTo>
                  <a:lnTo>
                    <a:pt x="176" y="6"/>
                  </a:lnTo>
                  <a:lnTo>
                    <a:pt x="166" y="6"/>
                  </a:lnTo>
                  <a:lnTo>
                    <a:pt x="157" y="5"/>
                  </a:lnTo>
                  <a:lnTo>
                    <a:pt x="150" y="5"/>
                  </a:lnTo>
                  <a:lnTo>
                    <a:pt x="143" y="3"/>
                  </a:lnTo>
                  <a:lnTo>
                    <a:pt x="135" y="3"/>
                  </a:lnTo>
                  <a:lnTo>
                    <a:pt x="128" y="3"/>
                  </a:lnTo>
                  <a:lnTo>
                    <a:pt x="121" y="2"/>
                  </a:lnTo>
                  <a:lnTo>
                    <a:pt x="115" y="2"/>
                  </a:lnTo>
                  <a:lnTo>
                    <a:pt x="109" y="2"/>
                  </a:lnTo>
                  <a:lnTo>
                    <a:pt x="104" y="2"/>
                  </a:lnTo>
                  <a:lnTo>
                    <a:pt x="98" y="2"/>
                  </a:lnTo>
                  <a:lnTo>
                    <a:pt x="92" y="0"/>
                  </a:lnTo>
                  <a:lnTo>
                    <a:pt x="88" y="0"/>
                  </a:lnTo>
                  <a:lnTo>
                    <a:pt x="82" y="0"/>
                  </a:lnTo>
                  <a:lnTo>
                    <a:pt x="76" y="0"/>
                  </a:lnTo>
                  <a:lnTo>
                    <a:pt x="72" y="0"/>
                  </a:lnTo>
                  <a:lnTo>
                    <a:pt x="66" y="0"/>
                  </a:lnTo>
                  <a:lnTo>
                    <a:pt x="60" y="0"/>
                  </a:lnTo>
                  <a:lnTo>
                    <a:pt x="55" y="0"/>
                  </a:lnTo>
                  <a:lnTo>
                    <a:pt x="49" y="0"/>
                  </a:lnTo>
                  <a:lnTo>
                    <a:pt x="43" y="0"/>
                  </a:lnTo>
                  <a:lnTo>
                    <a:pt x="37" y="0"/>
                  </a:lnTo>
                  <a:lnTo>
                    <a:pt x="30" y="0"/>
                  </a:lnTo>
                  <a:lnTo>
                    <a:pt x="23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5">
              <a:extLst>
                <a:ext uri="{FF2B5EF4-FFF2-40B4-BE49-F238E27FC236}">
                  <a16:creationId xmlns:a16="http://schemas.microsoft.com/office/drawing/2014/main" id="{623D65EB-D732-696E-C291-FA88CA4AF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1278"/>
              <a:ext cx="434" cy="76"/>
            </a:xfrm>
            <a:custGeom>
              <a:avLst/>
              <a:gdLst>
                <a:gd name="T0" fmla="*/ 1 w 846"/>
                <a:gd name="T1" fmla="*/ 0 h 153"/>
                <a:gd name="T2" fmla="*/ 1 w 846"/>
                <a:gd name="T3" fmla="*/ 0 h 153"/>
                <a:gd name="T4" fmla="*/ 1 w 846"/>
                <a:gd name="T5" fmla="*/ 0 h 153"/>
                <a:gd name="T6" fmla="*/ 1 w 846"/>
                <a:gd name="T7" fmla="*/ 0 h 153"/>
                <a:gd name="T8" fmla="*/ 1 w 846"/>
                <a:gd name="T9" fmla="*/ 0 h 153"/>
                <a:gd name="T10" fmla="*/ 1 w 846"/>
                <a:gd name="T11" fmla="*/ 0 h 153"/>
                <a:gd name="T12" fmla="*/ 1 w 846"/>
                <a:gd name="T13" fmla="*/ 0 h 153"/>
                <a:gd name="T14" fmla="*/ 1 w 846"/>
                <a:gd name="T15" fmla="*/ 0 h 153"/>
                <a:gd name="T16" fmla="*/ 1 w 846"/>
                <a:gd name="T17" fmla="*/ 0 h 153"/>
                <a:gd name="T18" fmla="*/ 1 w 846"/>
                <a:gd name="T19" fmla="*/ 0 h 153"/>
                <a:gd name="T20" fmla="*/ 1 w 846"/>
                <a:gd name="T21" fmla="*/ 0 h 153"/>
                <a:gd name="T22" fmla="*/ 1 w 846"/>
                <a:gd name="T23" fmla="*/ 0 h 153"/>
                <a:gd name="T24" fmla="*/ 1 w 846"/>
                <a:gd name="T25" fmla="*/ 0 h 153"/>
                <a:gd name="T26" fmla="*/ 1 w 846"/>
                <a:gd name="T27" fmla="*/ 0 h 153"/>
                <a:gd name="T28" fmla="*/ 1 w 846"/>
                <a:gd name="T29" fmla="*/ 0 h 153"/>
                <a:gd name="T30" fmla="*/ 1 w 846"/>
                <a:gd name="T31" fmla="*/ 0 h 153"/>
                <a:gd name="T32" fmla="*/ 1 w 846"/>
                <a:gd name="T33" fmla="*/ 0 h 153"/>
                <a:gd name="T34" fmla="*/ 1 w 846"/>
                <a:gd name="T35" fmla="*/ 0 h 153"/>
                <a:gd name="T36" fmla="*/ 1 w 846"/>
                <a:gd name="T37" fmla="*/ 0 h 153"/>
                <a:gd name="T38" fmla="*/ 1 w 846"/>
                <a:gd name="T39" fmla="*/ 0 h 153"/>
                <a:gd name="T40" fmla="*/ 1 w 846"/>
                <a:gd name="T41" fmla="*/ 0 h 153"/>
                <a:gd name="T42" fmla="*/ 1 w 846"/>
                <a:gd name="T43" fmla="*/ 0 h 153"/>
                <a:gd name="T44" fmla="*/ 1 w 846"/>
                <a:gd name="T45" fmla="*/ 0 h 153"/>
                <a:gd name="T46" fmla="*/ 1 w 846"/>
                <a:gd name="T47" fmla="*/ 0 h 153"/>
                <a:gd name="T48" fmla="*/ 1 w 846"/>
                <a:gd name="T49" fmla="*/ 0 h 153"/>
                <a:gd name="T50" fmla="*/ 1 w 846"/>
                <a:gd name="T51" fmla="*/ 0 h 153"/>
                <a:gd name="T52" fmla="*/ 1 w 846"/>
                <a:gd name="T53" fmla="*/ 0 h 153"/>
                <a:gd name="T54" fmla="*/ 1 w 846"/>
                <a:gd name="T55" fmla="*/ 0 h 153"/>
                <a:gd name="T56" fmla="*/ 1 w 846"/>
                <a:gd name="T57" fmla="*/ 0 h 153"/>
                <a:gd name="T58" fmla="*/ 1 w 846"/>
                <a:gd name="T59" fmla="*/ 0 h 153"/>
                <a:gd name="T60" fmla="*/ 1 w 846"/>
                <a:gd name="T61" fmla="*/ 0 h 153"/>
                <a:gd name="T62" fmla="*/ 1 w 846"/>
                <a:gd name="T63" fmla="*/ 0 h 153"/>
                <a:gd name="T64" fmla="*/ 1 w 846"/>
                <a:gd name="T65" fmla="*/ 0 h 153"/>
                <a:gd name="T66" fmla="*/ 1 w 846"/>
                <a:gd name="T67" fmla="*/ 0 h 153"/>
                <a:gd name="T68" fmla="*/ 1 w 846"/>
                <a:gd name="T69" fmla="*/ 0 h 153"/>
                <a:gd name="T70" fmla="*/ 1 w 846"/>
                <a:gd name="T71" fmla="*/ 0 h 153"/>
                <a:gd name="T72" fmla="*/ 1 w 846"/>
                <a:gd name="T73" fmla="*/ 0 h 153"/>
                <a:gd name="T74" fmla="*/ 1 w 846"/>
                <a:gd name="T75" fmla="*/ 0 h 153"/>
                <a:gd name="T76" fmla="*/ 1 w 846"/>
                <a:gd name="T77" fmla="*/ 0 h 153"/>
                <a:gd name="T78" fmla="*/ 1 w 846"/>
                <a:gd name="T79" fmla="*/ 0 h 153"/>
                <a:gd name="T80" fmla="*/ 1 w 846"/>
                <a:gd name="T81" fmla="*/ 0 h 153"/>
                <a:gd name="T82" fmla="*/ 1 w 846"/>
                <a:gd name="T83" fmla="*/ 0 h 153"/>
                <a:gd name="T84" fmla="*/ 1 w 846"/>
                <a:gd name="T85" fmla="*/ 0 h 153"/>
                <a:gd name="T86" fmla="*/ 1 w 846"/>
                <a:gd name="T87" fmla="*/ 0 h 153"/>
                <a:gd name="T88" fmla="*/ 1 w 846"/>
                <a:gd name="T89" fmla="*/ 0 h 153"/>
                <a:gd name="T90" fmla="*/ 1 w 846"/>
                <a:gd name="T91" fmla="*/ 0 h 153"/>
                <a:gd name="T92" fmla="*/ 1 w 846"/>
                <a:gd name="T93" fmla="*/ 0 h 153"/>
                <a:gd name="T94" fmla="*/ 1 w 846"/>
                <a:gd name="T95" fmla="*/ 0 h 153"/>
                <a:gd name="T96" fmla="*/ 1 w 846"/>
                <a:gd name="T97" fmla="*/ 0 h 15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846"/>
                <a:gd name="T148" fmla="*/ 0 h 153"/>
                <a:gd name="T149" fmla="*/ 846 w 846"/>
                <a:gd name="T150" fmla="*/ 153 h 153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846" h="153">
                  <a:moveTo>
                    <a:pt x="0" y="153"/>
                  </a:moveTo>
                  <a:lnTo>
                    <a:pt x="20" y="144"/>
                  </a:lnTo>
                  <a:lnTo>
                    <a:pt x="40" y="137"/>
                  </a:lnTo>
                  <a:lnTo>
                    <a:pt x="59" y="130"/>
                  </a:lnTo>
                  <a:lnTo>
                    <a:pt x="78" y="124"/>
                  </a:lnTo>
                  <a:lnTo>
                    <a:pt x="94" y="118"/>
                  </a:lnTo>
                  <a:lnTo>
                    <a:pt x="110" y="112"/>
                  </a:lnTo>
                  <a:lnTo>
                    <a:pt x="124" y="107"/>
                  </a:lnTo>
                  <a:lnTo>
                    <a:pt x="137" y="102"/>
                  </a:lnTo>
                  <a:lnTo>
                    <a:pt x="150" y="98"/>
                  </a:lnTo>
                  <a:lnTo>
                    <a:pt x="162" y="94"/>
                  </a:lnTo>
                  <a:lnTo>
                    <a:pt x="173" y="89"/>
                  </a:lnTo>
                  <a:lnTo>
                    <a:pt x="183" y="86"/>
                  </a:lnTo>
                  <a:lnTo>
                    <a:pt x="193" y="82"/>
                  </a:lnTo>
                  <a:lnTo>
                    <a:pt x="202" y="79"/>
                  </a:lnTo>
                  <a:lnTo>
                    <a:pt x="212" y="76"/>
                  </a:lnTo>
                  <a:lnTo>
                    <a:pt x="219" y="73"/>
                  </a:lnTo>
                  <a:lnTo>
                    <a:pt x="228" y="72"/>
                  </a:lnTo>
                  <a:lnTo>
                    <a:pt x="237" y="69"/>
                  </a:lnTo>
                  <a:lnTo>
                    <a:pt x="244" y="68"/>
                  </a:lnTo>
                  <a:lnTo>
                    <a:pt x="251" y="65"/>
                  </a:lnTo>
                  <a:lnTo>
                    <a:pt x="258" y="63"/>
                  </a:lnTo>
                  <a:lnTo>
                    <a:pt x="266" y="62"/>
                  </a:lnTo>
                  <a:lnTo>
                    <a:pt x="273" y="59"/>
                  </a:lnTo>
                  <a:lnTo>
                    <a:pt x="280" y="58"/>
                  </a:lnTo>
                  <a:lnTo>
                    <a:pt x="289" y="56"/>
                  </a:lnTo>
                  <a:lnTo>
                    <a:pt x="296" y="55"/>
                  </a:lnTo>
                  <a:lnTo>
                    <a:pt x="305" y="53"/>
                  </a:lnTo>
                  <a:lnTo>
                    <a:pt x="313" y="52"/>
                  </a:lnTo>
                  <a:lnTo>
                    <a:pt x="322" y="50"/>
                  </a:lnTo>
                  <a:lnTo>
                    <a:pt x="332" y="47"/>
                  </a:lnTo>
                  <a:lnTo>
                    <a:pt x="342" y="46"/>
                  </a:lnTo>
                  <a:lnTo>
                    <a:pt x="352" y="45"/>
                  </a:lnTo>
                  <a:lnTo>
                    <a:pt x="362" y="42"/>
                  </a:lnTo>
                  <a:lnTo>
                    <a:pt x="372" y="40"/>
                  </a:lnTo>
                  <a:lnTo>
                    <a:pt x="383" y="39"/>
                  </a:lnTo>
                  <a:lnTo>
                    <a:pt x="391" y="37"/>
                  </a:lnTo>
                  <a:lnTo>
                    <a:pt x="400" y="36"/>
                  </a:lnTo>
                  <a:lnTo>
                    <a:pt x="407" y="34"/>
                  </a:lnTo>
                  <a:lnTo>
                    <a:pt x="416" y="33"/>
                  </a:lnTo>
                  <a:lnTo>
                    <a:pt x="423" y="32"/>
                  </a:lnTo>
                  <a:lnTo>
                    <a:pt x="429" y="30"/>
                  </a:lnTo>
                  <a:lnTo>
                    <a:pt x="436" y="29"/>
                  </a:lnTo>
                  <a:lnTo>
                    <a:pt x="442" y="29"/>
                  </a:lnTo>
                  <a:lnTo>
                    <a:pt x="449" y="27"/>
                  </a:lnTo>
                  <a:lnTo>
                    <a:pt x="455" y="26"/>
                  </a:lnTo>
                  <a:lnTo>
                    <a:pt x="461" y="26"/>
                  </a:lnTo>
                  <a:lnTo>
                    <a:pt x="466" y="24"/>
                  </a:lnTo>
                  <a:lnTo>
                    <a:pt x="474" y="24"/>
                  </a:lnTo>
                  <a:lnTo>
                    <a:pt x="479" y="23"/>
                  </a:lnTo>
                  <a:lnTo>
                    <a:pt x="485" y="23"/>
                  </a:lnTo>
                  <a:lnTo>
                    <a:pt x="492" y="22"/>
                  </a:lnTo>
                  <a:lnTo>
                    <a:pt x="498" y="22"/>
                  </a:lnTo>
                  <a:lnTo>
                    <a:pt x="505" y="20"/>
                  </a:lnTo>
                  <a:lnTo>
                    <a:pt x="513" y="20"/>
                  </a:lnTo>
                  <a:lnTo>
                    <a:pt x="520" y="19"/>
                  </a:lnTo>
                  <a:lnTo>
                    <a:pt x="527" y="19"/>
                  </a:lnTo>
                  <a:lnTo>
                    <a:pt x="536" y="17"/>
                  </a:lnTo>
                  <a:lnTo>
                    <a:pt x="544" y="17"/>
                  </a:lnTo>
                  <a:lnTo>
                    <a:pt x="554" y="16"/>
                  </a:lnTo>
                  <a:lnTo>
                    <a:pt x="564" y="16"/>
                  </a:lnTo>
                  <a:lnTo>
                    <a:pt x="575" y="14"/>
                  </a:lnTo>
                  <a:lnTo>
                    <a:pt x="586" y="13"/>
                  </a:lnTo>
                  <a:lnTo>
                    <a:pt x="598" y="13"/>
                  </a:lnTo>
                  <a:lnTo>
                    <a:pt x="611" y="11"/>
                  </a:lnTo>
                  <a:lnTo>
                    <a:pt x="624" y="10"/>
                  </a:lnTo>
                  <a:lnTo>
                    <a:pt x="637" y="10"/>
                  </a:lnTo>
                  <a:lnTo>
                    <a:pt x="647" y="9"/>
                  </a:lnTo>
                  <a:lnTo>
                    <a:pt x="658" y="9"/>
                  </a:lnTo>
                  <a:lnTo>
                    <a:pt x="668" y="7"/>
                  </a:lnTo>
                  <a:lnTo>
                    <a:pt x="677" y="6"/>
                  </a:lnTo>
                  <a:lnTo>
                    <a:pt x="686" y="6"/>
                  </a:lnTo>
                  <a:lnTo>
                    <a:pt x="694" y="6"/>
                  </a:lnTo>
                  <a:lnTo>
                    <a:pt x="702" y="4"/>
                  </a:lnTo>
                  <a:lnTo>
                    <a:pt x="709" y="4"/>
                  </a:lnTo>
                  <a:lnTo>
                    <a:pt x="716" y="4"/>
                  </a:lnTo>
                  <a:lnTo>
                    <a:pt x="723" y="3"/>
                  </a:lnTo>
                  <a:lnTo>
                    <a:pt x="729" y="3"/>
                  </a:lnTo>
                  <a:lnTo>
                    <a:pt x="735" y="3"/>
                  </a:lnTo>
                  <a:lnTo>
                    <a:pt x="741" y="3"/>
                  </a:lnTo>
                  <a:lnTo>
                    <a:pt x="746" y="1"/>
                  </a:lnTo>
                  <a:lnTo>
                    <a:pt x="752" y="1"/>
                  </a:lnTo>
                  <a:lnTo>
                    <a:pt x="758" y="1"/>
                  </a:lnTo>
                  <a:lnTo>
                    <a:pt x="762" y="1"/>
                  </a:lnTo>
                  <a:lnTo>
                    <a:pt x="768" y="1"/>
                  </a:lnTo>
                  <a:lnTo>
                    <a:pt x="774" y="1"/>
                  </a:lnTo>
                  <a:lnTo>
                    <a:pt x="778" y="1"/>
                  </a:lnTo>
                  <a:lnTo>
                    <a:pt x="784" y="1"/>
                  </a:lnTo>
                  <a:lnTo>
                    <a:pt x="790" y="1"/>
                  </a:lnTo>
                  <a:lnTo>
                    <a:pt x="795" y="0"/>
                  </a:lnTo>
                  <a:lnTo>
                    <a:pt x="801" y="0"/>
                  </a:lnTo>
                  <a:lnTo>
                    <a:pt x="808" y="0"/>
                  </a:lnTo>
                  <a:lnTo>
                    <a:pt x="816" y="0"/>
                  </a:lnTo>
                  <a:lnTo>
                    <a:pt x="823" y="0"/>
                  </a:lnTo>
                  <a:lnTo>
                    <a:pt x="830" y="0"/>
                  </a:lnTo>
                  <a:lnTo>
                    <a:pt x="837" y="0"/>
                  </a:lnTo>
                  <a:lnTo>
                    <a:pt x="846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Rectangle 56">
              <a:extLst>
                <a:ext uri="{FF2B5EF4-FFF2-40B4-BE49-F238E27FC236}">
                  <a16:creationId xmlns:a16="http://schemas.microsoft.com/office/drawing/2014/main" id="{DB0E4E92-2AE9-E55E-F334-B3EF54B98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5" y="1942"/>
              <a:ext cx="10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ECA27B71-6B93-7109-6820-2F78D4A92525}"/>
              </a:ext>
            </a:extLst>
          </p:cNvPr>
          <p:cNvSpPr txBox="1"/>
          <p:nvPr/>
        </p:nvSpPr>
        <p:spPr>
          <a:xfrm>
            <a:off x="431811" y="5459258"/>
            <a:ext cx="54204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Moore FSM: State Diagram</a:t>
            </a:r>
          </a:p>
        </p:txBody>
      </p:sp>
    </p:spTree>
    <p:extLst>
      <p:ext uri="{BB962C8B-B14F-4D97-AF65-F5344CB8AC3E}">
        <p14:creationId xmlns:p14="http://schemas.microsoft.com/office/powerpoint/2010/main" val="5072644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ASM: Moore FSM Example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CA27B71-6B93-7109-6820-2F78D4A92525}"/>
              </a:ext>
            </a:extLst>
          </p:cNvPr>
          <p:cNvSpPr txBox="1"/>
          <p:nvPr/>
        </p:nvSpPr>
        <p:spPr>
          <a:xfrm>
            <a:off x="4094074" y="5540632"/>
            <a:ext cx="40038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Moore FSM: State Table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A3D66BA3-1A94-9BD2-0CFE-EDF3692C4054}"/>
              </a:ext>
            </a:extLst>
          </p:cNvPr>
          <p:cNvGrpSpPr>
            <a:grpSpLocks/>
          </p:cNvGrpSpPr>
          <p:nvPr/>
        </p:nvGrpSpPr>
        <p:grpSpPr bwMode="auto">
          <a:xfrm>
            <a:off x="2720154" y="1556010"/>
            <a:ext cx="6751692" cy="3745980"/>
            <a:chOff x="1348" y="1180"/>
            <a:chExt cx="2937" cy="1482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58747868-DC3B-C71C-0FCB-D5B73E9877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7" y="1180"/>
              <a:ext cx="2913" cy="8"/>
            </a:xfrm>
            <a:prstGeom prst="rect">
              <a:avLst/>
            </a:prstGeom>
            <a:solidFill>
              <a:srgbClr val="0000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E14386A7-6A84-4D91-DE9F-67BBFED2A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1201"/>
              <a:ext cx="8" cy="342"/>
            </a:xfrm>
            <a:prstGeom prst="rect">
              <a:avLst/>
            </a:prstGeom>
            <a:solidFill>
              <a:srgbClr val="0000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8E121F6B-3137-77F0-58E9-2A3F114A8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1" y="1201"/>
              <a:ext cx="9" cy="342"/>
            </a:xfrm>
            <a:prstGeom prst="rect">
              <a:avLst/>
            </a:prstGeom>
            <a:solidFill>
              <a:srgbClr val="0000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1F94AD91-E28C-058E-7A09-8C113EBEE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3" y="1340"/>
              <a:ext cx="588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2300">
                  <a:solidFill>
                    <a:srgbClr val="000000"/>
                  </a:solidFill>
                  <a:latin typeface="Times-Roman" charset="0"/>
                </a:rPr>
                <a:t>Present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44A96967-B4DF-8C6C-36A8-BB8747015D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0" y="1201"/>
              <a:ext cx="9" cy="342"/>
            </a:xfrm>
            <a:prstGeom prst="rect">
              <a:avLst/>
            </a:prstGeom>
            <a:solidFill>
              <a:srgbClr val="0000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B3A494A6-3670-6FA8-7F0C-E79BEA612D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0" y="1273"/>
              <a:ext cx="788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2300">
                  <a:solidFill>
                    <a:srgbClr val="000000"/>
                  </a:solidFill>
                  <a:latin typeface="Times-Roman" charset="0"/>
                </a:rPr>
                <a:t>Next state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65" name="Rectangle 9">
              <a:extLst>
                <a:ext uri="{FF2B5EF4-FFF2-40B4-BE49-F238E27FC236}">
                  <a16:creationId xmlns:a16="http://schemas.microsoft.com/office/drawing/2014/main" id="{245169B5-5850-3213-25B7-BAA0CEDD9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6" y="1201"/>
              <a:ext cx="9" cy="342"/>
            </a:xfrm>
            <a:prstGeom prst="rect">
              <a:avLst/>
            </a:prstGeom>
            <a:solidFill>
              <a:srgbClr val="0000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Rectangle 10">
              <a:extLst>
                <a:ext uri="{FF2B5EF4-FFF2-40B4-BE49-F238E27FC236}">
                  <a16:creationId xmlns:a16="http://schemas.microsoft.com/office/drawing/2014/main" id="{4F5E7B38-17B6-1E40-F720-B27CCE55C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1" y="1533"/>
              <a:ext cx="1406" cy="10"/>
            </a:xfrm>
            <a:prstGeom prst="rect">
              <a:avLst/>
            </a:prstGeom>
            <a:solidFill>
              <a:srgbClr val="0000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Rectangle 11">
              <a:extLst>
                <a:ext uri="{FF2B5EF4-FFF2-40B4-BE49-F238E27FC236}">
                  <a16:creationId xmlns:a16="http://schemas.microsoft.com/office/drawing/2014/main" id="{477D1E83-ABD7-CE54-700E-4549A59D3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1543"/>
              <a:ext cx="8" cy="336"/>
            </a:xfrm>
            <a:prstGeom prst="rect">
              <a:avLst/>
            </a:prstGeom>
            <a:solidFill>
              <a:srgbClr val="0000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Rectangle 12">
              <a:extLst>
                <a:ext uri="{FF2B5EF4-FFF2-40B4-BE49-F238E27FC236}">
                  <a16:creationId xmlns:a16="http://schemas.microsoft.com/office/drawing/2014/main" id="{58AFE895-C9B5-8AD2-654C-43ECF1831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336"/>
              <a:ext cx="511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2300" dirty="0">
                  <a:solidFill>
                    <a:srgbClr val="000000"/>
                  </a:solidFill>
                  <a:latin typeface="Times-Roman" charset="0"/>
                </a:rPr>
                <a:t>Output</a:t>
              </a:r>
              <a:endParaRPr kumimoji="0" lang="en-US" sz="2400" dirty="0">
                <a:latin typeface="Times New Roman" charset="0"/>
              </a:endParaRPr>
            </a:p>
          </p:txBody>
        </p:sp>
        <p:sp>
          <p:nvSpPr>
            <p:cNvPr id="69" name="Rectangle 13">
              <a:extLst>
                <a:ext uri="{FF2B5EF4-FFF2-40B4-BE49-F238E27FC236}">
                  <a16:creationId xmlns:a16="http://schemas.microsoft.com/office/drawing/2014/main" id="{BC519C3C-446D-FFAF-6FBF-436485207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1" y="1543"/>
              <a:ext cx="9" cy="336"/>
            </a:xfrm>
            <a:prstGeom prst="rect">
              <a:avLst/>
            </a:prstGeom>
            <a:solidFill>
              <a:srgbClr val="0000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Rectangle 14">
              <a:extLst>
                <a:ext uri="{FF2B5EF4-FFF2-40B4-BE49-F238E27FC236}">
                  <a16:creationId xmlns:a16="http://schemas.microsoft.com/office/drawing/2014/main" id="{B3F5E6E5-9883-8830-21CF-7A6556D75D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6" y="1546"/>
              <a:ext cx="384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2300">
                  <a:solidFill>
                    <a:srgbClr val="000000"/>
                  </a:solidFill>
                  <a:latin typeface="Times-Roman" charset="0"/>
                </a:rPr>
                <a:t>state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71" name="Rectangle 15">
              <a:extLst>
                <a:ext uri="{FF2B5EF4-FFF2-40B4-BE49-F238E27FC236}">
                  <a16:creationId xmlns:a16="http://schemas.microsoft.com/office/drawing/2014/main" id="{9B6E667E-AD05-AC5D-E6BE-60CCA8C901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2" y="1612"/>
              <a:ext cx="17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2400" i="1">
                  <a:solidFill>
                    <a:srgbClr val="000000"/>
                  </a:solidFill>
                  <a:latin typeface="Times New Roman" charset="0"/>
                </a:rPr>
                <a:t>w </a:t>
              </a:r>
              <a:endParaRPr kumimoji="0" lang="en-US" sz="2400" i="1">
                <a:latin typeface="Times New Roman" charset="0"/>
              </a:endParaRPr>
            </a:p>
          </p:txBody>
        </p:sp>
        <p:sp>
          <p:nvSpPr>
            <p:cNvPr id="72" name="Rectangle 16">
              <a:extLst>
                <a:ext uri="{FF2B5EF4-FFF2-40B4-BE49-F238E27FC236}">
                  <a16:creationId xmlns:a16="http://schemas.microsoft.com/office/drawing/2014/main" id="{98B76B06-709D-031F-6530-93F9B10B9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5" y="1612"/>
              <a:ext cx="15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2400">
                  <a:solidFill>
                    <a:srgbClr val="000000"/>
                  </a:solidFill>
                  <a:latin typeface="Times New 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73" name="Rectangle 17">
              <a:extLst>
                <a:ext uri="{FF2B5EF4-FFF2-40B4-BE49-F238E27FC236}">
                  <a16:creationId xmlns:a16="http://schemas.microsoft.com/office/drawing/2014/main" id="{1AF76625-2194-CB89-18DF-E2C498DD8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0" y="1612"/>
              <a:ext cx="14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2400">
                  <a:solidFill>
                    <a:srgbClr val="000000"/>
                  </a:solidFill>
                  <a:latin typeface="Times New Roman" charset="0"/>
                </a:rPr>
                <a:t>0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74" name="Rectangle 18">
              <a:extLst>
                <a:ext uri="{FF2B5EF4-FFF2-40B4-BE49-F238E27FC236}">
                  <a16:creationId xmlns:a16="http://schemas.microsoft.com/office/drawing/2014/main" id="{6A618509-C066-F147-4454-8DC03A9C1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5" y="1612"/>
              <a:ext cx="17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2400" i="1">
                  <a:solidFill>
                    <a:srgbClr val="000000"/>
                  </a:solidFill>
                  <a:latin typeface="Times New Roman" charset="0"/>
                </a:rPr>
                <a:t>w </a:t>
              </a:r>
              <a:endParaRPr kumimoji="0" lang="en-US" sz="2400" i="1">
                <a:latin typeface="Times New Roman" charset="0"/>
              </a:endParaRPr>
            </a:p>
          </p:txBody>
        </p:sp>
        <p:sp>
          <p:nvSpPr>
            <p:cNvPr id="75" name="Rectangle 19">
              <a:extLst>
                <a:ext uri="{FF2B5EF4-FFF2-40B4-BE49-F238E27FC236}">
                  <a16:creationId xmlns:a16="http://schemas.microsoft.com/office/drawing/2014/main" id="{91BDA25E-AF1D-9C0A-407C-CB6FEC124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4" y="1612"/>
              <a:ext cx="15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2400">
                  <a:solidFill>
                    <a:srgbClr val="000000"/>
                  </a:solidFill>
                  <a:latin typeface="Times New 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76" name="Rectangle 20">
              <a:extLst>
                <a:ext uri="{FF2B5EF4-FFF2-40B4-BE49-F238E27FC236}">
                  <a16:creationId xmlns:a16="http://schemas.microsoft.com/office/drawing/2014/main" id="{C1F1077E-F16A-A85A-090A-7A1F557E8A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0" y="1543"/>
              <a:ext cx="9" cy="336"/>
            </a:xfrm>
            <a:prstGeom prst="rect">
              <a:avLst/>
            </a:prstGeom>
            <a:solidFill>
              <a:srgbClr val="0000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Rectangle 21">
              <a:extLst>
                <a:ext uri="{FF2B5EF4-FFF2-40B4-BE49-F238E27FC236}">
                  <a16:creationId xmlns:a16="http://schemas.microsoft.com/office/drawing/2014/main" id="{FFC00D75-8E91-8DD6-56A4-D78EFE4A8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0" y="1612"/>
              <a:ext cx="14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2400">
                  <a:solidFill>
                    <a:srgbClr val="000000"/>
                  </a:solidFill>
                  <a:latin typeface="Times New Roman" charset="0"/>
                </a:rPr>
                <a:t>1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78" name="Rectangle 22">
              <a:extLst>
                <a:ext uri="{FF2B5EF4-FFF2-40B4-BE49-F238E27FC236}">
                  <a16:creationId xmlns:a16="http://schemas.microsoft.com/office/drawing/2014/main" id="{E27B9BB7-FCC4-9254-31B3-1E28EBC414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6" y="1543"/>
              <a:ext cx="9" cy="336"/>
            </a:xfrm>
            <a:prstGeom prst="rect">
              <a:avLst/>
            </a:prstGeom>
            <a:solidFill>
              <a:srgbClr val="0000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Rectangle 23">
              <a:extLst>
                <a:ext uri="{FF2B5EF4-FFF2-40B4-BE49-F238E27FC236}">
                  <a16:creationId xmlns:a16="http://schemas.microsoft.com/office/drawing/2014/main" id="{A1CAC075-7297-616B-EE7C-5388182A0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7" y="1869"/>
              <a:ext cx="2913" cy="10"/>
            </a:xfrm>
            <a:prstGeom prst="rect">
              <a:avLst/>
            </a:prstGeom>
            <a:solidFill>
              <a:srgbClr val="0000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Rectangle 24">
              <a:extLst>
                <a:ext uri="{FF2B5EF4-FFF2-40B4-BE49-F238E27FC236}">
                  <a16:creationId xmlns:a16="http://schemas.microsoft.com/office/drawing/2014/main" id="{1D074143-744F-1279-6F0E-DE21060AC5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1881"/>
              <a:ext cx="8" cy="296"/>
            </a:xfrm>
            <a:prstGeom prst="rect">
              <a:avLst/>
            </a:prstGeom>
            <a:solidFill>
              <a:srgbClr val="0000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Rectangle 25">
              <a:extLst>
                <a:ext uri="{FF2B5EF4-FFF2-40B4-BE49-F238E27FC236}">
                  <a16:creationId xmlns:a16="http://schemas.microsoft.com/office/drawing/2014/main" id="{8CB9677A-6920-0EBC-67AF-CA2E72D4CD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7" y="1545"/>
              <a:ext cx="12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2400" i="1">
                  <a:solidFill>
                    <a:srgbClr val="000000"/>
                  </a:solidFill>
                  <a:latin typeface="Times New Roman" charset="0"/>
                </a:rPr>
                <a:t>z </a:t>
              </a:r>
              <a:endParaRPr kumimoji="0" lang="en-US" sz="2400" i="1">
                <a:latin typeface="Times New Roman" charset="0"/>
              </a:endParaRPr>
            </a:p>
          </p:txBody>
        </p:sp>
        <p:sp>
          <p:nvSpPr>
            <p:cNvPr id="82" name="Rectangle 26">
              <a:extLst>
                <a:ext uri="{FF2B5EF4-FFF2-40B4-BE49-F238E27FC236}">
                  <a16:creationId xmlns:a16="http://schemas.microsoft.com/office/drawing/2014/main" id="{3E1F1391-3D54-299A-FCE8-E0006A96AD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1" y="1881"/>
              <a:ext cx="9" cy="296"/>
            </a:xfrm>
            <a:prstGeom prst="rect">
              <a:avLst/>
            </a:prstGeom>
            <a:solidFill>
              <a:srgbClr val="0000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Rectangle 27">
              <a:extLst>
                <a:ext uri="{FF2B5EF4-FFF2-40B4-BE49-F238E27FC236}">
                  <a16:creationId xmlns:a16="http://schemas.microsoft.com/office/drawing/2014/main" id="{C86D8B23-3939-4ACE-678B-D39AC22B1D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9" y="1952"/>
              <a:ext cx="179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2300">
                  <a:solidFill>
                    <a:srgbClr val="000000"/>
                  </a:solidFill>
                  <a:latin typeface="Times-Roman" charset="0"/>
                </a:rPr>
                <a:t>A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84" name="Rectangle 28">
              <a:extLst>
                <a:ext uri="{FF2B5EF4-FFF2-40B4-BE49-F238E27FC236}">
                  <a16:creationId xmlns:a16="http://schemas.microsoft.com/office/drawing/2014/main" id="{83C7A1A6-743B-9A87-F032-F6D76E1875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5" y="1952"/>
              <a:ext cx="179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2300">
                  <a:solidFill>
                    <a:srgbClr val="000000"/>
                  </a:solidFill>
                  <a:latin typeface="Times-Roman" charset="0"/>
                </a:rPr>
                <a:t>A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85" name="Rectangle 29">
              <a:extLst>
                <a:ext uri="{FF2B5EF4-FFF2-40B4-BE49-F238E27FC236}">
                  <a16:creationId xmlns:a16="http://schemas.microsoft.com/office/drawing/2014/main" id="{0F45384B-42E8-C988-6BE4-64F3195CD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0" y="1881"/>
              <a:ext cx="9" cy="296"/>
            </a:xfrm>
            <a:prstGeom prst="rect">
              <a:avLst/>
            </a:prstGeom>
            <a:solidFill>
              <a:srgbClr val="0000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Rectangle 30">
              <a:extLst>
                <a:ext uri="{FF2B5EF4-FFF2-40B4-BE49-F238E27FC236}">
                  <a16:creationId xmlns:a16="http://schemas.microsoft.com/office/drawing/2014/main" id="{585C3753-0069-5A23-75C0-B40E16956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2" y="1952"/>
              <a:ext cx="169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2300">
                  <a:solidFill>
                    <a:srgbClr val="000000"/>
                  </a:solidFill>
                  <a:latin typeface="Times-Roman" charset="0"/>
                </a:rPr>
                <a:t>B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87" name="Rectangle 31">
              <a:extLst>
                <a:ext uri="{FF2B5EF4-FFF2-40B4-BE49-F238E27FC236}">
                  <a16:creationId xmlns:a16="http://schemas.microsoft.com/office/drawing/2014/main" id="{29400958-1F22-C423-68A9-0BBA5DE6C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6" y="1881"/>
              <a:ext cx="9" cy="296"/>
            </a:xfrm>
            <a:prstGeom prst="rect">
              <a:avLst/>
            </a:prstGeom>
            <a:solidFill>
              <a:srgbClr val="0000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Rectangle 32">
              <a:extLst>
                <a:ext uri="{FF2B5EF4-FFF2-40B4-BE49-F238E27FC236}">
                  <a16:creationId xmlns:a16="http://schemas.microsoft.com/office/drawing/2014/main" id="{5E82812B-9091-23C5-1954-E573A43899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177"/>
              <a:ext cx="8" cy="224"/>
            </a:xfrm>
            <a:prstGeom prst="rect">
              <a:avLst/>
            </a:prstGeom>
            <a:solidFill>
              <a:srgbClr val="0000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Rectangle 33">
              <a:extLst>
                <a:ext uri="{FF2B5EF4-FFF2-40B4-BE49-F238E27FC236}">
                  <a16:creationId xmlns:a16="http://schemas.microsoft.com/office/drawing/2014/main" id="{5AAAFB26-89A2-63C6-5D07-7754D6C18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0" y="1952"/>
              <a:ext cx="138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230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90" name="Rectangle 34">
              <a:extLst>
                <a:ext uri="{FF2B5EF4-FFF2-40B4-BE49-F238E27FC236}">
                  <a16:creationId xmlns:a16="http://schemas.microsoft.com/office/drawing/2014/main" id="{08F1AEE9-DD9B-EEA1-C127-48AE4F919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1" y="2177"/>
              <a:ext cx="9" cy="224"/>
            </a:xfrm>
            <a:prstGeom prst="rect">
              <a:avLst/>
            </a:prstGeom>
            <a:solidFill>
              <a:srgbClr val="0000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Rectangle 35">
              <a:extLst>
                <a:ext uri="{FF2B5EF4-FFF2-40B4-BE49-F238E27FC236}">
                  <a16:creationId xmlns:a16="http://schemas.microsoft.com/office/drawing/2014/main" id="{D7E97F44-BFC1-98D6-2882-2C2D2ACEC9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6" y="2173"/>
              <a:ext cx="169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2300">
                  <a:solidFill>
                    <a:srgbClr val="000000"/>
                  </a:solidFill>
                  <a:latin typeface="Times-Roman" charset="0"/>
                </a:rPr>
                <a:t>B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92" name="Rectangle 36">
              <a:extLst>
                <a:ext uri="{FF2B5EF4-FFF2-40B4-BE49-F238E27FC236}">
                  <a16:creationId xmlns:a16="http://schemas.microsoft.com/office/drawing/2014/main" id="{0636712D-603B-1136-8D8A-790B7ADF4A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6" y="2173"/>
              <a:ext cx="179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2300">
                  <a:solidFill>
                    <a:srgbClr val="000000"/>
                  </a:solidFill>
                  <a:latin typeface="Times-Roman" charset="0"/>
                </a:rPr>
                <a:t>A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93" name="Rectangle 37">
              <a:extLst>
                <a:ext uri="{FF2B5EF4-FFF2-40B4-BE49-F238E27FC236}">
                  <a16:creationId xmlns:a16="http://schemas.microsoft.com/office/drawing/2014/main" id="{671397E0-7A2C-1C5C-5936-7844C84493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0" y="2177"/>
              <a:ext cx="9" cy="224"/>
            </a:xfrm>
            <a:prstGeom prst="rect">
              <a:avLst/>
            </a:prstGeom>
            <a:solidFill>
              <a:srgbClr val="0000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Rectangle 38">
              <a:extLst>
                <a:ext uri="{FF2B5EF4-FFF2-40B4-BE49-F238E27FC236}">
                  <a16:creationId xmlns:a16="http://schemas.microsoft.com/office/drawing/2014/main" id="{B5B0D2DD-8FD2-7200-2AF0-B14BE26CE8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3" y="2173"/>
              <a:ext cx="169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2300">
                  <a:solidFill>
                    <a:srgbClr val="000000"/>
                  </a:solidFill>
                  <a:latin typeface="Times-Roman" charset="0"/>
                </a:rPr>
                <a:t>C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95" name="Rectangle 39">
              <a:extLst>
                <a:ext uri="{FF2B5EF4-FFF2-40B4-BE49-F238E27FC236}">
                  <a16:creationId xmlns:a16="http://schemas.microsoft.com/office/drawing/2014/main" id="{7422E3D6-2A8F-A744-7C07-CBAB3920A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6" y="2177"/>
              <a:ext cx="9" cy="224"/>
            </a:xfrm>
            <a:prstGeom prst="rect">
              <a:avLst/>
            </a:prstGeom>
            <a:solidFill>
              <a:srgbClr val="0000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Rectangle 40">
              <a:extLst>
                <a:ext uri="{FF2B5EF4-FFF2-40B4-BE49-F238E27FC236}">
                  <a16:creationId xmlns:a16="http://schemas.microsoft.com/office/drawing/2014/main" id="{F2E7DDB4-5F57-4EF4-296F-F1D9EAE81F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405"/>
              <a:ext cx="8" cy="257"/>
            </a:xfrm>
            <a:prstGeom prst="rect">
              <a:avLst/>
            </a:prstGeom>
            <a:solidFill>
              <a:srgbClr val="0000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Rectangle 41">
              <a:extLst>
                <a:ext uri="{FF2B5EF4-FFF2-40B4-BE49-F238E27FC236}">
                  <a16:creationId xmlns:a16="http://schemas.microsoft.com/office/drawing/2014/main" id="{2D0CFC0F-780A-3B27-1275-D8FD86043A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1" y="2173"/>
              <a:ext cx="138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230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98" name="Rectangle 42">
              <a:extLst>
                <a:ext uri="{FF2B5EF4-FFF2-40B4-BE49-F238E27FC236}">
                  <a16:creationId xmlns:a16="http://schemas.microsoft.com/office/drawing/2014/main" id="{DB8BFC49-EB0D-3B39-D13D-2B523BA7E6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1" y="2405"/>
              <a:ext cx="9" cy="257"/>
            </a:xfrm>
            <a:prstGeom prst="rect">
              <a:avLst/>
            </a:prstGeom>
            <a:solidFill>
              <a:srgbClr val="0000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Rectangle 43">
              <a:extLst>
                <a:ext uri="{FF2B5EF4-FFF2-40B4-BE49-F238E27FC236}">
                  <a16:creationId xmlns:a16="http://schemas.microsoft.com/office/drawing/2014/main" id="{C1334AA8-103E-8A03-DC80-01120A07B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6" y="2397"/>
              <a:ext cx="169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2300">
                  <a:solidFill>
                    <a:srgbClr val="000000"/>
                  </a:solidFill>
                  <a:latin typeface="Times-Roman" charset="0"/>
                </a:rPr>
                <a:t>C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100" name="Rectangle 44">
              <a:extLst>
                <a:ext uri="{FF2B5EF4-FFF2-40B4-BE49-F238E27FC236}">
                  <a16:creationId xmlns:a16="http://schemas.microsoft.com/office/drawing/2014/main" id="{1EA4DA5B-47E3-0013-EDB3-39FC6B3E5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6" y="2397"/>
              <a:ext cx="179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2300">
                  <a:solidFill>
                    <a:srgbClr val="000000"/>
                  </a:solidFill>
                  <a:latin typeface="Times-Roman" charset="0"/>
                </a:rPr>
                <a:t>A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101" name="Rectangle 45">
              <a:extLst>
                <a:ext uri="{FF2B5EF4-FFF2-40B4-BE49-F238E27FC236}">
                  <a16:creationId xmlns:a16="http://schemas.microsoft.com/office/drawing/2014/main" id="{70F44085-672A-9EEB-D7CE-EAA4A9FB9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0" y="2405"/>
              <a:ext cx="9" cy="257"/>
            </a:xfrm>
            <a:prstGeom prst="rect">
              <a:avLst/>
            </a:prstGeom>
            <a:solidFill>
              <a:srgbClr val="0000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Rectangle 46">
              <a:extLst>
                <a:ext uri="{FF2B5EF4-FFF2-40B4-BE49-F238E27FC236}">
                  <a16:creationId xmlns:a16="http://schemas.microsoft.com/office/drawing/2014/main" id="{7D19785A-AAC8-2580-72F3-7DCBBEB400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3" y="2397"/>
              <a:ext cx="169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2300">
                  <a:solidFill>
                    <a:srgbClr val="000000"/>
                  </a:solidFill>
                  <a:latin typeface="Times-Roman" charset="0"/>
                </a:rPr>
                <a:t>C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103" name="Rectangle 47">
              <a:extLst>
                <a:ext uri="{FF2B5EF4-FFF2-40B4-BE49-F238E27FC236}">
                  <a16:creationId xmlns:a16="http://schemas.microsoft.com/office/drawing/2014/main" id="{661A10F5-8620-EB2D-2BF7-0F75589B6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6" y="2405"/>
              <a:ext cx="9" cy="257"/>
            </a:xfrm>
            <a:prstGeom prst="rect">
              <a:avLst/>
            </a:prstGeom>
            <a:solidFill>
              <a:srgbClr val="0000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Rectangle 48">
              <a:extLst>
                <a:ext uri="{FF2B5EF4-FFF2-40B4-BE49-F238E27FC236}">
                  <a16:creationId xmlns:a16="http://schemas.microsoft.com/office/drawing/2014/main" id="{4AEF2E06-76EB-5E83-6D8F-352BBBEFE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7" y="2653"/>
              <a:ext cx="2913" cy="9"/>
            </a:xfrm>
            <a:prstGeom prst="rect">
              <a:avLst/>
            </a:prstGeom>
            <a:solidFill>
              <a:srgbClr val="0000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Rectangle 49">
              <a:extLst>
                <a:ext uri="{FF2B5EF4-FFF2-40B4-BE49-F238E27FC236}">
                  <a16:creationId xmlns:a16="http://schemas.microsoft.com/office/drawing/2014/main" id="{AB09C3F7-4985-2BF1-56B3-BD30ABF45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1" y="2397"/>
              <a:ext cx="138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230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kumimoji="0" lang="en-US" sz="2400">
                <a:latin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03649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ASM: Moore FSM Example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CA27B71-6B93-7109-6820-2F78D4A92525}"/>
              </a:ext>
            </a:extLst>
          </p:cNvPr>
          <p:cNvSpPr txBox="1"/>
          <p:nvPr/>
        </p:nvSpPr>
        <p:spPr>
          <a:xfrm>
            <a:off x="865099" y="5754509"/>
            <a:ext cx="40688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Moore FSM: ASM Chart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14C260-636B-637E-2890-2A0933789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70310" y="780449"/>
            <a:ext cx="2100537" cy="575901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608983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ASM: Moore FSM Example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CA27B71-6B93-7109-6820-2F78D4A92525}"/>
              </a:ext>
            </a:extLst>
          </p:cNvPr>
          <p:cNvSpPr txBox="1"/>
          <p:nvPr/>
        </p:nvSpPr>
        <p:spPr>
          <a:xfrm>
            <a:off x="0" y="5887080"/>
            <a:ext cx="47165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Moore FSM: VHDL Code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70DB992D-B607-C087-F5C2-FF5630479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990600"/>
            <a:ext cx="6286707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tabLst>
                <a:tab pos="460375" algn="l"/>
                <a:tab pos="919163" algn="l"/>
                <a:tab pos="1366838" algn="l"/>
                <a:tab pos="1825625" algn="l"/>
                <a:tab pos="2286000" algn="l"/>
                <a:tab pos="2746375" algn="l"/>
                <a:tab pos="3205163" algn="l"/>
                <a:tab pos="3652838" algn="l"/>
                <a:tab pos="3889375" algn="l"/>
              </a:tabLst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460375" algn="l"/>
                <a:tab pos="919163" algn="l"/>
                <a:tab pos="1366838" algn="l"/>
                <a:tab pos="1825625" algn="l"/>
                <a:tab pos="2286000" algn="l"/>
                <a:tab pos="2746375" algn="l"/>
                <a:tab pos="3205163" algn="l"/>
                <a:tab pos="3652838" algn="l"/>
                <a:tab pos="3889375" algn="l"/>
              </a:tabLst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tabLst>
                <a:tab pos="460375" algn="l"/>
                <a:tab pos="919163" algn="l"/>
                <a:tab pos="1366838" algn="l"/>
                <a:tab pos="1825625" algn="l"/>
                <a:tab pos="2286000" algn="l"/>
                <a:tab pos="2746375" algn="l"/>
                <a:tab pos="3205163" algn="l"/>
                <a:tab pos="3652838" algn="l"/>
                <a:tab pos="3889375" algn="l"/>
              </a:tabLst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tabLst>
                <a:tab pos="460375" algn="l"/>
                <a:tab pos="919163" algn="l"/>
                <a:tab pos="1366838" algn="l"/>
                <a:tab pos="1825625" algn="l"/>
                <a:tab pos="2286000" algn="l"/>
                <a:tab pos="2746375" algn="l"/>
                <a:tab pos="3205163" algn="l"/>
                <a:tab pos="3652838" algn="l"/>
                <a:tab pos="3889375" algn="l"/>
              </a:tabLst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tabLst>
                <a:tab pos="460375" algn="l"/>
                <a:tab pos="919163" algn="l"/>
                <a:tab pos="1366838" algn="l"/>
                <a:tab pos="1825625" algn="l"/>
                <a:tab pos="2286000" algn="l"/>
                <a:tab pos="2746375" algn="l"/>
                <a:tab pos="3205163" algn="l"/>
                <a:tab pos="3652838" algn="l"/>
                <a:tab pos="3889375" algn="l"/>
              </a:tabLst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460375" algn="l"/>
                <a:tab pos="919163" algn="l"/>
                <a:tab pos="1366838" algn="l"/>
                <a:tab pos="1825625" algn="l"/>
                <a:tab pos="2286000" algn="l"/>
                <a:tab pos="2746375" algn="l"/>
                <a:tab pos="3205163" algn="l"/>
                <a:tab pos="3652838" algn="l"/>
                <a:tab pos="3889375" algn="l"/>
              </a:tabLst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460375" algn="l"/>
                <a:tab pos="919163" algn="l"/>
                <a:tab pos="1366838" algn="l"/>
                <a:tab pos="1825625" algn="l"/>
                <a:tab pos="2286000" algn="l"/>
                <a:tab pos="2746375" algn="l"/>
                <a:tab pos="3205163" algn="l"/>
                <a:tab pos="3652838" algn="l"/>
                <a:tab pos="3889375" algn="l"/>
              </a:tabLst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460375" algn="l"/>
                <a:tab pos="919163" algn="l"/>
                <a:tab pos="1366838" algn="l"/>
                <a:tab pos="1825625" algn="l"/>
                <a:tab pos="2286000" algn="l"/>
                <a:tab pos="2746375" algn="l"/>
                <a:tab pos="3205163" algn="l"/>
                <a:tab pos="3652838" algn="l"/>
                <a:tab pos="3889375" algn="l"/>
              </a:tabLst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460375" algn="l"/>
                <a:tab pos="919163" algn="l"/>
                <a:tab pos="1366838" algn="l"/>
                <a:tab pos="1825625" algn="l"/>
                <a:tab pos="2286000" algn="l"/>
                <a:tab pos="2746375" algn="l"/>
                <a:tab pos="3205163" algn="l"/>
                <a:tab pos="3652838" algn="l"/>
                <a:tab pos="3889375" algn="l"/>
              </a:tabLst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000" b="1" dirty="0">
                <a:solidFill>
                  <a:srgbClr val="000000"/>
                </a:solidFill>
                <a:latin typeface="Lucida Console"/>
                <a:cs typeface="Lucida Console"/>
              </a:rPr>
              <a:t>entity </a:t>
            </a:r>
            <a:r>
              <a:rPr kumimoji="0" lang="en-US" sz="2000" dirty="0">
                <a:solidFill>
                  <a:srgbClr val="000000"/>
                </a:solidFill>
                <a:latin typeface="Lucida Console"/>
                <a:cs typeface="Lucida Console"/>
              </a:rPr>
              <a:t>simple </a:t>
            </a:r>
            <a:r>
              <a:rPr kumimoji="0" lang="en-US" sz="2000" b="1" dirty="0">
                <a:solidFill>
                  <a:srgbClr val="000000"/>
                </a:solidFill>
                <a:latin typeface="Lucida Console"/>
                <a:cs typeface="Lucida Console"/>
              </a:rPr>
              <a:t>is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000" dirty="0">
                <a:solidFill>
                  <a:srgbClr val="000000"/>
                </a:solidFill>
                <a:latin typeface="Lucida Console"/>
                <a:cs typeface="Lucida Console"/>
              </a:rPr>
              <a:t>	</a:t>
            </a:r>
            <a:r>
              <a:rPr kumimoji="0" lang="en-US" sz="2000" b="1" dirty="0">
                <a:solidFill>
                  <a:srgbClr val="000000"/>
                </a:solidFill>
                <a:latin typeface="Lucida Console"/>
                <a:cs typeface="Lucida Console"/>
              </a:rPr>
              <a:t>port</a:t>
            </a:r>
            <a:r>
              <a:rPr kumimoji="0" lang="en-US" sz="2000" dirty="0">
                <a:solidFill>
                  <a:srgbClr val="000000"/>
                </a:solidFill>
                <a:latin typeface="Lucida Console"/>
                <a:cs typeface="Lucida Console"/>
              </a:rPr>
              <a:t>(	clock   : </a:t>
            </a:r>
            <a:r>
              <a:rPr kumimoji="0" lang="en-US" sz="2000" b="1" dirty="0">
                <a:solidFill>
                  <a:srgbClr val="000000"/>
                </a:solidFill>
                <a:latin typeface="Lucida Console"/>
                <a:cs typeface="Lucida Console"/>
              </a:rPr>
              <a:t>in </a:t>
            </a:r>
            <a:r>
              <a:rPr kumimoji="0" lang="en-US" sz="2000" dirty="0">
                <a:solidFill>
                  <a:srgbClr val="000000"/>
                </a:solidFill>
                <a:latin typeface="Lucida Console"/>
                <a:cs typeface="Lucida Console"/>
              </a:rPr>
              <a:t>STD_LOGIC;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000" dirty="0">
                <a:solidFill>
                  <a:srgbClr val="000000"/>
                </a:solidFill>
                <a:latin typeface="Lucida Console"/>
                <a:cs typeface="Lucida Console"/>
              </a:rPr>
              <a:t>         </a:t>
            </a:r>
            <a:r>
              <a:rPr kumimoji="0" lang="en-US" sz="2000" dirty="0" err="1">
                <a:solidFill>
                  <a:srgbClr val="000000"/>
                </a:solidFill>
                <a:latin typeface="Lucida Console"/>
                <a:cs typeface="Lucida Console"/>
              </a:rPr>
              <a:t>resetn</a:t>
            </a:r>
            <a:r>
              <a:rPr kumimoji="0" lang="en-US" sz="2000" dirty="0">
                <a:solidFill>
                  <a:srgbClr val="000000"/>
                </a:solidFill>
                <a:latin typeface="Lucida Console"/>
                <a:cs typeface="Lucida Console"/>
              </a:rPr>
              <a:t>  : </a:t>
            </a:r>
            <a:r>
              <a:rPr kumimoji="0" lang="en-US" sz="2000" b="1" dirty="0">
                <a:solidFill>
                  <a:srgbClr val="000000"/>
                </a:solidFill>
                <a:latin typeface="Lucida Console"/>
                <a:cs typeface="Lucida Console"/>
              </a:rPr>
              <a:t>in </a:t>
            </a:r>
            <a:r>
              <a:rPr kumimoji="0" lang="en-US" sz="2000" dirty="0">
                <a:solidFill>
                  <a:srgbClr val="000000"/>
                </a:solidFill>
                <a:latin typeface="Lucida Console"/>
                <a:cs typeface="Lucida Console"/>
              </a:rPr>
              <a:t>STD_LOGIC;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000" dirty="0">
                <a:solidFill>
                  <a:srgbClr val="000000"/>
                </a:solidFill>
                <a:latin typeface="Lucida Console"/>
                <a:cs typeface="Lucida Console"/>
              </a:rPr>
              <a:t>         w       : </a:t>
            </a:r>
            <a:r>
              <a:rPr kumimoji="0" lang="en-US" sz="2000" b="1" dirty="0">
                <a:solidFill>
                  <a:srgbClr val="000000"/>
                </a:solidFill>
                <a:latin typeface="Lucida Console"/>
                <a:cs typeface="Lucida Console"/>
              </a:rPr>
              <a:t>in </a:t>
            </a:r>
            <a:r>
              <a:rPr kumimoji="0" lang="en-US" sz="2000" dirty="0">
                <a:solidFill>
                  <a:srgbClr val="000000"/>
                </a:solidFill>
                <a:latin typeface="Lucida Console"/>
                <a:cs typeface="Lucida Console"/>
              </a:rPr>
              <a:t>STD_LOGIC;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000" dirty="0">
                <a:solidFill>
                  <a:srgbClr val="000000"/>
                </a:solidFill>
                <a:latin typeface="Lucida Console"/>
                <a:cs typeface="Lucida Console"/>
              </a:rPr>
              <a:t>			z       : </a:t>
            </a:r>
            <a:r>
              <a:rPr kumimoji="0" lang="en-US" sz="2000" b="1" dirty="0">
                <a:solidFill>
                  <a:srgbClr val="000000"/>
                </a:solidFill>
                <a:latin typeface="Lucida Console"/>
                <a:cs typeface="Lucida Console"/>
              </a:rPr>
              <a:t>out </a:t>
            </a:r>
            <a:r>
              <a:rPr kumimoji="0" lang="en-US" sz="2000" dirty="0">
                <a:solidFill>
                  <a:srgbClr val="000000"/>
                </a:solidFill>
                <a:latin typeface="Lucida Console"/>
                <a:cs typeface="Lucida Console"/>
              </a:rPr>
              <a:t>STD_LOGIC);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000" b="1" dirty="0">
                <a:solidFill>
                  <a:srgbClr val="000000"/>
                </a:solidFill>
                <a:latin typeface="Lucida Console"/>
                <a:cs typeface="Lucida Console"/>
              </a:rPr>
              <a:t>end </a:t>
            </a:r>
            <a:r>
              <a:rPr kumimoji="0" lang="en-US" sz="2000" dirty="0">
                <a:solidFill>
                  <a:srgbClr val="000000"/>
                </a:solidFill>
                <a:latin typeface="Lucida Console"/>
                <a:cs typeface="Lucida Console"/>
              </a:rPr>
              <a:t>simple ;</a:t>
            </a:r>
          </a:p>
          <a:p>
            <a:pPr>
              <a:spcBef>
                <a:spcPct val="0"/>
              </a:spcBef>
              <a:buClrTx/>
            </a:pPr>
            <a:endParaRPr kumimoji="0" lang="en-US" sz="2000" dirty="0">
              <a:solidFill>
                <a:srgbClr val="000000"/>
              </a:solidFill>
              <a:latin typeface="Lucida Console"/>
              <a:cs typeface="Lucida Console"/>
            </a:endParaRPr>
          </a:p>
          <a:p>
            <a:pPr>
              <a:spcBef>
                <a:spcPct val="0"/>
              </a:spcBef>
              <a:buClrTx/>
            </a:pPr>
            <a:r>
              <a:rPr kumimoji="0" lang="en-US" sz="2000" b="1" dirty="0">
                <a:solidFill>
                  <a:srgbClr val="000000"/>
                </a:solidFill>
                <a:latin typeface="Lucida Console"/>
                <a:cs typeface="Lucida Console"/>
              </a:rPr>
              <a:t>architecture </a:t>
            </a:r>
            <a:r>
              <a:rPr kumimoji="0" lang="en-US" sz="2000" dirty="0">
                <a:solidFill>
                  <a:srgbClr val="000000"/>
                </a:solidFill>
                <a:latin typeface="Lucida Console"/>
                <a:cs typeface="Lucida Console"/>
              </a:rPr>
              <a:t>Behavior </a:t>
            </a:r>
            <a:r>
              <a:rPr kumimoji="0" lang="en-US" sz="2000" b="1" dirty="0">
                <a:solidFill>
                  <a:srgbClr val="000000"/>
                </a:solidFill>
                <a:latin typeface="Lucida Console"/>
                <a:cs typeface="Lucida Console"/>
              </a:rPr>
              <a:t>of </a:t>
            </a:r>
            <a:r>
              <a:rPr kumimoji="0" lang="en-US" sz="2000" dirty="0">
                <a:solidFill>
                  <a:srgbClr val="000000"/>
                </a:solidFill>
                <a:latin typeface="Lucida Console"/>
                <a:cs typeface="Lucida Console"/>
              </a:rPr>
              <a:t>simple </a:t>
            </a:r>
            <a:r>
              <a:rPr kumimoji="0" lang="en-US" sz="2000" b="1" dirty="0">
                <a:solidFill>
                  <a:srgbClr val="000000"/>
                </a:solidFill>
                <a:latin typeface="Lucida Console"/>
                <a:cs typeface="Lucida Console"/>
              </a:rPr>
              <a:t>is 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000" dirty="0">
                <a:solidFill>
                  <a:srgbClr val="000000"/>
                </a:solidFill>
                <a:latin typeface="Lucida Console"/>
                <a:cs typeface="Lucida Console"/>
              </a:rPr>
              <a:t>	</a:t>
            </a:r>
            <a:r>
              <a:rPr kumimoji="0" lang="en-US" sz="2000" b="1" dirty="0">
                <a:solidFill>
                  <a:srgbClr val="000000"/>
                </a:solidFill>
                <a:latin typeface="Lucida Console"/>
                <a:cs typeface="Lucida Console"/>
              </a:rPr>
              <a:t>type </a:t>
            </a:r>
            <a:r>
              <a:rPr kumimoji="0" lang="en-US" sz="2000" dirty="0" err="1">
                <a:solidFill>
                  <a:srgbClr val="000000"/>
                </a:solidFill>
                <a:latin typeface="Lucida Console"/>
                <a:cs typeface="Lucida Console"/>
              </a:rPr>
              <a:t>State_type</a:t>
            </a:r>
            <a:r>
              <a:rPr kumimoji="0" lang="en-US" sz="2000" dirty="0">
                <a:solidFill>
                  <a:srgbClr val="000000"/>
                </a:solidFill>
                <a:latin typeface="Lucida Console"/>
                <a:cs typeface="Lucida Console"/>
              </a:rPr>
              <a:t> IS (A, B, C) ;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000" dirty="0">
                <a:solidFill>
                  <a:srgbClr val="000000"/>
                </a:solidFill>
                <a:latin typeface="Lucida Console"/>
                <a:cs typeface="Lucida Console"/>
              </a:rPr>
              <a:t>	</a:t>
            </a:r>
            <a:r>
              <a:rPr kumimoji="0" lang="en-US" sz="2000" b="1" dirty="0">
                <a:solidFill>
                  <a:srgbClr val="000000"/>
                </a:solidFill>
                <a:latin typeface="Lucida Console"/>
                <a:cs typeface="Lucida Console"/>
              </a:rPr>
              <a:t>signal </a:t>
            </a:r>
            <a:r>
              <a:rPr kumimoji="0" lang="en-US" sz="2000" dirty="0">
                <a:solidFill>
                  <a:srgbClr val="000000"/>
                </a:solidFill>
                <a:latin typeface="Lucida Console"/>
                <a:cs typeface="Lucida Console"/>
              </a:rPr>
              <a:t>state : </a:t>
            </a:r>
            <a:r>
              <a:rPr kumimoji="0" lang="en-US" sz="2000" dirty="0" err="1">
                <a:solidFill>
                  <a:srgbClr val="000000"/>
                </a:solidFill>
                <a:latin typeface="Lucida Console"/>
                <a:cs typeface="Lucida Console"/>
              </a:rPr>
              <a:t>State_type</a:t>
            </a:r>
            <a:r>
              <a:rPr kumimoji="0" lang="en-US" sz="2000" dirty="0">
                <a:solidFill>
                  <a:srgbClr val="000000"/>
                </a:solidFill>
                <a:latin typeface="Lucida Console"/>
                <a:cs typeface="Lucida Console"/>
              </a:rPr>
              <a:t> ;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000" b="1" dirty="0">
                <a:solidFill>
                  <a:srgbClr val="000000"/>
                </a:solidFill>
                <a:latin typeface="Lucida Console"/>
                <a:cs typeface="Lucida Console"/>
              </a:rPr>
              <a:t>begin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000" dirty="0">
                <a:solidFill>
                  <a:srgbClr val="000000"/>
                </a:solidFill>
                <a:latin typeface="Lucida Console"/>
                <a:cs typeface="Lucida Console"/>
              </a:rPr>
              <a:t>	</a:t>
            </a:r>
            <a:r>
              <a:rPr kumimoji="0" lang="en-US" sz="2000" b="1" dirty="0">
                <a:solidFill>
                  <a:srgbClr val="000000"/>
                </a:solidFill>
                <a:latin typeface="Lucida Console"/>
                <a:cs typeface="Lucida Console"/>
              </a:rPr>
              <a:t>process</a:t>
            </a:r>
            <a:r>
              <a:rPr kumimoji="0" lang="en-US" sz="2000" dirty="0">
                <a:solidFill>
                  <a:srgbClr val="000000"/>
                </a:solidFill>
                <a:latin typeface="Lucida Console"/>
                <a:cs typeface="Lucida Console"/>
              </a:rPr>
              <a:t>( </a:t>
            </a:r>
            <a:r>
              <a:rPr kumimoji="0" lang="en-US" sz="2000" dirty="0" err="1">
                <a:solidFill>
                  <a:srgbClr val="000000"/>
                </a:solidFill>
                <a:latin typeface="Lucida Console"/>
                <a:cs typeface="Lucida Console"/>
              </a:rPr>
              <a:t>resetn</a:t>
            </a:r>
            <a:r>
              <a:rPr kumimoji="0" lang="en-US" sz="2000" dirty="0">
                <a:solidFill>
                  <a:srgbClr val="000000"/>
                </a:solidFill>
                <a:latin typeface="Lucida Console"/>
                <a:cs typeface="Lucida Console"/>
              </a:rPr>
              <a:t>, clock )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000" dirty="0">
                <a:solidFill>
                  <a:srgbClr val="000000"/>
                </a:solidFill>
                <a:latin typeface="Lucida Console"/>
                <a:cs typeface="Lucida Console"/>
              </a:rPr>
              <a:t>	</a:t>
            </a:r>
            <a:r>
              <a:rPr kumimoji="0" lang="en-US" sz="2000" b="1" dirty="0">
                <a:solidFill>
                  <a:srgbClr val="000000"/>
                </a:solidFill>
                <a:latin typeface="Lucida Console"/>
                <a:cs typeface="Lucida Console"/>
              </a:rPr>
              <a:t>begin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000" dirty="0">
                <a:solidFill>
                  <a:srgbClr val="000000"/>
                </a:solidFill>
                <a:latin typeface="Lucida Console"/>
                <a:cs typeface="Lucida Console"/>
              </a:rPr>
              <a:t>		</a:t>
            </a:r>
            <a:r>
              <a:rPr kumimoji="0" lang="en-US" sz="2000" b="1" dirty="0">
                <a:solidFill>
                  <a:srgbClr val="000000"/>
                </a:solidFill>
                <a:latin typeface="Lucida Console"/>
                <a:cs typeface="Lucida Console"/>
              </a:rPr>
              <a:t>if </a:t>
            </a:r>
            <a:r>
              <a:rPr kumimoji="0" lang="en-US" sz="2000" dirty="0" err="1">
                <a:solidFill>
                  <a:srgbClr val="000000"/>
                </a:solidFill>
                <a:latin typeface="Lucida Console"/>
                <a:cs typeface="Lucida Console"/>
              </a:rPr>
              <a:t>resetn</a:t>
            </a:r>
            <a:r>
              <a:rPr kumimoji="0" lang="en-US" sz="2000" dirty="0">
                <a:solidFill>
                  <a:srgbClr val="000000"/>
                </a:solidFill>
                <a:latin typeface="Lucida Console"/>
                <a:cs typeface="Lucida Console"/>
              </a:rPr>
              <a:t> = '0' </a:t>
            </a:r>
            <a:r>
              <a:rPr kumimoji="0" lang="en-US" sz="2000" b="1" dirty="0">
                <a:solidFill>
                  <a:srgbClr val="000000"/>
                </a:solidFill>
                <a:latin typeface="Lucida Console"/>
                <a:cs typeface="Lucida Console"/>
              </a:rPr>
              <a:t>then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000" dirty="0">
                <a:solidFill>
                  <a:srgbClr val="000000"/>
                </a:solidFill>
                <a:latin typeface="Lucida Console"/>
                <a:cs typeface="Lucida Console"/>
              </a:rPr>
              <a:t>			state &lt;= A ;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000" dirty="0">
                <a:solidFill>
                  <a:srgbClr val="000000"/>
                </a:solidFill>
                <a:latin typeface="Lucida Console"/>
                <a:cs typeface="Lucida Console"/>
              </a:rPr>
              <a:t>		</a:t>
            </a:r>
            <a:r>
              <a:rPr kumimoji="0" lang="en-US" sz="2000" b="1" dirty="0" err="1">
                <a:solidFill>
                  <a:srgbClr val="000000"/>
                </a:solidFill>
                <a:latin typeface="Lucida Console"/>
                <a:cs typeface="Lucida Console"/>
              </a:rPr>
              <a:t>elsif</a:t>
            </a:r>
            <a:r>
              <a:rPr kumimoji="0" lang="en-US" sz="2000" b="1" dirty="0">
                <a:solidFill>
                  <a:srgbClr val="000000"/>
                </a:solidFill>
                <a:latin typeface="Lucida Console"/>
                <a:cs typeface="Lucida Console"/>
              </a:rPr>
              <a:t> </a:t>
            </a:r>
            <a:r>
              <a:rPr kumimoji="0" lang="en-US" sz="2000" b="1" dirty="0" err="1">
                <a:solidFill>
                  <a:srgbClr val="000000"/>
                </a:solidFill>
                <a:latin typeface="Lucida Console"/>
                <a:cs typeface="Lucida Console"/>
              </a:rPr>
              <a:t>rising_edge</a:t>
            </a:r>
            <a:r>
              <a:rPr kumimoji="0" lang="en-US" sz="2000" dirty="0">
                <a:solidFill>
                  <a:srgbClr val="000000"/>
                </a:solidFill>
                <a:latin typeface="Lucida Console"/>
                <a:cs typeface="Lucida Console"/>
              </a:rPr>
              <a:t>(Clock) </a:t>
            </a:r>
            <a:r>
              <a:rPr kumimoji="0" lang="en-US" sz="2000" b="1" dirty="0">
                <a:solidFill>
                  <a:srgbClr val="000000"/>
                </a:solidFill>
                <a:latin typeface="Lucida Console"/>
                <a:cs typeface="Lucida Console"/>
              </a:rPr>
              <a:t>then</a:t>
            </a:r>
            <a:r>
              <a:rPr kumimoji="0" lang="en-US" sz="2000" dirty="0">
                <a:solidFill>
                  <a:srgbClr val="000000"/>
                </a:solidFill>
                <a:latin typeface="Lucida Console"/>
                <a:cs typeface="Lucida Console"/>
              </a:rPr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36810661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ASM: Moore FSM Example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10E729F3-F679-7E74-7E68-D13291C39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6085" y="960924"/>
            <a:ext cx="4626887" cy="563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tabLst>
                <a:tab pos="460375" algn="l"/>
                <a:tab pos="919163" algn="l"/>
                <a:tab pos="1366838" algn="l"/>
                <a:tab pos="1825625" algn="l"/>
                <a:tab pos="2286000" algn="l"/>
                <a:tab pos="2746375" algn="l"/>
                <a:tab pos="3205163" algn="l"/>
                <a:tab pos="3652838" algn="l"/>
                <a:tab pos="3889375" algn="l"/>
              </a:tabLst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460375" algn="l"/>
                <a:tab pos="919163" algn="l"/>
                <a:tab pos="1366838" algn="l"/>
                <a:tab pos="1825625" algn="l"/>
                <a:tab pos="2286000" algn="l"/>
                <a:tab pos="2746375" algn="l"/>
                <a:tab pos="3205163" algn="l"/>
                <a:tab pos="3652838" algn="l"/>
                <a:tab pos="3889375" algn="l"/>
              </a:tabLst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tabLst>
                <a:tab pos="460375" algn="l"/>
                <a:tab pos="919163" algn="l"/>
                <a:tab pos="1366838" algn="l"/>
                <a:tab pos="1825625" algn="l"/>
                <a:tab pos="2286000" algn="l"/>
                <a:tab pos="2746375" algn="l"/>
                <a:tab pos="3205163" algn="l"/>
                <a:tab pos="3652838" algn="l"/>
                <a:tab pos="3889375" algn="l"/>
              </a:tabLst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tabLst>
                <a:tab pos="460375" algn="l"/>
                <a:tab pos="919163" algn="l"/>
                <a:tab pos="1366838" algn="l"/>
                <a:tab pos="1825625" algn="l"/>
                <a:tab pos="2286000" algn="l"/>
                <a:tab pos="2746375" algn="l"/>
                <a:tab pos="3205163" algn="l"/>
                <a:tab pos="3652838" algn="l"/>
                <a:tab pos="3889375" algn="l"/>
              </a:tabLst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tabLst>
                <a:tab pos="460375" algn="l"/>
                <a:tab pos="919163" algn="l"/>
                <a:tab pos="1366838" algn="l"/>
                <a:tab pos="1825625" algn="l"/>
                <a:tab pos="2286000" algn="l"/>
                <a:tab pos="2746375" algn="l"/>
                <a:tab pos="3205163" algn="l"/>
                <a:tab pos="3652838" algn="l"/>
                <a:tab pos="3889375" algn="l"/>
              </a:tabLst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460375" algn="l"/>
                <a:tab pos="919163" algn="l"/>
                <a:tab pos="1366838" algn="l"/>
                <a:tab pos="1825625" algn="l"/>
                <a:tab pos="2286000" algn="l"/>
                <a:tab pos="2746375" algn="l"/>
                <a:tab pos="3205163" algn="l"/>
                <a:tab pos="3652838" algn="l"/>
                <a:tab pos="3889375" algn="l"/>
              </a:tabLst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460375" algn="l"/>
                <a:tab pos="919163" algn="l"/>
                <a:tab pos="1366838" algn="l"/>
                <a:tab pos="1825625" algn="l"/>
                <a:tab pos="2286000" algn="l"/>
                <a:tab pos="2746375" algn="l"/>
                <a:tab pos="3205163" algn="l"/>
                <a:tab pos="3652838" algn="l"/>
                <a:tab pos="3889375" algn="l"/>
              </a:tabLst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460375" algn="l"/>
                <a:tab pos="919163" algn="l"/>
                <a:tab pos="1366838" algn="l"/>
                <a:tab pos="1825625" algn="l"/>
                <a:tab pos="2286000" algn="l"/>
                <a:tab pos="2746375" algn="l"/>
                <a:tab pos="3205163" algn="l"/>
                <a:tab pos="3652838" algn="l"/>
                <a:tab pos="3889375" algn="l"/>
              </a:tabLst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460375" algn="l"/>
                <a:tab pos="919163" algn="l"/>
                <a:tab pos="1366838" algn="l"/>
                <a:tab pos="1825625" algn="l"/>
                <a:tab pos="2286000" algn="l"/>
                <a:tab pos="2746375" algn="l"/>
                <a:tab pos="3205163" algn="l"/>
                <a:tab pos="3652838" algn="l"/>
                <a:tab pos="3889375" algn="l"/>
              </a:tabLst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			</a:t>
            </a:r>
            <a:r>
              <a:rPr kumimoji="0" lang="en-US" sz="1800" b="1" dirty="0">
                <a:solidFill>
                  <a:srgbClr val="000000"/>
                </a:solidFill>
                <a:latin typeface="Lucida Console"/>
                <a:cs typeface="Lucida Console"/>
              </a:rPr>
              <a:t>case </a:t>
            </a:r>
            <a:r>
              <a:rPr kumimoji="0"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state </a:t>
            </a:r>
            <a:r>
              <a:rPr kumimoji="0" lang="en-US" sz="1800" b="1" dirty="0">
                <a:solidFill>
                  <a:srgbClr val="000000"/>
                </a:solidFill>
                <a:latin typeface="Lucida Console"/>
                <a:cs typeface="Lucida Console"/>
              </a:rPr>
              <a:t>is 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				</a:t>
            </a:r>
            <a:r>
              <a:rPr kumimoji="0" lang="en-US" sz="1800" b="1" dirty="0">
                <a:solidFill>
                  <a:srgbClr val="000000"/>
                </a:solidFill>
                <a:latin typeface="Lucida Console"/>
                <a:cs typeface="Lucida Console"/>
              </a:rPr>
              <a:t>when </a:t>
            </a:r>
            <a:r>
              <a:rPr kumimoji="0"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A =&gt;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					</a:t>
            </a:r>
            <a:r>
              <a:rPr kumimoji="0" lang="en-US" sz="1800" b="1" dirty="0">
                <a:solidFill>
                  <a:srgbClr val="000000"/>
                </a:solidFill>
                <a:latin typeface="Lucida Console"/>
                <a:cs typeface="Lucida Console"/>
              </a:rPr>
              <a:t>if </a:t>
            </a:r>
            <a:r>
              <a:rPr kumimoji="0"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w = '0' </a:t>
            </a:r>
            <a:r>
              <a:rPr kumimoji="0" lang="en-US" sz="1800" b="1" dirty="0">
                <a:solidFill>
                  <a:srgbClr val="000000"/>
                </a:solidFill>
                <a:latin typeface="Lucida Console"/>
                <a:cs typeface="Lucida Console"/>
              </a:rPr>
              <a:t>then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						state &lt;= A ;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					</a:t>
            </a:r>
            <a:r>
              <a:rPr kumimoji="0" lang="en-US" sz="1800" b="1" dirty="0">
                <a:solidFill>
                  <a:srgbClr val="000000"/>
                </a:solidFill>
                <a:latin typeface="Lucida Console"/>
                <a:cs typeface="Lucida Console"/>
              </a:rPr>
              <a:t>else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						state &lt;= B ;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					</a:t>
            </a:r>
            <a:r>
              <a:rPr kumimoji="0" lang="en-US" sz="1800" b="1" dirty="0">
                <a:solidFill>
                  <a:srgbClr val="000000"/>
                </a:solidFill>
                <a:latin typeface="Lucida Console"/>
                <a:cs typeface="Lucida Console"/>
              </a:rPr>
              <a:t>end if</a:t>
            </a:r>
            <a:r>
              <a:rPr kumimoji="0"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;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				</a:t>
            </a:r>
            <a:r>
              <a:rPr kumimoji="0" lang="en-US" sz="1800" b="1" dirty="0">
                <a:solidFill>
                  <a:srgbClr val="000000"/>
                </a:solidFill>
                <a:latin typeface="Lucida Console"/>
                <a:cs typeface="Lucida Console"/>
              </a:rPr>
              <a:t>when </a:t>
            </a:r>
            <a:r>
              <a:rPr kumimoji="0"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B =&gt;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					</a:t>
            </a:r>
            <a:r>
              <a:rPr kumimoji="0" lang="en-US" sz="1800" b="1" dirty="0">
                <a:solidFill>
                  <a:srgbClr val="000000"/>
                </a:solidFill>
                <a:latin typeface="Lucida Console"/>
                <a:cs typeface="Lucida Console"/>
              </a:rPr>
              <a:t>if </a:t>
            </a:r>
            <a:r>
              <a:rPr kumimoji="0"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w = '0' </a:t>
            </a:r>
            <a:r>
              <a:rPr kumimoji="0" lang="en-US" sz="1800" b="1" dirty="0">
                <a:solidFill>
                  <a:srgbClr val="000000"/>
                </a:solidFill>
                <a:latin typeface="Lucida Console"/>
                <a:cs typeface="Lucida Console"/>
              </a:rPr>
              <a:t>then</a:t>
            </a:r>
            <a:endParaRPr kumimoji="0" lang="en-US" sz="1800" dirty="0">
              <a:solidFill>
                <a:srgbClr val="000000"/>
              </a:solidFill>
              <a:latin typeface="Lucida Console"/>
              <a:cs typeface="Lucida Console"/>
            </a:endParaRPr>
          </a:p>
          <a:p>
            <a:pPr>
              <a:spcBef>
                <a:spcPct val="0"/>
              </a:spcBef>
              <a:buClrTx/>
            </a:pPr>
            <a:r>
              <a:rPr kumimoji="0"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						state &lt;= A ;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					</a:t>
            </a:r>
            <a:r>
              <a:rPr kumimoji="0" lang="en-US" sz="1800" b="1" dirty="0">
                <a:solidFill>
                  <a:srgbClr val="000000"/>
                </a:solidFill>
                <a:latin typeface="Lucida Console"/>
                <a:cs typeface="Lucida Console"/>
              </a:rPr>
              <a:t>else</a:t>
            </a:r>
            <a:endParaRPr kumimoji="0" lang="en-US" sz="1800" dirty="0">
              <a:solidFill>
                <a:srgbClr val="000000"/>
              </a:solidFill>
              <a:latin typeface="Lucida Console"/>
              <a:cs typeface="Lucida Console"/>
            </a:endParaRPr>
          </a:p>
          <a:p>
            <a:pPr>
              <a:spcBef>
                <a:spcPct val="0"/>
              </a:spcBef>
              <a:buClrTx/>
            </a:pPr>
            <a:r>
              <a:rPr kumimoji="0"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						state &lt;= C ;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					</a:t>
            </a:r>
            <a:r>
              <a:rPr kumimoji="0" lang="en-US" sz="1800" b="1" dirty="0">
                <a:solidFill>
                  <a:srgbClr val="000000"/>
                </a:solidFill>
                <a:latin typeface="Lucida Console"/>
                <a:cs typeface="Lucida Console"/>
              </a:rPr>
              <a:t>end if</a:t>
            </a:r>
            <a:r>
              <a:rPr kumimoji="0"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;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				</a:t>
            </a:r>
            <a:r>
              <a:rPr kumimoji="0" lang="en-US" sz="1800" b="1" dirty="0">
                <a:solidFill>
                  <a:srgbClr val="000000"/>
                </a:solidFill>
                <a:latin typeface="Lucida Console"/>
                <a:cs typeface="Lucida Console"/>
              </a:rPr>
              <a:t>when </a:t>
            </a:r>
            <a:r>
              <a:rPr kumimoji="0"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C =&gt;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					</a:t>
            </a:r>
            <a:r>
              <a:rPr kumimoji="0" lang="en-US" sz="1800" b="1" dirty="0">
                <a:solidFill>
                  <a:srgbClr val="000000"/>
                </a:solidFill>
                <a:latin typeface="Lucida Console"/>
                <a:cs typeface="Lucida Console"/>
              </a:rPr>
              <a:t>if </a:t>
            </a:r>
            <a:r>
              <a:rPr kumimoji="0"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w = '0' </a:t>
            </a:r>
            <a:r>
              <a:rPr kumimoji="0" lang="en-US" sz="1800" b="1" dirty="0">
                <a:solidFill>
                  <a:srgbClr val="000000"/>
                </a:solidFill>
                <a:latin typeface="Lucida Console"/>
                <a:cs typeface="Lucida Console"/>
              </a:rPr>
              <a:t>then</a:t>
            </a:r>
            <a:endParaRPr kumimoji="0" lang="en-US" sz="1800" dirty="0">
              <a:solidFill>
                <a:srgbClr val="000000"/>
              </a:solidFill>
              <a:latin typeface="Lucida Console"/>
              <a:cs typeface="Lucida Console"/>
            </a:endParaRPr>
          </a:p>
          <a:p>
            <a:pPr>
              <a:spcBef>
                <a:spcPct val="0"/>
              </a:spcBef>
              <a:buClrTx/>
            </a:pPr>
            <a:r>
              <a:rPr kumimoji="0"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						state &lt;= A ;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					</a:t>
            </a:r>
            <a:r>
              <a:rPr kumimoji="0" lang="en-US" sz="1800" b="1" dirty="0">
                <a:solidFill>
                  <a:srgbClr val="000000"/>
                </a:solidFill>
                <a:latin typeface="Lucida Console"/>
                <a:cs typeface="Lucida Console"/>
              </a:rPr>
              <a:t>else</a:t>
            </a:r>
            <a:endParaRPr kumimoji="0" lang="en-US" sz="1800" dirty="0">
              <a:solidFill>
                <a:srgbClr val="000000"/>
              </a:solidFill>
              <a:latin typeface="Lucida Console"/>
              <a:cs typeface="Lucida Console"/>
            </a:endParaRPr>
          </a:p>
          <a:p>
            <a:pPr>
              <a:spcBef>
                <a:spcPct val="0"/>
              </a:spcBef>
              <a:buClrTx/>
            </a:pPr>
            <a:r>
              <a:rPr kumimoji="0"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						state &lt;= C ;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					</a:t>
            </a:r>
            <a:r>
              <a:rPr kumimoji="0" lang="en-US" sz="1800" b="1" dirty="0">
                <a:solidFill>
                  <a:srgbClr val="000000"/>
                </a:solidFill>
                <a:latin typeface="Lucida Console"/>
                <a:cs typeface="Lucida Console"/>
              </a:rPr>
              <a:t>end if</a:t>
            </a:r>
            <a:r>
              <a:rPr kumimoji="0"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;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			</a:t>
            </a:r>
            <a:r>
              <a:rPr kumimoji="0" lang="en-US" sz="1800" b="1" dirty="0">
                <a:solidFill>
                  <a:srgbClr val="000000"/>
                </a:solidFill>
                <a:latin typeface="Lucida Console"/>
                <a:cs typeface="Lucida Console"/>
              </a:rPr>
              <a:t>end case</a:t>
            </a:r>
            <a:r>
              <a:rPr kumimoji="0" lang="en-US" sz="1800" dirty="0">
                <a:solidFill>
                  <a:srgbClr val="000000"/>
                </a:solidFill>
                <a:latin typeface="Lucida Console"/>
                <a:cs typeface="Lucida Console"/>
              </a:rPr>
              <a:t>;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D79970A-F896-9D20-2FAB-25EA7AEA0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78028" y="1016297"/>
            <a:ext cx="2013930" cy="552156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062112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ASM: Moore FSM Example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D79970A-F896-9D20-2FAB-25EA7AEA0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78028" y="1016297"/>
            <a:ext cx="2013930" cy="5521567"/>
          </a:xfrm>
          <a:prstGeom prst="rect">
            <a:avLst/>
          </a:prstGeom>
          <a:noFill/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6E0994C-C834-6AB7-BFEF-DCF824938EBD}"/>
              </a:ext>
            </a:extLst>
          </p:cNvPr>
          <p:cNvSpPr txBox="1">
            <a:spLocks noChangeArrowheads="1"/>
          </p:cNvSpPr>
          <p:nvPr/>
        </p:nvSpPr>
        <p:spPr>
          <a:xfrm>
            <a:off x="5308254" y="2413638"/>
            <a:ext cx="5272931" cy="272688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sz="2000">
                <a:latin typeface="Lucida Console"/>
                <a:ea typeface="ＭＳ Ｐゴシック" charset="0"/>
                <a:cs typeface="Lucida Console"/>
              </a:rPr>
              <a:t>	   </a:t>
            </a:r>
            <a:r>
              <a:rPr lang="en-US" sz="2000" b="1">
                <a:latin typeface="Lucida Console"/>
                <a:ea typeface="ＭＳ Ｐゴシック" charset="0"/>
                <a:cs typeface="Lucida Console"/>
              </a:rPr>
              <a:t>END IF</a:t>
            </a:r>
            <a:r>
              <a:rPr lang="en-US" sz="2000">
                <a:latin typeface="Lucida Console"/>
                <a:ea typeface="ＭＳ Ｐゴシック" charset="0"/>
                <a:cs typeface="Lucida Console"/>
              </a:rPr>
              <a:t>;</a:t>
            </a:r>
          </a:p>
          <a:p>
            <a:pPr>
              <a:buFontTx/>
              <a:buNone/>
            </a:pPr>
            <a:r>
              <a:rPr lang="en-US" sz="2000" b="1">
                <a:latin typeface="Lucida Console"/>
                <a:ea typeface="ＭＳ Ｐゴシック" charset="0"/>
                <a:cs typeface="Lucida Console"/>
              </a:rPr>
              <a:t>   END PROCESS</a:t>
            </a:r>
            <a:r>
              <a:rPr lang="en-US" sz="2000">
                <a:latin typeface="Lucida Console"/>
                <a:ea typeface="ＭＳ Ｐゴシック" charset="0"/>
                <a:cs typeface="Lucida Console"/>
              </a:rPr>
              <a:t>;</a:t>
            </a:r>
          </a:p>
          <a:p>
            <a:pPr>
              <a:buFontTx/>
              <a:buNone/>
            </a:pPr>
            <a:r>
              <a:rPr lang="en-US" sz="2000">
                <a:latin typeface="Lucida Console"/>
                <a:ea typeface="ＭＳ Ｐゴシック" charset="0"/>
                <a:cs typeface="Lucida Console"/>
              </a:rPr>
              <a:t>	</a:t>
            </a:r>
          </a:p>
          <a:p>
            <a:pPr>
              <a:buFontTx/>
              <a:buNone/>
            </a:pPr>
            <a:r>
              <a:rPr lang="en-US" sz="2000">
                <a:latin typeface="Lucida Console"/>
                <a:ea typeface="ＭＳ Ｐゴシック" charset="0"/>
                <a:cs typeface="Lucida Console"/>
              </a:rPr>
              <a:t>   z &lt;= '1' </a:t>
            </a:r>
            <a:r>
              <a:rPr lang="en-US" sz="2000" b="1">
                <a:latin typeface="Lucida Console"/>
                <a:ea typeface="ＭＳ Ｐゴシック" charset="0"/>
                <a:cs typeface="Lucida Console"/>
              </a:rPr>
              <a:t>when </a:t>
            </a:r>
            <a:r>
              <a:rPr lang="en-US" sz="2000">
                <a:latin typeface="Lucida Console"/>
                <a:cs typeface="Lucida Console"/>
              </a:rPr>
              <a:t>state </a:t>
            </a:r>
            <a:r>
              <a:rPr lang="en-US" sz="2000">
                <a:latin typeface="Lucida Console"/>
                <a:ea typeface="ＭＳ Ｐゴシック" charset="0"/>
                <a:cs typeface="Lucida Console"/>
              </a:rPr>
              <a:t>= C </a:t>
            </a:r>
            <a:r>
              <a:rPr lang="en-US" sz="2000" b="1">
                <a:latin typeface="Lucida Console"/>
                <a:ea typeface="ＭＳ Ｐゴシック" charset="0"/>
                <a:cs typeface="Lucida Console"/>
              </a:rPr>
              <a:t>else </a:t>
            </a:r>
          </a:p>
          <a:p>
            <a:pPr>
              <a:buFontTx/>
              <a:buNone/>
            </a:pPr>
            <a:r>
              <a:rPr lang="en-US" sz="2000" b="1">
                <a:latin typeface="Lucida Console"/>
                <a:ea typeface="ＭＳ Ｐゴシック" charset="0"/>
                <a:cs typeface="Lucida Console"/>
              </a:rPr>
              <a:t>		  </a:t>
            </a:r>
            <a:r>
              <a:rPr lang="en-US" sz="2000">
                <a:latin typeface="Lucida Console"/>
                <a:ea typeface="ＭＳ Ｐゴシック" charset="0"/>
                <a:cs typeface="Lucida Console"/>
              </a:rPr>
              <a:t>'0’;</a:t>
            </a:r>
          </a:p>
          <a:p>
            <a:pPr>
              <a:buFontTx/>
              <a:buNone/>
            </a:pPr>
            <a:r>
              <a:rPr lang="en-US" sz="2000" b="1">
                <a:latin typeface="Lucida Console"/>
                <a:ea typeface="ＭＳ Ｐゴシック" charset="0"/>
                <a:cs typeface="Lucida Console"/>
              </a:rPr>
              <a:t>END Behavior</a:t>
            </a:r>
            <a:r>
              <a:rPr lang="en-US" sz="2000">
                <a:latin typeface="Lucida Console"/>
                <a:ea typeface="ＭＳ Ｐゴシック" charset="0"/>
                <a:cs typeface="Lucida Console"/>
              </a:rPr>
              <a:t>;</a:t>
            </a:r>
          </a:p>
          <a:p>
            <a:pPr>
              <a:buFontTx/>
              <a:buNone/>
            </a:pPr>
            <a:endParaRPr lang="pl-PL" sz="2000" dirty="0">
              <a:latin typeface="Lucida Console"/>
              <a:ea typeface="ＭＳ Ｐゴシック" charset="0"/>
              <a:cs typeface="Lucida Console"/>
            </a:endParaRPr>
          </a:p>
        </p:txBody>
      </p:sp>
    </p:spTree>
    <p:extLst>
      <p:ext uri="{BB962C8B-B14F-4D97-AF65-F5344CB8AC3E}">
        <p14:creationId xmlns:p14="http://schemas.microsoft.com/office/powerpoint/2010/main" val="25146011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ASM: Mealy FSM Example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CA27B71-6B93-7109-6820-2F78D4A92525}"/>
              </a:ext>
            </a:extLst>
          </p:cNvPr>
          <p:cNvSpPr txBox="1"/>
          <p:nvPr/>
        </p:nvSpPr>
        <p:spPr>
          <a:xfrm>
            <a:off x="431811" y="5459258"/>
            <a:ext cx="47132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Mealy FSM: State Diagram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691FC5-3285-5858-FF36-4C1B187E2B09}"/>
              </a:ext>
            </a:extLst>
          </p:cNvPr>
          <p:cNvGrpSpPr/>
          <p:nvPr/>
        </p:nvGrpSpPr>
        <p:grpSpPr>
          <a:xfrm>
            <a:off x="3914775" y="2295525"/>
            <a:ext cx="4362450" cy="1947863"/>
            <a:chOff x="2314575" y="2438400"/>
            <a:chExt cx="4362450" cy="1947863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33DD02C8-4E93-D8B4-9CA2-60A9E4B02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4050" y="3711575"/>
              <a:ext cx="136525" cy="112713"/>
            </a:xfrm>
            <a:custGeom>
              <a:avLst/>
              <a:gdLst>
                <a:gd name="T0" fmla="*/ 0 w 173"/>
                <a:gd name="T1" fmla="*/ 0 h 144"/>
                <a:gd name="T2" fmla="*/ 0 w 173"/>
                <a:gd name="T3" fmla="*/ 0 h 144"/>
                <a:gd name="T4" fmla="*/ 0 w 173"/>
                <a:gd name="T5" fmla="*/ 0 h 144"/>
                <a:gd name="T6" fmla="*/ 0 w 173"/>
                <a:gd name="T7" fmla="*/ 0 h 144"/>
                <a:gd name="T8" fmla="*/ 0 w 173"/>
                <a:gd name="T9" fmla="*/ 0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3"/>
                <a:gd name="T16" fmla="*/ 0 h 144"/>
                <a:gd name="T17" fmla="*/ 173 w 173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3" h="144">
                  <a:moveTo>
                    <a:pt x="173" y="86"/>
                  </a:moveTo>
                  <a:lnTo>
                    <a:pt x="0" y="0"/>
                  </a:lnTo>
                  <a:lnTo>
                    <a:pt x="115" y="144"/>
                  </a:lnTo>
                  <a:lnTo>
                    <a:pt x="144" y="115"/>
                  </a:lnTo>
                  <a:lnTo>
                    <a:pt x="173" y="86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BE314F12-F269-AC68-BA7D-BA7831D92C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1188" y="3214688"/>
              <a:ext cx="639763" cy="639763"/>
            </a:xfrm>
            <a:custGeom>
              <a:avLst/>
              <a:gdLst>
                <a:gd name="T0" fmla="*/ 1 w 805"/>
                <a:gd name="T1" fmla="*/ 1 h 805"/>
                <a:gd name="T2" fmla="*/ 1 w 805"/>
                <a:gd name="T3" fmla="*/ 1 h 805"/>
                <a:gd name="T4" fmla="*/ 1 w 805"/>
                <a:gd name="T5" fmla="*/ 1 h 805"/>
                <a:gd name="T6" fmla="*/ 1 w 805"/>
                <a:gd name="T7" fmla="*/ 1 h 805"/>
                <a:gd name="T8" fmla="*/ 1 w 805"/>
                <a:gd name="T9" fmla="*/ 1 h 805"/>
                <a:gd name="T10" fmla="*/ 1 w 805"/>
                <a:gd name="T11" fmla="*/ 1 h 805"/>
                <a:gd name="T12" fmla="*/ 1 w 805"/>
                <a:gd name="T13" fmla="*/ 1 h 805"/>
                <a:gd name="T14" fmla="*/ 1 w 805"/>
                <a:gd name="T15" fmla="*/ 1 h 805"/>
                <a:gd name="T16" fmla="*/ 1 w 805"/>
                <a:gd name="T17" fmla="*/ 1 h 805"/>
                <a:gd name="T18" fmla="*/ 1 w 805"/>
                <a:gd name="T19" fmla="*/ 1 h 805"/>
                <a:gd name="T20" fmla="*/ 1 w 805"/>
                <a:gd name="T21" fmla="*/ 1 h 805"/>
                <a:gd name="T22" fmla="*/ 1 w 805"/>
                <a:gd name="T23" fmla="*/ 0 h 805"/>
                <a:gd name="T24" fmla="*/ 1 w 805"/>
                <a:gd name="T25" fmla="*/ 1 h 805"/>
                <a:gd name="T26" fmla="*/ 1 w 805"/>
                <a:gd name="T27" fmla="*/ 1 h 805"/>
                <a:gd name="T28" fmla="*/ 1 w 805"/>
                <a:gd name="T29" fmla="*/ 1 h 805"/>
                <a:gd name="T30" fmla="*/ 1 w 805"/>
                <a:gd name="T31" fmla="*/ 1 h 805"/>
                <a:gd name="T32" fmla="*/ 1 w 805"/>
                <a:gd name="T33" fmla="*/ 1 h 805"/>
                <a:gd name="T34" fmla="*/ 1 w 805"/>
                <a:gd name="T35" fmla="*/ 1 h 805"/>
                <a:gd name="T36" fmla="*/ 1 w 805"/>
                <a:gd name="T37" fmla="*/ 1 h 805"/>
                <a:gd name="T38" fmla="*/ 1 w 805"/>
                <a:gd name="T39" fmla="*/ 1 h 805"/>
                <a:gd name="T40" fmla="*/ 1 w 805"/>
                <a:gd name="T41" fmla="*/ 1 h 805"/>
                <a:gd name="T42" fmla="*/ 1 w 805"/>
                <a:gd name="T43" fmla="*/ 1 h 805"/>
                <a:gd name="T44" fmla="*/ 1 w 805"/>
                <a:gd name="T45" fmla="*/ 1 h 805"/>
                <a:gd name="T46" fmla="*/ 1 w 805"/>
                <a:gd name="T47" fmla="*/ 1 h 805"/>
                <a:gd name="T48" fmla="*/ 1 w 805"/>
                <a:gd name="T49" fmla="*/ 1 h 805"/>
                <a:gd name="T50" fmla="*/ 1 w 805"/>
                <a:gd name="T51" fmla="*/ 1 h 805"/>
                <a:gd name="T52" fmla="*/ 1 w 805"/>
                <a:gd name="T53" fmla="*/ 1 h 805"/>
                <a:gd name="T54" fmla="*/ 1 w 805"/>
                <a:gd name="T55" fmla="*/ 1 h 805"/>
                <a:gd name="T56" fmla="*/ 1 w 805"/>
                <a:gd name="T57" fmla="*/ 1 h 805"/>
                <a:gd name="T58" fmla="*/ 1 w 805"/>
                <a:gd name="T59" fmla="*/ 1 h 805"/>
                <a:gd name="T60" fmla="*/ 1 w 805"/>
                <a:gd name="T61" fmla="*/ 1 h 805"/>
                <a:gd name="T62" fmla="*/ 1 w 805"/>
                <a:gd name="T63" fmla="*/ 1 h 805"/>
                <a:gd name="T64" fmla="*/ 1 w 805"/>
                <a:gd name="T65" fmla="*/ 1 h 805"/>
                <a:gd name="T66" fmla="*/ 1 w 805"/>
                <a:gd name="T67" fmla="*/ 1 h 805"/>
                <a:gd name="T68" fmla="*/ 1 w 805"/>
                <a:gd name="T69" fmla="*/ 1 h 805"/>
                <a:gd name="T70" fmla="*/ 1 w 805"/>
                <a:gd name="T71" fmla="*/ 1 h 805"/>
                <a:gd name="T72" fmla="*/ 1 w 805"/>
                <a:gd name="T73" fmla="*/ 1 h 805"/>
                <a:gd name="T74" fmla="*/ 1 w 805"/>
                <a:gd name="T75" fmla="*/ 1 h 805"/>
                <a:gd name="T76" fmla="*/ 1 w 805"/>
                <a:gd name="T77" fmla="*/ 1 h 805"/>
                <a:gd name="T78" fmla="*/ 1 w 805"/>
                <a:gd name="T79" fmla="*/ 1 h 805"/>
                <a:gd name="T80" fmla="*/ 1 w 805"/>
                <a:gd name="T81" fmla="*/ 1 h 805"/>
                <a:gd name="T82" fmla="*/ 1 w 805"/>
                <a:gd name="T83" fmla="*/ 1 h 805"/>
                <a:gd name="T84" fmla="*/ 1 w 805"/>
                <a:gd name="T85" fmla="*/ 1 h 805"/>
                <a:gd name="T86" fmla="*/ 1 w 805"/>
                <a:gd name="T87" fmla="*/ 1 h 805"/>
                <a:gd name="T88" fmla="*/ 1 w 805"/>
                <a:gd name="T89" fmla="*/ 1 h 805"/>
                <a:gd name="T90" fmla="*/ 1 w 805"/>
                <a:gd name="T91" fmla="*/ 1 h 805"/>
                <a:gd name="T92" fmla="*/ 1 w 805"/>
                <a:gd name="T93" fmla="*/ 1 h 805"/>
                <a:gd name="T94" fmla="*/ 1 w 805"/>
                <a:gd name="T95" fmla="*/ 1 h 805"/>
                <a:gd name="T96" fmla="*/ 1 w 805"/>
                <a:gd name="T97" fmla="*/ 1 h 805"/>
                <a:gd name="T98" fmla="*/ 1 w 805"/>
                <a:gd name="T99" fmla="*/ 1 h 805"/>
                <a:gd name="T100" fmla="*/ 1 w 805"/>
                <a:gd name="T101" fmla="*/ 1 h 805"/>
                <a:gd name="T102" fmla="*/ 1 w 805"/>
                <a:gd name="T103" fmla="*/ 1 h 805"/>
                <a:gd name="T104" fmla="*/ 1 w 805"/>
                <a:gd name="T105" fmla="*/ 1 h 805"/>
                <a:gd name="T106" fmla="*/ 1 w 805"/>
                <a:gd name="T107" fmla="*/ 1 h 805"/>
                <a:gd name="T108" fmla="*/ 1 w 805"/>
                <a:gd name="T109" fmla="*/ 1 h 805"/>
                <a:gd name="T110" fmla="*/ 1 w 805"/>
                <a:gd name="T111" fmla="*/ 1 h 805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805"/>
                <a:gd name="T169" fmla="*/ 0 h 805"/>
                <a:gd name="T170" fmla="*/ 805 w 805"/>
                <a:gd name="T171" fmla="*/ 805 h 805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805" h="805">
                  <a:moveTo>
                    <a:pt x="0" y="398"/>
                  </a:moveTo>
                  <a:lnTo>
                    <a:pt x="0" y="408"/>
                  </a:lnTo>
                  <a:lnTo>
                    <a:pt x="1" y="386"/>
                  </a:lnTo>
                  <a:lnTo>
                    <a:pt x="3" y="366"/>
                  </a:lnTo>
                  <a:lnTo>
                    <a:pt x="5" y="345"/>
                  </a:lnTo>
                  <a:lnTo>
                    <a:pt x="8" y="326"/>
                  </a:lnTo>
                  <a:lnTo>
                    <a:pt x="13" y="306"/>
                  </a:lnTo>
                  <a:lnTo>
                    <a:pt x="18" y="286"/>
                  </a:lnTo>
                  <a:lnTo>
                    <a:pt x="24" y="267"/>
                  </a:lnTo>
                  <a:lnTo>
                    <a:pt x="33" y="248"/>
                  </a:lnTo>
                  <a:lnTo>
                    <a:pt x="40" y="231"/>
                  </a:lnTo>
                  <a:lnTo>
                    <a:pt x="49" y="214"/>
                  </a:lnTo>
                  <a:lnTo>
                    <a:pt x="59" y="197"/>
                  </a:lnTo>
                  <a:lnTo>
                    <a:pt x="70" y="179"/>
                  </a:lnTo>
                  <a:lnTo>
                    <a:pt x="82" y="164"/>
                  </a:lnTo>
                  <a:lnTo>
                    <a:pt x="93" y="148"/>
                  </a:lnTo>
                  <a:lnTo>
                    <a:pt x="106" y="133"/>
                  </a:lnTo>
                  <a:lnTo>
                    <a:pt x="119" y="119"/>
                  </a:lnTo>
                  <a:lnTo>
                    <a:pt x="133" y="106"/>
                  </a:lnTo>
                  <a:lnTo>
                    <a:pt x="148" y="93"/>
                  </a:lnTo>
                  <a:lnTo>
                    <a:pt x="164" y="82"/>
                  </a:lnTo>
                  <a:lnTo>
                    <a:pt x="180" y="70"/>
                  </a:lnTo>
                  <a:lnTo>
                    <a:pt x="197" y="59"/>
                  </a:lnTo>
                  <a:lnTo>
                    <a:pt x="214" y="49"/>
                  </a:lnTo>
                  <a:lnTo>
                    <a:pt x="231" y="40"/>
                  </a:lnTo>
                  <a:lnTo>
                    <a:pt x="249" y="31"/>
                  </a:lnTo>
                  <a:lnTo>
                    <a:pt x="267" y="24"/>
                  </a:lnTo>
                  <a:lnTo>
                    <a:pt x="286" y="18"/>
                  </a:lnTo>
                  <a:lnTo>
                    <a:pt x="306" y="13"/>
                  </a:lnTo>
                  <a:lnTo>
                    <a:pt x="326" y="8"/>
                  </a:lnTo>
                  <a:lnTo>
                    <a:pt x="346" y="4"/>
                  </a:lnTo>
                  <a:lnTo>
                    <a:pt x="367" y="3"/>
                  </a:lnTo>
                  <a:lnTo>
                    <a:pt x="387" y="1"/>
                  </a:lnTo>
                  <a:lnTo>
                    <a:pt x="408" y="0"/>
                  </a:lnTo>
                  <a:lnTo>
                    <a:pt x="398" y="0"/>
                  </a:lnTo>
                  <a:lnTo>
                    <a:pt x="418" y="1"/>
                  </a:lnTo>
                  <a:lnTo>
                    <a:pt x="440" y="3"/>
                  </a:lnTo>
                  <a:lnTo>
                    <a:pt x="460" y="4"/>
                  </a:lnTo>
                  <a:lnTo>
                    <a:pt x="480" y="8"/>
                  </a:lnTo>
                  <a:lnTo>
                    <a:pt x="500" y="13"/>
                  </a:lnTo>
                  <a:lnTo>
                    <a:pt x="519" y="18"/>
                  </a:lnTo>
                  <a:lnTo>
                    <a:pt x="538" y="24"/>
                  </a:lnTo>
                  <a:lnTo>
                    <a:pt x="556" y="31"/>
                  </a:lnTo>
                  <a:lnTo>
                    <a:pt x="575" y="40"/>
                  </a:lnTo>
                  <a:lnTo>
                    <a:pt x="592" y="49"/>
                  </a:lnTo>
                  <a:lnTo>
                    <a:pt x="610" y="59"/>
                  </a:lnTo>
                  <a:lnTo>
                    <a:pt x="625" y="70"/>
                  </a:lnTo>
                  <a:lnTo>
                    <a:pt x="641" y="82"/>
                  </a:lnTo>
                  <a:lnTo>
                    <a:pt x="657" y="93"/>
                  </a:lnTo>
                  <a:lnTo>
                    <a:pt x="671" y="106"/>
                  </a:lnTo>
                  <a:lnTo>
                    <a:pt x="686" y="119"/>
                  </a:lnTo>
                  <a:lnTo>
                    <a:pt x="700" y="133"/>
                  </a:lnTo>
                  <a:lnTo>
                    <a:pt x="713" y="148"/>
                  </a:lnTo>
                  <a:lnTo>
                    <a:pt x="725" y="164"/>
                  </a:lnTo>
                  <a:lnTo>
                    <a:pt x="736" y="179"/>
                  </a:lnTo>
                  <a:lnTo>
                    <a:pt x="746" y="197"/>
                  </a:lnTo>
                  <a:lnTo>
                    <a:pt x="756" y="214"/>
                  </a:lnTo>
                  <a:lnTo>
                    <a:pt x="765" y="231"/>
                  </a:lnTo>
                  <a:lnTo>
                    <a:pt x="774" y="248"/>
                  </a:lnTo>
                  <a:lnTo>
                    <a:pt x="781" y="267"/>
                  </a:lnTo>
                  <a:lnTo>
                    <a:pt x="788" y="286"/>
                  </a:lnTo>
                  <a:lnTo>
                    <a:pt x="792" y="306"/>
                  </a:lnTo>
                  <a:lnTo>
                    <a:pt x="798" y="326"/>
                  </a:lnTo>
                  <a:lnTo>
                    <a:pt x="801" y="345"/>
                  </a:lnTo>
                  <a:lnTo>
                    <a:pt x="804" y="366"/>
                  </a:lnTo>
                  <a:lnTo>
                    <a:pt x="805" y="386"/>
                  </a:lnTo>
                  <a:lnTo>
                    <a:pt x="805" y="408"/>
                  </a:lnTo>
                  <a:lnTo>
                    <a:pt x="805" y="398"/>
                  </a:lnTo>
                  <a:lnTo>
                    <a:pt x="805" y="418"/>
                  </a:lnTo>
                  <a:lnTo>
                    <a:pt x="804" y="439"/>
                  </a:lnTo>
                  <a:lnTo>
                    <a:pt x="801" y="460"/>
                  </a:lnTo>
                  <a:lnTo>
                    <a:pt x="798" y="480"/>
                  </a:lnTo>
                  <a:lnTo>
                    <a:pt x="792" y="500"/>
                  </a:lnTo>
                  <a:lnTo>
                    <a:pt x="788" y="519"/>
                  </a:lnTo>
                  <a:lnTo>
                    <a:pt x="781" y="537"/>
                  </a:lnTo>
                  <a:lnTo>
                    <a:pt x="774" y="556"/>
                  </a:lnTo>
                  <a:lnTo>
                    <a:pt x="765" y="575"/>
                  </a:lnTo>
                  <a:lnTo>
                    <a:pt x="756" y="592"/>
                  </a:lnTo>
                  <a:lnTo>
                    <a:pt x="746" y="609"/>
                  </a:lnTo>
                  <a:lnTo>
                    <a:pt x="736" y="625"/>
                  </a:lnTo>
                  <a:lnTo>
                    <a:pt x="725" y="641"/>
                  </a:lnTo>
                  <a:lnTo>
                    <a:pt x="713" y="656"/>
                  </a:lnTo>
                  <a:lnTo>
                    <a:pt x="700" y="671"/>
                  </a:lnTo>
                  <a:lnTo>
                    <a:pt x="686" y="685"/>
                  </a:lnTo>
                  <a:lnTo>
                    <a:pt x="671" y="700"/>
                  </a:lnTo>
                  <a:lnTo>
                    <a:pt x="657" y="713"/>
                  </a:lnTo>
                  <a:lnTo>
                    <a:pt x="641" y="724"/>
                  </a:lnTo>
                  <a:lnTo>
                    <a:pt x="625" y="736"/>
                  </a:lnTo>
                  <a:lnTo>
                    <a:pt x="610" y="746"/>
                  </a:lnTo>
                  <a:lnTo>
                    <a:pt x="592" y="756"/>
                  </a:lnTo>
                  <a:lnTo>
                    <a:pt x="575" y="764"/>
                  </a:lnTo>
                  <a:lnTo>
                    <a:pt x="556" y="773"/>
                  </a:lnTo>
                  <a:lnTo>
                    <a:pt x="538" y="780"/>
                  </a:lnTo>
                  <a:lnTo>
                    <a:pt x="519" y="786"/>
                  </a:lnTo>
                  <a:lnTo>
                    <a:pt x="500" y="792"/>
                  </a:lnTo>
                  <a:lnTo>
                    <a:pt x="480" y="796"/>
                  </a:lnTo>
                  <a:lnTo>
                    <a:pt x="460" y="800"/>
                  </a:lnTo>
                  <a:lnTo>
                    <a:pt x="440" y="803"/>
                  </a:lnTo>
                  <a:lnTo>
                    <a:pt x="418" y="805"/>
                  </a:lnTo>
                  <a:lnTo>
                    <a:pt x="398" y="805"/>
                  </a:lnTo>
                  <a:lnTo>
                    <a:pt x="408" y="805"/>
                  </a:lnTo>
                  <a:lnTo>
                    <a:pt x="387" y="805"/>
                  </a:lnTo>
                  <a:lnTo>
                    <a:pt x="367" y="803"/>
                  </a:lnTo>
                  <a:lnTo>
                    <a:pt x="346" y="800"/>
                  </a:lnTo>
                  <a:lnTo>
                    <a:pt x="326" y="796"/>
                  </a:lnTo>
                  <a:lnTo>
                    <a:pt x="306" y="792"/>
                  </a:lnTo>
                  <a:lnTo>
                    <a:pt x="286" y="786"/>
                  </a:lnTo>
                  <a:lnTo>
                    <a:pt x="267" y="780"/>
                  </a:lnTo>
                  <a:lnTo>
                    <a:pt x="249" y="773"/>
                  </a:lnTo>
                  <a:lnTo>
                    <a:pt x="231" y="764"/>
                  </a:lnTo>
                  <a:lnTo>
                    <a:pt x="214" y="756"/>
                  </a:lnTo>
                  <a:lnTo>
                    <a:pt x="197" y="746"/>
                  </a:lnTo>
                  <a:lnTo>
                    <a:pt x="180" y="736"/>
                  </a:lnTo>
                  <a:lnTo>
                    <a:pt x="164" y="724"/>
                  </a:lnTo>
                  <a:lnTo>
                    <a:pt x="148" y="713"/>
                  </a:lnTo>
                  <a:lnTo>
                    <a:pt x="133" y="700"/>
                  </a:lnTo>
                  <a:lnTo>
                    <a:pt x="119" y="685"/>
                  </a:lnTo>
                  <a:lnTo>
                    <a:pt x="106" y="671"/>
                  </a:lnTo>
                  <a:lnTo>
                    <a:pt x="93" y="656"/>
                  </a:lnTo>
                  <a:lnTo>
                    <a:pt x="82" y="641"/>
                  </a:lnTo>
                  <a:lnTo>
                    <a:pt x="70" y="625"/>
                  </a:lnTo>
                  <a:lnTo>
                    <a:pt x="59" y="609"/>
                  </a:lnTo>
                  <a:lnTo>
                    <a:pt x="49" y="592"/>
                  </a:lnTo>
                  <a:lnTo>
                    <a:pt x="40" y="575"/>
                  </a:lnTo>
                  <a:lnTo>
                    <a:pt x="33" y="556"/>
                  </a:lnTo>
                  <a:lnTo>
                    <a:pt x="24" y="537"/>
                  </a:lnTo>
                  <a:lnTo>
                    <a:pt x="18" y="519"/>
                  </a:lnTo>
                  <a:lnTo>
                    <a:pt x="13" y="500"/>
                  </a:lnTo>
                  <a:lnTo>
                    <a:pt x="8" y="480"/>
                  </a:lnTo>
                  <a:lnTo>
                    <a:pt x="5" y="460"/>
                  </a:lnTo>
                  <a:lnTo>
                    <a:pt x="3" y="439"/>
                  </a:lnTo>
                  <a:lnTo>
                    <a:pt x="1" y="418"/>
                  </a:lnTo>
                  <a:lnTo>
                    <a:pt x="0" y="398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5A6B4972-6634-6E4A-7DF4-6FDCC3B35F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688" y="3717925"/>
              <a:ext cx="114300" cy="112713"/>
            </a:xfrm>
            <a:custGeom>
              <a:avLst/>
              <a:gdLst>
                <a:gd name="T0" fmla="*/ 1 w 144"/>
                <a:gd name="T1" fmla="*/ 0 h 144"/>
                <a:gd name="T2" fmla="*/ 1 w 144"/>
                <a:gd name="T3" fmla="*/ 0 h 144"/>
                <a:gd name="T4" fmla="*/ 0 w 144"/>
                <a:gd name="T5" fmla="*/ 0 h 144"/>
                <a:gd name="T6" fmla="*/ 1 w 144"/>
                <a:gd name="T7" fmla="*/ 0 h 144"/>
                <a:gd name="T8" fmla="*/ 1 w 144"/>
                <a:gd name="T9" fmla="*/ 0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"/>
                <a:gd name="T16" fmla="*/ 0 h 144"/>
                <a:gd name="T17" fmla="*/ 144 w 144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" h="144">
                  <a:moveTo>
                    <a:pt x="58" y="144"/>
                  </a:moveTo>
                  <a:lnTo>
                    <a:pt x="144" y="0"/>
                  </a:lnTo>
                  <a:lnTo>
                    <a:pt x="0" y="86"/>
                  </a:lnTo>
                  <a:lnTo>
                    <a:pt x="29" y="115"/>
                  </a:lnTo>
                  <a:lnTo>
                    <a:pt x="58" y="144"/>
                  </a:lnTo>
                  <a:close/>
                </a:path>
              </a:pathLst>
            </a:custGeom>
            <a:solidFill>
              <a:srgbClr val="0000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FCA69ED-2FB1-092C-A1DA-D17C19BD2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3214688"/>
              <a:ext cx="661988" cy="639763"/>
            </a:xfrm>
            <a:custGeom>
              <a:avLst/>
              <a:gdLst>
                <a:gd name="T0" fmla="*/ 1 w 834"/>
                <a:gd name="T1" fmla="*/ 1 h 805"/>
                <a:gd name="T2" fmla="*/ 1 w 834"/>
                <a:gd name="T3" fmla="*/ 1 h 805"/>
                <a:gd name="T4" fmla="*/ 1 w 834"/>
                <a:gd name="T5" fmla="*/ 1 h 805"/>
                <a:gd name="T6" fmla="*/ 1 w 834"/>
                <a:gd name="T7" fmla="*/ 1 h 805"/>
                <a:gd name="T8" fmla="*/ 1 w 834"/>
                <a:gd name="T9" fmla="*/ 1 h 805"/>
                <a:gd name="T10" fmla="*/ 1 w 834"/>
                <a:gd name="T11" fmla="*/ 1 h 805"/>
                <a:gd name="T12" fmla="*/ 1 w 834"/>
                <a:gd name="T13" fmla="*/ 1 h 805"/>
                <a:gd name="T14" fmla="*/ 1 w 834"/>
                <a:gd name="T15" fmla="*/ 1 h 805"/>
                <a:gd name="T16" fmla="*/ 1 w 834"/>
                <a:gd name="T17" fmla="*/ 1 h 805"/>
                <a:gd name="T18" fmla="*/ 1 w 834"/>
                <a:gd name="T19" fmla="*/ 1 h 805"/>
                <a:gd name="T20" fmla="*/ 1 w 834"/>
                <a:gd name="T21" fmla="*/ 1 h 805"/>
                <a:gd name="T22" fmla="*/ 1 w 834"/>
                <a:gd name="T23" fmla="*/ 0 h 805"/>
                <a:gd name="T24" fmla="*/ 1 w 834"/>
                <a:gd name="T25" fmla="*/ 1 h 805"/>
                <a:gd name="T26" fmla="*/ 1 w 834"/>
                <a:gd name="T27" fmla="*/ 1 h 805"/>
                <a:gd name="T28" fmla="*/ 1 w 834"/>
                <a:gd name="T29" fmla="*/ 1 h 805"/>
                <a:gd name="T30" fmla="*/ 1 w 834"/>
                <a:gd name="T31" fmla="*/ 1 h 805"/>
                <a:gd name="T32" fmla="*/ 1 w 834"/>
                <a:gd name="T33" fmla="*/ 1 h 805"/>
                <a:gd name="T34" fmla="*/ 1 w 834"/>
                <a:gd name="T35" fmla="*/ 1 h 805"/>
                <a:gd name="T36" fmla="*/ 1 w 834"/>
                <a:gd name="T37" fmla="*/ 1 h 805"/>
                <a:gd name="T38" fmla="*/ 1 w 834"/>
                <a:gd name="T39" fmla="*/ 1 h 805"/>
                <a:gd name="T40" fmla="*/ 1 w 834"/>
                <a:gd name="T41" fmla="*/ 1 h 805"/>
                <a:gd name="T42" fmla="*/ 1 w 834"/>
                <a:gd name="T43" fmla="*/ 1 h 805"/>
                <a:gd name="T44" fmla="*/ 1 w 834"/>
                <a:gd name="T45" fmla="*/ 1 h 805"/>
                <a:gd name="T46" fmla="*/ 1 w 834"/>
                <a:gd name="T47" fmla="*/ 1 h 805"/>
                <a:gd name="T48" fmla="*/ 1 w 834"/>
                <a:gd name="T49" fmla="*/ 1 h 805"/>
                <a:gd name="T50" fmla="*/ 1 w 834"/>
                <a:gd name="T51" fmla="*/ 1 h 805"/>
                <a:gd name="T52" fmla="*/ 1 w 834"/>
                <a:gd name="T53" fmla="*/ 1 h 805"/>
                <a:gd name="T54" fmla="*/ 1 w 834"/>
                <a:gd name="T55" fmla="*/ 1 h 805"/>
                <a:gd name="T56" fmla="*/ 1 w 834"/>
                <a:gd name="T57" fmla="*/ 1 h 805"/>
                <a:gd name="T58" fmla="*/ 1 w 834"/>
                <a:gd name="T59" fmla="*/ 1 h 805"/>
                <a:gd name="T60" fmla="*/ 1 w 834"/>
                <a:gd name="T61" fmla="*/ 1 h 805"/>
                <a:gd name="T62" fmla="*/ 1 w 834"/>
                <a:gd name="T63" fmla="*/ 1 h 805"/>
                <a:gd name="T64" fmla="*/ 1 w 834"/>
                <a:gd name="T65" fmla="*/ 1 h 805"/>
                <a:gd name="T66" fmla="*/ 1 w 834"/>
                <a:gd name="T67" fmla="*/ 1 h 805"/>
                <a:gd name="T68" fmla="*/ 1 w 834"/>
                <a:gd name="T69" fmla="*/ 1 h 805"/>
                <a:gd name="T70" fmla="*/ 1 w 834"/>
                <a:gd name="T71" fmla="*/ 1 h 805"/>
                <a:gd name="T72" fmla="*/ 1 w 834"/>
                <a:gd name="T73" fmla="*/ 1 h 805"/>
                <a:gd name="T74" fmla="*/ 1 w 834"/>
                <a:gd name="T75" fmla="*/ 1 h 805"/>
                <a:gd name="T76" fmla="*/ 1 w 834"/>
                <a:gd name="T77" fmla="*/ 1 h 805"/>
                <a:gd name="T78" fmla="*/ 1 w 834"/>
                <a:gd name="T79" fmla="*/ 1 h 805"/>
                <a:gd name="T80" fmla="*/ 1 w 834"/>
                <a:gd name="T81" fmla="*/ 1 h 805"/>
                <a:gd name="T82" fmla="*/ 1 w 834"/>
                <a:gd name="T83" fmla="*/ 1 h 805"/>
                <a:gd name="T84" fmla="*/ 1 w 834"/>
                <a:gd name="T85" fmla="*/ 1 h 805"/>
                <a:gd name="T86" fmla="*/ 1 w 834"/>
                <a:gd name="T87" fmla="*/ 1 h 805"/>
                <a:gd name="T88" fmla="*/ 1 w 834"/>
                <a:gd name="T89" fmla="*/ 1 h 805"/>
                <a:gd name="T90" fmla="*/ 1 w 834"/>
                <a:gd name="T91" fmla="*/ 1 h 805"/>
                <a:gd name="T92" fmla="*/ 1 w 834"/>
                <a:gd name="T93" fmla="*/ 1 h 805"/>
                <a:gd name="T94" fmla="*/ 1 w 834"/>
                <a:gd name="T95" fmla="*/ 1 h 805"/>
                <a:gd name="T96" fmla="*/ 1 w 834"/>
                <a:gd name="T97" fmla="*/ 1 h 805"/>
                <a:gd name="T98" fmla="*/ 1 w 834"/>
                <a:gd name="T99" fmla="*/ 1 h 805"/>
                <a:gd name="T100" fmla="*/ 1 w 834"/>
                <a:gd name="T101" fmla="*/ 1 h 805"/>
                <a:gd name="T102" fmla="*/ 1 w 834"/>
                <a:gd name="T103" fmla="*/ 1 h 805"/>
                <a:gd name="T104" fmla="*/ 1 w 834"/>
                <a:gd name="T105" fmla="*/ 1 h 805"/>
                <a:gd name="T106" fmla="*/ 1 w 834"/>
                <a:gd name="T107" fmla="*/ 1 h 805"/>
                <a:gd name="T108" fmla="*/ 1 w 834"/>
                <a:gd name="T109" fmla="*/ 1 h 805"/>
                <a:gd name="T110" fmla="*/ 1 w 834"/>
                <a:gd name="T111" fmla="*/ 1 h 805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834"/>
                <a:gd name="T169" fmla="*/ 0 h 805"/>
                <a:gd name="T170" fmla="*/ 834 w 834"/>
                <a:gd name="T171" fmla="*/ 805 h 805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834" h="805">
                  <a:moveTo>
                    <a:pt x="0" y="398"/>
                  </a:moveTo>
                  <a:lnTo>
                    <a:pt x="0" y="408"/>
                  </a:lnTo>
                  <a:lnTo>
                    <a:pt x="1" y="386"/>
                  </a:lnTo>
                  <a:lnTo>
                    <a:pt x="3" y="366"/>
                  </a:lnTo>
                  <a:lnTo>
                    <a:pt x="6" y="345"/>
                  </a:lnTo>
                  <a:lnTo>
                    <a:pt x="8" y="326"/>
                  </a:lnTo>
                  <a:lnTo>
                    <a:pt x="13" y="306"/>
                  </a:lnTo>
                  <a:lnTo>
                    <a:pt x="19" y="286"/>
                  </a:lnTo>
                  <a:lnTo>
                    <a:pt x="24" y="267"/>
                  </a:lnTo>
                  <a:lnTo>
                    <a:pt x="33" y="248"/>
                  </a:lnTo>
                  <a:lnTo>
                    <a:pt x="40" y="231"/>
                  </a:lnTo>
                  <a:lnTo>
                    <a:pt x="49" y="214"/>
                  </a:lnTo>
                  <a:lnTo>
                    <a:pt x="59" y="197"/>
                  </a:lnTo>
                  <a:lnTo>
                    <a:pt x="70" y="179"/>
                  </a:lnTo>
                  <a:lnTo>
                    <a:pt x="82" y="164"/>
                  </a:lnTo>
                  <a:lnTo>
                    <a:pt x="93" y="148"/>
                  </a:lnTo>
                  <a:lnTo>
                    <a:pt x="106" y="133"/>
                  </a:lnTo>
                  <a:lnTo>
                    <a:pt x="119" y="119"/>
                  </a:lnTo>
                  <a:lnTo>
                    <a:pt x="134" y="106"/>
                  </a:lnTo>
                  <a:lnTo>
                    <a:pt x="148" y="93"/>
                  </a:lnTo>
                  <a:lnTo>
                    <a:pt x="164" y="82"/>
                  </a:lnTo>
                  <a:lnTo>
                    <a:pt x="180" y="70"/>
                  </a:lnTo>
                  <a:lnTo>
                    <a:pt x="197" y="59"/>
                  </a:lnTo>
                  <a:lnTo>
                    <a:pt x="214" y="49"/>
                  </a:lnTo>
                  <a:lnTo>
                    <a:pt x="231" y="40"/>
                  </a:lnTo>
                  <a:lnTo>
                    <a:pt x="249" y="31"/>
                  </a:lnTo>
                  <a:lnTo>
                    <a:pt x="267" y="24"/>
                  </a:lnTo>
                  <a:lnTo>
                    <a:pt x="286" y="18"/>
                  </a:lnTo>
                  <a:lnTo>
                    <a:pt x="306" y="13"/>
                  </a:lnTo>
                  <a:lnTo>
                    <a:pt x="326" y="8"/>
                  </a:lnTo>
                  <a:lnTo>
                    <a:pt x="347" y="4"/>
                  </a:lnTo>
                  <a:lnTo>
                    <a:pt x="367" y="3"/>
                  </a:lnTo>
                  <a:lnTo>
                    <a:pt x="387" y="1"/>
                  </a:lnTo>
                  <a:lnTo>
                    <a:pt x="408" y="0"/>
                  </a:lnTo>
                  <a:lnTo>
                    <a:pt x="427" y="0"/>
                  </a:lnTo>
                  <a:lnTo>
                    <a:pt x="447" y="1"/>
                  </a:lnTo>
                  <a:lnTo>
                    <a:pt x="469" y="3"/>
                  </a:lnTo>
                  <a:lnTo>
                    <a:pt x="489" y="4"/>
                  </a:lnTo>
                  <a:lnTo>
                    <a:pt x="509" y="8"/>
                  </a:lnTo>
                  <a:lnTo>
                    <a:pt x="529" y="13"/>
                  </a:lnTo>
                  <a:lnTo>
                    <a:pt x="548" y="18"/>
                  </a:lnTo>
                  <a:lnTo>
                    <a:pt x="567" y="24"/>
                  </a:lnTo>
                  <a:lnTo>
                    <a:pt x="585" y="31"/>
                  </a:lnTo>
                  <a:lnTo>
                    <a:pt x="604" y="40"/>
                  </a:lnTo>
                  <a:lnTo>
                    <a:pt x="621" y="49"/>
                  </a:lnTo>
                  <a:lnTo>
                    <a:pt x="639" y="59"/>
                  </a:lnTo>
                  <a:lnTo>
                    <a:pt x="654" y="70"/>
                  </a:lnTo>
                  <a:lnTo>
                    <a:pt x="670" y="82"/>
                  </a:lnTo>
                  <a:lnTo>
                    <a:pt x="686" y="93"/>
                  </a:lnTo>
                  <a:lnTo>
                    <a:pt x="700" y="106"/>
                  </a:lnTo>
                  <a:lnTo>
                    <a:pt x="715" y="119"/>
                  </a:lnTo>
                  <a:lnTo>
                    <a:pt x="729" y="133"/>
                  </a:lnTo>
                  <a:lnTo>
                    <a:pt x="742" y="148"/>
                  </a:lnTo>
                  <a:lnTo>
                    <a:pt x="754" y="164"/>
                  </a:lnTo>
                  <a:lnTo>
                    <a:pt x="765" y="179"/>
                  </a:lnTo>
                  <a:lnTo>
                    <a:pt x="775" y="197"/>
                  </a:lnTo>
                  <a:lnTo>
                    <a:pt x="785" y="214"/>
                  </a:lnTo>
                  <a:lnTo>
                    <a:pt x="794" y="231"/>
                  </a:lnTo>
                  <a:lnTo>
                    <a:pt x="803" y="248"/>
                  </a:lnTo>
                  <a:lnTo>
                    <a:pt x="810" y="267"/>
                  </a:lnTo>
                  <a:lnTo>
                    <a:pt x="817" y="286"/>
                  </a:lnTo>
                  <a:lnTo>
                    <a:pt x="821" y="306"/>
                  </a:lnTo>
                  <a:lnTo>
                    <a:pt x="827" y="326"/>
                  </a:lnTo>
                  <a:lnTo>
                    <a:pt x="830" y="345"/>
                  </a:lnTo>
                  <a:lnTo>
                    <a:pt x="833" y="366"/>
                  </a:lnTo>
                  <a:lnTo>
                    <a:pt x="834" y="386"/>
                  </a:lnTo>
                  <a:lnTo>
                    <a:pt x="834" y="408"/>
                  </a:lnTo>
                  <a:lnTo>
                    <a:pt x="834" y="398"/>
                  </a:lnTo>
                  <a:lnTo>
                    <a:pt x="834" y="418"/>
                  </a:lnTo>
                  <a:lnTo>
                    <a:pt x="833" y="439"/>
                  </a:lnTo>
                  <a:lnTo>
                    <a:pt x="830" y="460"/>
                  </a:lnTo>
                  <a:lnTo>
                    <a:pt x="827" y="480"/>
                  </a:lnTo>
                  <a:lnTo>
                    <a:pt x="821" y="500"/>
                  </a:lnTo>
                  <a:lnTo>
                    <a:pt x="817" y="519"/>
                  </a:lnTo>
                  <a:lnTo>
                    <a:pt x="810" y="537"/>
                  </a:lnTo>
                  <a:lnTo>
                    <a:pt x="803" y="556"/>
                  </a:lnTo>
                  <a:lnTo>
                    <a:pt x="794" y="575"/>
                  </a:lnTo>
                  <a:lnTo>
                    <a:pt x="785" y="592"/>
                  </a:lnTo>
                  <a:lnTo>
                    <a:pt x="775" y="609"/>
                  </a:lnTo>
                  <a:lnTo>
                    <a:pt x="765" y="625"/>
                  </a:lnTo>
                  <a:lnTo>
                    <a:pt x="754" y="641"/>
                  </a:lnTo>
                  <a:lnTo>
                    <a:pt x="742" y="656"/>
                  </a:lnTo>
                  <a:lnTo>
                    <a:pt x="729" y="671"/>
                  </a:lnTo>
                  <a:lnTo>
                    <a:pt x="715" y="685"/>
                  </a:lnTo>
                  <a:lnTo>
                    <a:pt x="700" y="700"/>
                  </a:lnTo>
                  <a:lnTo>
                    <a:pt x="686" y="713"/>
                  </a:lnTo>
                  <a:lnTo>
                    <a:pt x="670" y="724"/>
                  </a:lnTo>
                  <a:lnTo>
                    <a:pt x="654" y="736"/>
                  </a:lnTo>
                  <a:lnTo>
                    <a:pt x="639" y="746"/>
                  </a:lnTo>
                  <a:lnTo>
                    <a:pt x="621" y="756"/>
                  </a:lnTo>
                  <a:lnTo>
                    <a:pt x="604" y="764"/>
                  </a:lnTo>
                  <a:lnTo>
                    <a:pt x="585" y="773"/>
                  </a:lnTo>
                  <a:lnTo>
                    <a:pt x="567" y="780"/>
                  </a:lnTo>
                  <a:lnTo>
                    <a:pt x="548" y="786"/>
                  </a:lnTo>
                  <a:lnTo>
                    <a:pt x="529" y="792"/>
                  </a:lnTo>
                  <a:lnTo>
                    <a:pt x="509" y="796"/>
                  </a:lnTo>
                  <a:lnTo>
                    <a:pt x="489" y="800"/>
                  </a:lnTo>
                  <a:lnTo>
                    <a:pt x="469" y="803"/>
                  </a:lnTo>
                  <a:lnTo>
                    <a:pt x="447" y="805"/>
                  </a:lnTo>
                  <a:lnTo>
                    <a:pt x="427" y="805"/>
                  </a:lnTo>
                  <a:lnTo>
                    <a:pt x="408" y="805"/>
                  </a:lnTo>
                  <a:lnTo>
                    <a:pt x="387" y="805"/>
                  </a:lnTo>
                  <a:lnTo>
                    <a:pt x="367" y="803"/>
                  </a:lnTo>
                  <a:lnTo>
                    <a:pt x="347" y="800"/>
                  </a:lnTo>
                  <a:lnTo>
                    <a:pt x="326" y="796"/>
                  </a:lnTo>
                  <a:lnTo>
                    <a:pt x="306" y="792"/>
                  </a:lnTo>
                  <a:lnTo>
                    <a:pt x="286" y="786"/>
                  </a:lnTo>
                  <a:lnTo>
                    <a:pt x="267" y="780"/>
                  </a:lnTo>
                  <a:lnTo>
                    <a:pt x="249" y="773"/>
                  </a:lnTo>
                  <a:lnTo>
                    <a:pt x="231" y="764"/>
                  </a:lnTo>
                  <a:lnTo>
                    <a:pt x="214" y="756"/>
                  </a:lnTo>
                  <a:lnTo>
                    <a:pt x="197" y="746"/>
                  </a:lnTo>
                  <a:lnTo>
                    <a:pt x="180" y="736"/>
                  </a:lnTo>
                  <a:lnTo>
                    <a:pt x="164" y="724"/>
                  </a:lnTo>
                  <a:lnTo>
                    <a:pt x="148" y="713"/>
                  </a:lnTo>
                  <a:lnTo>
                    <a:pt x="134" y="700"/>
                  </a:lnTo>
                  <a:lnTo>
                    <a:pt x="119" y="685"/>
                  </a:lnTo>
                  <a:lnTo>
                    <a:pt x="106" y="671"/>
                  </a:lnTo>
                  <a:lnTo>
                    <a:pt x="93" y="656"/>
                  </a:lnTo>
                  <a:lnTo>
                    <a:pt x="82" y="641"/>
                  </a:lnTo>
                  <a:lnTo>
                    <a:pt x="70" y="625"/>
                  </a:lnTo>
                  <a:lnTo>
                    <a:pt x="59" y="609"/>
                  </a:lnTo>
                  <a:lnTo>
                    <a:pt x="49" y="592"/>
                  </a:lnTo>
                  <a:lnTo>
                    <a:pt x="40" y="575"/>
                  </a:lnTo>
                  <a:lnTo>
                    <a:pt x="33" y="556"/>
                  </a:lnTo>
                  <a:lnTo>
                    <a:pt x="24" y="537"/>
                  </a:lnTo>
                  <a:lnTo>
                    <a:pt x="19" y="519"/>
                  </a:lnTo>
                  <a:lnTo>
                    <a:pt x="13" y="500"/>
                  </a:lnTo>
                  <a:lnTo>
                    <a:pt x="8" y="480"/>
                  </a:lnTo>
                  <a:lnTo>
                    <a:pt x="6" y="460"/>
                  </a:lnTo>
                  <a:lnTo>
                    <a:pt x="3" y="439"/>
                  </a:lnTo>
                  <a:lnTo>
                    <a:pt x="1" y="418"/>
                  </a:lnTo>
                  <a:lnTo>
                    <a:pt x="0" y="398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B551D253-E8F4-368F-ED95-280478FF3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8175" y="3214688"/>
              <a:ext cx="646113" cy="644525"/>
            </a:xfrm>
            <a:custGeom>
              <a:avLst/>
              <a:gdLst>
                <a:gd name="T0" fmla="*/ 1 w 814"/>
                <a:gd name="T1" fmla="*/ 0 h 814"/>
                <a:gd name="T2" fmla="*/ 1 w 814"/>
                <a:gd name="T3" fmla="*/ 0 h 814"/>
                <a:gd name="T4" fmla="*/ 1 w 814"/>
                <a:gd name="T5" fmla="*/ 0 h 814"/>
                <a:gd name="T6" fmla="*/ 1 w 814"/>
                <a:gd name="T7" fmla="*/ 0 h 814"/>
                <a:gd name="T8" fmla="*/ 1 w 814"/>
                <a:gd name="T9" fmla="*/ 0 h 814"/>
                <a:gd name="T10" fmla="*/ 1 w 814"/>
                <a:gd name="T11" fmla="*/ 0 h 814"/>
                <a:gd name="T12" fmla="*/ 1 w 814"/>
                <a:gd name="T13" fmla="*/ 0 h 814"/>
                <a:gd name="T14" fmla="*/ 1 w 814"/>
                <a:gd name="T15" fmla="*/ 0 h 814"/>
                <a:gd name="T16" fmla="*/ 1 w 814"/>
                <a:gd name="T17" fmla="*/ 0 h 814"/>
                <a:gd name="T18" fmla="*/ 1 w 814"/>
                <a:gd name="T19" fmla="*/ 0 h 814"/>
                <a:gd name="T20" fmla="*/ 0 w 814"/>
                <a:gd name="T21" fmla="*/ 0 h 814"/>
                <a:gd name="T22" fmla="*/ 1 w 814"/>
                <a:gd name="T23" fmla="*/ 0 h 814"/>
                <a:gd name="T24" fmla="*/ 1 w 814"/>
                <a:gd name="T25" fmla="*/ 0 h 814"/>
                <a:gd name="T26" fmla="*/ 1 w 814"/>
                <a:gd name="T27" fmla="*/ 0 h 814"/>
                <a:gd name="T28" fmla="*/ 1 w 814"/>
                <a:gd name="T29" fmla="*/ 0 h 814"/>
                <a:gd name="T30" fmla="*/ 1 w 814"/>
                <a:gd name="T31" fmla="*/ 0 h 814"/>
                <a:gd name="T32" fmla="*/ 1 w 814"/>
                <a:gd name="T33" fmla="*/ 0 h 814"/>
                <a:gd name="T34" fmla="*/ 1 w 814"/>
                <a:gd name="T35" fmla="*/ 0 h 814"/>
                <a:gd name="T36" fmla="*/ 1 w 814"/>
                <a:gd name="T37" fmla="*/ 0 h 814"/>
                <a:gd name="T38" fmla="*/ 1 w 814"/>
                <a:gd name="T39" fmla="*/ 0 h 814"/>
                <a:gd name="T40" fmla="*/ 1 w 814"/>
                <a:gd name="T41" fmla="*/ 0 h 814"/>
                <a:gd name="T42" fmla="*/ 1 w 814"/>
                <a:gd name="T43" fmla="*/ 0 h 814"/>
                <a:gd name="T44" fmla="*/ 1 w 814"/>
                <a:gd name="T45" fmla="*/ 0 h 814"/>
                <a:gd name="T46" fmla="*/ 1 w 814"/>
                <a:gd name="T47" fmla="*/ 0 h 814"/>
                <a:gd name="T48" fmla="*/ 1 w 814"/>
                <a:gd name="T49" fmla="*/ 0 h 814"/>
                <a:gd name="T50" fmla="*/ 1 w 814"/>
                <a:gd name="T51" fmla="*/ 0 h 814"/>
                <a:gd name="T52" fmla="*/ 1 w 814"/>
                <a:gd name="T53" fmla="*/ 0 h 814"/>
                <a:gd name="T54" fmla="*/ 1 w 814"/>
                <a:gd name="T55" fmla="*/ 0 h 814"/>
                <a:gd name="T56" fmla="*/ 1 w 814"/>
                <a:gd name="T57" fmla="*/ 0 h 814"/>
                <a:gd name="T58" fmla="*/ 1 w 814"/>
                <a:gd name="T59" fmla="*/ 0 h 814"/>
                <a:gd name="T60" fmla="*/ 1 w 814"/>
                <a:gd name="T61" fmla="*/ 0 h 814"/>
                <a:gd name="T62" fmla="*/ 1 w 814"/>
                <a:gd name="T63" fmla="*/ 0 h 814"/>
                <a:gd name="T64" fmla="*/ 1 w 814"/>
                <a:gd name="T65" fmla="*/ 0 h 814"/>
                <a:gd name="T66" fmla="*/ 1 w 814"/>
                <a:gd name="T67" fmla="*/ 0 h 814"/>
                <a:gd name="T68" fmla="*/ 1 w 814"/>
                <a:gd name="T69" fmla="*/ 0 h 814"/>
                <a:gd name="T70" fmla="*/ 1 w 814"/>
                <a:gd name="T71" fmla="*/ 0 h 814"/>
                <a:gd name="T72" fmla="*/ 1 w 814"/>
                <a:gd name="T73" fmla="*/ 0 h 814"/>
                <a:gd name="T74" fmla="*/ 1 w 814"/>
                <a:gd name="T75" fmla="*/ 0 h 814"/>
                <a:gd name="T76" fmla="*/ 1 w 814"/>
                <a:gd name="T77" fmla="*/ 0 h 814"/>
                <a:gd name="T78" fmla="*/ 1 w 814"/>
                <a:gd name="T79" fmla="*/ 0 h 814"/>
                <a:gd name="T80" fmla="*/ 1 w 814"/>
                <a:gd name="T81" fmla="*/ 0 h 814"/>
                <a:gd name="T82" fmla="*/ 1 w 814"/>
                <a:gd name="T83" fmla="*/ 0 h 814"/>
                <a:gd name="T84" fmla="*/ 1 w 814"/>
                <a:gd name="T85" fmla="*/ 0 h 814"/>
                <a:gd name="T86" fmla="*/ 1 w 814"/>
                <a:gd name="T87" fmla="*/ 0 h 81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814"/>
                <a:gd name="T133" fmla="*/ 0 h 814"/>
                <a:gd name="T134" fmla="*/ 814 w 814"/>
                <a:gd name="T135" fmla="*/ 814 h 81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814" h="814">
                  <a:moveTo>
                    <a:pt x="407" y="0"/>
                  </a:moveTo>
                  <a:lnTo>
                    <a:pt x="385" y="0"/>
                  </a:lnTo>
                  <a:lnTo>
                    <a:pt x="365" y="2"/>
                  </a:lnTo>
                  <a:lnTo>
                    <a:pt x="345" y="5"/>
                  </a:lnTo>
                  <a:lnTo>
                    <a:pt x="325" y="7"/>
                  </a:lnTo>
                  <a:lnTo>
                    <a:pt x="305" y="12"/>
                  </a:lnTo>
                  <a:lnTo>
                    <a:pt x="286" y="17"/>
                  </a:lnTo>
                  <a:lnTo>
                    <a:pt x="267" y="25"/>
                  </a:lnTo>
                  <a:lnTo>
                    <a:pt x="248" y="32"/>
                  </a:lnTo>
                  <a:lnTo>
                    <a:pt x="230" y="39"/>
                  </a:lnTo>
                  <a:lnTo>
                    <a:pt x="213" y="49"/>
                  </a:lnTo>
                  <a:lnTo>
                    <a:pt x="195" y="59"/>
                  </a:lnTo>
                  <a:lnTo>
                    <a:pt x="179" y="69"/>
                  </a:lnTo>
                  <a:lnTo>
                    <a:pt x="162" y="81"/>
                  </a:lnTo>
                  <a:lnTo>
                    <a:pt x="148" y="92"/>
                  </a:lnTo>
                  <a:lnTo>
                    <a:pt x="132" y="105"/>
                  </a:lnTo>
                  <a:lnTo>
                    <a:pt x="119" y="120"/>
                  </a:lnTo>
                  <a:lnTo>
                    <a:pt x="105" y="132"/>
                  </a:lnTo>
                  <a:lnTo>
                    <a:pt x="92" y="148"/>
                  </a:lnTo>
                  <a:lnTo>
                    <a:pt x="80" y="163"/>
                  </a:lnTo>
                  <a:lnTo>
                    <a:pt x="69" y="178"/>
                  </a:lnTo>
                  <a:lnTo>
                    <a:pt x="59" y="196"/>
                  </a:lnTo>
                  <a:lnTo>
                    <a:pt x="49" y="213"/>
                  </a:lnTo>
                  <a:lnTo>
                    <a:pt x="40" y="230"/>
                  </a:lnTo>
                  <a:lnTo>
                    <a:pt x="31" y="249"/>
                  </a:lnTo>
                  <a:lnTo>
                    <a:pt x="24" y="266"/>
                  </a:lnTo>
                  <a:lnTo>
                    <a:pt x="17" y="286"/>
                  </a:lnTo>
                  <a:lnTo>
                    <a:pt x="13" y="305"/>
                  </a:lnTo>
                  <a:lnTo>
                    <a:pt x="7" y="325"/>
                  </a:lnTo>
                  <a:lnTo>
                    <a:pt x="4" y="345"/>
                  </a:lnTo>
                  <a:lnTo>
                    <a:pt x="1" y="365"/>
                  </a:lnTo>
                  <a:lnTo>
                    <a:pt x="0" y="385"/>
                  </a:lnTo>
                  <a:lnTo>
                    <a:pt x="0" y="407"/>
                  </a:lnTo>
                  <a:lnTo>
                    <a:pt x="0" y="429"/>
                  </a:lnTo>
                  <a:lnTo>
                    <a:pt x="1" y="449"/>
                  </a:lnTo>
                  <a:lnTo>
                    <a:pt x="4" y="469"/>
                  </a:lnTo>
                  <a:lnTo>
                    <a:pt x="7" y="489"/>
                  </a:lnTo>
                  <a:lnTo>
                    <a:pt x="13" y="509"/>
                  </a:lnTo>
                  <a:lnTo>
                    <a:pt x="17" y="528"/>
                  </a:lnTo>
                  <a:lnTo>
                    <a:pt x="24" y="546"/>
                  </a:lnTo>
                  <a:lnTo>
                    <a:pt x="31" y="565"/>
                  </a:lnTo>
                  <a:lnTo>
                    <a:pt x="40" y="584"/>
                  </a:lnTo>
                  <a:lnTo>
                    <a:pt x="49" y="601"/>
                  </a:lnTo>
                  <a:lnTo>
                    <a:pt x="59" y="618"/>
                  </a:lnTo>
                  <a:lnTo>
                    <a:pt x="69" y="634"/>
                  </a:lnTo>
                  <a:lnTo>
                    <a:pt x="80" y="650"/>
                  </a:lnTo>
                  <a:lnTo>
                    <a:pt x="92" y="666"/>
                  </a:lnTo>
                  <a:lnTo>
                    <a:pt x="105" y="680"/>
                  </a:lnTo>
                  <a:lnTo>
                    <a:pt x="119" y="694"/>
                  </a:lnTo>
                  <a:lnTo>
                    <a:pt x="132" y="709"/>
                  </a:lnTo>
                  <a:lnTo>
                    <a:pt x="148" y="722"/>
                  </a:lnTo>
                  <a:lnTo>
                    <a:pt x="162" y="733"/>
                  </a:lnTo>
                  <a:lnTo>
                    <a:pt x="179" y="745"/>
                  </a:lnTo>
                  <a:lnTo>
                    <a:pt x="195" y="755"/>
                  </a:lnTo>
                  <a:lnTo>
                    <a:pt x="213" y="765"/>
                  </a:lnTo>
                  <a:lnTo>
                    <a:pt x="230" y="773"/>
                  </a:lnTo>
                  <a:lnTo>
                    <a:pt x="248" y="782"/>
                  </a:lnTo>
                  <a:lnTo>
                    <a:pt x="267" y="789"/>
                  </a:lnTo>
                  <a:lnTo>
                    <a:pt x="286" y="796"/>
                  </a:lnTo>
                  <a:lnTo>
                    <a:pt x="305" y="801"/>
                  </a:lnTo>
                  <a:lnTo>
                    <a:pt x="325" y="807"/>
                  </a:lnTo>
                  <a:lnTo>
                    <a:pt x="345" y="809"/>
                  </a:lnTo>
                  <a:lnTo>
                    <a:pt x="365" y="812"/>
                  </a:lnTo>
                  <a:lnTo>
                    <a:pt x="385" y="814"/>
                  </a:lnTo>
                  <a:lnTo>
                    <a:pt x="407" y="814"/>
                  </a:lnTo>
                  <a:lnTo>
                    <a:pt x="428" y="814"/>
                  </a:lnTo>
                  <a:lnTo>
                    <a:pt x="448" y="812"/>
                  </a:lnTo>
                  <a:lnTo>
                    <a:pt x="469" y="809"/>
                  </a:lnTo>
                  <a:lnTo>
                    <a:pt x="489" y="807"/>
                  </a:lnTo>
                  <a:lnTo>
                    <a:pt x="509" y="801"/>
                  </a:lnTo>
                  <a:lnTo>
                    <a:pt x="528" y="796"/>
                  </a:lnTo>
                  <a:lnTo>
                    <a:pt x="546" y="789"/>
                  </a:lnTo>
                  <a:lnTo>
                    <a:pt x="565" y="782"/>
                  </a:lnTo>
                  <a:lnTo>
                    <a:pt x="584" y="773"/>
                  </a:lnTo>
                  <a:lnTo>
                    <a:pt x="601" y="765"/>
                  </a:lnTo>
                  <a:lnTo>
                    <a:pt x="618" y="755"/>
                  </a:lnTo>
                  <a:lnTo>
                    <a:pt x="634" y="745"/>
                  </a:lnTo>
                  <a:lnTo>
                    <a:pt x="651" y="733"/>
                  </a:lnTo>
                  <a:lnTo>
                    <a:pt x="666" y="722"/>
                  </a:lnTo>
                  <a:lnTo>
                    <a:pt x="681" y="709"/>
                  </a:lnTo>
                  <a:lnTo>
                    <a:pt x="694" y="694"/>
                  </a:lnTo>
                  <a:lnTo>
                    <a:pt x="709" y="680"/>
                  </a:lnTo>
                  <a:lnTo>
                    <a:pt x="722" y="666"/>
                  </a:lnTo>
                  <a:lnTo>
                    <a:pt x="733" y="650"/>
                  </a:lnTo>
                  <a:lnTo>
                    <a:pt x="745" y="634"/>
                  </a:lnTo>
                  <a:lnTo>
                    <a:pt x="755" y="618"/>
                  </a:lnTo>
                  <a:lnTo>
                    <a:pt x="765" y="601"/>
                  </a:lnTo>
                  <a:lnTo>
                    <a:pt x="774" y="584"/>
                  </a:lnTo>
                  <a:lnTo>
                    <a:pt x="782" y="565"/>
                  </a:lnTo>
                  <a:lnTo>
                    <a:pt x="789" y="546"/>
                  </a:lnTo>
                  <a:lnTo>
                    <a:pt x="797" y="528"/>
                  </a:lnTo>
                  <a:lnTo>
                    <a:pt x="801" y="509"/>
                  </a:lnTo>
                  <a:lnTo>
                    <a:pt x="807" y="489"/>
                  </a:lnTo>
                  <a:lnTo>
                    <a:pt x="809" y="469"/>
                  </a:lnTo>
                  <a:lnTo>
                    <a:pt x="812" y="449"/>
                  </a:lnTo>
                  <a:lnTo>
                    <a:pt x="814" y="429"/>
                  </a:lnTo>
                  <a:lnTo>
                    <a:pt x="814" y="407"/>
                  </a:lnTo>
                  <a:lnTo>
                    <a:pt x="814" y="385"/>
                  </a:lnTo>
                  <a:lnTo>
                    <a:pt x="812" y="365"/>
                  </a:lnTo>
                  <a:lnTo>
                    <a:pt x="809" y="345"/>
                  </a:lnTo>
                  <a:lnTo>
                    <a:pt x="807" y="325"/>
                  </a:lnTo>
                  <a:lnTo>
                    <a:pt x="801" y="305"/>
                  </a:lnTo>
                  <a:lnTo>
                    <a:pt x="797" y="286"/>
                  </a:lnTo>
                  <a:lnTo>
                    <a:pt x="789" y="266"/>
                  </a:lnTo>
                  <a:lnTo>
                    <a:pt x="782" y="249"/>
                  </a:lnTo>
                  <a:lnTo>
                    <a:pt x="774" y="230"/>
                  </a:lnTo>
                  <a:lnTo>
                    <a:pt x="765" y="213"/>
                  </a:lnTo>
                  <a:lnTo>
                    <a:pt x="755" y="196"/>
                  </a:lnTo>
                  <a:lnTo>
                    <a:pt x="745" y="178"/>
                  </a:lnTo>
                  <a:lnTo>
                    <a:pt x="733" y="163"/>
                  </a:lnTo>
                  <a:lnTo>
                    <a:pt x="722" y="148"/>
                  </a:lnTo>
                  <a:lnTo>
                    <a:pt x="709" y="132"/>
                  </a:lnTo>
                  <a:lnTo>
                    <a:pt x="694" y="120"/>
                  </a:lnTo>
                  <a:lnTo>
                    <a:pt x="681" y="105"/>
                  </a:lnTo>
                  <a:lnTo>
                    <a:pt x="666" y="92"/>
                  </a:lnTo>
                  <a:lnTo>
                    <a:pt x="651" y="81"/>
                  </a:lnTo>
                  <a:lnTo>
                    <a:pt x="634" y="69"/>
                  </a:lnTo>
                  <a:lnTo>
                    <a:pt x="618" y="59"/>
                  </a:lnTo>
                  <a:lnTo>
                    <a:pt x="601" y="49"/>
                  </a:lnTo>
                  <a:lnTo>
                    <a:pt x="584" y="39"/>
                  </a:lnTo>
                  <a:lnTo>
                    <a:pt x="565" y="32"/>
                  </a:lnTo>
                  <a:lnTo>
                    <a:pt x="546" y="25"/>
                  </a:lnTo>
                  <a:lnTo>
                    <a:pt x="528" y="17"/>
                  </a:lnTo>
                  <a:lnTo>
                    <a:pt x="509" y="12"/>
                  </a:lnTo>
                  <a:lnTo>
                    <a:pt x="489" y="7"/>
                  </a:lnTo>
                  <a:lnTo>
                    <a:pt x="469" y="5"/>
                  </a:lnTo>
                  <a:lnTo>
                    <a:pt x="448" y="2"/>
                  </a:lnTo>
                  <a:lnTo>
                    <a:pt x="428" y="0"/>
                  </a:lnTo>
                  <a:lnTo>
                    <a:pt x="407" y="0"/>
                  </a:lnTo>
                </a:path>
              </a:pathLst>
            </a:custGeom>
            <a:solidFill>
              <a:schemeClr val="bg1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6BD22C15-C63C-EBA3-5C7D-6A195E6CE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0588" y="3432175"/>
              <a:ext cx="19685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A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65" name="Rectangle 9">
              <a:extLst>
                <a:ext uri="{FF2B5EF4-FFF2-40B4-BE49-F238E27FC236}">
                  <a16:creationId xmlns:a16="http://schemas.microsoft.com/office/drawing/2014/main" id="{0351C97B-9029-7AEA-5804-5A2197816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7950" y="4132263"/>
              <a:ext cx="18573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66" name="Rectangle 10">
              <a:extLst>
                <a:ext uri="{FF2B5EF4-FFF2-40B4-BE49-F238E27FC236}">
                  <a16:creationId xmlns:a16="http://schemas.microsoft.com/office/drawing/2014/main" id="{D73F6F1B-0D62-CB4E-C226-6B5387375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475" y="4132263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67" name="Rectangle 11">
              <a:extLst>
                <a:ext uri="{FF2B5EF4-FFF2-40B4-BE49-F238E27FC236}">
                  <a16:creationId xmlns:a16="http://schemas.microsoft.com/office/drawing/2014/main" id="{4D4EC370-A81E-7EC2-38B9-7A30DBF134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2738" y="4132263"/>
              <a:ext cx="1651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68" name="Rectangle 12">
              <a:extLst>
                <a:ext uri="{FF2B5EF4-FFF2-40B4-BE49-F238E27FC236}">
                  <a16:creationId xmlns:a16="http://schemas.microsoft.com/office/drawing/2014/main" id="{9F0E1715-B7BC-4EBC-04E4-8AE0AC625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8188" y="4132263"/>
              <a:ext cx="13017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>
                  <a:solidFill>
                    <a:srgbClr val="000000"/>
                  </a:solidFill>
                  <a:latin typeface="Times-Roman" charset="0"/>
                </a:rPr>
                <a:t>z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69" name="Rectangle 13">
              <a:extLst>
                <a:ext uri="{FF2B5EF4-FFF2-40B4-BE49-F238E27FC236}">
                  <a16:creationId xmlns:a16="http://schemas.microsoft.com/office/drawing/2014/main" id="{7A3EDC6E-B986-EA6D-EBFD-1371EA396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9975" y="4132263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70" name="Rectangle 14">
              <a:extLst>
                <a:ext uri="{FF2B5EF4-FFF2-40B4-BE49-F238E27FC236}">
                  <a16:creationId xmlns:a16="http://schemas.microsoft.com/office/drawing/2014/main" id="{F0D5150F-11DB-272F-95A3-CECCC81BA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5825" y="4132263"/>
              <a:ext cx="1651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71" name="Rectangle 15">
              <a:extLst>
                <a:ext uri="{FF2B5EF4-FFF2-40B4-BE49-F238E27FC236}">
                  <a16:creationId xmlns:a16="http://schemas.microsoft.com/office/drawing/2014/main" id="{0C952521-DB7B-AC90-85DE-BB30E7BD5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2463" y="4127500"/>
              <a:ext cx="90488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1700">
                  <a:solidFill>
                    <a:srgbClr val="000000"/>
                  </a:solidFill>
                  <a:latin typeface="Symbol" charset="0"/>
                </a:rPr>
                <a:t>¤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72" name="Rectangle 16">
              <a:extLst>
                <a:ext uri="{FF2B5EF4-FFF2-40B4-BE49-F238E27FC236}">
                  <a16:creationId xmlns:a16="http://schemas.microsoft.com/office/drawing/2014/main" id="{3DDC4E4A-B906-1099-65FC-48BAB3448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3890962"/>
              <a:ext cx="18573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73" name="Rectangle 17">
              <a:extLst>
                <a:ext uri="{FF2B5EF4-FFF2-40B4-BE49-F238E27FC236}">
                  <a16:creationId xmlns:a16="http://schemas.microsoft.com/office/drawing/2014/main" id="{6AAD7C77-5AAB-F8F5-A5BC-BEF553F96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1537" y="3890962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74" name="Rectangle 18">
              <a:extLst>
                <a:ext uri="{FF2B5EF4-FFF2-40B4-BE49-F238E27FC236}">
                  <a16:creationId xmlns:a16="http://schemas.microsoft.com/office/drawing/2014/main" id="{9A2F531D-FF96-E705-1783-54F70B2F1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8975" y="3890962"/>
              <a:ext cx="1651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75" name="Rectangle 19">
              <a:extLst>
                <a:ext uri="{FF2B5EF4-FFF2-40B4-BE49-F238E27FC236}">
                  <a16:creationId xmlns:a16="http://schemas.microsoft.com/office/drawing/2014/main" id="{8D20EC9B-7496-9952-A41F-FC0BD06F8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1250" y="3890962"/>
              <a:ext cx="13017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>
                  <a:solidFill>
                    <a:srgbClr val="000000"/>
                  </a:solidFill>
                  <a:latin typeface="Times-Roman" charset="0"/>
                </a:rPr>
                <a:t>z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76" name="Rectangle 20">
              <a:extLst>
                <a:ext uri="{FF2B5EF4-FFF2-40B4-BE49-F238E27FC236}">
                  <a16:creationId xmlns:a16="http://schemas.microsoft.com/office/drawing/2014/main" id="{329114C0-6C2E-C4EF-1510-1FF60079F3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4625" y="3890962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77" name="Rectangle 21">
              <a:extLst>
                <a:ext uri="{FF2B5EF4-FFF2-40B4-BE49-F238E27FC236}">
                  <a16:creationId xmlns:a16="http://schemas.microsoft.com/office/drawing/2014/main" id="{35049E5F-95D6-B5EF-50E8-875D587355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0475" y="3890962"/>
              <a:ext cx="1651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78" name="Freeform 22">
              <a:extLst>
                <a:ext uri="{FF2B5EF4-FFF2-40B4-BE49-F238E27FC236}">
                  <a16:creationId xmlns:a16="http://schemas.microsoft.com/office/drawing/2014/main" id="{D44481AF-BBD6-1D59-C903-E94F5044B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9925" y="3760788"/>
              <a:ext cx="723900" cy="280988"/>
            </a:xfrm>
            <a:custGeom>
              <a:avLst/>
              <a:gdLst>
                <a:gd name="T0" fmla="*/ 0 w 914"/>
                <a:gd name="T1" fmla="*/ 0 h 355"/>
                <a:gd name="T2" fmla="*/ 0 w 914"/>
                <a:gd name="T3" fmla="*/ 0 h 355"/>
                <a:gd name="T4" fmla="*/ 0 w 914"/>
                <a:gd name="T5" fmla="*/ 0 h 355"/>
                <a:gd name="T6" fmla="*/ 0 w 914"/>
                <a:gd name="T7" fmla="*/ 0 h 355"/>
                <a:gd name="T8" fmla="*/ 0 w 914"/>
                <a:gd name="T9" fmla="*/ 0 h 355"/>
                <a:gd name="T10" fmla="*/ 0 w 914"/>
                <a:gd name="T11" fmla="*/ 0 h 355"/>
                <a:gd name="T12" fmla="*/ 0 w 914"/>
                <a:gd name="T13" fmla="*/ 0 h 355"/>
                <a:gd name="T14" fmla="*/ 0 w 914"/>
                <a:gd name="T15" fmla="*/ 0 h 355"/>
                <a:gd name="T16" fmla="*/ 0 w 914"/>
                <a:gd name="T17" fmla="*/ 0 h 355"/>
                <a:gd name="T18" fmla="*/ 0 w 914"/>
                <a:gd name="T19" fmla="*/ 0 h 355"/>
                <a:gd name="T20" fmla="*/ 0 w 914"/>
                <a:gd name="T21" fmla="*/ 0 h 355"/>
                <a:gd name="T22" fmla="*/ 0 w 914"/>
                <a:gd name="T23" fmla="*/ 0 h 355"/>
                <a:gd name="T24" fmla="*/ 0 w 914"/>
                <a:gd name="T25" fmla="*/ 0 h 355"/>
                <a:gd name="T26" fmla="*/ 0 w 914"/>
                <a:gd name="T27" fmla="*/ 0 h 355"/>
                <a:gd name="T28" fmla="*/ 0 w 914"/>
                <a:gd name="T29" fmla="*/ 0 h 355"/>
                <a:gd name="T30" fmla="*/ 0 w 914"/>
                <a:gd name="T31" fmla="*/ 0 h 355"/>
                <a:gd name="T32" fmla="*/ 0 w 914"/>
                <a:gd name="T33" fmla="*/ 0 h 355"/>
                <a:gd name="T34" fmla="*/ 0 w 914"/>
                <a:gd name="T35" fmla="*/ 0 h 355"/>
                <a:gd name="T36" fmla="*/ 0 w 914"/>
                <a:gd name="T37" fmla="*/ 0 h 355"/>
                <a:gd name="T38" fmla="*/ 0 w 914"/>
                <a:gd name="T39" fmla="*/ 0 h 355"/>
                <a:gd name="T40" fmla="*/ 0 w 914"/>
                <a:gd name="T41" fmla="*/ 0 h 355"/>
                <a:gd name="T42" fmla="*/ 0 w 914"/>
                <a:gd name="T43" fmla="*/ 0 h 355"/>
                <a:gd name="T44" fmla="*/ 0 w 914"/>
                <a:gd name="T45" fmla="*/ 0 h 355"/>
                <a:gd name="T46" fmla="*/ 0 w 914"/>
                <a:gd name="T47" fmla="*/ 0 h 355"/>
                <a:gd name="T48" fmla="*/ 0 w 914"/>
                <a:gd name="T49" fmla="*/ 0 h 355"/>
                <a:gd name="T50" fmla="*/ 0 w 914"/>
                <a:gd name="T51" fmla="*/ 0 h 355"/>
                <a:gd name="T52" fmla="*/ 0 w 914"/>
                <a:gd name="T53" fmla="*/ 0 h 355"/>
                <a:gd name="T54" fmla="*/ 0 w 914"/>
                <a:gd name="T55" fmla="*/ 0 h 355"/>
                <a:gd name="T56" fmla="*/ 0 w 914"/>
                <a:gd name="T57" fmla="*/ 0 h 355"/>
                <a:gd name="T58" fmla="*/ 0 w 914"/>
                <a:gd name="T59" fmla="*/ 0 h 355"/>
                <a:gd name="T60" fmla="*/ 0 w 914"/>
                <a:gd name="T61" fmla="*/ 0 h 355"/>
                <a:gd name="T62" fmla="*/ 0 w 914"/>
                <a:gd name="T63" fmla="*/ 0 h 355"/>
                <a:gd name="T64" fmla="*/ 0 w 914"/>
                <a:gd name="T65" fmla="*/ 0 h 355"/>
                <a:gd name="T66" fmla="*/ 0 w 914"/>
                <a:gd name="T67" fmla="*/ 0 h 355"/>
                <a:gd name="T68" fmla="*/ 0 w 914"/>
                <a:gd name="T69" fmla="*/ 0 h 355"/>
                <a:gd name="T70" fmla="*/ 0 w 914"/>
                <a:gd name="T71" fmla="*/ 0 h 355"/>
                <a:gd name="T72" fmla="*/ 0 w 914"/>
                <a:gd name="T73" fmla="*/ 0 h 355"/>
                <a:gd name="T74" fmla="*/ 0 w 914"/>
                <a:gd name="T75" fmla="*/ 0 h 355"/>
                <a:gd name="T76" fmla="*/ 0 w 914"/>
                <a:gd name="T77" fmla="*/ 0 h 355"/>
                <a:gd name="T78" fmla="*/ 0 w 914"/>
                <a:gd name="T79" fmla="*/ 0 h 355"/>
                <a:gd name="T80" fmla="*/ 0 w 914"/>
                <a:gd name="T81" fmla="*/ 0 h 355"/>
                <a:gd name="T82" fmla="*/ 0 w 914"/>
                <a:gd name="T83" fmla="*/ 0 h 355"/>
                <a:gd name="T84" fmla="*/ 0 w 914"/>
                <a:gd name="T85" fmla="*/ 0 h 355"/>
                <a:gd name="T86" fmla="*/ 0 w 914"/>
                <a:gd name="T87" fmla="*/ 0 h 355"/>
                <a:gd name="T88" fmla="*/ 0 w 914"/>
                <a:gd name="T89" fmla="*/ 0 h 355"/>
                <a:gd name="T90" fmla="*/ 0 w 914"/>
                <a:gd name="T91" fmla="*/ 0 h 355"/>
                <a:gd name="T92" fmla="*/ 0 w 914"/>
                <a:gd name="T93" fmla="*/ 0 h 355"/>
                <a:gd name="T94" fmla="*/ 0 w 914"/>
                <a:gd name="T95" fmla="*/ 0 h 355"/>
                <a:gd name="T96" fmla="*/ 0 w 914"/>
                <a:gd name="T97" fmla="*/ 0 h 355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914"/>
                <a:gd name="T148" fmla="*/ 0 h 355"/>
                <a:gd name="T149" fmla="*/ 914 w 914"/>
                <a:gd name="T150" fmla="*/ 355 h 355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914" h="355">
                  <a:moveTo>
                    <a:pt x="914" y="0"/>
                  </a:moveTo>
                  <a:lnTo>
                    <a:pt x="891" y="18"/>
                  </a:lnTo>
                  <a:lnTo>
                    <a:pt x="869" y="36"/>
                  </a:lnTo>
                  <a:lnTo>
                    <a:pt x="849" y="53"/>
                  </a:lnTo>
                  <a:lnTo>
                    <a:pt x="829" y="67"/>
                  </a:lnTo>
                  <a:lnTo>
                    <a:pt x="812" y="82"/>
                  </a:lnTo>
                  <a:lnTo>
                    <a:pt x="796" y="95"/>
                  </a:lnTo>
                  <a:lnTo>
                    <a:pt x="780" y="107"/>
                  </a:lnTo>
                  <a:lnTo>
                    <a:pt x="766" y="119"/>
                  </a:lnTo>
                  <a:lnTo>
                    <a:pt x="751" y="129"/>
                  </a:lnTo>
                  <a:lnTo>
                    <a:pt x="738" y="139"/>
                  </a:lnTo>
                  <a:lnTo>
                    <a:pt x="727" y="148"/>
                  </a:lnTo>
                  <a:lnTo>
                    <a:pt x="715" y="156"/>
                  </a:lnTo>
                  <a:lnTo>
                    <a:pt x="704" y="164"/>
                  </a:lnTo>
                  <a:lnTo>
                    <a:pt x="694" y="171"/>
                  </a:lnTo>
                  <a:lnTo>
                    <a:pt x="685" y="178"/>
                  </a:lnTo>
                  <a:lnTo>
                    <a:pt x="677" y="184"/>
                  </a:lnTo>
                  <a:lnTo>
                    <a:pt x="667" y="189"/>
                  </a:lnTo>
                  <a:lnTo>
                    <a:pt x="659" y="195"/>
                  </a:lnTo>
                  <a:lnTo>
                    <a:pt x="651" y="201"/>
                  </a:lnTo>
                  <a:lnTo>
                    <a:pt x="642" y="205"/>
                  </a:lnTo>
                  <a:lnTo>
                    <a:pt x="635" y="210"/>
                  </a:lnTo>
                  <a:lnTo>
                    <a:pt x="626" y="214"/>
                  </a:lnTo>
                  <a:lnTo>
                    <a:pt x="619" y="218"/>
                  </a:lnTo>
                  <a:lnTo>
                    <a:pt x="610" y="221"/>
                  </a:lnTo>
                  <a:lnTo>
                    <a:pt x="602" y="225"/>
                  </a:lnTo>
                  <a:lnTo>
                    <a:pt x="593" y="230"/>
                  </a:lnTo>
                  <a:lnTo>
                    <a:pt x="585" y="233"/>
                  </a:lnTo>
                  <a:lnTo>
                    <a:pt x="576" y="237"/>
                  </a:lnTo>
                  <a:lnTo>
                    <a:pt x="566" y="241"/>
                  </a:lnTo>
                  <a:lnTo>
                    <a:pt x="556" y="245"/>
                  </a:lnTo>
                  <a:lnTo>
                    <a:pt x="544" y="250"/>
                  </a:lnTo>
                  <a:lnTo>
                    <a:pt x="533" y="254"/>
                  </a:lnTo>
                  <a:lnTo>
                    <a:pt x="521" y="258"/>
                  </a:lnTo>
                  <a:lnTo>
                    <a:pt x="511" y="263"/>
                  </a:lnTo>
                  <a:lnTo>
                    <a:pt x="501" y="267"/>
                  </a:lnTo>
                  <a:lnTo>
                    <a:pt x="491" y="270"/>
                  </a:lnTo>
                  <a:lnTo>
                    <a:pt x="482" y="274"/>
                  </a:lnTo>
                  <a:lnTo>
                    <a:pt x="474" y="277"/>
                  </a:lnTo>
                  <a:lnTo>
                    <a:pt x="465" y="280"/>
                  </a:lnTo>
                  <a:lnTo>
                    <a:pt x="458" y="283"/>
                  </a:lnTo>
                  <a:lnTo>
                    <a:pt x="449" y="286"/>
                  </a:lnTo>
                  <a:lnTo>
                    <a:pt x="442" y="289"/>
                  </a:lnTo>
                  <a:lnTo>
                    <a:pt x="436" y="291"/>
                  </a:lnTo>
                  <a:lnTo>
                    <a:pt x="429" y="293"/>
                  </a:lnTo>
                  <a:lnTo>
                    <a:pt x="422" y="296"/>
                  </a:lnTo>
                  <a:lnTo>
                    <a:pt x="416" y="297"/>
                  </a:lnTo>
                  <a:lnTo>
                    <a:pt x="409" y="300"/>
                  </a:lnTo>
                  <a:lnTo>
                    <a:pt x="403" y="302"/>
                  </a:lnTo>
                  <a:lnTo>
                    <a:pt x="396" y="303"/>
                  </a:lnTo>
                  <a:lnTo>
                    <a:pt x="389" y="304"/>
                  </a:lnTo>
                  <a:lnTo>
                    <a:pt x="383" y="306"/>
                  </a:lnTo>
                  <a:lnTo>
                    <a:pt x="376" y="309"/>
                  </a:lnTo>
                  <a:lnTo>
                    <a:pt x="369" y="310"/>
                  </a:lnTo>
                  <a:lnTo>
                    <a:pt x="360" y="312"/>
                  </a:lnTo>
                  <a:lnTo>
                    <a:pt x="353" y="313"/>
                  </a:lnTo>
                  <a:lnTo>
                    <a:pt x="344" y="314"/>
                  </a:lnTo>
                  <a:lnTo>
                    <a:pt x="334" y="316"/>
                  </a:lnTo>
                  <a:lnTo>
                    <a:pt x="326" y="317"/>
                  </a:lnTo>
                  <a:lnTo>
                    <a:pt x="316" y="320"/>
                  </a:lnTo>
                  <a:lnTo>
                    <a:pt x="304" y="322"/>
                  </a:lnTo>
                  <a:lnTo>
                    <a:pt x="293" y="323"/>
                  </a:lnTo>
                  <a:lnTo>
                    <a:pt x="281" y="326"/>
                  </a:lnTo>
                  <a:lnTo>
                    <a:pt x="268" y="327"/>
                  </a:lnTo>
                  <a:lnTo>
                    <a:pt x="254" y="330"/>
                  </a:lnTo>
                  <a:lnTo>
                    <a:pt x="239" y="332"/>
                  </a:lnTo>
                  <a:lnTo>
                    <a:pt x="226" y="335"/>
                  </a:lnTo>
                  <a:lnTo>
                    <a:pt x="215" y="336"/>
                  </a:lnTo>
                  <a:lnTo>
                    <a:pt x="203" y="339"/>
                  </a:lnTo>
                  <a:lnTo>
                    <a:pt x="193" y="340"/>
                  </a:lnTo>
                  <a:lnTo>
                    <a:pt x="183" y="342"/>
                  </a:lnTo>
                  <a:lnTo>
                    <a:pt x="173" y="343"/>
                  </a:lnTo>
                  <a:lnTo>
                    <a:pt x="164" y="345"/>
                  </a:lnTo>
                  <a:lnTo>
                    <a:pt x="156" y="346"/>
                  </a:lnTo>
                  <a:lnTo>
                    <a:pt x="149" y="348"/>
                  </a:lnTo>
                  <a:lnTo>
                    <a:pt x="140" y="348"/>
                  </a:lnTo>
                  <a:lnTo>
                    <a:pt x="133" y="349"/>
                  </a:lnTo>
                  <a:lnTo>
                    <a:pt x="127" y="350"/>
                  </a:lnTo>
                  <a:lnTo>
                    <a:pt x="120" y="350"/>
                  </a:lnTo>
                  <a:lnTo>
                    <a:pt x="114" y="352"/>
                  </a:lnTo>
                  <a:lnTo>
                    <a:pt x="108" y="352"/>
                  </a:lnTo>
                  <a:lnTo>
                    <a:pt x="103" y="353"/>
                  </a:lnTo>
                  <a:lnTo>
                    <a:pt x="97" y="353"/>
                  </a:lnTo>
                  <a:lnTo>
                    <a:pt x="91" y="353"/>
                  </a:lnTo>
                  <a:lnTo>
                    <a:pt x="85" y="353"/>
                  </a:lnTo>
                  <a:lnTo>
                    <a:pt x="80" y="355"/>
                  </a:lnTo>
                  <a:lnTo>
                    <a:pt x="74" y="355"/>
                  </a:lnTo>
                  <a:lnTo>
                    <a:pt x="67" y="355"/>
                  </a:lnTo>
                  <a:lnTo>
                    <a:pt x="61" y="355"/>
                  </a:lnTo>
                  <a:lnTo>
                    <a:pt x="55" y="355"/>
                  </a:lnTo>
                  <a:lnTo>
                    <a:pt x="48" y="355"/>
                  </a:lnTo>
                  <a:lnTo>
                    <a:pt x="41" y="355"/>
                  </a:lnTo>
                  <a:lnTo>
                    <a:pt x="34" y="355"/>
                  </a:lnTo>
                  <a:lnTo>
                    <a:pt x="26" y="355"/>
                  </a:lnTo>
                  <a:lnTo>
                    <a:pt x="18" y="355"/>
                  </a:lnTo>
                  <a:lnTo>
                    <a:pt x="9" y="355"/>
                  </a:lnTo>
                  <a:lnTo>
                    <a:pt x="0" y="35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23">
              <a:extLst>
                <a:ext uri="{FF2B5EF4-FFF2-40B4-BE49-F238E27FC236}">
                  <a16:creationId xmlns:a16="http://schemas.microsoft.com/office/drawing/2014/main" id="{56326840-071F-3991-6143-EE717B4863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488" y="3762375"/>
              <a:ext cx="136525" cy="114300"/>
            </a:xfrm>
            <a:custGeom>
              <a:avLst/>
              <a:gdLst>
                <a:gd name="T0" fmla="*/ 0 w 173"/>
                <a:gd name="T1" fmla="*/ 1 h 143"/>
                <a:gd name="T2" fmla="*/ 0 w 173"/>
                <a:gd name="T3" fmla="*/ 0 h 143"/>
                <a:gd name="T4" fmla="*/ 0 w 173"/>
                <a:gd name="T5" fmla="*/ 1 h 143"/>
                <a:gd name="T6" fmla="*/ 0 w 173"/>
                <a:gd name="T7" fmla="*/ 1 h 143"/>
                <a:gd name="T8" fmla="*/ 0 w 173"/>
                <a:gd name="T9" fmla="*/ 1 h 1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3"/>
                <a:gd name="T16" fmla="*/ 0 h 143"/>
                <a:gd name="T17" fmla="*/ 173 w 173"/>
                <a:gd name="T18" fmla="*/ 143 h 14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3" h="143">
                  <a:moveTo>
                    <a:pt x="173" y="86"/>
                  </a:moveTo>
                  <a:lnTo>
                    <a:pt x="0" y="0"/>
                  </a:lnTo>
                  <a:lnTo>
                    <a:pt x="115" y="143"/>
                  </a:lnTo>
                  <a:lnTo>
                    <a:pt x="144" y="115"/>
                  </a:lnTo>
                  <a:lnTo>
                    <a:pt x="173" y="86"/>
                  </a:lnTo>
                  <a:close/>
                </a:path>
              </a:pathLst>
            </a:custGeom>
            <a:solidFill>
              <a:srgbClr val="0000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24">
              <a:extLst>
                <a:ext uri="{FF2B5EF4-FFF2-40B4-BE49-F238E27FC236}">
                  <a16:creationId xmlns:a16="http://schemas.microsoft.com/office/drawing/2014/main" id="{4C406F82-AC5E-939F-62A2-A1824D2BD7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0963" y="3854450"/>
              <a:ext cx="588963" cy="187325"/>
            </a:xfrm>
            <a:custGeom>
              <a:avLst/>
              <a:gdLst>
                <a:gd name="T0" fmla="*/ 1 w 742"/>
                <a:gd name="T1" fmla="*/ 1 h 236"/>
                <a:gd name="T2" fmla="*/ 1 w 742"/>
                <a:gd name="T3" fmla="*/ 1 h 236"/>
                <a:gd name="T4" fmla="*/ 1 w 742"/>
                <a:gd name="T5" fmla="*/ 1 h 236"/>
                <a:gd name="T6" fmla="*/ 1 w 742"/>
                <a:gd name="T7" fmla="*/ 1 h 236"/>
                <a:gd name="T8" fmla="*/ 1 w 742"/>
                <a:gd name="T9" fmla="*/ 1 h 236"/>
                <a:gd name="T10" fmla="*/ 1 w 742"/>
                <a:gd name="T11" fmla="*/ 1 h 236"/>
                <a:gd name="T12" fmla="*/ 1 w 742"/>
                <a:gd name="T13" fmla="*/ 1 h 236"/>
                <a:gd name="T14" fmla="*/ 1 w 742"/>
                <a:gd name="T15" fmla="*/ 1 h 236"/>
                <a:gd name="T16" fmla="*/ 1 w 742"/>
                <a:gd name="T17" fmla="*/ 1 h 236"/>
                <a:gd name="T18" fmla="*/ 1 w 742"/>
                <a:gd name="T19" fmla="*/ 1 h 236"/>
                <a:gd name="T20" fmla="*/ 1 w 742"/>
                <a:gd name="T21" fmla="*/ 1 h 236"/>
                <a:gd name="T22" fmla="*/ 1 w 742"/>
                <a:gd name="T23" fmla="*/ 1 h 236"/>
                <a:gd name="T24" fmla="*/ 1 w 742"/>
                <a:gd name="T25" fmla="*/ 1 h 236"/>
                <a:gd name="T26" fmla="*/ 1 w 742"/>
                <a:gd name="T27" fmla="*/ 1 h 236"/>
                <a:gd name="T28" fmla="*/ 1 w 742"/>
                <a:gd name="T29" fmla="*/ 1 h 236"/>
                <a:gd name="T30" fmla="*/ 1 w 742"/>
                <a:gd name="T31" fmla="*/ 1 h 236"/>
                <a:gd name="T32" fmla="*/ 1 w 742"/>
                <a:gd name="T33" fmla="*/ 1 h 236"/>
                <a:gd name="T34" fmla="*/ 1 w 742"/>
                <a:gd name="T35" fmla="*/ 1 h 236"/>
                <a:gd name="T36" fmla="*/ 1 w 742"/>
                <a:gd name="T37" fmla="*/ 1 h 236"/>
                <a:gd name="T38" fmla="*/ 1 w 742"/>
                <a:gd name="T39" fmla="*/ 1 h 236"/>
                <a:gd name="T40" fmla="*/ 1 w 742"/>
                <a:gd name="T41" fmla="*/ 1 h 236"/>
                <a:gd name="T42" fmla="*/ 1 w 742"/>
                <a:gd name="T43" fmla="*/ 1 h 236"/>
                <a:gd name="T44" fmla="*/ 1 w 742"/>
                <a:gd name="T45" fmla="*/ 1 h 236"/>
                <a:gd name="T46" fmla="*/ 1 w 742"/>
                <a:gd name="T47" fmla="*/ 1 h 236"/>
                <a:gd name="T48" fmla="*/ 1 w 742"/>
                <a:gd name="T49" fmla="*/ 1 h 236"/>
                <a:gd name="T50" fmla="*/ 1 w 742"/>
                <a:gd name="T51" fmla="*/ 1 h 236"/>
                <a:gd name="T52" fmla="*/ 1 w 742"/>
                <a:gd name="T53" fmla="*/ 1 h 236"/>
                <a:gd name="T54" fmla="*/ 1 w 742"/>
                <a:gd name="T55" fmla="*/ 1 h 236"/>
                <a:gd name="T56" fmla="*/ 1 w 742"/>
                <a:gd name="T57" fmla="*/ 1 h 236"/>
                <a:gd name="T58" fmla="*/ 1 w 742"/>
                <a:gd name="T59" fmla="*/ 1 h 236"/>
                <a:gd name="T60" fmla="*/ 1 w 742"/>
                <a:gd name="T61" fmla="*/ 1 h 236"/>
                <a:gd name="T62" fmla="*/ 1 w 742"/>
                <a:gd name="T63" fmla="*/ 1 h 236"/>
                <a:gd name="T64" fmla="*/ 1 w 742"/>
                <a:gd name="T65" fmla="*/ 1 h 236"/>
                <a:gd name="T66" fmla="*/ 1 w 742"/>
                <a:gd name="T67" fmla="*/ 1 h 236"/>
                <a:gd name="T68" fmla="*/ 1 w 742"/>
                <a:gd name="T69" fmla="*/ 1 h 236"/>
                <a:gd name="T70" fmla="*/ 1 w 742"/>
                <a:gd name="T71" fmla="*/ 1 h 236"/>
                <a:gd name="T72" fmla="*/ 1 w 742"/>
                <a:gd name="T73" fmla="*/ 1 h 236"/>
                <a:gd name="T74" fmla="*/ 1 w 742"/>
                <a:gd name="T75" fmla="*/ 1 h 236"/>
                <a:gd name="T76" fmla="*/ 1 w 742"/>
                <a:gd name="T77" fmla="*/ 1 h 236"/>
                <a:gd name="T78" fmla="*/ 1 w 742"/>
                <a:gd name="T79" fmla="*/ 1 h 236"/>
                <a:gd name="T80" fmla="*/ 1 w 742"/>
                <a:gd name="T81" fmla="*/ 1 h 236"/>
                <a:gd name="T82" fmla="*/ 1 w 742"/>
                <a:gd name="T83" fmla="*/ 1 h 236"/>
                <a:gd name="T84" fmla="*/ 1 w 742"/>
                <a:gd name="T85" fmla="*/ 1 h 236"/>
                <a:gd name="T86" fmla="*/ 1 w 742"/>
                <a:gd name="T87" fmla="*/ 1 h 236"/>
                <a:gd name="T88" fmla="*/ 1 w 742"/>
                <a:gd name="T89" fmla="*/ 1 h 236"/>
                <a:gd name="T90" fmla="*/ 1 w 742"/>
                <a:gd name="T91" fmla="*/ 1 h 236"/>
                <a:gd name="T92" fmla="*/ 1 w 742"/>
                <a:gd name="T93" fmla="*/ 1 h 236"/>
                <a:gd name="T94" fmla="*/ 1 w 742"/>
                <a:gd name="T95" fmla="*/ 1 h 236"/>
                <a:gd name="T96" fmla="*/ 1 w 742"/>
                <a:gd name="T97" fmla="*/ 1 h 2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742"/>
                <a:gd name="T148" fmla="*/ 0 h 236"/>
                <a:gd name="T149" fmla="*/ 742 w 742"/>
                <a:gd name="T150" fmla="*/ 236 h 2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742" h="236">
                  <a:moveTo>
                    <a:pt x="0" y="0"/>
                  </a:moveTo>
                  <a:lnTo>
                    <a:pt x="9" y="7"/>
                  </a:lnTo>
                  <a:lnTo>
                    <a:pt x="18" y="14"/>
                  </a:lnTo>
                  <a:lnTo>
                    <a:pt x="26" y="20"/>
                  </a:lnTo>
                  <a:lnTo>
                    <a:pt x="33" y="27"/>
                  </a:lnTo>
                  <a:lnTo>
                    <a:pt x="41" y="33"/>
                  </a:lnTo>
                  <a:lnTo>
                    <a:pt x="48" y="39"/>
                  </a:lnTo>
                  <a:lnTo>
                    <a:pt x="53" y="43"/>
                  </a:lnTo>
                  <a:lnTo>
                    <a:pt x="61" y="49"/>
                  </a:lnTo>
                  <a:lnTo>
                    <a:pt x="66" y="53"/>
                  </a:lnTo>
                  <a:lnTo>
                    <a:pt x="72" y="59"/>
                  </a:lnTo>
                  <a:lnTo>
                    <a:pt x="79" y="63"/>
                  </a:lnTo>
                  <a:lnTo>
                    <a:pt x="85" y="68"/>
                  </a:lnTo>
                  <a:lnTo>
                    <a:pt x="91" y="72"/>
                  </a:lnTo>
                  <a:lnTo>
                    <a:pt x="97" y="76"/>
                  </a:lnTo>
                  <a:lnTo>
                    <a:pt x="101" y="79"/>
                  </a:lnTo>
                  <a:lnTo>
                    <a:pt x="107" y="83"/>
                  </a:lnTo>
                  <a:lnTo>
                    <a:pt x="112" y="86"/>
                  </a:lnTo>
                  <a:lnTo>
                    <a:pt x="118" y="91"/>
                  </a:lnTo>
                  <a:lnTo>
                    <a:pt x="124" y="93"/>
                  </a:lnTo>
                  <a:lnTo>
                    <a:pt x="130" y="98"/>
                  </a:lnTo>
                  <a:lnTo>
                    <a:pt x="135" y="101"/>
                  </a:lnTo>
                  <a:lnTo>
                    <a:pt x="141" y="103"/>
                  </a:lnTo>
                  <a:lnTo>
                    <a:pt x="147" y="106"/>
                  </a:lnTo>
                  <a:lnTo>
                    <a:pt x="153" y="109"/>
                  </a:lnTo>
                  <a:lnTo>
                    <a:pt x="158" y="114"/>
                  </a:lnTo>
                  <a:lnTo>
                    <a:pt x="166" y="116"/>
                  </a:lnTo>
                  <a:lnTo>
                    <a:pt x="171" y="119"/>
                  </a:lnTo>
                  <a:lnTo>
                    <a:pt x="179" y="122"/>
                  </a:lnTo>
                  <a:lnTo>
                    <a:pt x="186" y="125"/>
                  </a:lnTo>
                  <a:lnTo>
                    <a:pt x="193" y="128"/>
                  </a:lnTo>
                  <a:lnTo>
                    <a:pt x="200" y="132"/>
                  </a:lnTo>
                  <a:lnTo>
                    <a:pt x="209" y="135"/>
                  </a:lnTo>
                  <a:lnTo>
                    <a:pt x="220" y="139"/>
                  </a:lnTo>
                  <a:lnTo>
                    <a:pt x="232" y="144"/>
                  </a:lnTo>
                  <a:lnTo>
                    <a:pt x="242" y="148"/>
                  </a:lnTo>
                  <a:lnTo>
                    <a:pt x="251" y="151"/>
                  </a:lnTo>
                  <a:lnTo>
                    <a:pt x="261" y="155"/>
                  </a:lnTo>
                  <a:lnTo>
                    <a:pt x="269" y="158"/>
                  </a:lnTo>
                  <a:lnTo>
                    <a:pt x="276" y="161"/>
                  </a:lnTo>
                  <a:lnTo>
                    <a:pt x="285" y="164"/>
                  </a:lnTo>
                  <a:lnTo>
                    <a:pt x="292" y="167"/>
                  </a:lnTo>
                  <a:lnTo>
                    <a:pt x="299" y="170"/>
                  </a:lnTo>
                  <a:lnTo>
                    <a:pt x="307" y="172"/>
                  </a:lnTo>
                  <a:lnTo>
                    <a:pt x="312" y="174"/>
                  </a:lnTo>
                  <a:lnTo>
                    <a:pt x="320" y="177"/>
                  </a:lnTo>
                  <a:lnTo>
                    <a:pt x="325" y="178"/>
                  </a:lnTo>
                  <a:lnTo>
                    <a:pt x="333" y="181"/>
                  </a:lnTo>
                  <a:lnTo>
                    <a:pt x="338" y="183"/>
                  </a:lnTo>
                  <a:lnTo>
                    <a:pt x="345" y="184"/>
                  </a:lnTo>
                  <a:lnTo>
                    <a:pt x="353" y="185"/>
                  </a:lnTo>
                  <a:lnTo>
                    <a:pt x="360" y="187"/>
                  </a:lnTo>
                  <a:lnTo>
                    <a:pt x="366" y="190"/>
                  </a:lnTo>
                  <a:lnTo>
                    <a:pt x="374" y="191"/>
                  </a:lnTo>
                  <a:lnTo>
                    <a:pt x="381" y="193"/>
                  </a:lnTo>
                  <a:lnTo>
                    <a:pt x="390" y="194"/>
                  </a:lnTo>
                  <a:lnTo>
                    <a:pt x="399" y="195"/>
                  </a:lnTo>
                  <a:lnTo>
                    <a:pt x="407" y="197"/>
                  </a:lnTo>
                  <a:lnTo>
                    <a:pt x="416" y="198"/>
                  </a:lnTo>
                  <a:lnTo>
                    <a:pt x="427" y="201"/>
                  </a:lnTo>
                  <a:lnTo>
                    <a:pt x="438" y="203"/>
                  </a:lnTo>
                  <a:lnTo>
                    <a:pt x="449" y="204"/>
                  </a:lnTo>
                  <a:lnTo>
                    <a:pt x="461" y="207"/>
                  </a:lnTo>
                  <a:lnTo>
                    <a:pt x="473" y="208"/>
                  </a:lnTo>
                  <a:lnTo>
                    <a:pt x="488" y="211"/>
                  </a:lnTo>
                  <a:lnTo>
                    <a:pt x="502" y="213"/>
                  </a:lnTo>
                  <a:lnTo>
                    <a:pt x="515" y="216"/>
                  </a:lnTo>
                  <a:lnTo>
                    <a:pt x="527" y="217"/>
                  </a:lnTo>
                  <a:lnTo>
                    <a:pt x="538" y="220"/>
                  </a:lnTo>
                  <a:lnTo>
                    <a:pt x="550" y="221"/>
                  </a:lnTo>
                  <a:lnTo>
                    <a:pt x="560" y="223"/>
                  </a:lnTo>
                  <a:lnTo>
                    <a:pt x="568" y="224"/>
                  </a:lnTo>
                  <a:lnTo>
                    <a:pt x="577" y="226"/>
                  </a:lnTo>
                  <a:lnTo>
                    <a:pt x="586" y="227"/>
                  </a:lnTo>
                  <a:lnTo>
                    <a:pt x="594" y="229"/>
                  </a:lnTo>
                  <a:lnTo>
                    <a:pt x="602" y="229"/>
                  </a:lnTo>
                  <a:lnTo>
                    <a:pt x="609" y="230"/>
                  </a:lnTo>
                  <a:lnTo>
                    <a:pt x="616" y="231"/>
                  </a:lnTo>
                  <a:lnTo>
                    <a:pt x="622" y="231"/>
                  </a:lnTo>
                  <a:lnTo>
                    <a:pt x="627" y="233"/>
                  </a:lnTo>
                  <a:lnTo>
                    <a:pt x="635" y="233"/>
                  </a:lnTo>
                  <a:lnTo>
                    <a:pt x="640" y="234"/>
                  </a:lnTo>
                  <a:lnTo>
                    <a:pt x="646" y="234"/>
                  </a:lnTo>
                  <a:lnTo>
                    <a:pt x="652" y="234"/>
                  </a:lnTo>
                  <a:lnTo>
                    <a:pt x="658" y="234"/>
                  </a:lnTo>
                  <a:lnTo>
                    <a:pt x="663" y="236"/>
                  </a:lnTo>
                  <a:lnTo>
                    <a:pt x="669" y="236"/>
                  </a:lnTo>
                  <a:lnTo>
                    <a:pt x="675" y="236"/>
                  </a:lnTo>
                  <a:lnTo>
                    <a:pt x="681" y="236"/>
                  </a:lnTo>
                  <a:lnTo>
                    <a:pt x="688" y="236"/>
                  </a:lnTo>
                  <a:lnTo>
                    <a:pt x="694" y="236"/>
                  </a:lnTo>
                  <a:lnTo>
                    <a:pt x="701" y="236"/>
                  </a:lnTo>
                  <a:lnTo>
                    <a:pt x="708" y="236"/>
                  </a:lnTo>
                  <a:lnTo>
                    <a:pt x="717" y="236"/>
                  </a:lnTo>
                  <a:lnTo>
                    <a:pt x="724" y="236"/>
                  </a:lnTo>
                  <a:lnTo>
                    <a:pt x="732" y="236"/>
                  </a:lnTo>
                  <a:lnTo>
                    <a:pt x="742" y="23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25">
              <a:extLst>
                <a:ext uri="{FF2B5EF4-FFF2-40B4-BE49-F238E27FC236}">
                  <a16:creationId xmlns:a16="http://schemas.microsoft.com/office/drawing/2014/main" id="{24C547E0-08CE-8BC3-ABF7-F88E82336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9200" y="3036888"/>
              <a:ext cx="725488" cy="280988"/>
            </a:xfrm>
            <a:custGeom>
              <a:avLst/>
              <a:gdLst>
                <a:gd name="T0" fmla="*/ 0 w 915"/>
                <a:gd name="T1" fmla="*/ 0 h 355"/>
                <a:gd name="T2" fmla="*/ 0 w 915"/>
                <a:gd name="T3" fmla="*/ 0 h 355"/>
                <a:gd name="T4" fmla="*/ 0 w 915"/>
                <a:gd name="T5" fmla="*/ 0 h 355"/>
                <a:gd name="T6" fmla="*/ 0 w 915"/>
                <a:gd name="T7" fmla="*/ 0 h 355"/>
                <a:gd name="T8" fmla="*/ 0 w 915"/>
                <a:gd name="T9" fmla="*/ 0 h 355"/>
                <a:gd name="T10" fmla="*/ 0 w 915"/>
                <a:gd name="T11" fmla="*/ 0 h 355"/>
                <a:gd name="T12" fmla="*/ 0 w 915"/>
                <a:gd name="T13" fmla="*/ 0 h 355"/>
                <a:gd name="T14" fmla="*/ 0 w 915"/>
                <a:gd name="T15" fmla="*/ 0 h 355"/>
                <a:gd name="T16" fmla="*/ 0 w 915"/>
                <a:gd name="T17" fmla="*/ 0 h 355"/>
                <a:gd name="T18" fmla="*/ 0 w 915"/>
                <a:gd name="T19" fmla="*/ 0 h 355"/>
                <a:gd name="T20" fmla="*/ 0 w 915"/>
                <a:gd name="T21" fmla="*/ 0 h 355"/>
                <a:gd name="T22" fmla="*/ 0 w 915"/>
                <a:gd name="T23" fmla="*/ 0 h 355"/>
                <a:gd name="T24" fmla="*/ 0 w 915"/>
                <a:gd name="T25" fmla="*/ 0 h 355"/>
                <a:gd name="T26" fmla="*/ 0 w 915"/>
                <a:gd name="T27" fmla="*/ 0 h 355"/>
                <a:gd name="T28" fmla="*/ 0 w 915"/>
                <a:gd name="T29" fmla="*/ 0 h 355"/>
                <a:gd name="T30" fmla="*/ 0 w 915"/>
                <a:gd name="T31" fmla="*/ 0 h 355"/>
                <a:gd name="T32" fmla="*/ 0 w 915"/>
                <a:gd name="T33" fmla="*/ 0 h 355"/>
                <a:gd name="T34" fmla="*/ 0 w 915"/>
                <a:gd name="T35" fmla="*/ 0 h 355"/>
                <a:gd name="T36" fmla="*/ 0 w 915"/>
                <a:gd name="T37" fmla="*/ 0 h 355"/>
                <a:gd name="T38" fmla="*/ 0 w 915"/>
                <a:gd name="T39" fmla="*/ 0 h 355"/>
                <a:gd name="T40" fmla="*/ 0 w 915"/>
                <a:gd name="T41" fmla="*/ 0 h 355"/>
                <a:gd name="T42" fmla="*/ 0 w 915"/>
                <a:gd name="T43" fmla="*/ 0 h 355"/>
                <a:gd name="T44" fmla="*/ 0 w 915"/>
                <a:gd name="T45" fmla="*/ 0 h 355"/>
                <a:gd name="T46" fmla="*/ 0 w 915"/>
                <a:gd name="T47" fmla="*/ 0 h 355"/>
                <a:gd name="T48" fmla="*/ 0 w 915"/>
                <a:gd name="T49" fmla="*/ 0 h 355"/>
                <a:gd name="T50" fmla="*/ 0 w 915"/>
                <a:gd name="T51" fmla="*/ 0 h 355"/>
                <a:gd name="T52" fmla="*/ 0 w 915"/>
                <a:gd name="T53" fmla="*/ 0 h 355"/>
                <a:gd name="T54" fmla="*/ 0 w 915"/>
                <a:gd name="T55" fmla="*/ 0 h 355"/>
                <a:gd name="T56" fmla="*/ 0 w 915"/>
                <a:gd name="T57" fmla="*/ 0 h 355"/>
                <a:gd name="T58" fmla="*/ 0 w 915"/>
                <a:gd name="T59" fmla="*/ 0 h 355"/>
                <a:gd name="T60" fmla="*/ 0 w 915"/>
                <a:gd name="T61" fmla="*/ 0 h 355"/>
                <a:gd name="T62" fmla="*/ 0 w 915"/>
                <a:gd name="T63" fmla="*/ 0 h 355"/>
                <a:gd name="T64" fmla="*/ 0 w 915"/>
                <a:gd name="T65" fmla="*/ 0 h 355"/>
                <a:gd name="T66" fmla="*/ 0 w 915"/>
                <a:gd name="T67" fmla="*/ 0 h 355"/>
                <a:gd name="T68" fmla="*/ 0 w 915"/>
                <a:gd name="T69" fmla="*/ 0 h 355"/>
                <a:gd name="T70" fmla="*/ 0 w 915"/>
                <a:gd name="T71" fmla="*/ 0 h 355"/>
                <a:gd name="T72" fmla="*/ 0 w 915"/>
                <a:gd name="T73" fmla="*/ 0 h 355"/>
                <a:gd name="T74" fmla="*/ 0 w 915"/>
                <a:gd name="T75" fmla="*/ 0 h 355"/>
                <a:gd name="T76" fmla="*/ 0 w 915"/>
                <a:gd name="T77" fmla="*/ 0 h 355"/>
                <a:gd name="T78" fmla="*/ 0 w 915"/>
                <a:gd name="T79" fmla="*/ 0 h 355"/>
                <a:gd name="T80" fmla="*/ 0 w 915"/>
                <a:gd name="T81" fmla="*/ 0 h 355"/>
                <a:gd name="T82" fmla="*/ 0 w 915"/>
                <a:gd name="T83" fmla="*/ 0 h 355"/>
                <a:gd name="T84" fmla="*/ 0 w 915"/>
                <a:gd name="T85" fmla="*/ 0 h 355"/>
                <a:gd name="T86" fmla="*/ 0 w 915"/>
                <a:gd name="T87" fmla="*/ 0 h 355"/>
                <a:gd name="T88" fmla="*/ 0 w 915"/>
                <a:gd name="T89" fmla="*/ 0 h 355"/>
                <a:gd name="T90" fmla="*/ 0 w 915"/>
                <a:gd name="T91" fmla="*/ 0 h 355"/>
                <a:gd name="T92" fmla="*/ 0 w 915"/>
                <a:gd name="T93" fmla="*/ 0 h 355"/>
                <a:gd name="T94" fmla="*/ 0 w 915"/>
                <a:gd name="T95" fmla="*/ 0 h 355"/>
                <a:gd name="T96" fmla="*/ 0 w 915"/>
                <a:gd name="T97" fmla="*/ 0 h 355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915"/>
                <a:gd name="T148" fmla="*/ 0 h 355"/>
                <a:gd name="T149" fmla="*/ 915 w 915"/>
                <a:gd name="T150" fmla="*/ 355 h 355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915" h="355">
                  <a:moveTo>
                    <a:pt x="0" y="355"/>
                  </a:moveTo>
                  <a:lnTo>
                    <a:pt x="23" y="336"/>
                  </a:lnTo>
                  <a:lnTo>
                    <a:pt x="44" y="319"/>
                  </a:lnTo>
                  <a:lnTo>
                    <a:pt x="66" y="303"/>
                  </a:lnTo>
                  <a:lnTo>
                    <a:pt x="85" y="289"/>
                  </a:lnTo>
                  <a:lnTo>
                    <a:pt x="102" y="275"/>
                  </a:lnTo>
                  <a:lnTo>
                    <a:pt x="119" y="262"/>
                  </a:lnTo>
                  <a:lnTo>
                    <a:pt x="135" y="249"/>
                  </a:lnTo>
                  <a:lnTo>
                    <a:pt x="149" y="237"/>
                  </a:lnTo>
                  <a:lnTo>
                    <a:pt x="162" y="227"/>
                  </a:lnTo>
                  <a:lnTo>
                    <a:pt x="175" y="217"/>
                  </a:lnTo>
                  <a:lnTo>
                    <a:pt x="188" y="207"/>
                  </a:lnTo>
                  <a:lnTo>
                    <a:pt x="198" y="200"/>
                  </a:lnTo>
                  <a:lnTo>
                    <a:pt x="210" y="191"/>
                  </a:lnTo>
                  <a:lnTo>
                    <a:pt x="220" y="184"/>
                  </a:lnTo>
                  <a:lnTo>
                    <a:pt x="229" y="178"/>
                  </a:lnTo>
                  <a:lnTo>
                    <a:pt x="239" y="171"/>
                  </a:lnTo>
                  <a:lnTo>
                    <a:pt x="247" y="165"/>
                  </a:lnTo>
                  <a:lnTo>
                    <a:pt x="256" y="161"/>
                  </a:lnTo>
                  <a:lnTo>
                    <a:pt x="264" y="155"/>
                  </a:lnTo>
                  <a:lnTo>
                    <a:pt x="272" y="151"/>
                  </a:lnTo>
                  <a:lnTo>
                    <a:pt x="280" y="147"/>
                  </a:lnTo>
                  <a:lnTo>
                    <a:pt x="288" y="142"/>
                  </a:lnTo>
                  <a:lnTo>
                    <a:pt x="296" y="138"/>
                  </a:lnTo>
                  <a:lnTo>
                    <a:pt x="303" y="134"/>
                  </a:lnTo>
                  <a:lnTo>
                    <a:pt x="312" y="131"/>
                  </a:lnTo>
                  <a:lnTo>
                    <a:pt x="321" y="126"/>
                  </a:lnTo>
                  <a:lnTo>
                    <a:pt x="329" y="122"/>
                  </a:lnTo>
                  <a:lnTo>
                    <a:pt x="339" y="119"/>
                  </a:lnTo>
                  <a:lnTo>
                    <a:pt x="348" y="115"/>
                  </a:lnTo>
                  <a:lnTo>
                    <a:pt x="359" y="111"/>
                  </a:lnTo>
                  <a:lnTo>
                    <a:pt x="370" y="106"/>
                  </a:lnTo>
                  <a:lnTo>
                    <a:pt x="381" y="102"/>
                  </a:lnTo>
                  <a:lnTo>
                    <a:pt x="393" y="96"/>
                  </a:lnTo>
                  <a:lnTo>
                    <a:pt x="404" y="92"/>
                  </a:lnTo>
                  <a:lnTo>
                    <a:pt x="414" y="89"/>
                  </a:lnTo>
                  <a:lnTo>
                    <a:pt x="423" y="85"/>
                  </a:lnTo>
                  <a:lnTo>
                    <a:pt x="433" y="80"/>
                  </a:lnTo>
                  <a:lnTo>
                    <a:pt x="441" y="78"/>
                  </a:lnTo>
                  <a:lnTo>
                    <a:pt x="449" y="75"/>
                  </a:lnTo>
                  <a:lnTo>
                    <a:pt x="457" y="72"/>
                  </a:lnTo>
                  <a:lnTo>
                    <a:pt x="464" y="69"/>
                  </a:lnTo>
                  <a:lnTo>
                    <a:pt x="472" y="66"/>
                  </a:lnTo>
                  <a:lnTo>
                    <a:pt x="479" y="65"/>
                  </a:lnTo>
                  <a:lnTo>
                    <a:pt x="485" y="62"/>
                  </a:lnTo>
                  <a:lnTo>
                    <a:pt x="492" y="60"/>
                  </a:lnTo>
                  <a:lnTo>
                    <a:pt x="498" y="57"/>
                  </a:lnTo>
                  <a:lnTo>
                    <a:pt x="505" y="56"/>
                  </a:lnTo>
                  <a:lnTo>
                    <a:pt x="510" y="55"/>
                  </a:lnTo>
                  <a:lnTo>
                    <a:pt x="518" y="52"/>
                  </a:lnTo>
                  <a:lnTo>
                    <a:pt x="525" y="50"/>
                  </a:lnTo>
                  <a:lnTo>
                    <a:pt x="532" y="49"/>
                  </a:lnTo>
                  <a:lnTo>
                    <a:pt x="538" y="47"/>
                  </a:lnTo>
                  <a:lnTo>
                    <a:pt x="546" y="46"/>
                  </a:lnTo>
                  <a:lnTo>
                    <a:pt x="554" y="45"/>
                  </a:lnTo>
                  <a:lnTo>
                    <a:pt x="562" y="43"/>
                  </a:lnTo>
                  <a:lnTo>
                    <a:pt x="571" y="42"/>
                  </a:lnTo>
                  <a:lnTo>
                    <a:pt x="580" y="39"/>
                  </a:lnTo>
                  <a:lnTo>
                    <a:pt x="588" y="37"/>
                  </a:lnTo>
                  <a:lnTo>
                    <a:pt x="600" y="36"/>
                  </a:lnTo>
                  <a:lnTo>
                    <a:pt x="610" y="35"/>
                  </a:lnTo>
                  <a:lnTo>
                    <a:pt x="621" y="32"/>
                  </a:lnTo>
                  <a:lnTo>
                    <a:pt x="633" y="30"/>
                  </a:lnTo>
                  <a:lnTo>
                    <a:pt x="646" y="27"/>
                  </a:lnTo>
                  <a:lnTo>
                    <a:pt x="660" y="26"/>
                  </a:lnTo>
                  <a:lnTo>
                    <a:pt x="674" y="23"/>
                  </a:lnTo>
                  <a:lnTo>
                    <a:pt x="687" y="22"/>
                  </a:lnTo>
                  <a:lnTo>
                    <a:pt x="699" y="19"/>
                  </a:lnTo>
                  <a:lnTo>
                    <a:pt x="710" y="17"/>
                  </a:lnTo>
                  <a:lnTo>
                    <a:pt x="722" y="16"/>
                  </a:lnTo>
                  <a:lnTo>
                    <a:pt x="732" y="14"/>
                  </a:lnTo>
                  <a:lnTo>
                    <a:pt x="741" y="13"/>
                  </a:lnTo>
                  <a:lnTo>
                    <a:pt x="749" y="12"/>
                  </a:lnTo>
                  <a:lnTo>
                    <a:pt x="758" y="10"/>
                  </a:lnTo>
                  <a:lnTo>
                    <a:pt x="767" y="9"/>
                  </a:lnTo>
                  <a:lnTo>
                    <a:pt x="774" y="7"/>
                  </a:lnTo>
                  <a:lnTo>
                    <a:pt x="781" y="7"/>
                  </a:lnTo>
                  <a:lnTo>
                    <a:pt x="788" y="6"/>
                  </a:lnTo>
                  <a:lnTo>
                    <a:pt x="794" y="4"/>
                  </a:lnTo>
                  <a:lnTo>
                    <a:pt x="800" y="4"/>
                  </a:lnTo>
                  <a:lnTo>
                    <a:pt x="807" y="3"/>
                  </a:lnTo>
                  <a:lnTo>
                    <a:pt x="813" y="3"/>
                  </a:lnTo>
                  <a:lnTo>
                    <a:pt x="818" y="3"/>
                  </a:lnTo>
                  <a:lnTo>
                    <a:pt x="824" y="1"/>
                  </a:lnTo>
                  <a:lnTo>
                    <a:pt x="830" y="1"/>
                  </a:lnTo>
                  <a:lnTo>
                    <a:pt x="836" y="1"/>
                  </a:lnTo>
                  <a:lnTo>
                    <a:pt x="841" y="1"/>
                  </a:lnTo>
                  <a:lnTo>
                    <a:pt x="847" y="1"/>
                  </a:lnTo>
                  <a:lnTo>
                    <a:pt x="853" y="0"/>
                  </a:lnTo>
                  <a:lnTo>
                    <a:pt x="860" y="0"/>
                  </a:lnTo>
                  <a:lnTo>
                    <a:pt x="866" y="0"/>
                  </a:lnTo>
                  <a:lnTo>
                    <a:pt x="873" y="0"/>
                  </a:lnTo>
                  <a:lnTo>
                    <a:pt x="880" y="0"/>
                  </a:lnTo>
                  <a:lnTo>
                    <a:pt x="889" y="0"/>
                  </a:lnTo>
                  <a:lnTo>
                    <a:pt x="896" y="0"/>
                  </a:lnTo>
                  <a:lnTo>
                    <a:pt x="905" y="0"/>
                  </a:lnTo>
                  <a:lnTo>
                    <a:pt x="91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26">
              <a:extLst>
                <a:ext uri="{FF2B5EF4-FFF2-40B4-BE49-F238E27FC236}">
                  <a16:creationId xmlns:a16="http://schemas.microsoft.com/office/drawing/2014/main" id="{1258CD18-7C87-2F34-D2CE-B741D6FB92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1425" y="3192463"/>
              <a:ext cx="136525" cy="114300"/>
            </a:xfrm>
            <a:custGeom>
              <a:avLst/>
              <a:gdLst>
                <a:gd name="T0" fmla="*/ 0 w 173"/>
                <a:gd name="T1" fmla="*/ 1 h 144"/>
                <a:gd name="T2" fmla="*/ 0 w 173"/>
                <a:gd name="T3" fmla="*/ 1 h 144"/>
                <a:gd name="T4" fmla="*/ 0 w 173"/>
                <a:gd name="T5" fmla="*/ 0 h 144"/>
                <a:gd name="T6" fmla="*/ 0 w 173"/>
                <a:gd name="T7" fmla="*/ 1 h 144"/>
                <a:gd name="T8" fmla="*/ 0 w 173"/>
                <a:gd name="T9" fmla="*/ 1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3"/>
                <a:gd name="T16" fmla="*/ 0 h 144"/>
                <a:gd name="T17" fmla="*/ 173 w 173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3" h="144">
                  <a:moveTo>
                    <a:pt x="0" y="57"/>
                  </a:moveTo>
                  <a:lnTo>
                    <a:pt x="173" y="144"/>
                  </a:lnTo>
                  <a:lnTo>
                    <a:pt x="58" y="0"/>
                  </a:lnTo>
                  <a:lnTo>
                    <a:pt x="29" y="29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0000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27">
              <a:extLst>
                <a:ext uri="{FF2B5EF4-FFF2-40B4-BE49-F238E27FC236}">
                  <a16:creationId xmlns:a16="http://schemas.microsoft.com/office/drawing/2014/main" id="{4B0714ED-07CE-F1DD-8417-9C2DBFFD8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688" y="3036888"/>
              <a:ext cx="585788" cy="169863"/>
            </a:xfrm>
            <a:custGeom>
              <a:avLst/>
              <a:gdLst>
                <a:gd name="T0" fmla="*/ 1 w 736"/>
                <a:gd name="T1" fmla="*/ 0 h 216"/>
                <a:gd name="T2" fmla="*/ 1 w 736"/>
                <a:gd name="T3" fmla="*/ 0 h 216"/>
                <a:gd name="T4" fmla="*/ 1 w 736"/>
                <a:gd name="T5" fmla="*/ 0 h 216"/>
                <a:gd name="T6" fmla="*/ 1 w 736"/>
                <a:gd name="T7" fmla="*/ 0 h 216"/>
                <a:gd name="T8" fmla="*/ 1 w 736"/>
                <a:gd name="T9" fmla="*/ 0 h 216"/>
                <a:gd name="T10" fmla="*/ 1 w 736"/>
                <a:gd name="T11" fmla="*/ 0 h 216"/>
                <a:gd name="T12" fmla="*/ 1 w 736"/>
                <a:gd name="T13" fmla="*/ 0 h 216"/>
                <a:gd name="T14" fmla="*/ 1 w 736"/>
                <a:gd name="T15" fmla="*/ 0 h 216"/>
                <a:gd name="T16" fmla="*/ 1 w 736"/>
                <a:gd name="T17" fmla="*/ 0 h 216"/>
                <a:gd name="T18" fmla="*/ 1 w 736"/>
                <a:gd name="T19" fmla="*/ 0 h 216"/>
                <a:gd name="T20" fmla="*/ 1 w 736"/>
                <a:gd name="T21" fmla="*/ 0 h 216"/>
                <a:gd name="T22" fmla="*/ 1 w 736"/>
                <a:gd name="T23" fmla="*/ 0 h 216"/>
                <a:gd name="T24" fmla="*/ 1 w 736"/>
                <a:gd name="T25" fmla="*/ 0 h 216"/>
                <a:gd name="T26" fmla="*/ 1 w 736"/>
                <a:gd name="T27" fmla="*/ 0 h 216"/>
                <a:gd name="T28" fmla="*/ 1 w 736"/>
                <a:gd name="T29" fmla="*/ 0 h 216"/>
                <a:gd name="T30" fmla="*/ 1 w 736"/>
                <a:gd name="T31" fmla="*/ 0 h 216"/>
                <a:gd name="T32" fmla="*/ 1 w 736"/>
                <a:gd name="T33" fmla="*/ 0 h 216"/>
                <a:gd name="T34" fmla="*/ 1 w 736"/>
                <a:gd name="T35" fmla="*/ 0 h 216"/>
                <a:gd name="T36" fmla="*/ 1 w 736"/>
                <a:gd name="T37" fmla="*/ 0 h 216"/>
                <a:gd name="T38" fmla="*/ 1 w 736"/>
                <a:gd name="T39" fmla="*/ 0 h 216"/>
                <a:gd name="T40" fmla="*/ 1 w 736"/>
                <a:gd name="T41" fmla="*/ 0 h 216"/>
                <a:gd name="T42" fmla="*/ 1 w 736"/>
                <a:gd name="T43" fmla="*/ 0 h 216"/>
                <a:gd name="T44" fmla="*/ 1 w 736"/>
                <a:gd name="T45" fmla="*/ 0 h 216"/>
                <a:gd name="T46" fmla="*/ 1 w 736"/>
                <a:gd name="T47" fmla="*/ 0 h 216"/>
                <a:gd name="T48" fmla="*/ 1 w 736"/>
                <a:gd name="T49" fmla="*/ 0 h 216"/>
                <a:gd name="T50" fmla="*/ 1 w 736"/>
                <a:gd name="T51" fmla="*/ 0 h 216"/>
                <a:gd name="T52" fmla="*/ 1 w 736"/>
                <a:gd name="T53" fmla="*/ 0 h 216"/>
                <a:gd name="T54" fmla="*/ 1 w 736"/>
                <a:gd name="T55" fmla="*/ 0 h 216"/>
                <a:gd name="T56" fmla="*/ 1 w 736"/>
                <a:gd name="T57" fmla="*/ 0 h 216"/>
                <a:gd name="T58" fmla="*/ 1 w 736"/>
                <a:gd name="T59" fmla="*/ 0 h 216"/>
                <a:gd name="T60" fmla="*/ 1 w 736"/>
                <a:gd name="T61" fmla="*/ 0 h 216"/>
                <a:gd name="T62" fmla="*/ 1 w 736"/>
                <a:gd name="T63" fmla="*/ 0 h 216"/>
                <a:gd name="T64" fmla="*/ 1 w 736"/>
                <a:gd name="T65" fmla="*/ 0 h 216"/>
                <a:gd name="T66" fmla="*/ 1 w 736"/>
                <a:gd name="T67" fmla="*/ 0 h 216"/>
                <a:gd name="T68" fmla="*/ 1 w 736"/>
                <a:gd name="T69" fmla="*/ 0 h 216"/>
                <a:gd name="T70" fmla="*/ 1 w 736"/>
                <a:gd name="T71" fmla="*/ 0 h 216"/>
                <a:gd name="T72" fmla="*/ 1 w 736"/>
                <a:gd name="T73" fmla="*/ 0 h 216"/>
                <a:gd name="T74" fmla="*/ 1 w 736"/>
                <a:gd name="T75" fmla="*/ 0 h 216"/>
                <a:gd name="T76" fmla="*/ 1 w 736"/>
                <a:gd name="T77" fmla="*/ 0 h 216"/>
                <a:gd name="T78" fmla="*/ 1 w 736"/>
                <a:gd name="T79" fmla="*/ 0 h 216"/>
                <a:gd name="T80" fmla="*/ 1 w 736"/>
                <a:gd name="T81" fmla="*/ 0 h 216"/>
                <a:gd name="T82" fmla="*/ 1 w 736"/>
                <a:gd name="T83" fmla="*/ 0 h 216"/>
                <a:gd name="T84" fmla="*/ 1 w 736"/>
                <a:gd name="T85" fmla="*/ 0 h 216"/>
                <a:gd name="T86" fmla="*/ 1 w 736"/>
                <a:gd name="T87" fmla="*/ 0 h 216"/>
                <a:gd name="T88" fmla="*/ 1 w 736"/>
                <a:gd name="T89" fmla="*/ 0 h 216"/>
                <a:gd name="T90" fmla="*/ 1 w 736"/>
                <a:gd name="T91" fmla="*/ 0 h 216"/>
                <a:gd name="T92" fmla="*/ 1 w 736"/>
                <a:gd name="T93" fmla="*/ 0 h 216"/>
                <a:gd name="T94" fmla="*/ 1 w 736"/>
                <a:gd name="T95" fmla="*/ 0 h 216"/>
                <a:gd name="T96" fmla="*/ 1 w 736"/>
                <a:gd name="T97" fmla="*/ 0 h 21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736"/>
                <a:gd name="T148" fmla="*/ 0 h 216"/>
                <a:gd name="T149" fmla="*/ 736 w 736"/>
                <a:gd name="T150" fmla="*/ 216 h 21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736" h="216">
                  <a:moveTo>
                    <a:pt x="736" y="216"/>
                  </a:moveTo>
                  <a:lnTo>
                    <a:pt x="728" y="210"/>
                  </a:lnTo>
                  <a:lnTo>
                    <a:pt x="720" y="203"/>
                  </a:lnTo>
                  <a:lnTo>
                    <a:pt x="713" y="197"/>
                  </a:lnTo>
                  <a:lnTo>
                    <a:pt x="706" y="193"/>
                  </a:lnTo>
                  <a:lnTo>
                    <a:pt x="699" y="187"/>
                  </a:lnTo>
                  <a:lnTo>
                    <a:pt x="692" y="183"/>
                  </a:lnTo>
                  <a:lnTo>
                    <a:pt x="686" y="178"/>
                  </a:lnTo>
                  <a:lnTo>
                    <a:pt x="679" y="174"/>
                  </a:lnTo>
                  <a:lnTo>
                    <a:pt x="673" y="170"/>
                  </a:lnTo>
                  <a:lnTo>
                    <a:pt x="667" y="165"/>
                  </a:lnTo>
                  <a:lnTo>
                    <a:pt x="661" y="161"/>
                  </a:lnTo>
                  <a:lnTo>
                    <a:pt x="656" y="158"/>
                  </a:lnTo>
                  <a:lnTo>
                    <a:pt x="650" y="155"/>
                  </a:lnTo>
                  <a:lnTo>
                    <a:pt x="644" y="151"/>
                  </a:lnTo>
                  <a:lnTo>
                    <a:pt x="638" y="148"/>
                  </a:lnTo>
                  <a:lnTo>
                    <a:pt x="634" y="145"/>
                  </a:lnTo>
                  <a:lnTo>
                    <a:pt x="628" y="142"/>
                  </a:lnTo>
                  <a:lnTo>
                    <a:pt x="623" y="139"/>
                  </a:lnTo>
                  <a:lnTo>
                    <a:pt x="617" y="137"/>
                  </a:lnTo>
                  <a:lnTo>
                    <a:pt x="611" y="135"/>
                  </a:lnTo>
                  <a:lnTo>
                    <a:pt x="605" y="132"/>
                  </a:lnTo>
                  <a:lnTo>
                    <a:pt x="600" y="129"/>
                  </a:lnTo>
                  <a:lnTo>
                    <a:pt x="594" y="126"/>
                  </a:lnTo>
                  <a:lnTo>
                    <a:pt x="588" y="124"/>
                  </a:lnTo>
                  <a:lnTo>
                    <a:pt x="582" y="122"/>
                  </a:lnTo>
                  <a:lnTo>
                    <a:pt x="575" y="119"/>
                  </a:lnTo>
                  <a:lnTo>
                    <a:pt x="569" y="116"/>
                  </a:lnTo>
                  <a:lnTo>
                    <a:pt x="562" y="114"/>
                  </a:lnTo>
                  <a:lnTo>
                    <a:pt x="555" y="111"/>
                  </a:lnTo>
                  <a:lnTo>
                    <a:pt x="548" y="108"/>
                  </a:lnTo>
                  <a:lnTo>
                    <a:pt x="541" y="105"/>
                  </a:lnTo>
                  <a:lnTo>
                    <a:pt x="532" y="102"/>
                  </a:lnTo>
                  <a:lnTo>
                    <a:pt x="520" y="96"/>
                  </a:lnTo>
                  <a:lnTo>
                    <a:pt x="510" y="92"/>
                  </a:lnTo>
                  <a:lnTo>
                    <a:pt x="500" y="89"/>
                  </a:lnTo>
                  <a:lnTo>
                    <a:pt x="490" y="85"/>
                  </a:lnTo>
                  <a:lnTo>
                    <a:pt x="482" y="80"/>
                  </a:lnTo>
                  <a:lnTo>
                    <a:pt x="473" y="78"/>
                  </a:lnTo>
                  <a:lnTo>
                    <a:pt x="464" y="75"/>
                  </a:lnTo>
                  <a:lnTo>
                    <a:pt x="457" y="72"/>
                  </a:lnTo>
                  <a:lnTo>
                    <a:pt x="448" y="69"/>
                  </a:lnTo>
                  <a:lnTo>
                    <a:pt x="441" y="66"/>
                  </a:lnTo>
                  <a:lnTo>
                    <a:pt x="436" y="65"/>
                  </a:lnTo>
                  <a:lnTo>
                    <a:pt x="428" y="62"/>
                  </a:lnTo>
                  <a:lnTo>
                    <a:pt x="421" y="60"/>
                  </a:lnTo>
                  <a:lnTo>
                    <a:pt x="415" y="57"/>
                  </a:lnTo>
                  <a:lnTo>
                    <a:pt x="408" y="56"/>
                  </a:lnTo>
                  <a:lnTo>
                    <a:pt x="402" y="55"/>
                  </a:lnTo>
                  <a:lnTo>
                    <a:pt x="395" y="52"/>
                  </a:lnTo>
                  <a:lnTo>
                    <a:pt x="388" y="50"/>
                  </a:lnTo>
                  <a:lnTo>
                    <a:pt x="382" y="49"/>
                  </a:lnTo>
                  <a:lnTo>
                    <a:pt x="375" y="47"/>
                  </a:lnTo>
                  <a:lnTo>
                    <a:pt x="368" y="46"/>
                  </a:lnTo>
                  <a:lnTo>
                    <a:pt x="359" y="45"/>
                  </a:lnTo>
                  <a:lnTo>
                    <a:pt x="352" y="43"/>
                  </a:lnTo>
                  <a:lnTo>
                    <a:pt x="343" y="42"/>
                  </a:lnTo>
                  <a:lnTo>
                    <a:pt x="333" y="39"/>
                  </a:lnTo>
                  <a:lnTo>
                    <a:pt x="325" y="37"/>
                  </a:lnTo>
                  <a:lnTo>
                    <a:pt x="315" y="36"/>
                  </a:lnTo>
                  <a:lnTo>
                    <a:pt x="303" y="35"/>
                  </a:lnTo>
                  <a:lnTo>
                    <a:pt x="292" y="32"/>
                  </a:lnTo>
                  <a:lnTo>
                    <a:pt x="280" y="30"/>
                  </a:lnTo>
                  <a:lnTo>
                    <a:pt x="267" y="27"/>
                  </a:lnTo>
                  <a:lnTo>
                    <a:pt x="253" y="26"/>
                  </a:lnTo>
                  <a:lnTo>
                    <a:pt x="238" y="23"/>
                  </a:lnTo>
                  <a:lnTo>
                    <a:pt x="226" y="22"/>
                  </a:lnTo>
                  <a:lnTo>
                    <a:pt x="214" y="19"/>
                  </a:lnTo>
                  <a:lnTo>
                    <a:pt x="203" y="17"/>
                  </a:lnTo>
                  <a:lnTo>
                    <a:pt x="192" y="16"/>
                  </a:lnTo>
                  <a:lnTo>
                    <a:pt x="182" y="14"/>
                  </a:lnTo>
                  <a:lnTo>
                    <a:pt x="172" y="13"/>
                  </a:lnTo>
                  <a:lnTo>
                    <a:pt x="164" y="12"/>
                  </a:lnTo>
                  <a:lnTo>
                    <a:pt x="155" y="10"/>
                  </a:lnTo>
                  <a:lnTo>
                    <a:pt x="148" y="9"/>
                  </a:lnTo>
                  <a:lnTo>
                    <a:pt x="139" y="7"/>
                  </a:lnTo>
                  <a:lnTo>
                    <a:pt x="132" y="7"/>
                  </a:lnTo>
                  <a:lnTo>
                    <a:pt x="126" y="6"/>
                  </a:lnTo>
                  <a:lnTo>
                    <a:pt x="119" y="4"/>
                  </a:lnTo>
                  <a:lnTo>
                    <a:pt x="113" y="4"/>
                  </a:lnTo>
                  <a:lnTo>
                    <a:pt x="108" y="3"/>
                  </a:lnTo>
                  <a:lnTo>
                    <a:pt x="102" y="3"/>
                  </a:lnTo>
                  <a:lnTo>
                    <a:pt x="96" y="3"/>
                  </a:lnTo>
                  <a:lnTo>
                    <a:pt x="90" y="1"/>
                  </a:lnTo>
                  <a:lnTo>
                    <a:pt x="85" y="1"/>
                  </a:lnTo>
                  <a:lnTo>
                    <a:pt x="79" y="1"/>
                  </a:lnTo>
                  <a:lnTo>
                    <a:pt x="73" y="1"/>
                  </a:lnTo>
                  <a:lnTo>
                    <a:pt x="66" y="1"/>
                  </a:lnTo>
                  <a:lnTo>
                    <a:pt x="60" y="0"/>
                  </a:lnTo>
                  <a:lnTo>
                    <a:pt x="54" y="0"/>
                  </a:lnTo>
                  <a:lnTo>
                    <a:pt x="47" y="0"/>
                  </a:lnTo>
                  <a:lnTo>
                    <a:pt x="40" y="0"/>
                  </a:lnTo>
                  <a:lnTo>
                    <a:pt x="33" y="0"/>
                  </a:lnTo>
                  <a:lnTo>
                    <a:pt x="26" y="0"/>
                  </a:lnTo>
                  <a:lnTo>
                    <a:pt x="17" y="0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28">
              <a:extLst>
                <a:ext uri="{FF2B5EF4-FFF2-40B4-BE49-F238E27FC236}">
                  <a16:creationId xmlns:a16="http://schemas.microsoft.com/office/drawing/2014/main" id="{9C0EBB39-26E3-A605-8C7E-0D7319B46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9688" y="3214688"/>
              <a:ext cx="646113" cy="644525"/>
            </a:xfrm>
            <a:custGeom>
              <a:avLst/>
              <a:gdLst>
                <a:gd name="T0" fmla="*/ 1 w 814"/>
                <a:gd name="T1" fmla="*/ 0 h 814"/>
                <a:gd name="T2" fmla="*/ 1 w 814"/>
                <a:gd name="T3" fmla="*/ 0 h 814"/>
                <a:gd name="T4" fmla="*/ 1 w 814"/>
                <a:gd name="T5" fmla="*/ 0 h 814"/>
                <a:gd name="T6" fmla="*/ 1 w 814"/>
                <a:gd name="T7" fmla="*/ 0 h 814"/>
                <a:gd name="T8" fmla="*/ 1 w 814"/>
                <a:gd name="T9" fmla="*/ 0 h 814"/>
                <a:gd name="T10" fmla="*/ 1 w 814"/>
                <a:gd name="T11" fmla="*/ 0 h 814"/>
                <a:gd name="T12" fmla="*/ 1 w 814"/>
                <a:gd name="T13" fmla="*/ 0 h 814"/>
                <a:gd name="T14" fmla="*/ 1 w 814"/>
                <a:gd name="T15" fmla="*/ 0 h 814"/>
                <a:gd name="T16" fmla="*/ 1 w 814"/>
                <a:gd name="T17" fmla="*/ 0 h 814"/>
                <a:gd name="T18" fmla="*/ 1 w 814"/>
                <a:gd name="T19" fmla="*/ 0 h 814"/>
                <a:gd name="T20" fmla="*/ 0 w 814"/>
                <a:gd name="T21" fmla="*/ 0 h 814"/>
                <a:gd name="T22" fmla="*/ 1 w 814"/>
                <a:gd name="T23" fmla="*/ 0 h 814"/>
                <a:gd name="T24" fmla="*/ 1 w 814"/>
                <a:gd name="T25" fmla="*/ 0 h 814"/>
                <a:gd name="T26" fmla="*/ 1 w 814"/>
                <a:gd name="T27" fmla="*/ 0 h 814"/>
                <a:gd name="T28" fmla="*/ 1 w 814"/>
                <a:gd name="T29" fmla="*/ 0 h 814"/>
                <a:gd name="T30" fmla="*/ 1 w 814"/>
                <a:gd name="T31" fmla="*/ 0 h 814"/>
                <a:gd name="T32" fmla="*/ 1 w 814"/>
                <a:gd name="T33" fmla="*/ 0 h 814"/>
                <a:gd name="T34" fmla="*/ 1 w 814"/>
                <a:gd name="T35" fmla="*/ 0 h 814"/>
                <a:gd name="T36" fmla="*/ 1 w 814"/>
                <a:gd name="T37" fmla="*/ 0 h 814"/>
                <a:gd name="T38" fmla="*/ 1 w 814"/>
                <a:gd name="T39" fmla="*/ 0 h 814"/>
                <a:gd name="T40" fmla="*/ 1 w 814"/>
                <a:gd name="T41" fmla="*/ 0 h 814"/>
                <a:gd name="T42" fmla="*/ 1 w 814"/>
                <a:gd name="T43" fmla="*/ 0 h 814"/>
                <a:gd name="T44" fmla="*/ 1 w 814"/>
                <a:gd name="T45" fmla="*/ 0 h 814"/>
                <a:gd name="T46" fmla="*/ 1 w 814"/>
                <a:gd name="T47" fmla="*/ 0 h 814"/>
                <a:gd name="T48" fmla="*/ 1 w 814"/>
                <a:gd name="T49" fmla="*/ 0 h 814"/>
                <a:gd name="T50" fmla="*/ 1 w 814"/>
                <a:gd name="T51" fmla="*/ 0 h 814"/>
                <a:gd name="T52" fmla="*/ 1 w 814"/>
                <a:gd name="T53" fmla="*/ 0 h 814"/>
                <a:gd name="T54" fmla="*/ 1 w 814"/>
                <a:gd name="T55" fmla="*/ 0 h 814"/>
                <a:gd name="T56" fmla="*/ 1 w 814"/>
                <a:gd name="T57" fmla="*/ 0 h 814"/>
                <a:gd name="T58" fmla="*/ 1 w 814"/>
                <a:gd name="T59" fmla="*/ 0 h 814"/>
                <a:gd name="T60" fmla="*/ 1 w 814"/>
                <a:gd name="T61" fmla="*/ 0 h 814"/>
                <a:gd name="T62" fmla="*/ 1 w 814"/>
                <a:gd name="T63" fmla="*/ 0 h 814"/>
                <a:gd name="T64" fmla="*/ 1 w 814"/>
                <a:gd name="T65" fmla="*/ 0 h 814"/>
                <a:gd name="T66" fmla="*/ 1 w 814"/>
                <a:gd name="T67" fmla="*/ 0 h 814"/>
                <a:gd name="T68" fmla="*/ 1 w 814"/>
                <a:gd name="T69" fmla="*/ 0 h 814"/>
                <a:gd name="T70" fmla="*/ 1 w 814"/>
                <a:gd name="T71" fmla="*/ 0 h 814"/>
                <a:gd name="T72" fmla="*/ 1 w 814"/>
                <a:gd name="T73" fmla="*/ 0 h 814"/>
                <a:gd name="T74" fmla="*/ 1 w 814"/>
                <a:gd name="T75" fmla="*/ 0 h 814"/>
                <a:gd name="T76" fmla="*/ 1 w 814"/>
                <a:gd name="T77" fmla="*/ 0 h 814"/>
                <a:gd name="T78" fmla="*/ 1 w 814"/>
                <a:gd name="T79" fmla="*/ 0 h 814"/>
                <a:gd name="T80" fmla="*/ 1 w 814"/>
                <a:gd name="T81" fmla="*/ 0 h 814"/>
                <a:gd name="T82" fmla="*/ 1 w 814"/>
                <a:gd name="T83" fmla="*/ 0 h 814"/>
                <a:gd name="T84" fmla="*/ 1 w 814"/>
                <a:gd name="T85" fmla="*/ 0 h 814"/>
                <a:gd name="T86" fmla="*/ 1 w 814"/>
                <a:gd name="T87" fmla="*/ 0 h 81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814"/>
                <a:gd name="T133" fmla="*/ 0 h 814"/>
                <a:gd name="T134" fmla="*/ 814 w 814"/>
                <a:gd name="T135" fmla="*/ 814 h 81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814" h="814">
                  <a:moveTo>
                    <a:pt x="407" y="0"/>
                  </a:moveTo>
                  <a:lnTo>
                    <a:pt x="386" y="0"/>
                  </a:lnTo>
                  <a:lnTo>
                    <a:pt x="365" y="2"/>
                  </a:lnTo>
                  <a:lnTo>
                    <a:pt x="345" y="5"/>
                  </a:lnTo>
                  <a:lnTo>
                    <a:pt x="325" y="7"/>
                  </a:lnTo>
                  <a:lnTo>
                    <a:pt x="305" y="12"/>
                  </a:lnTo>
                  <a:lnTo>
                    <a:pt x="286" y="17"/>
                  </a:lnTo>
                  <a:lnTo>
                    <a:pt x="268" y="25"/>
                  </a:lnTo>
                  <a:lnTo>
                    <a:pt x="249" y="32"/>
                  </a:lnTo>
                  <a:lnTo>
                    <a:pt x="230" y="39"/>
                  </a:lnTo>
                  <a:lnTo>
                    <a:pt x="213" y="49"/>
                  </a:lnTo>
                  <a:lnTo>
                    <a:pt x="196" y="59"/>
                  </a:lnTo>
                  <a:lnTo>
                    <a:pt x="180" y="69"/>
                  </a:lnTo>
                  <a:lnTo>
                    <a:pt x="163" y="81"/>
                  </a:lnTo>
                  <a:lnTo>
                    <a:pt x="148" y="92"/>
                  </a:lnTo>
                  <a:lnTo>
                    <a:pt x="132" y="105"/>
                  </a:lnTo>
                  <a:lnTo>
                    <a:pt x="119" y="120"/>
                  </a:lnTo>
                  <a:lnTo>
                    <a:pt x="105" y="132"/>
                  </a:lnTo>
                  <a:lnTo>
                    <a:pt x="92" y="148"/>
                  </a:lnTo>
                  <a:lnTo>
                    <a:pt x="81" y="163"/>
                  </a:lnTo>
                  <a:lnTo>
                    <a:pt x="69" y="178"/>
                  </a:lnTo>
                  <a:lnTo>
                    <a:pt x="59" y="196"/>
                  </a:lnTo>
                  <a:lnTo>
                    <a:pt x="49" y="213"/>
                  </a:lnTo>
                  <a:lnTo>
                    <a:pt x="40" y="230"/>
                  </a:lnTo>
                  <a:lnTo>
                    <a:pt x="32" y="249"/>
                  </a:lnTo>
                  <a:lnTo>
                    <a:pt x="24" y="266"/>
                  </a:lnTo>
                  <a:lnTo>
                    <a:pt x="17" y="286"/>
                  </a:lnTo>
                  <a:lnTo>
                    <a:pt x="13" y="305"/>
                  </a:lnTo>
                  <a:lnTo>
                    <a:pt x="7" y="325"/>
                  </a:lnTo>
                  <a:lnTo>
                    <a:pt x="4" y="345"/>
                  </a:lnTo>
                  <a:lnTo>
                    <a:pt x="1" y="365"/>
                  </a:lnTo>
                  <a:lnTo>
                    <a:pt x="0" y="385"/>
                  </a:lnTo>
                  <a:lnTo>
                    <a:pt x="0" y="407"/>
                  </a:lnTo>
                  <a:lnTo>
                    <a:pt x="0" y="429"/>
                  </a:lnTo>
                  <a:lnTo>
                    <a:pt x="1" y="449"/>
                  </a:lnTo>
                  <a:lnTo>
                    <a:pt x="4" y="469"/>
                  </a:lnTo>
                  <a:lnTo>
                    <a:pt x="7" y="489"/>
                  </a:lnTo>
                  <a:lnTo>
                    <a:pt x="13" y="509"/>
                  </a:lnTo>
                  <a:lnTo>
                    <a:pt x="17" y="528"/>
                  </a:lnTo>
                  <a:lnTo>
                    <a:pt x="24" y="546"/>
                  </a:lnTo>
                  <a:lnTo>
                    <a:pt x="32" y="565"/>
                  </a:lnTo>
                  <a:lnTo>
                    <a:pt x="40" y="584"/>
                  </a:lnTo>
                  <a:lnTo>
                    <a:pt x="49" y="601"/>
                  </a:lnTo>
                  <a:lnTo>
                    <a:pt x="59" y="618"/>
                  </a:lnTo>
                  <a:lnTo>
                    <a:pt x="69" y="634"/>
                  </a:lnTo>
                  <a:lnTo>
                    <a:pt x="81" y="650"/>
                  </a:lnTo>
                  <a:lnTo>
                    <a:pt x="92" y="666"/>
                  </a:lnTo>
                  <a:lnTo>
                    <a:pt x="105" y="680"/>
                  </a:lnTo>
                  <a:lnTo>
                    <a:pt x="119" y="694"/>
                  </a:lnTo>
                  <a:lnTo>
                    <a:pt x="132" y="709"/>
                  </a:lnTo>
                  <a:lnTo>
                    <a:pt x="148" y="722"/>
                  </a:lnTo>
                  <a:lnTo>
                    <a:pt x="163" y="733"/>
                  </a:lnTo>
                  <a:lnTo>
                    <a:pt x="180" y="745"/>
                  </a:lnTo>
                  <a:lnTo>
                    <a:pt x="196" y="755"/>
                  </a:lnTo>
                  <a:lnTo>
                    <a:pt x="213" y="765"/>
                  </a:lnTo>
                  <a:lnTo>
                    <a:pt x="230" y="773"/>
                  </a:lnTo>
                  <a:lnTo>
                    <a:pt x="249" y="782"/>
                  </a:lnTo>
                  <a:lnTo>
                    <a:pt x="268" y="789"/>
                  </a:lnTo>
                  <a:lnTo>
                    <a:pt x="286" y="796"/>
                  </a:lnTo>
                  <a:lnTo>
                    <a:pt x="305" y="801"/>
                  </a:lnTo>
                  <a:lnTo>
                    <a:pt x="325" y="807"/>
                  </a:lnTo>
                  <a:lnTo>
                    <a:pt x="345" y="809"/>
                  </a:lnTo>
                  <a:lnTo>
                    <a:pt x="365" y="812"/>
                  </a:lnTo>
                  <a:lnTo>
                    <a:pt x="386" y="814"/>
                  </a:lnTo>
                  <a:lnTo>
                    <a:pt x="407" y="814"/>
                  </a:lnTo>
                  <a:lnTo>
                    <a:pt x="429" y="814"/>
                  </a:lnTo>
                  <a:lnTo>
                    <a:pt x="449" y="812"/>
                  </a:lnTo>
                  <a:lnTo>
                    <a:pt x="469" y="809"/>
                  </a:lnTo>
                  <a:lnTo>
                    <a:pt x="489" y="807"/>
                  </a:lnTo>
                  <a:lnTo>
                    <a:pt x="509" y="801"/>
                  </a:lnTo>
                  <a:lnTo>
                    <a:pt x="528" y="796"/>
                  </a:lnTo>
                  <a:lnTo>
                    <a:pt x="547" y="789"/>
                  </a:lnTo>
                  <a:lnTo>
                    <a:pt x="565" y="782"/>
                  </a:lnTo>
                  <a:lnTo>
                    <a:pt x="584" y="773"/>
                  </a:lnTo>
                  <a:lnTo>
                    <a:pt x="601" y="765"/>
                  </a:lnTo>
                  <a:lnTo>
                    <a:pt x="619" y="755"/>
                  </a:lnTo>
                  <a:lnTo>
                    <a:pt x="634" y="745"/>
                  </a:lnTo>
                  <a:lnTo>
                    <a:pt x="652" y="733"/>
                  </a:lnTo>
                  <a:lnTo>
                    <a:pt x="666" y="722"/>
                  </a:lnTo>
                  <a:lnTo>
                    <a:pt x="682" y="709"/>
                  </a:lnTo>
                  <a:lnTo>
                    <a:pt x="695" y="694"/>
                  </a:lnTo>
                  <a:lnTo>
                    <a:pt x="709" y="680"/>
                  </a:lnTo>
                  <a:lnTo>
                    <a:pt x="722" y="666"/>
                  </a:lnTo>
                  <a:lnTo>
                    <a:pt x="734" y="650"/>
                  </a:lnTo>
                  <a:lnTo>
                    <a:pt x="745" y="634"/>
                  </a:lnTo>
                  <a:lnTo>
                    <a:pt x="755" y="618"/>
                  </a:lnTo>
                  <a:lnTo>
                    <a:pt x="765" y="601"/>
                  </a:lnTo>
                  <a:lnTo>
                    <a:pt x="774" y="584"/>
                  </a:lnTo>
                  <a:lnTo>
                    <a:pt x="783" y="565"/>
                  </a:lnTo>
                  <a:lnTo>
                    <a:pt x="790" y="546"/>
                  </a:lnTo>
                  <a:lnTo>
                    <a:pt x="797" y="528"/>
                  </a:lnTo>
                  <a:lnTo>
                    <a:pt x="801" y="509"/>
                  </a:lnTo>
                  <a:lnTo>
                    <a:pt x="807" y="489"/>
                  </a:lnTo>
                  <a:lnTo>
                    <a:pt x="810" y="469"/>
                  </a:lnTo>
                  <a:lnTo>
                    <a:pt x="813" y="449"/>
                  </a:lnTo>
                  <a:lnTo>
                    <a:pt x="814" y="429"/>
                  </a:lnTo>
                  <a:lnTo>
                    <a:pt x="814" y="407"/>
                  </a:lnTo>
                  <a:lnTo>
                    <a:pt x="814" y="385"/>
                  </a:lnTo>
                  <a:lnTo>
                    <a:pt x="813" y="365"/>
                  </a:lnTo>
                  <a:lnTo>
                    <a:pt x="810" y="345"/>
                  </a:lnTo>
                  <a:lnTo>
                    <a:pt x="807" y="325"/>
                  </a:lnTo>
                  <a:lnTo>
                    <a:pt x="801" y="305"/>
                  </a:lnTo>
                  <a:lnTo>
                    <a:pt x="797" y="286"/>
                  </a:lnTo>
                  <a:lnTo>
                    <a:pt x="790" y="266"/>
                  </a:lnTo>
                  <a:lnTo>
                    <a:pt x="783" y="249"/>
                  </a:lnTo>
                  <a:lnTo>
                    <a:pt x="774" y="230"/>
                  </a:lnTo>
                  <a:lnTo>
                    <a:pt x="765" y="213"/>
                  </a:lnTo>
                  <a:lnTo>
                    <a:pt x="755" y="196"/>
                  </a:lnTo>
                  <a:lnTo>
                    <a:pt x="745" y="178"/>
                  </a:lnTo>
                  <a:lnTo>
                    <a:pt x="734" y="163"/>
                  </a:lnTo>
                  <a:lnTo>
                    <a:pt x="722" y="148"/>
                  </a:lnTo>
                  <a:lnTo>
                    <a:pt x="709" y="132"/>
                  </a:lnTo>
                  <a:lnTo>
                    <a:pt x="695" y="120"/>
                  </a:lnTo>
                  <a:lnTo>
                    <a:pt x="682" y="105"/>
                  </a:lnTo>
                  <a:lnTo>
                    <a:pt x="666" y="92"/>
                  </a:lnTo>
                  <a:lnTo>
                    <a:pt x="652" y="81"/>
                  </a:lnTo>
                  <a:lnTo>
                    <a:pt x="634" y="69"/>
                  </a:lnTo>
                  <a:lnTo>
                    <a:pt x="619" y="59"/>
                  </a:lnTo>
                  <a:lnTo>
                    <a:pt x="601" y="49"/>
                  </a:lnTo>
                  <a:lnTo>
                    <a:pt x="584" y="39"/>
                  </a:lnTo>
                  <a:lnTo>
                    <a:pt x="565" y="32"/>
                  </a:lnTo>
                  <a:lnTo>
                    <a:pt x="547" y="25"/>
                  </a:lnTo>
                  <a:lnTo>
                    <a:pt x="528" y="17"/>
                  </a:lnTo>
                  <a:lnTo>
                    <a:pt x="509" y="12"/>
                  </a:lnTo>
                  <a:lnTo>
                    <a:pt x="489" y="7"/>
                  </a:lnTo>
                  <a:lnTo>
                    <a:pt x="469" y="5"/>
                  </a:lnTo>
                  <a:lnTo>
                    <a:pt x="449" y="2"/>
                  </a:lnTo>
                  <a:lnTo>
                    <a:pt x="429" y="0"/>
                  </a:lnTo>
                  <a:lnTo>
                    <a:pt x="407" y="0"/>
                  </a:lnTo>
                </a:path>
              </a:pathLst>
            </a:custGeom>
            <a:solidFill>
              <a:schemeClr val="bg1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Rectangle 29">
              <a:extLst>
                <a:ext uri="{FF2B5EF4-FFF2-40B4-BE49-F238E27FC236}">
                  <a16:creationId xmlns:a16="http://schemas.microsoft.com/office/drawing/2014/main" id="{6A754C6B-34B9-1A43-E7AE-C32B116B4C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05525" y="3886200"/>
              <a:ext cx="90488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1700">
                  <a:solidFill>
                    <a:srgbClr val="000000"/>
                  </a:solidFill>
                  <a:latin typeface="Symbol" charset="0"/>
                </a:rPr>
                <a:t>¤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86" name="Rectangle 30">
              <a:extLst>
                <a:ext uri="{FF2B5EF4-FFF2-40B4-BE49-F238E27FC236}">
                  <a16:creationId xmlns:a16="http://schemas.microsoft.com/office/drawing/2014/main" id="{B60191D4-C863-1B32-CBCA-544B61ECBF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0038" y="3432175"/>
              <a:ext cx="18573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B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87" name="Rectangle 31">
              <a:extLst>
                <a:ext uri="{FF2B5EF4-FFF2-40B4-BE49-F238E27FC236}">
                  <a16:creationId xmlns:a16="http://schemas.microsoft.com/office/drawing/2014/main" id="{BB45E54C-F125-2A5B-AFA4-4BA315AD8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4575" y="3890962"/>
              <a:ext cx="18573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 dirty="0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kumimoji="0" lang="en-US" sz="2400" dirty="0">
                <a:latin typeface="Times New Roman" charset="0"/>
              </a:endParaRPr>
            </a:p>
          </p:txBody>
        </p:sp>
        <p:sp>
          <p:nvSpPr>
            <p:cNvPr id="88" name="Rectangle 32">
              <a:extLst>
                <a:ext uri="{FF2B5EF4-FFF2-40B4-BE49-F238E27FC236}">
                  <a16:creationId xmlns:a16="http://schemas.microsoft.com/office/drawing/2014/main" id="{DA5416C8-5490-CB9D-4783-90D2F5CB7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5100" y="3890962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89" name="Rectangle 33">
              <a:extLst>
                <a:ext uri="{FF2B5EF4-FFF2-40B4-BE49-F238E27FC236}">
                  <a16:creationId xmlns:a16="http://schemas.microsoft.com/office/drawing/2014/main" id="{30F779E4-9186-3325-0786-A2DC1AE8AE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0950" y="3890962"/>
              <a:ext cx="1651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90" name="Rectangle 34">
              <a:extLst>
                <a:ext uri="{FF2B5EF4-FFF2-40B4-BE49-F238E27FC236}">
                  <a16:creationId xmlns:a16="http://schemas.microsoft.com/office/drawing/2014/main" id="{9876E85B-E029-2FF7-EF6C-E797A96757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4813" y="3890962"/>
              <a:ext cx="13017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>
                  <a:solidFill>
                    <a:srgbClr val="000000"/>
                  </a:solidFill>
                  <a:latin typeface="Times-Roman" charset="0"/>
                </a:rPr>
                <a:t>z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91" name="Rectangle 35">
              <a:extLst>
                <a:ext uri="{FF2B5EF4-FFF2-40B4-BE49-F238E27FC236}">
                  <a16:creationId xmlns:a16="http://schemas.microsoft.com/office/drawing/2014/main" id="{B9EC26B9-5242-988B-C9FA-FD26CD02A7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3890962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92" name="Rectangle 36">
              <a:extLst>
                <a:ext uri="{FF2B5EF4-FFF2-40B4-BE49-F238E27FC236}">
                  <a16:creationId xmlns:a16="http://schemas.microsoft.com/office/drawing/2014/main" id="{5D3C5594-AD1B-F95B-9554-D47FA5DB3E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4038" y="3890962"/>
              <a:ext cx="1651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dirty="0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 dirty="0">
                <a:latin typeface="Times New Roman" charset="0"/>
              </a:endParaRPr>
            </a:p>
          </p:txBody>
        </p:sp>
        <p:sp>
          <p:nvSpPr>
            <p:cNvPr id="93" name="Freeform 37">
              <a:extLst>
                <a:ext uri="{FF2B5EF4-FFF2-40B4-BE49-F238E27FC236}">
                  <a16:creationId xmlns:a16="http://schemas.microsoft.com/office/drawing/2014/main" id="{BB9C02A3-1B98-AD58-4284-FD2BCC91A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6625" y="3032125"/>
              <a:ext cx="68263" cy="138113"/>
            </a:xfrm>
            <a:custGeom>
              <a:avLst/>
              <a:gdLst>
                <a:gd name="T0" fmla="*/ 0 w 86"/>
                <a:gd name="T1" fmla="*/ 0 h 172"/>
                <a:gd name="T2" fmla="*/ 1 w 86"/>
                <a:gd name="T3" fmla="*/ 1 h 172"/>
                <a:gd name="T4" fmla="*/ 1 w 86"/>
                <a:gd name="T5" fmla="*/ 0 h 172"/>
                <a:gd name="T6" fmla="*/ 1 w 86"/>
                <a:gd name="T7" fmla="*/ 0 h 172"/>
                <a:gd name="T8" fmla="*/ 0 w 86"/>
                <a:gd name="T9" fmla="*/ 0 h 1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"/>
                <a:gd name="T16" fmla="*/ 0 h 172"/>
                <a:gd name="T17" fmla="*/ 86 w 86"/>
                <a:gd name="T18" fmla="*/ 172 h 1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" h="172">
                  <a:moveTo>
                    <a:pt x="0" y="0"/>
                  </a:moveTo>
                  <a:lnTo>
                    <a:pt x="29" y="172"/>
                  </a:lnTo>
                  <a:lnTo>
                    <a:pt x="86" y="0"/>
                  </a:lnTo>
                  <a:lnTo>
                    <a:pt x="2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Line 38">
              <a:extLst>
                <a:ext uri="{FF2B5EF4-FFF2-40B4-BE49-F238E27FC236}">
                  <a16:creationId xmlns:a16="http://schemas.microsoft.com/office/drawing/2014/main" id="{95A95F35-F4C6-0F9B-5AD6-2D7ED1D3CB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8850" y="2736850"/>
              <a:ext cx="1588" cy="295275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Rectangle 39">
              <a:extLst>
                <a:ext uri="{FF2B5EF4-FFF2-40B4-BE49-F238E27FC236}">
                  <a16:creationId xmlns:a16="http://schemas.microsoft.com/office/drawing/2014/main" id="{E34B924D-8A86-AE02-ED18-CDEBA3661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088" y="3886200"/>
              <a:ext cx="90488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1700" dirty="0">
                  <a:solidFill>
                    <a:srgbClr val="000000"/>
                  </a:solidFill>
                  <a:latin typeface="Symbol" charset="0"/>
                </a:rPr>
                <a:t>¤ </a:t>
              </a:r>
              <a:endParaRPr kumimoji="0" lang="en-US" sz="2400" dirty="0">
                <a:latin typeface="Times New Roman" charset="0"/>
              </a:endParaRPr>
            </a:p>
          </p:txBody>
        </p:sp>
        <p:sp>
          <p:nvSpPr>
            <p:cNvPr id="96" name="Rectangle 40">
              <a:extLst>
                <a:ext uri="{FF2B5EF4-FFF2-40B4-BE49-F238E27FC236}">
                  <a16:creationId xmlns:a16="http://schemas.microsoft.com/office/drawing/2014/main" id="{9AC729AD-068E-EEC8-C0E9-7B19EC486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5013" y="2438400"/>
              <a:ext cx="50323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Reset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97" name="Rectangle 41">
              <a:extLst>
                <a:ext uri="{FF2B5EF4-FFF2-40B4-BE49-F238E27FC236}">
                  <a16:creationId xmlns:a16="http://schemas.microsoft.com/office/drawing/2014/main" id="{FBEE3911-22CB-C948-0B08-EBB277957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7950" y="2752725"/>
              <a:ext cx="18573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98" name="Rectangle 42">
              <a:extLst>
                <a:ext uri="{FF2B5EF4-FFF2-40B4-BE49-F238E27FC236}">
                  <a16:creationId xmlns:a16="http://schemas.microsoft.com/office/drawing/2014/main" id="{65351D8D-BF34-A25E-B2EB-0C0B01B3C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475" y="2752725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99" name="Rectangle 43">
              <a:extLst>
                <a:ext uri="{FF2B5EF4-FFF2-40B4-BE49-F238E27FC236}">
                  <a16:creationId xmlns:a16="http://schemas.microsoft.com/office/drawing/2014/main" id="{DE4115BC-EA3A-4B87-E029-B44A1DE684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2738" y="2752725"/>
              <a:ext cx="1651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100" name="Rectangle 44">
              <a:extLst>
                <a:ext uri="{FF2B5EF4-FFF2-40B4-BE49-F238E27FC236}">
                  <a16:creationId xmlns:a16="http://schemas.microsoft.com/office/drawing/2014/main" id="{4940469D-84D2-2C69-5485-3A22149823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8188" y="2752725"/>
              <a:ext cx="13017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>
                  <a:solidFill>
                    <a:srgbClr val="000000"/>
                  </a:solidFill>
                  <a:latin typeface="Times-Roman" charset="0"/>
                </a:rPr>
                <a:t>z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101" name="Rectangle 45">
              <a:extLst>
                <a:ext uri="{FF2B5EF4-FFF2-40B4-BE49-F238E27FC236}">
                  <a16:creationId xmlns:a16="http://schemas.microsoft.com/office/drawing/2014/main" id="{9B4B3772-67B5-C73D-7408-EC44B56805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9975" y="2752725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102" name="Rectangle 46">
              <a:extLst>
                <a:ext uri="{FF2B5EF4-FFF2-40B4-BE49-F238E27FC236}">
                  <a16:creationId xmlns:a16="http://schemas.microsoft.com/office/drawing/2014/main" id="{C35737BE-997B-CE4F-6093-5C5F84EFA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5825" y="2752725"/>
              <a:ext cx="1651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103" name="Rectangle 47">
              <a:extLst>
                <a:ext uri="{FF2B5EF4-FFF2-40B4-BE49-F238E27FC236}">
                  <a16:creationId xmlns:a16="http://schemas.microsoft.com/office/drawing/2014/main" id="{FC629C6A-1918-B38A-0550-F0005B2F1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2463" y="2747963"/>
              <a:ext cx="90488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1700">
                  <a:solidFill>
                    <a:srgbClr val="000000"/>
                  </a:solidFill>
                  <a:latin typeface="Symbol" charset="0"/>
                </a:rPr>
                <a:t>¤ </a:t>
              </a:r>
              <a:endParaRPr kumimoji="0" lang="en-US" sz="2400">
                <a:latin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92433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ASM: Mealy FSM Example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CA27B71-6B93-7109-6820-2F78D4A92525}"/>
              </a:ext>
            </a:extLst>
          </p:cNvPr>
          <p:cNvSpPr txBox="1"/>
          <p:nvPr/>
        </p:nvSpPr>
        <p:spPr>
          <a:xfrm>
            <a:off x="431811" y="5459258"/>
            <a:ext cx="47132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Mealy FSM: ASM Chart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BDC67368-B163-777D-CA51-849C2EB8E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89675" y="1238250"/>
            <a:ext cx="3749675" cy="5029200"/>
          </a:xfrm>
          <a:prstGeom prst="rect">
            <a:avLst/>
          </a:prstGeom>
          <a:noFill/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1FB7D16C-2209-BA33-65FE-067D20CADC3F}"/>
              </a:ext>
            </a:extLst>
          </p:cNvPr>
          <p:cNvGrpSpPr/>
          <p:nvPr/>
        </p:nvGrpSpPr>
        <p:grpSpPr>
          <a:xfrm>
            <a:off x="1485900" y="2533650"/>
            <a:ext cx="4362450" cy="1947863"/>
            <a:chOff x="2314575" y="2438400"/>
            <a:chExt cx="4362450" cy="1947863"/>
          </a:xfrm>
        </p:grpSpPr>
        <p:sp>
          <p:nvSpPr>
            <p:cNvPr id="12" name="Freeform 3">
              <a:extLst>
                <a:ext uri="{FF2B5EF4-FFF2-40B4-BE49-F238E27FC236}">
                  <a16:creationId xmlns:a16="http://schemas.microsoft.com/office/drawing/2014/main" id="{5E5EDDCB-98D9-1911-5247-D553ED364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4050" y="3711575"/>
              <a:ext cx="136525" cy="112713"/>
            </a:xfrm>
            <a:custGeom>
              <a:avLst/>
              <a:gdLst>
                <a:gd name="T0" fmla="*/ 0 w 173"/>
                <a:gd name="T1" fmla="*/ 0 h 144"/>
                <a:gd name="T2" fmla="*/ 0 w 173"/>
                <a:gd name="T3" fmla="*/ 0 h 144"/>
                <a:gd name="T4" fmla="*/ 0 w 173"/>
                <a:gd name="T5" fmla="*/ 0 h 144"/>
                <a:gd name="T6" fmla="*/ 0 w 173"/>
                <a:gd name="T7" fmla="*/ 0 h 144"/>
                <a:gd name="T8" fmla="*/ 0 w 173"/>
                <a:gd name="T9" fmla="*/ 0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3"/>
                <a:gd name="T16" fmla="*/ 0 h 144"/>
                <a:gd name="T17" fmla="*/ 173 w 173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3" h="144">
                  <a:moveTo>
                    <a:pt x="173" y="86"/>
                  </a:moveTo>
                  <a:lnTo>
                    <a:pt x="0" y="0"/>
                  </a:lnTo>
                  <a:lnTo>
                    <a:pt x="115" y="144"/>
                  </a:lnTo>
                  <a:lnTo>
                    <a:pt x="144" y="115"/>
                  </a:lnTo>
                  <a:lnTo>
                    <a:pt x="173" y="86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4">
              <a:extLst>
                <a:ext uri="{FF2B5EF4-FFF2-40B4-BE49-F238E27FC236}">
                  <a16:creationId xmlns:a16="http://schemas.microsoft.com/office/drawing/2014/main" id="{6BA20EC7-6341-5100-4535-2E21EF8E9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1188" y="3214688"/>
              <a:ext cx="639763" cy="639763"/>
            </a:xfrm>
            <a:custGeom>
              <a:avLst/>
              <a:gdLst>
                <a:gd name="T0" fmla="*/ 1 w 805"/>
                <a:gd name="T1" fmla="*/ 1 h 805"/>
                <a:gd name="T2" fmla="*/ 1 w 805"/>
                <a:gd name="T3" fmla="*/ 1 h 805"/>
                <a:gd name="T4" fmla="*/ 1 w 805"/>
                <a:gd name="T5" fmla="*/ 1 h 805"/>
                <a:gd name="T6" fmla="*/ 1 w 805"/>
                <a:gd name="T7" fmla="*/ 1 h 805"/>
                <a:gd name="T8" fmla="*/ 1 w 805"/>
                <a:gd name="T9" fmla="*/ 1 h 805"/>
                <a:gd name="T10" fmla="*/ 1 w 805"/>
                <a:gd name="T11" fmla="*/ 1 h 805"/>
                <a:gd name="T12" fmla="*/ 1 w 805"/>
                <a:gd name="T13" fmla="*/ 1 h 805"/>
                <a:gd name="T14" fmla="*/ 1 w 805"/>
                <a:gd name="T15" fmla="*/ 1 h 805"/>
                <a:gd name="T16" fmla="*/ 1 w 805"/>
                <a:gd name="T17" fmla="*/ 1 h 805"/>
                <a:gd name="T18" fmla="*/ 1 w 805"/>
                <a:gd name="T19" fmla="*/ 1 h 805"/>
                <a:gd name="T20" fmla="*/ 1 w 805"/>
                <a:gd name="T21" fmla="*/ 1 h 805"/>
                <a:gd name="T22" fmla="*/ 1 w 805"/>
                <a:gd name="T23" fmla="*/ 0 h 805"/>
                <a:gd name="T24" fmla="*/ 1 w 805"/>
                <a:gd name="T25" fmla="*/ 1 h 805"/>
                <a:gd name="T26" fmla="*/ 1 w 805"/>
                <a:gd name="T27" fmla="*/ 1 h 805"/>
                <a:gd name="T28" fmla="*/ 1 w 805"/>
                <a:gd name="T29" fmla="*/ 1 h 805"/>
                <a:gd name="T30" fmla="*/ 1 w 805"/>
                <a:gd name="T31" fmla="*/ 1 h 805"/>
                <a:gd name="T32" fmla="*/ 1 w 805"/>
                <a:gd name="T33" fmla="*/ 1 h 805"/>
                <a:gd name="T34" fmla="*/ 1 w 805"/>
                <a:gd name="T35" fmla="*/ 1 h 805"/>
                <a:gd name="T36" fmla="*/ 1 w 805"/>
                <a:gd name="T37" fmla="*/ 1 h 805"/>
                <a:gd name="T38" fmla="*/ 1 w 805"/>
                <a:gd name="T39" fmla="*/ 1 h 805"/>
                <a:gd name="T40" fmla="*/ 1 w 805"/>
                <a:gd name="T41" fmla="*/ 1 h 805"/>
                <a:gd name="T42" fmla="*/ 1 w 805"/>
                <a:gd name="T43" fmla="*/ 1 h 805"/>
                <a:gd name="T44" fmla="*/ 1 w 805"/>
                <a:gd name="T45" fmla="*/ 1 h 805"/>
                <a:gd name="T46" fmla="*/ 1 w 805"/>
                <a:gd name="T47" fmla="*/ 1 h 805"/>
                <a:gd name="T48" fmla="*/ 1 w 805"/>
                <a:gd name="T49" fmla="*/ 1 h 805"/>
                <a:gd name="T50" fmla="*/ 1 w 805"/>
                <a:gd name="T51" fmla="*/ 1 h 805"/>
                <a:gd name="T52" fmla="*/ 1 w 805"/>
                <a:gd name="T53" fmla="*/ 1 h 805"/>
                <a:gd name="T54" fmla="*/ 1 w 805"/>
                <a:gd name="T55" fmla="*/ 1 h 805"/>
                <a:gd name="T56" fmla="*/ 1 w 805"/>
                <a:gd name="T57" fmla="*/ 1 h 805"/>
                <a:gd name="T58" fmla="*/ 1 w 805"/>
                <a:gd name="T59" fmla="*/ 1 h 805"/>
                <a:gd name="T60" fmla="*/ 1 w 805"/>
                <a:gd name="T61" fmla="*/ 1 h 805"/>
                <a:gd name="T62" fmla="*/ 1 w 805"/>
                <a:gd name="T63" fmla="*/ 1 h 805"/>
                <a:gd name="T64" fmla="*/ 1 w 805"/>
                <a:gd name="T65" fmla="*/ 1 h 805"/>
                <a:gd name="T66" fmla="*/ 1 w 805"/>
                <a:gd name="T67" fmla="*/ 1 h 805"/>
                <a:gd name="T68" fmla="*/ 1 w 805"/>
                <a:gd name="T69" fmla="*/ 1 h 805"/>
                <a:gd name="T70" fmla="*/ 1 w 805"/>
                <a:gd name="T71" fmla="*/ 1 h 805"/>
                <a:gd name="T72" fmla="*/ 1 w 805"/>
                <a:gd name="T73" fmla="*/ 1 h 805"/>
                <a:gd name="T74" fmla="*/ 1 w 805"/>
                <a:gd name="T75" fmla="*/ 1 h 805"/>
                <a:gd name="T76" fmla="*/ 1 w 805"/>
                <a:gd name="T77" fmla="*/ 1 h 805"/>
                <a:gd name="T78" fmla="*/ 1 w 805"/>
                <a:gd name="T79" fmla="*/ 1 h 805"/>
                <a:gd name="T80" fmla="*/ 1 w 805"/>
                <a:gd name="T81" fmla="*/ 1 h 805"/>
                <a:gd name="T82" fmla="*/ 1 w 805"/>
                <a:gd name="T83" fmla="*/ 1 h 805"/>
                <a:gd name="T84" fmla="*/ 1 w 805"/>
                <a:gd name="T85" fmla="*/ 1 h 805"/>
                <a:gd name="T86" fmla="*/ 1 w 805"/>
                <a:gd name="T87" fmla="*/ 1 h 805"/>
                <a:gd name="T88" fmla="*/ 1 w 805"/>
                <a:gd name="T89" fmla="*/ 1 h 805"/>
                <a:gd name="T90" fmla="*/ 1 w 805"/>
                <a:gd name="T91" fmla="*/ 1 h 805"/>
                <a:gd name="T92" fmla="*/ 1 w 805"/>
                <a:gd name="T93" fmla="*/ 1 h 805"/>
                <a:gd name="T94" fmla="*/ 1 w 805"/>
                <a:gd name="T95" fmla="*/ 1 h 805"/>
                <a:gd name="T96" fmla="*/ 1 w 805"/>
                <a:gd name="T97" fmla="*/ 1 h 805"/>
                <a:gd name="T98" fmla="*/ 1 w 805"/>
                <a:gd name="T99" fmla="*/ 1 h 805"/>
                <a:gd name="T100" fmla="*/ 1 w 805"/>
                <a:gd name="T101" fmla="*/ 1 h 805"/>
                <a:gd name="T102" fmla="*/ 1 w 805"/>
                <a:gd name="T103" fmla="*/ 1 h 805"/>
                <a:gd name="T104" fmla="*/ 1 w 805"/>
                <a:gd name="T105" fmla="*/ 1 h 805"/>
                <a:gd name="T106" fmla="*/ 1 w 805"/>
                <a:gd name="T107" fmla="*/ 1 h 805"/>
                <a:gd name="T108" fmla="*/ 1 w 805"/>
                <a:gd name="T109" fmla="*/ 1 h 805"/>
                <a:gd name="T110" fmla="*/ 1 w 805"/>
                <a:gd name="T111" fmla="*/ 1 h 805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805"/>
                <a:gd name="T169" fmla="*/ 0 h 805"/>
                <a:gd name="T170" fmla="*/ 805 w 805"/>
                <a:gd name="T171" fmla="*/ 805 h 805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805" h="805">
                  <a:moveTo>
                    <a:pt x="0" y="398"/>
                  </a:moveTo>
                  <a:lnTo>
                    <a:pt x="0" y="408"/>
                  </a:lnTo>
                  <a:lnTo>
                    <a:pt x="1" y="386"/>
                  </a:lnTo>
                  <a:lnTo>
                    <a:pt x="3" y="366"/>
                  </a:lnTo>
                  <a:lnTo>
                    <a:pt x="5" y="345"/>
                  </a:lnTo>
                  <a:lnTo>
                    <a:pt x="8" y="326"/>
                  </a:lnTo>
                  <a:lnTo>
                    <a:pt x="13" y="306"/>
                  </a:lnTo>
                  <a:lnTo>
                    <a:pt x="18" y="286"/>
                  </a:lnTo>
                  <a:lnTo>
                    <a:pt x="24" y="267"/>
                  </a:lnTo>
                  <a:lnTo>
                    <a:pt x="33" y="248"/>
                  </a:lnTo>
                  <a:lnTo>
                    <a:pt x="40" y="231"/>
                  </a:lnTo>
                  <a:lnTo>
                    <a:pt x="49" y="214"/>
                  </a:lnTo>
                  <a:lnTo>
                    <a:pt x="59" y="197"/>
                  </a:lnTo>
                  <a:lnTo>
                    <a:pt x="70" y="179"/>
                  </a:lnTo>
                  <a:lnTo>
                    <a:pt x="82" y="164"/>
                  </a:lnTo>
                  <a:lnTo>
                    <a:pt x="93" y="148"/>
                  </a:lnTo>
                  <a:lnTo>
                    <a:pt x="106" y="133"/>
                  </a:lnTo>
                  <a:lnTo>
                    <a:pt x="119" y="119"/>
                  </a:lnTo>
                  <a:lnTo>
                    <a:pt x="133" y="106"/>
                  </a:lnTo>
                  <a:lnTo>
                    <a:pt x="148" y="93"/>
                  </a:lnTo>
                  <a:lnTo>
                    <a:pt x="164" y="82"/>
                  </a:lnTo>
                  <a:lnTo>
                    <a:pt x="180" y="70"/>
                  </a:lnTo>
                  <a:lnTo>
                    <a:pt x="197" y="59"/>
                  </a:lnTo>
                  <a:lnTo>
                    <a:pt x="214" y="49"/>
                  </a:lnTo>
                  <a:lnTo>
                    <a:pt x="231" y="40"/>
                  </a:lnTo>
                  <a:lnTo>
                    <a:pt x="249" y="31"/>
                  </a:lnTo>
                  <a:lnTo>
                    <a:pt x="267" y="24"/>
                  </a:lnTo>
                  <a:lnTo>
                    <a:pt x="286" y="18"/>
                  </a:lnTo>
                  <a:lnTo>
                    <a:pt x="306" y="13"/>
                  </a:lnTo>
                  <a:lnTo>
                    <a:pt x="326" y="8"/>
                  </a:lnTo>
                  <a:lnTo>
                    <a:pt x="346" y="4"/>
                  </a:lnTo>
                  <a:lnTo>
                    <a:pt x="367" y="3"/>
                  </a:lnTo>
                  <a:lnTo>
                    <a:pt x="387" y="1"/>
                  </a:lnTo>
                  <a:lnTo>
                    <a:pt x="408" y="0"/>
                  </a:lnTo>
                  <a:lnTo>
                    <a:pt x="398" y="0"/>
                  </a:lnTo>
                  <a:lnTo>
                    <a:pt x="418" y="1"/>
                  </a:lnTo>
                  <a:lnTo>
                    <a:pt x="440" y="3"/>
                  </a:lnTo>
                  <a:lnTo>
                    <a:pt x="460" y="4"/>
                  </a:lnTo>
                  <a:lnTo>
                    <a:pt x="480" y="8"/>
                  </a:lnTo>
                  <a:lnTo>
                    <a:pt x="500" y="13"/>
                  </a:lnTo>
                  <a:lnTo>
                    <a:pt x="519" y="18"/>
                  </a:lnTo>
                  <a:lnTo>
                    <a:pt x="538" y="24"/>
                  </a:lnTo>
                  <a:lnTo>
                    <a:pt x="556" y="31"/>
                  </a:lnTo>
                  <a:lnTo>
                    <a:pt x="575" y="40"/>
                  </a:lnTo>
                  <a:lnTo>
                    <a:pt x="592" y="49"/>
                  </a:lnTo>
                  <a:lnTo>
                    <a:pt x="610" y="59"/>
                  </a:lnTo>
                  <a:lnTo>
                    <a:pt x="625" y="70"/>
                  </a:lnTo>
                  <a:lnTo>
                    <a:pt x="641" y="82"/>
                  </a:lnTo>
                  <a:lnTo>
                    <a:pt x="657" y="93"/>
                  </a:lnTo>
                  <a:lnTo>
                    <a:pt x="671" y="106"/>
                  </a:lnTo>
                  <a:lnTo>
                    <a:pt x="686" y="119"/>
                  </a:lnTo>
                  <a:lnTo>
                    <a:pt x="700" y="133"/>
                  </a:lnTo>
                  <a:lnTo>
                    <a:pt x="713" y="148"/>
                  </a:lnTo>
                  <a:lnTo>
                    <a:pt x="725" y="164"/>
                  </a:lnTo>
                  <a:lnTo>
                    <a:pt x="736" y="179"/>
                  </a:lnTo>
                  <a:lnTo>
                    <a:pt x="746" y="197"/>
                  </a:lnTo>
                  <a:lnTo>
                    <a:pt x="756" y="214"/>
                  </a:lnTo>
                  <a:lnTo>
                    <a:pt x="765" y="231"/>
                  </a:lnTo>
                  <a:lnTo>
                    <a:pt x="774" y="248"/>
                  </a:lnTo>
                  <a:lnTo>
                    <a:pt x="781" y="267"/>
                  </a:lnTo>
                  <a:lnTo>
                    <a:pt x="788" y="286"/>
                  </a:lnTo>
                  <a:lnTo>
                    <a:pt x="792" y="306"/>
                  </a:lnTo>
                  <a:lnTo>
                    <a:pt x="798" y="326"/>
                  </a:lnTo>
                  <a:lnTo>
                    <a:pt x="801" y="345"/>
                  </a:lnTo>
                  <a:lnTo>
                    <a:pt x="804" y="366"/>
                  </a:lnTo>
                  <a:lnTo>
                    <a:pt x="805" y="386"/>
                  </a:lnTo>
                  <a:lnTo>
                    <a:pt x="805" y="408"/>
                  </a:lnTo>
                  <a:lnTo>
                    <a:pt x="805" y="398"/>
                  </a:lnTo>
                  <a:lnTo>
                    <a:pt x="805" y="418"/>
                  </a:lnTo>
                  <a:lnTo>
                    <a:pt x="804" y="439"/>
                  </a:lnTo>
                  <a:lnTo>
                    <a:pt x="801" y="460"/>
                  </a:lnTo>
                  <a:lnTo>
                    <a:pt x="798" y="480"/>
                  </a:lnTo>
                  <a:lnTo>
                    <a:pt x="792" y="500"/>
                  </a:lnTo>
                  <a:lnTo>
                    <a:pt x="788" y="519"/>
                  </a:lnTo>
                  <a:lnTo>
                    <a:pt x="781" y="537"/>
                  </a:lnTo>
                  <a:lnTo>
                    <a:pt x="774" y="556"/>
                  </a:lnTo>
                  <a:lnTo>
                    <a:pt x="765" y="575"/>
                  </a:lnTo>
                  <a:lnTo>
                    <a:pt x="756" y="592"/>
                  </a:lnTo>
                  <a:lnTo>
                    <a:pt x="746" y="609"/>
                  </a:lnTo>
                  <a:lnTo>
                    <a:pt x="736" y="625"/>
                  </a:lnTo>
                  <a:lnTo>
                    <a:pt x="725" y="641"/>
                  </a:lnTo>
                  <a:lnTo>
                    <a:pt x="713" y="656"/>
                  </a:lnTo>
                  <a:lnTo>
                    <a:pt x="700" y="671"/>
                  </a:lnTo>
                  <a:lnTo>
                    <a:pt x="686" y="685"/>
                  </a:lnTo>
                  <a:lnTo>
                    <a:pt x="671" y="700"/>
                  </a:lnTo>
                  <a:lnTo>
                    <a:pt x="657" y="713"/>
                  </a:lnTo>
                  <a:lnTo>
                    <a:pt x="641" y="724"/>
                  </a:lnTo>
                  <a:lnTo>
                    <a:pt x="625" y="736"/>
                  </a:lnTo>
                  <a:lnTo>
                    <a:pt x="610" y="746"/>
                  </a:lnTo>
                  <a:lnTo>
                    <a:pt x="592" y="756"/>
                  </a:lnTo>
                  <a:lnTo>
                    <a:pt x="575" y="764"/>
                  </a:lnTo>
                  <a:lnTo>
                    <a:pt x="556" y="773"/>
                  </a:lnTo>
                  <a:lnTo>
                    <a:pt x="538" y="780"/>
                  </a:lnTo>
                  <a:lnTo>
                    <a:pt x="519" y="786"/>
                  </a:lnTo>
                  <a:lnTo>
                    <a:pt x="500" y="792"/>
                  </a:lnTo>
                  <a:lnTo>
                    <a:pt x="480" y="796"/>
                  </a:lnTo>
                  <a:lnTo>
                    <a:pt x="460" y="800"/>
                  </a:lnTo>
                  <a:lnTo>
                    <a:pt x="440" y="803"/>
                  </a:lnTo>
                  <a:lnTo>
                    <a:pt x="418" y="805"/>
                  </a:lnTo>
                  <a:lnTo>
                    <a:pt x="398" y="805"/>
                  </a:lnTo>
                  <a:lnTo>
                    <a:pt x="408" y="805"/>
                  </a:lnTo>
                  <a:lnTo>
                    <a:pt x="387" y="805"/>
                  </a:lnTo>
                  <a:lnTo>
                    <a:pt x="367" y="803"/>
                  </a:lnTo>
                  <a:lnTo>
                    <a:pt x="346" y="800"/>
                  </a:lnTo>
                  <a:lnTo>
                    <a:pt x="326" y="796"/>
                  </a:lnTo>
                  <a:lnTo>
                    <a:pt x="306" y="792"/>
                  </a:lnTo>
                  <a:lnTo>
                    <a:pt x="286" y="786"/>
                  </a:lnTo>
                  <a:lnTo>
                    <a:pt x="267" y="780"/>
                  </a:lnTo>
                  <a:lnTo>
                    <a:pt x="249" y="773"/>
                  </a:lnTo>
                  <a:lnTo>
                    <a:pt x="231" y="764"/>
                  </a:lnTo>
                  <a:lnTo>
                    <a:pt x="214" y="756"/>
                  </a:lnTo>
                  <a:lnTo>
                    <a:pt x="197" y="746"/>
                  </a:lnTo>
                  <a:lnTo>
                    <a:pt x="180" y="736"/>
                  </a:lnTo>
                  <a:lnTo>
                    <a:pt x="164" y="724"/>
                  </a:lnTo>
                  <a:lnTo>
                    <a:pt x="148" y="713"/>
                  </a:lnTo>
                  <a:lnTo>
                    <a:pt x="133" y="700"/>
                  </a:lnTo>
                  <a:lnTo>
                    <a:pt x="119" y="685"/>
                  </a:lnTo>
                  <a:lnTo>
                    <a:pt x="106" y="671"/>
                  </a:lnTo>
                  <a:lnTo>
                    <a:pt x="93" y="656"/>
                  </a:lnTo>
                  <a:lnTo>
                    <a:pt x="82" y="641"/>
                  </a:lnTo>
                  <a:lnTo>
                    <a:pt x="70" y="625"/>
                  </a:lnTo>
                  <a:lnTo>
                    <a:pt x="59" y="609"/>
                  </a:lnTo>
                  <a:lnTo>
                    <a:pt x="49" y="592"/>
                  </a:lnTo>
                  <a:lnTo>
                    <a:pt x="40" y="575"/>
                  </a:lnTo>
                  <a:lnTo>
                    <a:pt x="33" y="556"/>
                  </a:lnTo>
                  <a:lnTo>
                    <a:pt x="24" y="537"/>
                  </a:lnTo>
                  <a:lnTo>
                    <a:pt x="18" y="519"/>
                  </a:lnTo>
                  <a:lnTo>
                    <a:pt x="13" y="500"/>
                  </a:lnTo>
                  <a:lnTo>
                    <a:pt x="8" y="480"/>
                  </a:lnTo>
                  <a:lnTo>
                    <a:pt x="5" y="460"/>
                  </a:lnTo>
                  <a:lnTo>
                    <a:pt x="3" y="439"/>
                  </a:lnTo>
                  <a:lnTo>
                    <a:pt x="1" y="418"/>
                  </a:lnTo>
                  <a:lnTo>
                    <a:pt x="0" y="398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48370424-FDD9-70DC-D206-DF8BF28985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688" y="3717925"/>
              <a:ext cx="114300" cy="112713"/>
            </a:xfrm>
            <a:custGeom>
              <a:avLst/>
              <a:gdLst>
                <a:gd name="T0" fmla="*/ 1 w 144"/>
                <a:gd name="T1" fmla="*/ 0 h 144"/>
                <a:gd name="T2" fmla="*/ 1 w 144"/>
                <a:gd name="T3" fmla="*/ 0 h 144"/>
                <a:gd name="T4" fmla="*/ 0 w 144"/>
                <a:gd name="T5" fmla="*/ 0 h 144"/>
                <a:gd name="T6" fmla="*/ 1 w 144"/>
                <a:gd name="T7" fmla="*/ 0 h 144"/>
                <a:gd name="T8" fmla="*/ 1 w 144"/>
                <a:gd name="T9" fmla="*/ 0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"/>
                <a:gd name="T16" fmla="*/ 0 h 144"/>
                <a:gd name="T17" fmla="*/ 144 w 144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" h="144">
                  <a:moveTo>
                    <a:pt x="58" y="144"/>
                  </a:moveTo>
                  <a:lnTo>
                    <a:pt x="144" y="0"/>
                  </a:lnTo>
                  <a:lnTo>
                    <a:pt x="0" y="86"/>
                  </a:lnTo>
                  <a:lnTo>
                    <a:pt x="29" y="115"/>
                  </a:lnTo>
                  <a:lnTo>
                    <a:pt x="58" y="144"/>
                  </a:lnTo>
                  <a:close/>
                </a:path>
              </a:pathLst>
            </a:custGeom>
            <a:solidFill>
              <a:srgbClr val="0000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F8B2B11F-099E-4031-8BC5-062D8FD1E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3214688"/>
              <a:ext cx="661988" cy="639763"/>
            </a:xfrm>
            <a:custGeom>
              <a:avLst/>
              <a:gdLst>
                <a:gd name="T0" fmla="*/ 1 w 834"/>
                <a:gd name="T1" fmla="*/ 1 h 805"/>
                <a:gd name="T2" fmla="*/ 1 w 834"/>
                <a:gd name="T3" fmla="*/ 1 h 805"/>
                <a:gd name="T4" fmla="*/ 1 w 834"/>
                <a:gd name="T5" fmla="*/ 1 h 805"/>
                <a:gd name="T6" fmla="*/ 1 w 834"/>
                <a:gd name="T7" fmla="*/ 1 h 805"/>
                <a:gd name="T8" fmla="*/ 1 w 834"/>
                <a:gd name="T9" fmla="*/ 1 h 805"/>
                <a:gd name="T10" fmla="*/ 1 w 834"/>
                <a:gd name="T11" fmla="*/ 1 h 805"/>
                <a:gd name="T12" fmla="*/ 1 w 834"/>
                <a:gd name="T13" fmla="*/ 1 h 805"/>
                <a:gd name="T14" fmla="*/ 1 w 834"/>
                <a:gd name="T15" fmla="*/ 1 h 805"/>
                <a:gd name="T16" fmla="*/ 1 w 834"/>
                <a:gd name="T17" fmla="*/ 1 h 805"/>
                <a:gd name="T18" fmla="*/ 1 w 834"/>
                <a:gd name="T19" fmla="*/ 1 h 805"/>
                <a:gd name="T20" fmla="*/ 1 w 834"/>
                <a:gd name="T21" fmla="*/ 1 h 805"/>
                <a:gd name="T22" fmla="*/ 1 w 834"/>
                <a:gd name="T23" fmla="*/ 0 h 805"/>
                <a:gd name="T24" fmla="*/ 1 w 834"/>
                <a:gd name="T25" fmla="*/ 1 h 805"/>
                <a:gd name="T26" fmla="*/ 1 w 834"/>
                <a:gd name="T27" fmla="*/ 1 h 805"/>
                <a:gd name="T28" fmla="*/ 1 w 834"/>
                <a:gd name="T29" fmla="*/ 1 h 805"/>
                <a:gd name="T30" fmla="*/ 1 w 834"/>
                <a:gd name="T31" fmla="*/ 1 h 805"/>
                <a:gd name="T32" fmla="*/ 1 w 834"/>
                <a:gd name="T33" fmla="*/ 1 h 805"/>
                <a:gd name="T34" fmla="*/ 1 w 834"/>
                <a:gd name="T35" fmla="*/ 1 h 805"/>
                <a:gd name="T36" fmla="*/ 1 w 834"/>
                <a:gd name="T37" fmla="*/ 1 h 805"/>
                <a:gd name="T38" fmla="*/ 1 w 834"/>
                <a:gd name="T39" fmla="*/ 1 h 805"/>
                <a:gd name="T40" fmla="*/ 1 w 834"/>
                <a:gd name="T41" fmla="*/ 1 h 805"/>
                <a:gd name="T42" fmla="*/ 1 w 834"/>
                <a:gd name="T43" fmla="*/ 1 h 805"/>
                <a:gd name="T44" fmla="*/ 1 w 834"/>
                <a:gd name="T45" fmla="*/ 1 h 805"/>
                <a:gd name="T46" fmla="*/ 1 w 834"/>
                <a:gd name="T47" fmla="*/ 1 h 805"/>
                <a:gd name="T48" fmla="*/ 1 w 834"/>
                <a:gd name="T49" fmla="*/ 1 h 805"/>
                <a:gd name="T50" fmla="*/ 1 w 834"/>
                <a:gd name="T51" fmla="*/ 1 h 805"/>
                <a:gd name="T52" fmla="*/ 1 w 834"/>
                <a:gd name="T53" fmla="*/ 1 h 805"/>
                <a:gd name="T54" fmla="*/ 1 w 834"/>
                <a:gd name="T55" fmla="*/ 1 h 805"/>
                <a:gd name="T56" fmla="*/ 1 w 834"/>
                <a:gd name="T57" fmla="*/ 1 h 805"/>
                <a:gd name="T58" fmla="*/ 1 w 834"/>
                <a:gd name="T59" fmla="*/ 1 h 805"/>
                <a:gd name="T60" fmla="*/ 1 w 834"/>
                <a:gd name="T61" fmla="*/ 1 h 805"/>
                <a:gd name="T62" fmla="*/ 1 w 834"/>
                <a:gd name="T63" fmla="*/ 1 h 805"/>
                <a:gd name="T64" fmla="*/ 1 w 834"/>
                <a:gd name="T65" fmla="*/ 1 h 805"/>
                <a:gd name="T66" fmla="*/ 1 w 834"/>
                <a:gd name="T67" fmla="*/ 1 h 805"/>
                <a:gd name="T68" fmla="*/ 1 w 834"/>
                <a:gd name="T69" fmla="*/ 1 h 805"/>
                <a:gd name="T70" fmla="*/ 1 w 834"/>
                <a:gd name="T71" fmla="*/ 1 h 805"/>
                <a:gd name="T72" fmla="*/ 1 w 834"/>
                <a:gd name="T73" fmla="*/ 1 h 805"/>
                <a:gd name="T74" fmla="*/ 1 w 834"/>
                <a:gd name="T75" fmla="*/ 1 h 805"/>
                <a:gd name="T76" fmla="*/ 1 w 834"/>
                <a:gd name="T77" fmla="*/ 1 h 805"/>
                <a:gd name="T78" fmla="*/ 1 w 834"/>
                <a:gd name="T79" fmla="*/ 1 h 805"/>
                <a:gd name="T80" fmla="*/ 1 w 834"/>
                <a:gd name="T81" fmla="*/ 1 h 805"/>
                <a:gd name="T82" fmla="*/ 1 w 834"/>
                <a:gd name="T83" fmla="*/ 1 h 805"/>
                <a:gd name="T84" fmla="*/ 1 w 834"/>
                <a:gd name="T85" fmla="*/ 1 h 805"/>
                <a:gd name="T86" fmla="*/ 1 w 834"/>
                <a:gd name="T87" fmla="*/ 1 h 805"/>
                <a:gd name="T88" fmla="*/ 1 w 834"/>
                <a:gd name="T89" fmla="*/ 1 h 805"/>
                <a:gd name="T90" fmla="*/ 1 w 834"/>
                <a:gd name="T91" fmla="*/ 1 h 805"/>
                <a:gd name="T92" fmla="*/ 1 w 834"/>
                <a:gd name="T93" fmla="*/ 1 h 805"/>
                <a:gd name="T94" fmla="*/ 1 w 834"/>
                <a:gd name="T95" fmla="*/ 1 h 805"/>
                <a:gd name="T96" fmla="*/ 1 w 834"/>
                <a:gd name="T97" fmla="*/ 1 h 805"/>
                <a:gd name="T98" fmla="*/ 1 w 834"/>
                <a:gd name="T99" fmla="*/ 1 h 805"/>
                <a:gd name="T100" fmla="*/ 1 w 834"/>
                <a:gd name="T101" fmla="*/ 1 h 805"/>
                <a:gd name="T102" fmla="*/ 1 w 834"/>
                <a:gd name="T103" fmla="*/ 1 h 805"/>
                <a:gd name="T104" fmla="*/ 1 w 834"/>
                <a:gd name="T105" fmla="*/ 1 h 805"/>
                <a:gd name="T106" fmla="*/ 1 w 834"/>
                <a:gd name="T107" fmla="*/ 1 h 805"/>
                <a:gd name="T108" fmla="*/ 1 w 834"/>
                <a:gd name="T109" fmla="*/ 1 h 805"/>
                <a:gd name="T110" fmla="*/ 1 w 834"/>
                <a:gd name="T111" fmla="*/ 1 h 805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834"/>
                <a:gd name="T169" fmla="*/ 0 h 805"/>
                <a:gd name="T170" fmla="*/ 834 w 834"/>
                <a:gd name="T171" fmla="*/ 805 h 805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834" h="805">
                  <a:moveTo>
                    <a:pt x="0" y="398"/>
                  </a:moveTo>
                  <a:lnTo>
                    <a:pt x="0" y="408"/>
                  </a:lnTo>
                  <a:lnTo>
                    <a:pt x="1" y="386"/>
                  </a:lnTo>
                  <a:lnTo>
                    <a:pt x="3" y="366"/>
                  </a:lnTo>
                  <a:lnTo>
                    <a:pt x="6" y="345"/>
                  </a:lnTo>
                  <a:lnTo>
                    <a:pt x="8" y="326"/>
                  </a:lnTo>
                  <a:lnTo>
                    <a:pt x="13" y="306"/>
                  </a:lnTo>
                  <a:lnTo>
                    <a:pt x="19" y="286"/>
                  </a:lnTo>
                  <a:lnTo>
                    <a:pt x="24" y="267"/>
                  </a:lnTo>
                  <a:lnTo>
                    <a:pt x="33" y="248"/>
                  </a:lnTo>
                  <a:lnTo>
                    <a:pt x="40" y="231"/>
                  </a:lnTo>
                  <a:lnTo>
                    <a:pt x="49" y="214"/>
                  </a:lnTo>
                  <a:lnTo>
                    <a:pt x="59" y="197"/>
                  </a:lnTo>
                  <a:lnTo>
                    <a:pt x="70" y="179"/>
                  </a:lnTo>
                  <a:lnTo>
                    <a:pt x="82" y="164"/>
                  </a:lnTo>
                  <a:lnTo>
                    <a:pt x="93" y="148"/>
                  </a:lnTo>
                  <a:lnTo>
                    <a:pt x="106" y="133"/>
                  </a:lnTo>
                  <a:lnTo>
                    <a:pt x="119" y="119"/>
                  </a:lnTo>
                  <a:lnTo>
                    <a:pt x="134" y="106"/>
                  </a:lnTo>
                  <a:lnTo>
                    <a:pt x="148" y="93"/>
                  </a:lnTo>
                  <a:lnTo>
                    <a:pt x="164" y="82"/>
                  </a:lnTo>
                  <a:lnTo>
                    <a:pt x="180" y="70"/>
                  </a:lnTo>
                  <a:lnTo>
                    <a:pt x="197" y="59"/>
                  </a:lnTo>
                  <a:lnTo>
                    <a:pt x="214" y="49"/>
                  </a:lnTo>
                  <a:lnTo>
                    <a:pt x="231" y="40"/>
                  </a:lnTo>
                  <a:lnTo>
                    <a:pt x="249" y="31"/>
                  </a:lnTo>
                  <a:lnTo>
                    <a:pt x="267" y="24"/>
                  </a:lnTo>
                  <a:lnTo>
                    <a:pt x="286" y="18"/>
                  </a:lnTo>
                  <a:lnTo>
                    <a:pt x="306" y="13"/>
                  </a:lnTo>
                  <a:lnTo>
                    <a:pt x="326" y="8"/>
                  </a:lnTo>
                  <a:lnTo>
                    <a:pt x="347" y="4"/>
                  </a:lnTo>
                  <a:lnTo>
                    <a:pt x="367" y="3"/>
                  </a:lnTo>
                  <a:lnTo>
                    <a:pt x="387" y="1"/>
                  </a:lnTo>
                  <a:lnTo>
                    <a:pt x="408" y="0"/>
                  </a:lnTo>
                  <a:lnTo>
                    <a:pt x="427" y="0"/>
                  </a:lnTo>
                  <a:lnTo>
                    <a:pt x="447" y="1"/>
                  </a:lnTo>
                  <a:lnTo>
                    <a:pt x="469" y="3"/>
                  </a:lnTo>
                  <a:lnTo>
                    <a:pt x="489" y="4"/>
                  </a:lnTo>
                  <a:lnTo>
                    <a:pt x="509" y="8"/>
                  </a:lnTo>
                  <a:lnTo>
                    <a:pt x="529" y="13"/>
                  </a:lnTo>
                  <a:lnTo>
                    <a:pt x="548" y="18"/>
                  </a:lnTo>
                  <a:lnTo>
                    <a:pt x="567" y="24"/>
                  </a:lnTo>
                  <a:lnTo>
                    <a:pt x="585" y="31"/>
                  </a:lnTo>
                  <a:lnTo>
                    <a:pt x="604" y="40"/>
                  </a:lnTo>
                  <a:lnTo>
                    <a:pt x="621" y="49"/>
                  </a:lnTo>
                  <a:lnTo>
                    <a:pt x="639" y="59"/>
                  </a:lnTo>
                  <a:lnTo>
                    <a:pt x="654" y="70"/>
                  </a:lnTo>
                  <a:lnTo>
                    <a:pt x="670" y="82"/>
                  </a:lnTo>
                  <a:lnTo>
                    <a:pt x="686" y="93"/>
                  </a:lnTo>
                  <a:lnTo>
                    <a:pt x="700" y="106"/>
                  </a:lnTo>
                  <a:lnTo>
                    <a:pt x="715" y="119"/>
                  </a:lnTo>
                  <a:lnTo>
                    <a:pt x="729" y="133"/>
                  </a:lnTo>
                  <a:lnTo>
                    <a:pt x="742" y="148"/>
                  </a:lnTo>
                  <a:lnTo>
                    <a:pt x="754" y="164"/>
                  </a:lnTo>
                  <a:lnTo>
                    <a:pt x="765" y="179"/>
                  </a:lnTo>
                  <a:lnTo>
                    <a:pt x="775" y="197"/>
                  </a:lnTo>
                  <a:lnTo>
                    <a:pt x="785" y="214"/>
                  </a:lnTo>
                  <a:lnTo>
                    <a:pt x="794" y="231"/>
                  </a:lnTo>
                  <a:lnTo>
                    <a:pt x="803" y="248"/>
                  </a:lnTo>
                  <a:lnTo>
                    <a:pt x="810" y="267"/>
                  </a:lnTo>
                  <a:lnTo>
                    <a:pt x="817" y="286"/>
                  </a:lnTo>
                  <a:lnTo>
                    <a:pt x="821" y="306"/>
                  </a:lnTo>
                  <a:lnTo>
                    <a:pt x="827" y="326"/>
                  </a:lnTo>
                  <a:lnTo>
                    <a:pt x="830" y="345"/>
                  </a:lnTo>
                  <a:lnTo>
                    <a:pt x="833" y="366"/>
                  </a:lnTo>
                  <a:lnTo>
                    <a:pt x="834" y="386"/>
                  </a:lnTo>
                  <a:lnTo>
                    <a:pt x="834" y="408"/>
                  </a:lnTo>
                  <a:lnTo>
                    <a:pt x="834" y="398"/>
                  </a:lnTo>
                  <a:lnTo>
                    <a:pt x="834" y="418"/>
                  </a:lnTo>
                  <a:lnTo>
                    <a:pt x="833" y="439"/>
                  </a:lnTo>
                  <a:lnTo>
                    <a:pt x="830" y="460"/>
                  </a:lnTo>
                  <a:lnTo>
                    <a:pt x="827" y="480"/>
                  </a:lnTo>
                  <a:lnTo>
                    <a:pt x="821" y="500"/>
                  </a:lnTo>
                  <a:lnTo>
                    <a:pt x="817" y="519"/>
                  </a:lnTo>
                  <a:lnTo>
                    <a:pt x="810" y="537"/>
                  </a:lnTo>
                  <a:lnTo>
                    <a:pt x="803" y="556"/>
                  </a:lnTo>
                  <a:lnTo>
                    <a:pt x="794" y="575"/>
                  </a:lnTo>
                  <a:lnTo>
                    <a:pt x="785" y="592"/>
                  </a:lnTo>
                  <a:lnTo>
                    <a:pt x="775" y="609"/>
                  </a:lnTo>
                  <a:lnTo>
                    <a:pt x="765" y="625"/>
                  </a:lnTo>
                  <a:lnTo>
                    <a:pt x="754" y="641"/>
                  </a:lnTo>
                  <a:lnTo>
                    <a:pt x="742" y="656"/>
                  </a:lnTo>
                  <a:lnTo>
                    <a:pt x="729" y="671"/>
                  </a:lnTo>
                  <a:lnTo>
                    <a:pt x="715" y="685"/>
                  </a:lnTo>
                  <a:lnTo>
                    <a:pt x="700" y="700"/>
                  </a:lnTo>
                  <a:lnTo>
                    <a:pt x="686" y="713"/>
                  </a:lnTo>
                  <a:lnTo>
                    <a:pt x="670" y="724"/>
                  </a:lnTo>
                  <a:lnTo>
                    <a:pt x="654" y="736"/>
                  </a:lnTo>
                  <a:lnTo>
                    <a:pt x="639" y="746"/>
                  </a:lnTo>
                  <a:lnTo>
                    <a:pt x="621" y="756"/>
                  </a:lnTo>
                  <a:lnTo>
                    <a:pt x="604" y="764"/>
                  </a:lnTo>
                  <a:lnTo>
                    <a:pt x="585" y="773"/>
                  </a:lnTo>
                  <a:lnTo>
                    <a:pt x="567" y="780"/>
                  </a:lnTo>
                  <a:lnTo>
                    <a:pt x="548" y="786"/>
                  </a:lnTo>
                  <a:lnTo>
                    <a:pt x="529" y="792"/>
                  </a:lnTo>
                  <a:lnTo>
                    <a:pt x="509" y="796"/>
                  </a:lnTo>
                  <a:lnTo>
                    <a:pt x="489" y="800"/>
                  </a:lnTo>
                  <a:lnTo>
                    <a:pt x="469" y="803"/>
                  </a:lnTo>
                  <a:lnTo>
                    <a:pt x="447" y="805"/>
                  </a:lnTo>
                  <a:lnTo>
                    <a:pt x="427" y="805"/>
                  </a:lnTo>
                  <a:lnTo>
                    <a:pt x="408" y="805"/>
                  </a:lnTo>
                  <a:lnTo>
                    <a:pt x="387" y="805"/>
                  </a:lnTo>
                  <a:lnTo>
                    <a:pt x="367" y="803"/>
                  </a:lnTo>
                  <a:lnTo>
                    <a:pt x="347" y="800"/>
                  </a:lnTo>
                  <a:lnTo>
                    <a:pt x="326" y="796"/>
                  </a:lnTo>
                  <a:lnTo>
                    <a:pt x="306" y="792"/>
                  </a:lnTo>
                  <a:lnTo>
                    <a:pt x="286" y="786"/>
                  </a:lnTo>
                  <a:lnTo>
                    <a:pt x="267" y="780"/>
                  </a:lnTo>
                  <a:lnTo>
                    <a:pt x="249" y="773"/>
                  </a:lnTo>
                  <a:lnTo>
                    <a:pt x="231" y="764"/>
                  </a:lnTo>
                  <a:lnTo>
                    <a:pt x="214" y="756"/>
                  </a:lnTo>
                  <a:lnTo>
                    <a:pt x="197" y="746"/>
                  </a:lnTo>
                  <a:lnTo>
                    <a:pt x="180" y="736"/>
                  </a:lnTo>
                  <a:lnTo>
                    <a:pt x="164" y="724"/>
                  </a:lnTo>
                  <a:lnTo>
                    <a:pt x="148" y="713"/>
                  </a:lnTo>
                  <a:lnTo>
                    <a:pt x="134" y="700"/>
                  </a:lnTo>
                  <a:lnTo>
                    <a:pt x="119" y="685"/>
                  </a:lnTo>
                  <a:lnTo>
                    <a:pt x="106" y="671"/>
                  </a:lnTo>
                  <a:lnTo>
                    <a:pt x="93" y="656"/>
                  </a:lnTo>
                  <a:lnTo>
                    <a:pt x="82" y="641"/>
                  </a:lnTo>
                  <a:lnTo>
                    <a:pt x="70" y="625"/>
                  </a:lnTo>
                  <a:lnTo>
                    <a:pt x="59" y="609"/>
                  </a:lnTo>
                  <a:lnTo>
                    <a:pt x="49" y="592"/>
                  </a:lnTo>
                  <a:lnTo>
                    <a:pt x="40" y="575"/>
                  </a:lnTo>
                  <a:lnTo>
                    <a:pt x="33" y="556"/>
                  </a:lnTo>
                  <a:lnTo>
                    <a:pt x="24" y="537"/>
                  </a:lnTo>
                  <a:lnTo>
                    <a:pt x="19" y="519"/>
                  </a:lnTo>
                  <a:lnTo>
                    <a:pt x="13" y="500"/>
                  </a:lnTo>
                  <a:lnTo>
                    <a:pt x="8" y="480"/>
                  </a:lnTo>
                  <a:lnTo>
                    <a:pt x="6" y="460"/>
                  </a:lnTo>
                  <a:lnTo>
                    <a:pt x="3" y="439"/>
                  </a:lnTo>
                  <a:lnTo>
                    <a:pt x="1" y="418"/>
                  </a:lnTo>
                  <a:lnTo>
                    <a:pt x="0" y="398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ECCDADF-AB02-1E5C-5F67-1FBDBA25C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8175" y="3214688"/>
              <a:ext cx="646113" cy="644525"/>
            </a:xfrm>
            <a:custGeom>
              <a:avLst/>
              <a:gdLst>
                <a:gd name="T0" fmla="*/ 1 w 814"/>
                <a:gd name="T1" fmla="*/ 0 h 814"/>
                <a:gd name="T2" fmla="*/ 1 w 814"/>
                <a:gd name="T3" fmla="*/ 0 h 814"/>
                <a:gd name="T4" fmla="*/ 1 w 814"/>
                <a:gd name="T5" fmla="*/ 0 h 814"/>
                <a:gd name="T6" fmla="*/ 1 w 814"/>
                <a:gd name="T7" fmla="*/ 0 h 814"/>
                <a:gd name="T8" fmla="*/ 1 w 814"/>
                <a:gd name="T9" fmla="*/ 0 h 814"/>
                <a:gd name="T10" fmla="*/ 1 w 814"/>
                <a:gd name="T11" fmla="*/ 0 h 814"/>
                <a:gd name="T12" fmla="*/ 1 w 814"/>
                <a:gd name="T13" fmla="*/ 0 h 814"/>
                <a:gd name="T14" fmla="*/ 1 w 814"/>
                <a:gd name="T15" fmla="*/ 0 h 814"/>
                <a:gd name="T16" fmla="*/ 1 w 814"/>
                <a:gd name="T17" fmla="*/ 0 h 814"/>
                <a:gd name="T18" fmla="*/ 1 w 814"/>
                <a:gd name="T19" fmla="*/ 0 h 814"/>
                <a:gd name="T20" fmla="*/ 0 w 814"/>
                <a:gd name="T21" fmla="*/ 0 h 814"/>
                <a:gd name="T22" fmla="*/ 1 w 814"/>
                <a:gd name="T23" fmla="*/ 0 h 814"/>
                <a:gd name="T24" fmla="*/ 1 w 814"/>
                <a:gd name="T25" fmla="*/ 0 h 814"/>
                <a:gd name="T26" fmla="*/ 1 w 814"/>
                <a:gd name="T27" fmla="*/ 0 h 814"/>
                <a:gd name="T28" fmla="*/ 1 w 814"/>
                <a:gd name="T29" fmla="*/ 0 h 814"/>
                <a:gd name="T30" fmla="*/ 1 w 814"/>
                <a:gd name="T31" fmla="*/ 0 h 814"/>
                <a:gd name="T32" fmla="*/ 1 w 814"/>
                <a:gd name="T33" fmla="*/ 0 h 814"/>
                <a:gd name="T34" fmla="*/ 1 w 814"/>
                <a:gd name="T35" fmla="*/ 0 h 814"/>
                <a:gd name="T36" fmla="*/ 1 w 814"/>
                <a:gd name="T37" fmla="*/ 0 h 814"/>
                <a:gd name="T38" fmla="*/ 1 w 814"/>
                <a:gd name="T39" fmla="*/ 0 h 814"/>
                <a:gd name="T40" fmla="*/ 1 w 814"/>
                <a:gd name="T41" fmla="*/ 0 h 814"/>
                <a:gd name="T42" fmla="*/ 1 w 814"/>
                <a:gd name="T43" fmla="*/ 0 h 814"/>
                <a:gd name="T44" fmla="*/ 1 w 814"/>
                <a:gd name="T45" fmla="*/ 0 h 814"/>
                <a:gd name="T46" fmla="*/ 1 w 814"/>
                <a:gd name="T47" fmla="*/ 0 h 814"/>
                <a:gd name="T48" fmla="*/ 1 w 814"/>
                <a:gd name="T49" fmla="*/ 0 h 814"/>
                <a:gd name="T50" fmla="*/ 1 w 814"/>
                <a:gd name="T51" fmla="*/ 0 h 814"/>
                <a:gd name="T52" fmla="*/ 1 w 814"/>
                <a:gd name="T53" fmla="*/ 0 h 814"/>
                <a:gd name="T54" fmla="*/ 1 w 814"/>
                <a:gd name="T55" fmla="*/ 0 h 814"/>
                <a:gd name="T56" fmla="*/ 1 w 814"/>
                <a:gd name="T57" fmla="*/ 0 h 814"/>
                <a:gd name="T58" fmla="*/ 1 w 814"/>
                <a:gd name="T59" fmla="*/ 0 h 814"/>
                <a:gd name="T60" fmla="*/ 1 w 814"/>
                <a:gd name="T61" fmla="*/ 0 h 814"/>
                <a:gd name="T62" fmla="*/ 1 w 814"/>
                <a:gd name="T63" fmla="*/ 0 h 814"/>
                <a:gd name="T64" fmla="*/ 1 w 814"/>
                <a:gd name="T65" fmla="*/ 0 h 814"/>
                <a:gd name="T66" fmla="*/ 1 w 814"/>
                <a:gd name="T67" fmla="*/ 0 h 814"/>
                <a:gd name="T68" fmla="*/ 1 w 814"/>
                <a:gd name="T69" fmla="*/ 0 h 814"/>
                <a:gd name="T70" fmla="*/ 1 w 814"/>
                <a:gd name="T71" fmla="*/ 0 h 814"/>
                <a:gd name="T72" fmla="*/ 1 w 814"/>
                <a:gd name="T73" fmla="*/ 0 h 814"/>
                <a:gd name="T74" fmla="*/ 1 w 814"/>
                <a:gd name="T75" fmla="*/ 0 h 814"/>
                <a:gd name="T76" fmla="*/ 1 w 814"/>
                <a:gd name="T77" fmla="*/ 0 h 814"/>
                <a:gd name="T78" fmla="*/ 1 w 814"/>
                <a:gd name="T79" fmla="*/ 0 h 814"/>
                <a:gd name="T80" fmla="*/ 1 w 814"/>
                <a:gd name="T81" fmla="*/ 0 h 814"/>
                <a:gd name="T82" fmla="*/ 1 w 814"/>
                <a:gd name="T83" fmla="*/ 0 h 814"/>
                <a:gd name="T84" fmla="*/ 1 w 814"/>
                <a:gd name="T85" fmla="*/ 0 h 814"/>
                <a:gd name="T86" fmla="*/ 1 w 814"/>
                <a:gd name="T87" fmla="*/ 0 h 81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814"/>
                <a:gd name="T133" fmla="*/ 0 h 814"/>
                <a:gd name="T134" fmla="*/ 814 w 814"/>
                <a:gd name="T135" fmla="*/ 814 h 81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814" h="814">
                  <a:moveTo>
                    <a:pt x="407" y="0"/>
                  </a:moveTo>
                  <a:lnTo>
                    <a:pt x="385" y="0"/>
                  </a:lnTo>
                  <a:lnTo>
                    <a:pt x="365" y="2"/>
                  </a:lnTo>
                  <a:lnTo>
                    <a:pt x="345" y="5"/>
                  </a:lnTo>
                  <a:lnTo>
                    <a:pt x="325" y="7"/>
                  </a:lnTo>
                  <a:lnTo>
                    <a:pt x="305" y="12"/>
                  </a:lnTo>
                  <a:lnTo>
                    <a:pt x="286" y="17"/>
                  </a:lnTo>
                  <a:lnTo>
                    <a:pt x="267" y="25"/>
                  </a:lnTo>
                  <a:lnTo>
                    <a:pt x="248" y="32"/>
                  </a:lnTo>
                  <a:lnTo>
                    <a:pt x="230" y="39"/>
                  </a:lnTo>
                  <a:lnTo>
                    <a:pt x="213" y="49"/>
                  </a:lnTo>
                  <a:lnTo>
                    <a:pt x="195" y="59"/>
                  </a:lnTo>
                  <a:lnTo>
                    <a:pt x="179" y="69"/>
                  </a:lnTo>
                  <a:lnTo>
                    <a:pt x="162" y="81"/>
                  </a:lnTo>
                  <a:lnTo>
                    <a:pt x="148" y="92"/>
                  </a:lnTo>
                  <a:lnTo>
                    <a:pt x="132" y="105"/>
                  </a:lnTo>
                  <a:lnTo>
                    <a:pt x="119" y="120"/>
                  </a:lnTo>
                  <a:lnTo>
                    <a:pt x="105" y="132"/>
                  </a:lnTo>
                  <a:lnTo>
                    <a:pt x="92" y="148"/>
                  </a:lnTo>
                  <a:lnTo>
                    <a:pt x="80" y="163"/>
                  </a:lnTo>
                  <a:lnTo>
                    <a:pt x="69" y="178"/>
                  </a:lnTo>
                  <a:lnTo>
                    <a:pt x="59" y="196"/>
                  </a:lnTo>
                  <a:lnTo>
                    <a:pt x="49" y="213"/>
                  </a:lnTo>
                  <a:lnTo>
                    <a:pt x="40" y="230"/>
                  </a:lnTo>
                  <a:lnTo>
                    <a:pt x="31" y="249"/>
                  </a:lnTo>
                  <a:lnTo>
                    <a:pt x="24" y="266"/>
                  </a:lnTo>
                  <a:lnTo>
                    <a:pt x="17" y="286"/>
                  </a:lnTo>
                  <a:lnTo>
                    <a:pt x="13" y="305"/>
                  </a:lnTo>
                  <a:lnTo>
                    <a:pt x="7" y="325"/>
                  </a:lnTo>
                  <a:lnTo>
                    <a:pt x="4" y="345"/>
                  </a:lnTo>
                  <a:lnTo>
                    <a:pt x="1" y="365"/>
                  </a:lnTo>
                  <a:lnTo>
                    <a:pt x="0" y="385"/>
                  </a:lnTo>
                  <a:lnTo>
                    <a:pt x="0" y="407"/>
                  </a:lnTo>
                  <a:lnTo>
                    <a:pt x="0" y="429"/>
                  </a:lnTo>
                  <a:lnTo>
                    <a:pt x="1" y="449"/>
                  </a:lnTo>
                  <a:lnTo>
                    <a:pt x="4" y="469"/>
                  </a:lnTo>
                  <a:lnTo>
                    <a:pt x="7" y="489"/>
                  </a:lnTo>
                  <a:lnTo>
                    <a:pt x="13" y="509"/>
                  </a:lnTo>
                  <a:lnTo>
                    <a:pt x="17" y="528"/>
                  </a:lnTo>
                  <a:lnTo>
                    <a:pt x="24" y="546"/>
                  </a:lnTo>
                  <a:lnTo>
                    <a:pt x="31" y="565"/>
                  </a:lnTo>
                  <a:lnTo>
                    <a:pt x="40" y="584"/>
                  </a:lnTo>
                  <a:lnTo>
                    <a:pt x="49" y="601"/>
                  </a:lnTo>
                  <a:lnTo>
                    <a:pt x="59" y="618"/>
                  </a:lnTo>
                  <a:lnTo>
                    <a:pt x="69" y="634"/>
                  </a:lnTo>
                  <a:lnTo>
                    <a:pt x="80" y="650"/>
                  </a:lnTo>
                  <a:lnTo>
                    <a:pt x="92" y="666"/>
                  </a:lnTo>
                  <a:lnTo>
                    <a:pt x="105" y="680"/>
                  </a:lnTo>
                  <a:lnTo>
                    <a:pt x="119" y="694"/>
                  </a:lnTo>
                  <a:lnTo>
                    <a:pt x="132" y="709"/>
                  </a:lnTo>
                  <a:lnTo>
                    <a:pt x="148" y="722"/>
                  </a:lnTo>
                  <a:lnTo>
                    <a:pt x="162" y="733"/>
                  </a:lnTo>
                  <a:lnTo>
                    <a:pt x="179" y="745"/>
                  </a:lnTo>
                  <a:lnTo>
                    <a:pt x="195" y="755"/>
                  </a:lnTo>
                  <a:lnTo>
                    <a:pt x="213" y="765"/>
                  </a:lnTo>
                  <a:lnTo>
                    <a:pt x="230" y="773"/>
                  </a:lnTo>
                  <a:lnTo>
                    <a:pt x="248" y="782"/>
                  </a:lnTo>
                  <a:lnTo>
                    <a:pt x="267" y="789"/>
                  </a:lnTo>
                  <a:lnTo>
                    <a:pt x="286" y="796"/>
                  </a:lnTo>
                  <a:lnTo>
                    <a:pt x="305" y="801"/>
                  </a:lnTo>
                  <a:lnTo>
                    <a:pt x="325" y="807"/>
                  </a:lnTo>
                  <a:lnTo>
                    <a:pt x="345" y="809"/>
                  </a:lnTo>
                  <a:lnTo>
                    <a:pt x="365" y="812"/>
                  </a:lnTo>
                  <a:lnTo>
                    <a:pt x="385" y="814"/>
                  </a:lnTo>
                  <a:lnTo>
                    <a:pt x="407" y="814"/>
                  </a:lnTo>
                  <a:lnTo>
                    <a:pt x="428" y="814"/>
                  </a:lnTo>
                  <a:lnTo>
                    <a:pt x="448" y="812"/>
                  </a:lnTo>
                  <a:lnTo>
                    <a:pt x="469" y="809"/>
                  </a:lnTo>
                  <a:lnTo>
                    <a:pt x="489" y="807"/>
                  </a:lnTo>
                  <a:lnTo>
                    <a:pt x="509" y="801"/>
                  </a:lnTo>
                  <a:lnTo>
                    <a:pt x="528" y="796"/>
                  </a:lnTo>
                  <a:lnTo>
                    <a:pt x="546" y="789"/>
                  </a:lnTo>
                  <a:lnTo>
                    <a:pt x="565" y="782"/>
                  </a:lnTo>
                  <a:lnTo>
                    <a:pt x="584" y="773"/>
                  </a:lnTo>
                  <a:lnTo>
                    <a:pt x="601" y="765"/>
                  </a:lnTo>
                  <a:lnTo>
                    <a:pt x="618" y="755"/>
                  </a:lnTo>
                  <a:lnTo>
                    <a:pt x="634" y="745"/>
                  </a:lnTo>
                  <a:lnTo>
                    <a:pt x="651" y="733"/>
                  </a:lnTo>
                  <a:lnTo>
                    <a:pt x="666" y="722"/>
                  </a:lnTo>
                  <a:lnTo>
                    <a:pt x="681" y="709"/>
                  </a:lnTo>
                  <a:lnTo>
                    <a:pt x="694" y="694"/>
                  </a:lnTo>
                  <a:lnTo>
                    <a:pt x="709" y="680"/>
                  </a:lnTo>
                  <a:lnTo>
                    <a:pt x="722" y="666"/>
                  </a:lnTo>
                  <a:lnTo>
                    <a:pt x="733" y="650"/>
                  </a:lnTo>
                  <a:lnTo>
                    <a:pt x="745" y="634"/>
                  </a:lnTo>
                  <a:lnTo>
                    <a:pt x="755" y="618"/>
                  </a:lnTo>
                  <a:lnTo>
                    <a:pt x="765" y="601"/>
                  </a:lnTo>
                  <a:lnTo>
                    <a:pt x="774" y="584"/>
                  </a:lnTo>
                  <a:lnTo>
                    <a:pt x="782" y="565"/>
                  </a:lnTo>
                  <a:lnTo>
                    <a:pt x="789" y="546"/>
                  </a:lnTo>
                  <a:lnTo>
                    <a:pt x="797" y="528"/>
                  </a:lnTo>
                  <a:lnTo>
                    <a:pt x="801" y="509"/>
                  </a:lnTo>
                  <a:lnTo>
                    <a:pt x="807" y="489"/>
                  </a:lnTo>
                  <a:lnTo>
                    <a:pt x="809" y="469"/>
                  </a:lnTo>
                  <a:lnTo>
                    <a:pt x="812" y="449"/>
                  </a:lnTo>
                  <a:lnTo>
                    <a:pt x="814" y="429"/>
                  </a:lnTo>
                  <a:lnTo>
                    <a:pt x="814" y="407"/>
                  </a:lnTo>
                  <a:lnTo>
                    <a:pt x="814" y="385"/>
                  </a:lnTo>
                  <a:lnTo>
                    <a:pt x="812" y="365"/>
                  </a:lnTo>
                  <a:lnTo>
                    <a:pt x="809" y="345"/>
                  </a:lnTo>
                  <a:lnTo>
                    <a:pt x="807" y="325"/>
                  </a:lnTo>
                  <a:lnTo>
                    <a:pt x="801" y="305"/>
                  </a:lnTo>
                  <a:lnTo>
                    <a:pt x="797" y="286"/>
                  </a:lnTo>
                  <a:lnTo>
                    <a:pt x="789" y="266"/>
                  </a:lnTo>
                  <a:lnTo>
                    <a:pt x="782" y="249"/>
                  </a:lnTo>
                  <a:lnTo>
                    <a:pt x="774" y="230"/>
                  </a:lnTo>
                  <a:lnTo>
                    <a:pt x="765" y="213"/>
                  </a:lnTo>
                  <a:lnTo>
                    <a:pt x="755" y="196"/>
                  </a:lnTo>
                  <a:lnTo>
                    <a:pt x="745" y="178"/>
                  </a:lnTo>
                  <a:lnTo>
                    <a:pt x="733" y="163"/>
                  </a:lnTo>
                  <a:lnTo>
                    <a:pt x="722" y="148"/>
                  </a:lnTo>
                  <a:lnTo>
                    <a:pt x="709" y="132"/>
                  </a:lnTo>
                  <a:lnTo>
                    <a:pt x="694" y="120"/>
                  </a:lnTo>
                  <a:lnTo>
                    <a:pt x="681" y="105"/>
                  </a:lnTo>
                  <a:lnTo>
                    <a:pt x="666" y="92"/>
                  </a:lnTo>
                  <a:lnTo>
                    <a:pt x="651" y="81"/>
                  </a:lnTo>
                  <a:lnTo>
                    <a:pt x="634" y="69"/>
                  </a:lnTo>
                  <a:lnTo>
                    <a:pt x="618" y="59"/>
                  </a:lnTo>
                  <a:lnTo>
                    <a:pt x="601" y="49"/>
                  </a:lnTo>
                  <a:lnTo>
                    <a:pt x="584" y="39"/>
                  </a:lnTo>
                  <a:lnTo>
                    <a:pt x="565" y="32"/>
                  </a:lnTo>
                  <a:lnTo>
                    <a:pt x="546" y="25"/>
                  </a:lnTo>
                  <a:lnTo>
                    <a:pt x="528" y="17"/>
                  </a:lnTo>
                  <a:lnTo>
                    <a:pt x="509" y="12"/>
                  </a:lnTo>
                  <a:lnTo>
                    <a:pt x="489" y="7"/>
                  </a:lnTo>
                  <a:lnTo>
                    <a:pt x="469" y="5"/>
                  </a:lnTo>
                  <a:lnTo>
                    <a:pt x="448" y="2"/>
                  </a:lnTo>
                  <a:lnTo>
                    <a:pt x="428" y="0"/>
                  </a:lnTo>
                  <a:lnTo>
                    <a:pt x="407" y="0"/>
                  </a:lnTo>
                </a:path>
              </a:pathLst>
            </a:custGeom>
            <a:solidFill>
              <a:schemeClr val="bg1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B875D2C9-C142-CF37-C687-701D0D513C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0588" y="3432175"/>
              <a:ext cx="19685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A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18" name="Rectangle 9">
              <a:extLst>
                <a:ext uri="{FF2B5EF4-FFF2-40B4-BE49-F238E27FC236}">
                  <a16:creationId xmlns:a16="http://schemas.microsoft.com/office/drawing/2014/main" id="{BBFA0150-D5E6-92DE-490F-43D525DC4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7950" y="4132263"/>
              <a:ext cx="18573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19" name="Rectangle 10">
              <a:extLst>
                <a:ext uri="{FF2B5EF4-FFF2-40B4-BE49-F238E27FC236}">
                  <a16:creationId xmlns:a16="http://schemas.microsoft.com/office/drawing/2014/main" id="{F8CFCEBF-C0B6-EACE-4F33-A42EDC179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475" y="4132263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20" name="Rectangle 11">
              <a:extLst>
                <a:ext uri="{FF2B5EF4-FFF2-40B4-BE49-F238E27FC236}">
                  <a16:creationId xmlns:a16="http://schemas.microsoft.com/office/drawing/2014/main" id="{7299029F-69DB-BB6E-69E7-739615914B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2738" y="4132263"/>
              <a:ext cx="1651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21" name="Rectangle 12">
              <a:extLst>
                <a:ext uri="{FF2B5EF4-FFF2-40B4-BE49-F238E27FC236}">
                  <a16:creationId xmlns:a16="http://schemas.microsoft.com/office/drawing/2014/main" id="{4962E55B-A0FD-09A1-273B-7C0DAB34FC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8188" y="4132263"/>
              <a:ext cx="13017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>
                  <a:solidFill>
                    <a:srgbClr val="000000"/>
                  </a:solidFill>
                  <a:latin typeface="Times-Roman" charset="0"/>
                </a:rPr>
                <a:t>z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22" name="Rectangle 13">
              <a:extLst>
                <a:ext uri="{FF2B5EF4-FFF2-40B4-BE49-F238E27FC236}">
                  <a16:creationId xmlns:a16="http://schemas.microsoft.com/office/drawing/2014/main" id="{9D75A924-48CB-B59D-8B73-3BE1821C1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9975" y="4132263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23" name="Rectangle 14">
              <a:extLst>
                <a:ext uri="{FF2B5EF4-FFF2-40B4-BE49-F238E27FC236}">
                  <a16:creationId xmlns:a16="http://schemas.microsoft.com/office/drawing/2014/main" id="{AB1AE371-EA1E-1EC3-C651-867DDBDFF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5825" y="4132263"/>
              <a:ext cx="1651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24" name="Rectangle 15">
              <a:extLst>
                <a:ext uri="{FF2B5EF4-FFF2-40B4-BE49-F238E27FC236}">
                  <a16:creationId xmlns:a16="http://schemas.microsoft.com/office/drawing/2014/main" id="{C09EBB79-EF11-5F74-0B24-A2D6456CB0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2463" y="4127500"/>
              <a:ext cx="90488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1700">
                  <a:solidFill>
                    <a:srgbClr val="000000"/>
                  </a:solidFill>
                  <a:latin typeface="Symbol" charset="0"/>
                </a:rPr>
                <a:t>¤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25" name="Rectangle 16">
              <a:extLst>
                <a:ext uri="{FF2B5EF4-FFF2-40B4-BE49-F238E27FC236}">
                  <a16:creationId xmlns:a16="http://schemas.microsoft.com/office/drawing/2014/main" id="{ADC8125E-481D-F8CE-5C2F-8E4D711BDF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3890962"/>
              <a:ext cx="18573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26" name="Rectangle 17">
              <a:extLst>
                <a:ext uri="{FF2B5EF4-FFF2-40B4-BE49-F238E27FC236}">
                  <a16:creationId xmlns:a16="http://schemas.microsoft.com/office/drawing/2014/main" id="{B8ABD2C6-C98B-18B5-40B2-EFD12BE34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1537" y="3890962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27" name="Rectangle 18">
              <a:extLst>
                <a:ext uri="{FF2B5EF4-FFF2-40B4-BE49-F238E27FC236}">
                  <a16:creationId xmlns:a16="http://schemas.microsoft.com/office/drawing/2014/main" id="{9CBF274D-94F6-1865-8AEE-FDC19382F7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8975" y="3890962"/>
              <a:ext cx="1651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28" name="Rectangle 19">
              <a:extLst>
                <a:ext uri="{FF2B5EF4-FFF2-40B4-BE49-F238E27FC236}">
                  <a16:creationId xmlns:a16="http://schemas.microsoft.com/office/drawing/2014/main" id="{3E6E2740-5F5E-9845-9BF9-1C29613D7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1250" y="3890962"/>
              <a:ext cx="13017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>
                  <a:solidFill>
                    <a:srgbClr val="000000"/>
                  </a:solidFill>
                  <a:latin typeface="Times-Roman" charset="0"/>
                </a:rPr>
                <a:t>z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29" name="Rectangle 20">
              <a:extLst>
                <a:ext uri="{FF2B5EF4-FFF2-40B4-BE49-F238E27FC236}">
                  <a16:creationId xmlns:a16="http://schemas.microsoft.com/office/drawing/2014/main" id="{C04069F7-6373-729F-8D9F-4D4B7E2DCB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4625" y="3890962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30" name="Rectangle 21">
              <a:extLst>
                <a:ext uri="{FF2B5EF4-FFF2-40B4-BE49-F238E27FC236}">
                  <a16:creationId xmlns:a16="http://schemas.microsoft.com/office/drawing/2014/main" id="{322F48F9-C7E4-56AE-6601-B3874FD748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0475" y="3890962"/>
              <a:ext cx="1651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247A4BEE-F5B3-DB76-2656-B4B54B722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9925" y="3760788"/>
              <a:ext cx="723900" cy="280988"/>
            </a:xfrm>
            <a:custGeom>
              <a:avLst/>
              <a:gdLst>
                <a:gd name="T0" fmla="*/ 0 w 914"/>
                <a:gd name="T1" fmla="*/ 0 h 355"/>
                <a:gd name="T2" fmla="*/ 0 w 914"/>
                <a:gd name="T3" fmla="*/ 0 h 355"/>
                <a:gd name="T4" fmla="*/ 0 w 914"/>
                <a:gd name="T5" fmla="*/ 0 h 355"/>
                <a:gd name="T6" fmla="*/ 0 w 914"/>
                <a:gd name="T7" fmla="*/ 0 h 355"/>
                <a:gd name="T8" fmla="*/ 0 w 914"/>
                <a:gd name="T9" fmla="*/ 0 h 355"/>
                <a:gd name="T10" fmla="*/ 0 w 914"/>
                <a:gd name="T11" fmla="*/ 0 h 355"/>
                <a:gd name="T12" fmla="*/ 0 w 914"/>
                <a:gd name="T13" fmla="*/ 0 h 355"/>
                <a:gd name="T14" fmla="*/ 0 w 914"/>
                <a:gd name="T15" fmla="*/ 0 h 355"/>
                <a:gd name="T16" fmla="*/ 0 w 914"/>
                <a:gd name="T17" fmla="*/ 0 h 355"/>
                <a:gd name="T18" fmla="*/ 0 w 914"/>
                <a:gd name="T19" fmla="*/ 0 h 355"/>
                <a:gd name="T20" fmla="*/ 0 w 914"/>
                <a:gd name="T21" fmla="*/ 0 h 355"/>
                <a:gd name="T22" fmla="*/ 0 w 914"/>
                <a:gd name="T23" fmla="*/ 0 h 355"/>
                <a:gd name="T24" fmla="*/ 0 w 914"/>
                <a:gd name="T25" fmla="*/ 0 h 355"/>
                <a:gd name="T26" fmla="*/ 0 w 914"/>
                <a:gd name="T27" fmla="*/ 0 h 355"/>
                <a:gd name="T28" fmla="*/ 0 w 914"/>
                <a:gd name="T29" fmla="*/ 0 h 355"/>
                <a:gd name="T30" fmla="*/ 0 w 914"/>
                <a:gd name="T31" fmla="*/ 0 h 355"/>
                <a:gd name="T32" fmla="*/ 0 w 914"/>
                <a:gd name="T33" fmla="*/ 0 h 355"/>
                <a:gd name="T34" fmla="*/ 0 w 914"/>
                <a:gd name="T35" fmla="*/ 0 h 355"/>
                <a:gd name="T36" fmla="*/ 0 w 914"/>
                <a:gd name="T37" fmla="*/ 0 h 355"/>
                <a:gd name="T38" fmla="*/ 0 w 914"/>
                <a:gd name="T39" fmla="*/ 0 h 355"/>
                <a:gd name="T40" fmla="*/ 0 w 914"/>
                <a:gd name="T41" fmla="*/ 0 h 355"/>
                <a:gd name="T42" fmla="*/ 0 w 914"/>
                <a:gd name="T43" fmla="*/ 0 h 355"/>
                <a:gd name="T44" fmla="*/ 0 w 914"/>
                <a:gd name="T45" fmla="*/ 0 h 355"/>
                <a:gd name="T46" fmla="*/ 0 w 914"/>
                <a:gd name="T47" fmla="*/ 0 h 355"/>
                <a:gd name="T48" fmla="*/ 0 w 914"/>
                <a:gd name="T49" fmla="*/ 0 h 355"/>
                <a:gd name="T50" fmla="*/ 0 w 914"/>
                <a:gd name="T51" fmla="*/ 0 h 355"/>
                <a:gd name="T52" fmla="*/ 0 w 914"/>
                <a:gd name="T53" fmla="*/ 0 h 355"/>
                <a:gd name="T54" fmla="*/ 0 w 914"/>
                <a:gd name="T55" fmla="*/ 0 h 355"/>
                <a:gd name="T56" fmla="*/ 0 w 914"/>
                <a:gd name="T57" fmla="*/ 0 h 355"/>
                <a:gd name="T58" fmla="*/ 0 w 914"/>
                <a:gd name="T59" fmla="*/ 0 h 355"/>
                <a:gd name="T60" fmla="*/ 0 w 914"/>
                <a:gd name="T61" fmla="*/ 0 h 355"/>
                <a:gd name="T62" fmla="*/ 0 w 914"/>
                <a:gd name="T63" fmla="*/ 0 h 355"/>
                <a:gd name="T64" fmla="*/ 0 w 914"/>
                <a:gd name="T65" fmla="*/ 0 h 355"/>
                <a:gd name="T66" fmla="*/ 0 w 914"/>
                <a:gd name="T67" fmla="*/ 0 h 355"/>
                <a:gd name="T68" fmla="*/ 0 w 914"/>
                <a:gd name="T69" fmla="*/ 0 h 355"/>
                <a:gd name="T70" fmla="*/ 0 w 914"/>
                <a:gd name="T71" fmla="*/ 0 h 355"/>
                <a:gd name="T72" fmla="*/ 0 w 914"/>
                <a:gd name="T73" fmla="*/ 0 h 355"/>
                <a:gd name="T74" fmla="*/ 0 w 914"/>
                <a:gd name="T75" fmla="*/ 0 h 355"/>
                <a:gd name="T76" fmla="*/ 0 w 914"/>
                <a:gd name="T77" fmla="*/ 0 h 355"/>
                <a:gd name="T78" fmla="*/ 0 w 914"/>
                <a:gd name="T79" fmla="*/ 0 h 355"/>
                <a:gd name="T80" fmla="*/ 0 w 914"/>
                <a:gd name="T81" fmla="*/ 0 h 355"/>
                <a:gd name="T82" fmla="*/ 0 w 914"/>
                <a:gd name="T83" fmla="*/ 0 h 355"/>
                <a:gd name="T84" fmla="*/ 0 w 914"/>
                <a:gd name="T85" fmla="*/ 0 h 355"/>
                <a:gd name="T86" fmla="*/ 0 w 914"/>
                <a:gd name="T87" fmla="*/ 0 h 355"/>
                <a:gd name="T88" fmla="*/ 0 w 914"/>
                <a:gd name="T89" fmla="*/ 0 h 355"/>
                <a:gd name="T90" fmla="*/ 0 w 914"/>
                <a:gd name="T91" fmla="*/ 0 h 355"/>
                <a:gd name="T92" fmla="*/ 0 w 914"/>
                <a:gd name="T93" fmla="*/ 0 h 355"/>
                <a:gd name="T94" fmla="*/ 0 w 914"/>
                <a:gd name="T95" fmla="*/ 0 h 355"/>
                <a:gd name="T96" fmla="*/ 0 w 914"/>
                <a:gd name="T97" fmla="*/ 0 h 355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914"/>
                <a:gd name="T148" fmla="*/ 0 h 355"/>
                <a:gd name="T149" fmla="*/ 914 w 914"/>
                <a:gd name="T150" fmla="*/ 355 h 355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914" h="355">
                  <a:moveTo>
                    <a:pt x="914" y="0"/>
                  </a:moveTo>
                  <a:lnTo>
                    <a:pt x="891" y="18"/>
                  </a:lnTo>
                  <a:lnTo>
                    <a:pt x="869" y="36"/>
                  </a:lnTo>
                  <a:lnTo>
                    <a:pt x="849" y="53"/>
                  </a:lnTo>
                  <a:lnTo>
                    <a:pt x="829" y="67"/>
                  </a:lnTo>
                  <a:lnTo>
                    <a:pt x="812" y="82"/>
                  </a:lnTo>
                  <a:lnTo>
                    <a:pt x="796" y="95"/>
                  </a:lnTo>
                  <a:lnTo>
                    <a:pt x="780" y="107"/>
                  </a:lnTo>
                  <a:lnTo>
                    <a:pt x="766" y="119"/>
                  </a:lnTo>
                  <a:lnTo>
                    <a:pt x="751" y="129"/>
                  </a:lnTo>
                  <a:lnTo>
                    <a:pt x="738" y="139"/>
                  </a:lnTo>
                  <a:lnTo>
                    <a:pt x="727" y="148"/>
                  </a:lnTo>
                  <a:lnTo>
                    <a:pt x="715" y="156"/>
                  </a:lnTo>
                  <a:lnTo>
                    <a:pt x="704" y="164"/>
                  </a:lnTo>
                  <a:lnTo>
                    <a:pt x="694" y="171"/>
                  </a:lnTo>
                  <a:lnTo>
                    <a:pt x="685" y="178"/>
                  </a:lnTo>
                  <a:lnTo>
                    <a:pt x="677" y="184"/>
                  </a:lnTo>
                  <a:lnTo>
                    <a:pt x="667" y="189"/>
                  </a:lnTo>
                  <a:lnTo>
                    <a:pt x="659" y="195"/>
                  </a:lnTo>
                  <a:lnTo>
                    <a:pt x="651" y="201"/>
                  </a:lnTo>
                  <a:lnTo>
                    <a:pt x="642" y="205"/>
                  </a:lnTo>
                  <a:lnTo>
                    <a:pt x="635" y="210"/>
                  </a:lnTo>
                  <a:lnTo>
                    <a:pt x="626" y="214"/>
                  </a:lnTo>
                  <a:lnTo>
                    <a:pt x="619" y="218"/>
                  </a:lnTo>
                  <a:lnTo>
                    <a:pt x="610" y="221"/>
                  </a:lnTo>
                  <a:lnTo>
                    <a:pt x="602" y="225"/>
                  </a:lnTo>
                  <a:lnTo>
                    <a:pt x="593" y="230"/>
                  </a:lnTo>
                  <a:lnTo>
                    <a:pt x="585" y="233"/>
                  </a:lnTo>
                  <a:lnTo>
                    <a:pt x="576" y="237"/>
                  </a:lnTo>
                  <a:lnTo>
                    <a:pt x="566" y="241"/>
                  </a:lnTo>
                  <a:lnTo>
                    <a:pt x="556" y="245"/>
                  </a:lnTo>
                  <a:lnTo>
                    <a:pt x="544" y="250"/>
                  </a:lnTo>
                  <a:lnTo>
                    <a:pt x="533" y="254"/>
                  </a:lnTo>
                  <a:lnTo>
                    <a:pt x="521" y="258"/>
                  </a:lnTo>
                  <a:lnTo>
                    <a:pt x="511" y="263"/>
                  </a:lnTo>
                  <a:lnTo>
                    <a:pt x="501" y="267"/>
                  </a:lnTo>
                  <a:lnTo>
                    <a:pt x="491" y="270"/>
                  </a:lnTo>
                  <a:lnTo>
                    <a:pt x="482" y="274"/>
                  </a:lnTo>
                  <a:lnTo>
                    <a:pt x="474" y="277"/>
                  </a:lnTo>
                  <a:lnTo>
                    <a:pt x="465" y="280"/>
                  </a:lnTo>
                  <a:lnTo>
                    <a:pt x="458" y="283"/>
                  </a:lnTo>
                  <a:lnTo>
                    <a:pt x="449" y="286"/>
                  </a:lnTo>
                  <a:lnTo>
                    <a:pt x="442" y="289"/>
                  </a:lnTo>
                  <a:lnTo>
                    <a:pt x="436" y="291"/>
                  </a:lnTo>
                  <a:lnTo>
                    <a:pt x="429" y="293"/>
                  </a:lnTo>
                  <a:lnTo>
                    <a:pt x="422" y="296"/>
                  </a:lnTo>
                  <a:lnTo>
                    <a:pt x="416" y="297"/>
                  </a:lnTo>
                  <a:lnTo>
                    <a:pt x="409" y="300"/>
                  </a:lnTo>
                  <a:lnTo>
                    <a:pt x="403" y="302"/>
                  </a:lnTo>
                  <a:lnTo>
                    <a:pt x="396" y="303"/>
                  </a:lnTo>
                  <a:lnTo>
                    <a:pt x="389" y="304"/>
                  </a:lnTo>
                  <a:lnTo>
                    <a:pt x="383" y="306"/>
                  </a:lnTo>
                  <a:lnTo>
                    <a:pt x="376" y="309"/>
                  </a:lnTo>
                  <a:lnTo>
                    <a:pt x="369" y="310"/>
                  </a:lnTo>
                  <a:lnTo>
                    <a:pt x="360" y="312"/>
                  </a:lnTo>
                  <a:lnTo>
                    <a:pt x="353" y="313"/>
                  </a:lnTo>
                  <a:lnTo>
                    <a:pt x="344" y="314"/>
                  </a:lnTo>
                  <a:lnTo>
                    <a:pt x="334" y="316"/>
                  </a:lnTo>
                  <a:lnTo>
                    <a:pt x="326" y="317"/>
                  </a:lnTo>
                  <a:lnTo>
                    <a:pt x="316" y="320"/>
                  </a:lnTo>
                  <a:lnTo>
                    <a:pt x="304" y="322"/>
                  </a:lnTo>
                  <a:lnTo>
                    <a:pt x="293" y="323"/>
                  </a:lnTo>
                  <a:lnTo>
                    <a:pt x="281" y="326"/>
                  </a:lnTo>
                  <a:lnTo>
                    <a:pt x="268" y="327"/>
                  </a:lnTo>
                  <a:lnTo>
                    <a:pt x="254" y="330"/>
                  </a:lnTo>
                  <a:lnTo>
                    <a:pt x="239" y="332"/>
                  </a:lnTo>
                  <a:lnTo>
                    <a:pt x="226" y="335"/>
                  </a:lnTo>
                  <a:lnTo>
                    <a:pt x="215" y="336"/>
                  </a:lnTo>
                  <a:lnTo>
                    <a:pt x="203" y="339"/>
                  </a:lnTo>
                  <a:lnTo>
                    <a:pt x="193" y="340"/>
                  </a:lnTo>
                  <a:lnTo>
                    <a:pt x="183" y="342"/>
                  </a:lnTo>
                  <a:lnTo>
                    <a:pt x="173" y="343"/>
                  </a:lnTo>
                  <a:lnTo>
                    <a:pt x="164" y="345"/>
                  </a:lnTo>
                  <a:lnTo>
                    <a:pt x="156" y="346"/>
                  </a:lnTo>
                  <a:lnTo>
                    <a:pt x="149" y="348"/>
                  </a:lnTo>
                  <a:lnTo>
                    <a:pt x="140" y="348"/>
                  </a:lnTo>
                  <a:lnTo>
                    <a:pt x="133" y="349"/>
                  </a:lnTo>
                  <a:lnTo>
                    <a:pt x="127" y="350"/>
                  </a:lnTo>
                  <a:lnTo>
                    <a:pt x="120" y="350"/>
                  </a:lnTo>
                  <a:lnTo>
                    <a:pt x="114" y="352"/>
                  </a:lnTo>
                  <a:lnTo>
                    <a:pt x="108" y="352"/>
                  </a:lnTo>
                  <a:lnTo>
                    <a:pt x="103" y="353"/>
                  </a:lnTo>
                  <a:lnTo>
                    <a:pt x="97" y="353"/>
                  </a:lnTo>
                  <a:lnTo>
                    <a:pt x="91" y="353"/>
                  </a:lnTo>
                  <a:lnTo>
                    <a:pt x="85" y="353"/>
                  </a:lnTo>
                  <a:lnTo>
                    <a:pt x="80" y="355"/>
                  </a:lnTo>
                  <a:lnTo>
                    <a:pt x="74" y="355"/>
                  </a:lnTo>
                  <a:lnTo>
                    <a:pt x="67" y="355"/>
                  </a:lnTo>
                  <a:lnTo>
                    <a:pt x="61" y="355"/>
                  </a:lnTo>
                  <a:lnTo>
                    <a:pt x="55" y="355"/>
                  </a:lnTo>
                  <a:lnTo>
                    <a:pt x="48" y="355"/>
                  </a:lnTo>
                  <a:lnTo>
                    <a:pt x="41" y="355"/>
                  </a:lnTo>
                  <a:lnTo>
                    <a:pt x="34" y="355"/>
                  </a:lnTo>
                  <a:lnTo>
                    <a:pt x="26" y="355"/>
                  </a:lnTo>
                  <a:lnTo>
                    <a:pt x="18" y="355"/>
                  </a:lnTo>
                  <a:lnTo>
                    <a:pt x="9" y="355"/>
                  </a:lnTo>
                  <a:lnTo>
                    <a:pt x="0" y="35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08F4DAEF-E947-1A62-0887-64E18B14B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488" y="3762375"/>
              <a:ext cx="136525" cy="114300"/>
            </a:xfrm>
            <a:custGeom>
              <a:avLst/>
              <a:gdLst>
                <a:gd name="T0" fmla="*/ 0 w 173"/>
                <a:gd name="T1" fmla="*/ 1 h 143"/>
                <a:gd name="T2" fmla="*/ 0 w 173"/>
                <a:gd name="T3" fmla="*/ 0 h 143"/>
                <a:gd name="T4" fmla="*/ 0 w 173"/>
                <a:gd name="T5" fmla="*/ 1 h 143"/>
                <a:gd name="T6" fmla="*/ 0 w 173"/>
                <a:gd name="T7" fmla="*/ 1 h 143"/>
                <a:gd name="T8" fmla="*/ 0 w 173"/>
                <a:gd name="T9" fmla="*/ 1 h 1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3"/>
                <a:gd name="T16" fmla="*/ 0 h 143"/>
                <a:gd name="T17" fmla="*/ 173 w 173"/>
                <a:gd name="T18" fmla="*/ 143 h 14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3" h="143">
                  <a:moveTo>
                    <a:pt x="173" y="86"/>
                  </a:moveTo>
                  <a:lnTo>
                    <a:pt x="0" y="0"/>
                  </a:lnTo>
                  <a:lnTo>
                    <a:pt x="115" y="143"/>
                  </a:lnTo>
                  <a:lnTo>
                    <a:pt x="144" y="115"/>
                  </a:lnTo>
                  <a:lnTo>
                    <a:pt x="173" y="86"/>
                  </a:lnTo>
                  <a:close/>
                </a:path>
              </a:pathLst>
            </a:custGeom>
            <a:solidFill>
              <a:srgbClr val="0000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BFFE314B-9245-3AF8-AB3B-8968AC585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0963" y="3854450"/>
              <a:ext cx="588963" cy="187325"/>
            </a:xfrm>
            <a:custGeom>
              <a:avLst/>
              <a:gdLst>
                <a:gd name="T0" fmla="*/ 1 w 742"/>
                <a:gd name="T1" fmla="*/ 1 h 236"/>
                <a:gd name="T2" fmla="*/ 1 w 742"/>
                <a:gd name="T3" fmla="*/ 1 h 236"/>
                <a:gd name="T4" fmla="*/ 1 w 742"/>
                <a:gd name="T5" fmla="*/ 1 h 236"/>
                <a:gd name="T6" fmla="*/ 1 w 742"/>
                <a:gd name="T7" fmla="*/ 1 h 236"/>
                <a:gd name="T8" fmla="*/ 1 w 742"/>
                <a:gd name="T9" fmla="*/ 1 h 236"/>
                <a:gd name="T10" fmla="*/ 1 w 742"/>
                <a:gd name="T11" fmla="*/ 1 h 236"/>
                <a:gd name="T12" fmla="*/ 1 w 742"/>
                <a:gd name="T13" fmla="*/ 1 h 236"/>
                <a:gd name="T14" fmla="*/ 1 w 742"/>
                <a:gd name="T15" fmla="*/ 1 h 236"/>
                <a:gd name="T16" fmla="*/ 1 w 742"/>
                <a:gd name="T17" fmla="*/ 1 h 236"/>
                <a:gd name="T18" fmla="*/ 1 w 742"/>
                <a:gd name="T19" fmla="*/ 1 h 236"/>
                <a:gd name="T20" fmla="*/ 1 w 742"/>
                <a:gd name="T21" fmla="*/ 1 h 236"/>
                <a:gd name="T22" fmla="*/ 1 w 742"/>
                <a:gd name="T23" fmla="*/ 1 h 236"/>
                <a:gd name="T24" fmla="*/ 1 w 742"/>
                <a:gd name="T25" fmla="*/ 1 h 236"/>
                <a:gd name="T26" fmla="*/ 1 w 742"/>
                <a:gd name="T27" fmla="*/ 1 h 236"/>
                <a:gd name="T28" fmla="*/ 1 w 742"/>
                <a:gd name="T29" fmla="*/ 1 h 236"/>
                <a:gd name="T30" fmla="*/ 1 w 742"/>
                <a:gd name="T31" fmla="*/ 1 h 236"/>
                <a:gd name="T32" fmla="*/ 1 w 742"/>
                <a:gd name="T33" fmla="*/ 1 h 236"/>
                <a:gd name="T34" fmla="*/ 1 w 742"/>
                <a:gd name="T35" fmla="*/ 1 h 236"/>
                <a:gd name="T36" fmla="*/ 1 w 742"/>
                <a:gd name="T37" fmla="*/ 1 h 236"/>
                <a:gd name="T38" fmla="*/ 1 w 742"/>
                <a:gd name="T39" fmla="*/ 1 h 236"/>
                <a:gd name="T40" fmla="*/ 1 w 742"/>
                <a:gd name="T41" fmla="*/ 1 h 236"/>
                <a:gd name="T42" fmla="*/ 1 w 742"/>
                <a:gd name="T43" fmla="*/ 1 h 236"/>
                <a:gd name="T44" fmla="*/ 1 w 742"/>
                <a:gd name="T45" fmla="*/ 1 h 236"/>
                <a:gd name="T46" fmla="*/ 1 w 742"/>
                <a:gd name="T47" fmla="*/ 1 h 236"/>
                <a:gd name="T48" fmla="*/ 1 w 742"/>
                <a:gd name="T49" fmla="*/ 1 h 236"/>
                <a:gd name="T50" fmla="*/ 1 w 742"/>
                <a:gd name="T51" fmla="*/ 1 h 236"/>
                <a:gd name="T52" fmla="*/ 1 w 742"/>
                <a:gd name="T53" fmla="*/ 1 h 236"/>
                <a:gd name="T54" fmla="*/ 1 w 742"/>
                <a:gd name="T55" fmla="*/ 1 h 236"/>
                <a:gd name="T56" fmla="*/ 1 w 742"/>
                <a:gd name="T57" fmla="*/ 1 h 236"/>
                <a:gd name="T58" fmla="*/ 1 w 742"/>
                <a:gd name="T59" fmla="*/ 1 h 236"/>
                <a:gd name="T60" fmla="*/ 1 w 742"/>
                <a:gd name="T61" fmla="*/ 1 h 236"/>
                <a:gd name="T62" fmla="*/ 1 w 742"/>
                <a:gd name="T63" fmla="*/ 1 h 236"/>
                <a:gd name="T64" fmla="*/ 1 w 742"/>
                <a:gd name="T65" fmla="*/ 1 h 236"/>
                <a:gd name="T66" fmla="*/ 1 w 742"/>
                <a:gd name="T67" fmla="*/ 1 h 236"/>
                <a:gd name="T68" fmla="*/ 1 w 742"/>
                <a:gd name="T69" fmla="*/ 1 h 236"/>
                <a:gd name="T70" fmla="*/ 1 w 742"/>
                <a:gd name="T71" fmla="*/ 1 h 236"/>
                <a:gd name="T72" fmla="*/ 1 w 742"/>
                <a:gd name="T73" fmla="*/ 1 h 236"/>
                <a:gd name="T74" fmla="*/ 1 w 742"/>
                <a:gd name="T75" fmla="*/ 1 h 236"/>
                <a:gd name="T76" fmla="*/ 1 w 742"/>
                <a:gd name="T77" fmla="*/ 1 h 236"/>
                <a:gd name="T78" fmla="*/ 1 w 742"/>
                <a:gd name="T79" fmla="*/ 1 h 236"/>
                <a:gd name="T80" fmla="*/ 1 w 742"/>
                <a:gd name="T81" fmla="*/ 1 h 236"/>
                <a:gd name="T82" fmla="*/ 1 w 742"/>
                <a:gd name="T83" fmla="*/ 1 h 236"/>
                <a:gd name="T84" fmla="*/ 1 w 742"/>
                <a:gd name="T85" fmla="*/ 1 h 236"/>
                <a:gd name="T86" fmla="*/ 1 w 742"/>
                <a:gd name="T87" fmla="*/ 1 h 236"/>
                <a:gd name="T88" fmla="*/ 1 w 742"/>
                <a:gd name="T89" fmla="*/ 1 h 236"/>
                <a:gd name="T90" fmla="*/ 1 w 742"/>
                <a:gd name="T91" fmla="*/ 1 h 236"/>
                <a:gd name="T92" fmla="*/ 1 w 742"/>
                <a:gd name="T93" fmla="*/ 1 h 236"/>
                <a:gd name="T94" fmla="*/ 1 w 742"/>
                <a:gd name="T95" fmla="*/ 1 h 236"/>
                <a:gd name="T96" fmla="*/ 1 w 742"/>
                <a:gd name="T97" fmla="*/ 1 h 2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742"/>
                <a:gd name="T148" fmla="*/ 0 h 236"/>
                <a:gd name="T149" fmla="*/ 742 w 742"/>
                <a:gd name="T150" fmla="*/ 236 h 2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742" h="236">
                  <a:moveTo>
                    <a:pt x="0" y="0"/>
                  </a:moveTo>
                  <a:lnTo>
                    <a:pt x="9" y="7"/>
                  </a:lnTo>
                  <a:lnTo>
                    <a:pt x="18" y="14"/>
                  </a:lnTo>
                  <a:lnTo>
                    <a:pt x="26" y="20"/>
                  </a:lnTo>
                  <a:lnTo>
                    <a:pt x="33" y="27"/>
                  </a:lnTo>
                  <a:lnTo>
                    <a:pt x="41" y="33"/>
                  </a:lnTo>
                  <a:lnTo>
                    <a:pt x="48" y="39"/>
                  </a:lnTo>
                  <a:lnTo>
                    <a:pt x="53" y="43"/>
                  </a:lnTo>
                  <a:lnTo>
                    <a:pt x="61" y="49"/>
                  </a:lnTo>
                  <a:lnTo>
                    <a:pt x="66" y="53"/>
                  </a:lnTo>
                  <a:lnTo>
                    <a:pt x="72" y="59"/>
                  </a:lnTo>
                  <a:lnTo>
                    <a:pt x="79" y="63"/>
                  </a:lnTo>
                  <a:lnTo>
                    <a:pt x="85" y="68"/>
                  </a:lnTo>
                  <a:lnTo>
                    <a:pt x="91" y="72"/>
                  </a:lnTo>
                  <a:lnTo>
                    <a:pt x="97" y="76"/>
                  </a:lnTo>
                  <a:lnTo>
                    <a:pt x="101" y="79"/>
                  </a:lnTo>
                  <a:lnTo>
                    <a:pt x="107" y="83"/>
                  </a:lnTo>
                  <a:lnTo>
                    <a:pt x="112" y="86"/>
                  </a:lnTo>
                  <a:lnTo>
                    <a:pt x="118" y="91"/>
                  </a:lnTo>
                  <a:lnTo>
                    <a:pt x="124" y="93"/>
                  </a:lnTo>
                  <a:lnTo>
                    <a:pt x="130" y="98"/>
                  </a:lnTo>
                  <a:lnTo>
                    <a:pt x="135" y="101"/>
                  </a:lnTo>
                  <a:lnTo>
                    <a:pt x="141" y="103"/>
                  </a:lnTo>
                  <a:lnTo>
                    <a:pt x="147" y="106"/>
                  </a:lnTo>
                  <a:lnTo>
                    <a:pt x="153" y="109"/>
                  </a:lnTo>
                  <a:lnTo>
                    <a:pt x="158" y="114"/>
                  </a:lnTo>
                  <a:lnTo>
                    <a:pt x="166" y="116"/>
                  </a:lnTo>
                  <a:lnTo>
                    <a:pt x="171" y="119"/>
                  </a:lnTo>
                  <a:lnTo>
                    <a:pt x="179" y="122"/>
                  </a:lnTo>
                  <a:lnTo>
                    <a:pt x="186" y="125"/>
                  </a:lnTo>
                  <a:lnTo>
                    <a:pt x="193" y="128"/>
                  </a:lnTo>
                  <a:lnTo>
                    <a:pt x="200" y="132"/>
                  </a:lnTo>
                  <a:lnTo>
                    <a:pt x="209" y="135"/>
                  </a:lnTo>
                  <a:lnTo>
                    <a:pt x="220" y="139"/>
                  </a:lnTo>
                  <a:lnTo>
                    <a:pt x="232" y="144"/>
                  </a:lnTo>
                  <a:lnTo>
                    <a:pt x="242" y="148"/>
                  </a:lnTo>
                  <a:lnTo>
                    <a:pt x="251" y="151"/>
                  </a:lnTo>
                  <a:lnTo>
                    <a:pt x="261" y="155"/>
                  </a:lnTo>
                  <a:lnTo>
                    <a:pt x="269" y="158"/>
                  </a:lnTo>
                  <a:lnTo>
                    <a:pt x="276" y="161"/>
                  </a:lnTo>
                  <a:lnTo>
                    <a:pt x="285" y="164"/>
                  </a:lnTo>
                  <a:lnTo>
                    <a:pt x="292" y="167"/>
                  </a:lnTo>
                  <a:lnTo>
                    <a:pt x="299" y="170"/>
                  </a:lnTo>
                  <a:lnTo>
                    <a:pt x="307" y="172"/>
                  </a:lnTo>
                  <a:lnTo>
                    <a:pt x="312" y="174"/>
                  </a:lnTo>
                  <a:lnTo>
                    <a:pt x="320" y="177"/>
                  </a:lnTo>
                  <a:lnTo>
                    <a:pt x="325" y="178"/>
                  </a:lnTo>
                  <a:lnTo>
                    <a:pt x="333" y="181"/>
                  </a:lnTo>
                  <a:lnTo>
                    <a:pt x="338" y="183"/>
                  </a:lnTo>
                  <a:lnTo>
                    <a:pt x="345" y="184"/>
                  </a:lnTo>
                  <a:lnTo>
                    <a:pt x="353" y="185"/>
                  </a:lnTo>
                  <a:lnTo>
                    <a:pt x="360" y="187"/>
                  </a:lnTo>
                  <a:lnTo>
                    <a:pt x="366" y="190"/>
                  </a:lnTo>
                  <a:lnTo>
                    <a:pt x="374" y="191"/>
                  </a:lnTo>
                  <a:lnTo>
                    <a:pt x="381" y="193"/>
                  </a:lnTo>
                  <a:lnTo>
                    <a:pt x="390" y="194"/>
                  </a:lnTo>
                  <a:lnTo>
                    <a:pt x="399" y="195"/>
                  </a:lnTo>
                  <a:lnTo>
                    <a:pt x="407" y="197"/>
                  </a:lnTo>
                  <a:lnTo>
                    <a:pt x="416" y="198"/>
                  </a:lnTo>
                  <a:lnTo>
                    <a:pt x="427" y="201"/>
                  </a:lnTo>
                  <a:lnTo>
                    <a:pt x="438" y="203"/>
                  </a:lnTo>
                  <a:lnTo>
                    <a:pt x="449" y="204"/>
                  </a:lnTo>
                  <a:lnTo>
                    <a:pt x="461" y="207"/>
                  </a:lnTo>
                  <a:lnTo>
                    <a:pt x="473" y="208"/>
                  </a:lnTo>
                  <a:lnTo>
                    <a:pt x="488" y="211"/>
                  </a:lnTo>
                  <a:lnTo>
                    <a:pt x="502" y="213"/>
                  </a:lnTo>
                  <a:lnTo>
                    <a:pt x="515" y="216"/>
                  </a:lnTo>
                  <a:lnTo>
                    <a:pt x="527" y="217"/>
                  </a:lnTo>
                  <a:lnTo>
                    <a:pt x="538" y="220"/>
                  </a:lnTo>
                  <a:lnTo>
                    <a:pt x="550" y="221"/>
                  </a:lnTo>
                  <a:lnTo>
                    <a:pt x="560" y="223"/>
                  </a:lnTo>
                  <a:lnTo>
                    <a:pt x="568" y="224"/>
                  </a:lnTo>
                  <a:lnTo>
                    <a:pt x="577" y="226"/>
                  </a:lnTo>
                  <a:lnTo>
                    <a:pt x="586" y="227"/>
                  </a:lnTo>
                  <a:lnTo>
                    <a:pt x="594" y="229"/>
                  </a:lnTo>
                  <a:lnTo>
                    <a:pt x="602" y="229"/>
                  </a:lnTo>
                  <a:lnTo>
                    <a:pt x="609" y="230"/>
                  </a:lnTo>
                  <a:lnTo>
                    <a:pt x="616" y="231"/>
                  </a:lnTo>
                  <a:lnTo>
                    <a:pt x="622" y="231"/>
                  </a:lnTo>
                  <a:lnTo>
                    <a:pt x="627" y="233"/>
                  </a:lnTo>
                  <a:lnTo>
                    <a:pt x="635" y="233"/>
                  </a:lnTo>
                  <a:lnTo>
                    <a:pt x="640" y="234"/>
                  </a:lnTo>
                  <a:lnTo>
                    <a:pt x="646" y="234"/>
                  </a:lnTo>
                  <a:lnTo>
                    <a:pt x="652" y="234"/>
                  </a:lnTo>
                  <a:lnTo>
                    <a:pt x="658" y="234"/>
                  </a:lnTo>
                  <a:lnTo>
                    <a:pt x="663" y="236"/>
                  </a:lnTo>
                  <a:lnTo>
                    <a:pt x="669" y="236"/>
                  </a:lnTo>
                  <a:lnTo>
                    <a:pt x="675" y="236"/>
                  </a:lnTo>
                  <a:lnTo>
                    <a:pt x="681" y="236"/>
                  </a:lnTo>
                  <a:lnTo>
                    <a:pt x="688" y="236"/>
                  </a:lnTo>
                  <a:lnTo>
                    <a:pt x="694" y="236"/>
                  </a:lnTo>
                  <a:lnTo>
                    <a:pt x="701" y="236"/>
                  </a:lnTo>
                  <a:lnTo>
                    <a:pt x="708" y="236"/>
                  </a:lnTo>
                  <a:lnTo>
                    <a:pt x="717" y="236"/>
                  </a:lnTo>
                  <a:lnTo>
                    <a:pt x="724" y="236"/>
                  </a:lnTo>
                  <a:lnTo>
                    <a:pt x="732" y="236"/>
                  </a:lnTo>
                  <a:lnTo>
                    <a:pt x="742" y="23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04778D8B-CE41-61D3-FACC-AA39D62E3E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9200" y="3036888"/>
              <a:ext cx="725488" cy="280988"/>
            </a:xfrm>
            <a:custGeom>
              <a:avLst/>
              <a:gdLst>
                <a:gd name="T0" fmla="*/ 0 w 915"/>
                <a:gd name="T1" fmla="*/ 0 h 355"/>
                <a:gd name="T2" fmla="*/ 0 w 915"/>
                <a:gd name="T3" fmla="*/ 0 h 355"/>
                <a:gd name="T4" fmla="*/ 0 w 915"/>
                <a:gd name="T5" fmla="*/ 0 h 355"/>
                <a:gd name="T6" fmla="*/ 0 w 915"/>
                <a:gd name="T7" fmla="*/ 0 h 355"/>
                <a:gd name="T8" fmla="*/ 0 w 915"/>
                <a:gd name="T9" fmla="*/ 0 h 355"/>
                <a:gd name="T10" fmla="*/ 0 w 915"/>
                <a:gd name="T11" fmla="*/ 0 h 355"/>
                <a:gd name="T12" fmla="*/ 0 w 915"/>
                <a:gd name="T13" fmla="*/ 0 h 355"/>
                <a:gd name="T14" fmla="*/ 0 w 915"/>
                <a:gd name="T15" fmla="*/ 0 h 355"/>
                <a:gd name="T16" fmla="*/ 0 w 915"/>
                <a:gd name="T17" fmla="*/ 0 h 355"/>
                <a:gd name="T18" fmla="*/ 0 w 915"/>
                <a:gd name="T19" fmla="*/ 0 h 355"/>
                <a:gd name="T20" fmla="*/ 0 w 915"/>
                <a:gd name="T21" fmla="*/ 0 h 355"/>
                <a:gd name="T22" fmla="*/ 0 w 915"/>
                <a:gd name="T23" fmla="*/ 0 h 355"/>
                <a:gd name="T24" fmla="*/ 0 w 915"/>
                <a:gd name="T25" fmla="*/ 0 h 355"/>
                <a:gd name="T26" fmla="*/ 0 w 915"/>
                <a:gd name="T27" fmla="*/ 0 h 355"/>
                <a:gd name="T28" fmla="*/ 0 w 915"/>
                <a:gd name="T29" fmla="*/ 0 h 355"/>
                <a:gd name="T30" fmla="*/ 0 w 915"/>
                <a:gd name="T31" fmla="*/ 0 h 355"/>
                <a:gd name="T32" fmla="*/ 0 w 915"/>
                <a:gd name="T33" fmla="*/ 0 h 355"/>
                <a:gd name="T34" fmla="*/ 0 w 915"/>
                <a:gd name="T35" fmla="*/ 0 h 355"/>
                <a:gd name="T36" fmla="*/ 0 w 915"/>
                <a:gd name="T37" fmla="*/ 0 h 355"/>
                <a:gd name="T38" fmla="*/ 0 w 915"/>
                <a:gd name="T39" fmla="*/ 0 h 355"/>
                <a:gd name="T40" fmla="*/ 0 w 915"/>
                <a:gd name="T41" fmla="*/ 0 h 355"/>
                <a:gd name="T42" fmla="*/ 0 w 915"/>
                <a:gd name="T43" fmla="*/ 0 h 355"/>
                <a:gd name="T44" fmla="*/ 0 w 915"/>
                <a:gd name="T45" fmla="*/ 0 h 355"/>
                <a:gd name="T46" fmla="*/ 0 w 915"/>
                <a:gd name="T47" fmla="*/ 0 h 355"/>
                <a:gd name="T48" fmla="*/ 0 w 915"/>
                <a:gd name="T49" fmla="*/ 0 h 355"/>
                <a:gd name="T50" fmla="*/ 0 w 915"/>
                <a:gd name="T51" fmla="*/ 0 h 355"/>
                <a:gd name="T52" fmla="*/ 0 w 915"/>
                <a:gd name="T53" fmla="*/ 0 h 355"/>
                <a:gd name="T54" fmla="*/ 0 w 915"/>
                <a:gd name="T55" fmla="*/ 0 h 355"/>
                <a:gd name="T56" fmla="*/ 0 w 915"/>
                <a:gd name="T57" fmla="*/ 0 h 355"/>
                <a:gd name="T58" fmla="*/ 0 w 915"/>
                <a:gd name="T59" fmla="*/ 0 h 355"/>
                <a:gd name="T60" fmla="*/ 0 w 915"/>
                <a:gd name="T61" fmla="*/ 0 h 355"/>
                <a:gd name="T62" fmla="*/ 0 w 915"/>
                <a:gd name="T63" fmla="*/ 0 h 355"/>
                <a:gd name="T64" fmla="*/ 0 w 915"/>
                <a:gd name="T65" fmla="*/ 0 h 355"/>
                <a:gd name="T66" fmla="*/ 0 w 915"/>
                <a:gd name="T67" fmla="*/ 0 h 355"/>
                <a:gd name="T68" fmla="*/ 0 w 915"/>
                <a:gd name="T69" fmla="*/ 0 h 355"/>
                <a:gd name="T70" fmla="*/ 0 w 915"/>
                <a:gd name="T71" fmla="*/ 0 h 355"/>
                <a:gd name="T72" fmla="*/ 0 w 915"/>
                <a:gd name="T73" fmla="*/ 0 h 355"/>
                <a:gd name="T74" fmla="*/ 0 w 915"/>
                <a:gd name="T75" fmla="*/ 0 h 355"/>
                <a:gd name="T76" fmla="*/ 0 w 915"/>
                <a:gd name="T77" fmla="*/ 0 h 355"/>
                <a:gd name="T78" fmla="*/ 0 w 915"/>
                <a:gd name="T79" fmla="*/ 0 h 355"/>
                <a:gd name="T80" fmla="*/ 0 w 915"/>
                <a:gd name="T81" fmla="*/ 0 h 355"/>
                <a:gd name="T82" fmla="*/ 0 w 915"/>
                <a:gd name="T83" fmla="*/ 0 h 355"/>
                <a:gd name="T84" fmla="*/ 0 w 915"/>
                <a:gd name="T85" fmla="*/ 0 h 355"/>
                <a:gd name="T86" fmla="*/ 0 w 915"/>
                <a:gd name="T87" fmla="*/ 0 h 355"/>
                <a:gd name="T88" fmla="*/ 0 w 915"/>
                <a:gd name="T89" fmla="*/ 0 h 355"/>
                <a:gd name="T90" fmla="*/ 0 w 915"/>
                <a:gd name="T91" fmla="*/ 0 h 355"/>
                <a:gd name="T92" fmla="*/ 0 w 915"/>
                <a:gd name="T93" fmla="*/ 0 h 355"/>
                <a:gd name="T94" fmla="*/ 0 w 915"/>
                <a:gd name="T95" fmla="*/ 0 h 355"/>
                <a:gd name="T96" fmla="*/ 0 w 915"/>
                <a:gd name="T97" fmla="*/ 0 h 355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915"/>
                <a:gd name="T148" fmla="*/ 0 h 355"/>
                <a:gd name="T149" fmla="*/ 915 w 915"/>
                <a:gd name="T150" fmla="*/ 355 h 355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915" h="355">
                  <a:moveTo>
                    <a:pt x="0" y="355"/>
                  </a:moveTo>
                  <a:lnTo>
                    <a:pt x="23" y="336"/>
                  </a:lnTo>
                  <a:lnTo>
                    <a:pt x="44" y="319"/>
                  </a:lnTo>
                  <a:lnTo>
                    <a:pt x="66" y="303"/>
                  </a:lnTo>
                  <a:lnTo>
                    <a:pt x="85" y="289"/>
                  </a:lnTo>
                  <a:lnTo>
                    <a:pt x="102" y="275"/>
                  </a:lnTo>
                  <a:lnTo>
                    <a:pt x="119" y="262"/>
                  </a:lnTo>
                  <a:lnTo>
                    <a:pt x="135" y="249"/>
                  </a:lnTo>
                  <a:lnTo>
                    <a:pt x="149" y="237"/>
                  </a:lnTo>
                  <a:lnTo>
                    <a:pt x="162" y="227"/>
                  </a:lnTo>
                  <a:lnTo>
                    <a:pt x="175" y="217"/>
                  </a:lnTo>
                  <a:lnTo>
                    <a:pt x="188" y="207"/>
                  </a:lnTo>
                  <a:lnTo>
                    <a:pt x="198" y="200"/>
                  </a:lnTo>
                  <a:lnTo>
                    <a:pt x="210" y="191"/>
                  </a:lnTo>
                  <a:lnTo>
                    <a:pt x="220" y="184"/>
                  </a:lnTo>
                  <a:lnTo>
                    <a:pt x="229" y="178"/>
                  </a:lnTo>
                  <a:lnTo>
                    <a:pt x="239" y="171"/>
                  </a:lnTo>
                  <a:lnTo>
                    <a:pt x="247" y="165"/>
                  </a:lnTo>
                  <a:lnTo>
                    <a:pt x="256" y="161"/>
                  </a:lnTo>
                  <a:lnTo>
                    <a:pt x="264" y="155"/>
                  </a:lnTo>
                  <a:lnTo>
                    <a:pt x="272" y="151"/>
                  </a:lnTo>
                  <a:lnTo>
                    <a:pt x="280" y="147"/>
                  </a:lnTo>
                  <a:lnTo>
                    <a:pt x="288" y="142"/>
                  </a:lnTo>
                  <a:lnTo>
                    <a:pt x="296" y="138"/>
                  </a:lnTo>
                  <a:lnTo>
                    <a:pt x="303" y="134"/>
                  </a:lnTo>
                  <a:lnTo>
                    <a:pt x="312" y="131"/>
                  </a:lnTo>
                  <a:lnTo>
                    <a:pt x="321" y="126"/>
                  </a:lnTo>
                  <a:lnTo>
                    <a:pt x="329" y="122"/>
                  </a:lnTo>
                  <a:lnTo>
                    <a:pt x="339" y="119"/>
                  </a:lnTo>
                  <a:lnTo>
                    <a:pt x="348" y="115"/>
                  </a:lnTo>
                  <a:lnTo>
                    <a:pt x="359" y="111"/>
                  </a:lnTo>
                  <a:lnTo>
                    <a:pt x="370" y="106"/>
                  </a:lnTo>
                  <a:lnTo>
                    <a:pt x="381" y="102"/>
                  </a:lnTo>
                  <a:lnTo>
                    <a:pt x="393" y="96"/>
                  </a:lnTo>
                  <a:lnTo>
                    <a:pt x="404" y="92"/>
                  </a:lnTo>
                  <a:lnTo>
                    <a:pt x="414" y="89"/>
                  </a:lnTo>
                  <a:lnTo>
                    <a:pt x="423" y="85"/>
                  </a:lnTo>
                  <a:lnTo>
                    <a:pt x="433" y="80"/>
                  </a:lnTo>
                  <a:lnTo>
                    <a:pt x="441" y="78"/>
                  </a:lnTo>
                  <a:lnTo>
                    <a:pt x="449" y="75"/>
                  </a:lnTo>
                  <a:lnTo>
                    <a:pt x="457" y="72"/>
                  </a:lnTo>
                  <a:lnTo>
                    <a:pt x="464" y="69"/>
                  </a:lnTo>
                  <a:lnTo>
                    <a:pt x="472" y="66"/>
                  </a:lnTo>
                  <a:lnTo>
                    <a:pt x="479" y="65"/>
                  </a:lnTo>
                  <a:lnTo>
                    <a:pt x="485" y="62"/>
                  </a:lnTo>
                  <a:lnTo>
                    <a:pt x="492" y="60"/>
                  </a:lnTo>
                  <a:lnTo>
                    <a:pt x="498" y="57"/>
                  </a:lnTo>
                  <a:lnTo>
                    <a:pt x="505" y="56"/>
                  </a:lnTo>
                  <a:lnTo>
                    <a:pt x="510" y="55"/>
                  </a:lnTo>
                  <a:lnTo>
                    <a:pt x="518" y="52"/>
                  </a:lnTo>
                  <a:lnTo>
                    <a:pt x="525" y="50"/>
                  </a:lnTo>
                  <a:lnTo>
                    <a:pt x="532" y="49"/>
                  </a:lnTo>
                  <a:lnTo>
                    <a:pt x="538" y="47"/>
                  </a:lnTo>
                  <a:lnTo>
                    <a:pt x="546" y="46"/>
                  </a:lnTo>
                  <a:lnTo>
                    <a:pt x="554" y="45"/>
                  </a:lnTo>
                  <a:lnTo>
                    <a:pt x="562" y="43"/>
                  </a:lnTo>
                  <a:lnTo>
                    <a:pt x="571" y="42"/>
                  </a:lnTo>
                  <a:lnTo>
                    <a:pt x="580" y="39"/>
                  </a:lnTo>
                  <a:lnTo>
                    <a:pt x="588" y="37"/>
                  </a:lnTo>
                  <a:lnTo>
                    <a:pt x="600" y="36"/>
                  </a:lnTo>
                  <a:lnTo>
                    <a:pt x="610" y="35"/>
                  </a:lnTo>
                  <a:lnTo>
                    <a:pt x="621" y="32"/>
                  </a:lnTo>
                  <a:lnTo>
                    <a:pt x="633" y="30"/>
                  </a:lnTo>
                  <a:lnTo>
                    <a:pt x="646" y="27"/>
                  </a:lnTo>
                  <a:lnTo>
                    <a:pt x="660" y="26"/>
                  </a:lnTo>
                  <a:lnTo>
                    <a:pt x="674" y="23"/>
                  </a:lnTo>
                  <a:lnTo>
                    <a:pt x="687" y="22"/>
                  </a:lnTo>
                  <a:lnTo>
                    <a:pt x="699" y="19"/>
                  </a:lnTo>
                  <a:lnTo>
                    <a:pt x="710" y="17"/>
                  </a:lnTo>
                  <a:lnTo>
                    <a:pt x="722" y="16"/>
                  </a:lnTo>
                  <a:lnTo>
                    <a:pt x="732" y="14"/>
                  </a:lnTo>
                  <a:lnTo>
                    <a:pt x="741" y="13"/>
                  </a:lnTo>
                  <a:lnTo>
                    <a:pt x="749" y="12"/>
                  </a:lnTo>
                  <a:lnTo>
                    <a:pt x="758" y="10"/>
                  </a:lnTo>
                  <a:lnTo>
                    <a:pt x="767" y="9"/>
                  </a:lnTo>
                  <a:lnTo>
                    <a:pt x="774" y="7"/>
                  </a:lnTo>
                  <a:lnTo>
                    <a:pt x="781" y="7"/>
                  </a:lnTo>
                  <a:lnTo>
                    <a:pt x="788" y="6"/>
                  </a:lnTo>
                  <a:lnTo>
                    <a:pt x="794" y="4"/>
                  </a:lnTo>
                  <a:lnTo>
                    <a:pt x="800" y="4"/>
                  </a:lnTo>
                  <a:lnTo>
                    <a:pt x="807" y="3"/>
                  </a:lnTo>
                  <a:lnTo>
                    <a:pt x="813" y="3"/>
                  </a:lnTo>
                  <a:lnTo>
                    <a:pt x="818" y="3"/>
                  </a:lnTo>
                  <a:lnTo>
                    <a:pt x="824" y="1"/>
                  </a:lnTo>
                  <a:lnTo>
                    <a:pt x="830" y="1"/>
                  </a:lnTo>
                  <a:lnTo>
                    <a:pt x="836" y="1"/>
                  </a:lnTo>
                  <a:lnTo>
                    <a:pt x="841" y="1"/>
                  </a:lnTo>
                  <a:lnTo>
                    <a:pt x="847" y="1"/>
                  </a:lnTo>
                  <a:lnTo>
                    <a:pt x="853" y="0"/>
                  </a:lnTo>
                  <a:lnTo>
                    <a:pt x="860" y="0"/>
                  </a:lnTo>
                  <a:lnTo>
                    <a:pt x="866" y="0"/>
                  </a:lnTo>
                  <a:lnTo>
                    <a:pt x="873" y="0"/>
                  </a:lnTo>
                  <a:lnTo>
                    <a:pt x="880" y="0"/>
                  </a:lnTo>
                  <a:lnTo>
                    <a:pt x="889" y="0"/>
                  </a:lnTo>
                  <a:lnTo>
                    <a:pt x="896" y="0"/>
                  </a:lnTo>
                  <a:lnTo>
                    <a:pt x="905" y="0"/>
                  </a:lnTo>
                  <a:lnTo>
                    <a:pt x="91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6">
              <a:extLst>
                <a:ext uri="{FF2B5EF4-FFF2-40B4-BE49-F238E27FC236}">
                  <a16:creationId xmlns:a16="http://schemas.microsoft.com/office/drawing/2014/main" id="{47BA1FBC-9757-4741-7F59-607ECC8EC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1425" y="3192463"/>
              <a:ext cx="136525" cy="114300"/>
            </a:xfrm>
            <a:custGeom>
              <a:avLst/>
              <a:gdLst>
                <a:gd name="T0" fmla="*/ 0 w 173"/>
                <a:gd name="T1" fmla="*/ 1 h 144"/>
                <a:gd name="T2" fmla="*/ 0 w 173"/>
                <a:gd name="T3" fmla="*/ 1 h 144"/>
                <a:gd name="T4" fmla="*/ 0 w 173"/>
                <a:gd name="T5" fmla="*/ 0 h 144"/>
                <a:gd name="T6" fmla="*/ 0 w 173"/>
                <a:gd name="T7" fmla="*/ 1 h 144"/>
                <a:gd name="T8" fmla="*/ 0 w 173"/>
                <a:gd name="T9" fmla="*/ 1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3"/>
                <a:gd name="T16" fmla="*/ 0 h 144"/>
                <a:gd name="T17" fmla="*/ 173 w 173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3" h="144">
                  <a:moveTo>
                    <a:pt x="0" y="57"/>
                  </a:moveTo>
                  <a:lnTo>
                    <a:pt x="173" y="144"/>
                  </a:lnTo>
                  <a:lnTo>
                    <a:pt x="58" y="0"/>
                  </a:lnTo>
                  <a:lnTo>
                    <a:pt x="29" y="29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0000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7">
              <a:extLst>
                <a:ext uri="{FF2B5EF4-FFF2-40B4-BE49-F238E27FC236}">
                  <a16:creationId xmlns:a16="http://schemas.microsoft.com/office/drawing/2014/main" id="{D20B0310-8D49-3188-766F-A94C56436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688" y="3036888"/>
              <a:ext cx="585788" cy="169863"/>
            </a:xfrm>
            <a:custGeom>
              <a:avLst/>
              <a:gdLst>
                <a:gd name="T0" fmla="*/ 1 w 736"/>
                <a:gd name="T1" fmla="*/ 0 h 216"/>
                <a:gd name="T2" fmla="*/ 1 w 736"/>
                <a:gd name="T3" fmla="*/ 0 h 216"/>
                <a:gd name="T4" fmla="*/ 1 w 736"/>
                <a:gd name="T5" fmla="*/ 0 h 216"/>
                <a:gd name="T6" fmla="*/ 1 w 736"/>
                <a:gd name="T7" fmla="*/ 0 h 216"/>
                <a:gd name="T8" fmla="*/ 1 w 736"/>
                <a:gd name="T9" fmla="*/ 0 h 216"/>
                <a:gd name="T10" fmla="*/ 1 w 736"/>
                <a:gd name="T11" fmla="*/ 0 h 216"/>
                <a:gd name="T12" fmla="*/ 1 w 736"/>
                <a:gd name="T13" fmla="*/ 0 h 216"/>
                <a:gd name="T14" fmla="*/ 1 w 736"/>
                <a:gd name="T15" fmla="*/ 0 h 216"/>
                <a:gd name="T16" fmla="*/ 1 w 736"/>
                <a:gd name="T17" fmla="*/ 0 h 216"/>
                <a:gd name="T18" fmla="*/ 1 w 736"/>
                <a:gd name="T19" fmla="*/ 0 h 216"/>
                <a:gd name="T20" fmla="*/ 1 w 736"/>
                <a:gd name="T21" fmla="*/ 0 h 216"/>
                <a:gd name="T22" fmla="*/ 1 w 736"/>
                <a:gd name="T23" fmla="*/ 0 h 216"/>
                <a:gd name="T24" fmla="*/ 1 w 736"/>
                <a:gd name="T25" fmla="*/ 0 h 216"/>
                <a:gd name="T26" fmla="*/ 1 w 736"/>
                <a:gd name="T27" fmla="*/ 0 h 216"/>
                <a:gd name="T28" fmla="*/ 1 w 736"/>
                <a:gd name="T29" fmla="*/ 0 h 216"/>
                <a:gd name="T30" fmla="*/ 1 w 736"/>
                <a:gd name="T31" fmla="*/ 0 h 216"/>
                <a:gd name="T32" fmla="*/ 1 w 736"/>
                <a:gd name="T33" fmla="*/ 0 h 216"/>
                <a:gd name="T34" fmla="*/ 1 w 736"/>
                <a:gd name="T35" fmla="*/ 0 h 216"/>
                <a:gd name="T36" fmla="*/ 1 w 736"/>
                <a:gd name="T37" fmla="*/ 0 h 216"/>
                <a:gd name="T38" fmla="*/ 1 w 736"/>
                <a:gd name="T39" fmla="*/ 0 h 216"/>
                <a:gd name="T40" fmla="*/ 1 w 736"/>
                <a:gd name="T41" fmla="*/ 0 h 216"/>
                <a:gd name="T42" fmla="*/ 1 w 736"/>
                <a:gd name="T43" fmla="*/ 0 h 216"/>
                <a:gd name="T44" fmla="*/ 1 w 736"/>
                <a:gd name="T45" fmla="*/ 0 h 216"/>
                <a:gd name="T46" fmla="*/ 1 w 736"/>
                <a:gd name="T47" fmla="*/ 0 h 216"/>
                <a:gd name="T48" fmla="*/ 1 w 736"/>
                <a:gd name="T49" fmla="*/ 0 h 216"/>
                <a:gd name="T50" fmla="*/ 1 w 736"/>
                <a:gd name="T51" fmla="*/ 0 h 216"/>
                <a:gd name="T52" fmla="*/ 1 w 736"/>
                <a:gd name="T53" fmla="*/ 0 h 216"/>
                <a:gd name="T54" fmla="*/ 1 w 736"/>
                <a:gd name="T55" fmla="*/ 0 h 216"/>
                <a:gd name="T56" fmla="*/ 1 w 736"/>
                <a:gd name="T57" fmla="*/ 0 h 216"/>
                <a:gd name="T58" fmla="*/ 1 w 736"/>
                <a:gd name="T59" fmla="*/ 0 h 216"/>
                <a:gd name="T60" fmla="*/ 1 w 736"/>
                <a:gd name="T61" fmla="*/ 0 h 216"/>
                <a:gd name="T62" fmla="*/ 1 w 736"/>
                <a:gd name="T63" fmla="*/ 0 h 216"/>
                <a:gd name="T64" fmla="*/ 1 w 736"/>
                <a:gd name="T65" fmla="*/ 0 h 216"/>
                <a:gd name="T66" fmla="*/ 1 w 736"/>
                <a:gd name="T67" fmla="*/ 0 h 216"/>
                <a:gd name="T68" fmla="*/ 1 w 736"/>
                <a:gd name="T69" fmla="*/ 0 h 216"/>
                <a:gd name="T70" fmla="*/ 1 w 736"/>
                <a:gd name="T71" fmla="*/ 0 h 216"/>
                <a:gd name="T72" fmla="*/ 1 w 736"/>
                <a:gd name="T73" fmla="*/ 0 h 216"/>
                <a:gd name="T74" fmla="*/ 1 w 736"/>
                <a:gd name="T75" fmla="*/ 0 h 216"/>
                <a:gd name="T76" fmla="*/ 1 w 736"/>
                <a:gd name="T77" fmla="*/ 0 h 216"/>
                <a:gd name="T78" fmla="*/ 1 w 736"/>
                <a:gd name="T79" fmla="*/ 0 h 216"/>
                <a:gd name="T80" fmla="*/ 1 w 736"/>
                <a:gd name="T81" fmla="*/ 0 h 216"/>
                <a:gd name="T82" fmla="*/ 1 w 736"/>
                <a:gd name="T83" fmla="*/ 0 h 216"/>
                <a:gd name="T84" fmla="*/ 1 w 736"/>
                <a:gd name="T85" fmla="*/ 0 h 216"/>
                <a:gd name="T86" fmla="*/ 1 w 736"/>
                <a:gd name="T87" fmla="*/ 0 h 216"/>
                <a:gd name="T88" fmla="*/ 1 w 736"/>
                <a:gd name="T89" fmla="*/ 0 h 216"/>
                <a:gd name="T90" fmla="*/ 1 w 736"/>
                <a:gd name="T91" fmla="*/ 0 h 216"/>
                <a:gd name="T92" fmla="*/ 1 w 736"/>
                <a:gd name="T93" fmla="*/ 0 h 216"/>
                <a:gd name="T94" fmla="*/ 1 w 736"/>
                <a:gd name="T95" fmla="*/ 0 h 216"/>
                <a:gd name="T96" fmla="*/ 1 w 736"/>
                <a:gd name="T97" fmla="*/ 0 h 21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736"/>
                <a:gd name="T148" fmla="*/ 0 h 216"/>
                <a:gd name="T149" fmla="*/ 736 w 736"/>
                <a:gd name="T150" fmla="*/ 216 h 21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736" h="216">
                  <a:moveTo>
                    <a:pt x="736" y="216"/>
                  </a:moveTo>
                  <a:lnTo>
                    <a:pt x="728" y="210"/>
                  </a:lnTo>
                  <a:lnTo>
                    <a:pt x="720" y="203"/>
                  </a:lnTo>
                  <a:lnTo>
                    <a:pt x="713" y="197"/>
                  </a:lnTo>
                  <a:lnTo>
                    <a:pt x="706" y="193"/>
                  </a:lnTo>
                  <a:lnTo>
                    <a:pt x="699" y="187"/>
                  </a:lnTo>
                  <a:lnTo>
                    <a:pt x="692" y="183"/>
                  </a:lnTo>
                  <a:lnTo>
                    <a:pt x="686" y="178"/>
                  </a:lnTo>
                  <a:lnTo>
                    <a:pt x="679" y="174"/>
                  </a:lnTo>
                  <a:lnTo>
                    <a:pt x="673" y="170"/>
                  </a:lnTo>
                  <a:lnTo>
                    <a:pt x="667" y="165"/>
                  </a:lnTo>
                  <a:lnTo>
                    <a:pt x="661" y="161"/>
                  </a:lnTo>
                  <a:lnTo>
                    <a:pt x="656" y="158"/>
                  </a:lnTo>
                  <a:lnTo>
                    <a:pt x="650" y="155"/>
                  </a:lnTo>
                  <a:lnTo>
                    <a:pt x="644" y="151"/>
                  </a:lnTo>
                  <a:lnTo>
                    <a:pt x="638" y="148"/>
                  </a:lnTo>
                  <a:lnTo>
                    <a:pt x="634" y="145"/>
                  </a:lnTo>
                  <a:lnTo>
                    <a:pt x="628" y="142"/>
                  </a:lnTo>
                  <a:lnTo>
                    <a:pt x="623" y="139"/>
                  </a:lnTo>
                  <a:lnTo>
                    <a:pt x="617" y="137"/>
                  </a:lnTo>
                  <a:lnTo>
                    <a:pt x="611" y="135"/>
                  </a:lnTo>
                  <a:lnTo>
                    <a:pt x="605" y="132"/>
                  </a:lnTo>
                  <a:lnTo>
                    <a:pt x="600" y="129"/>
                  </a:lnTo>
                  <a:lnTo>
                    <a:pt x="594" y="126"/>
                  </a:lnTo>
                  <a:lnTo>
                    <a:pt x="588" y="124"/>
                  </a:lnTo>
                  <a:lnTo>
                    <a:pt x="582" y="122"/>
                  </a:lnTo>
                  <a:lnTo>
                    <a:pt x="575" y="119"/>
                  </a:lnTo>
                  <a:lnTo>
                    <a:pt x="569" y="116"/>
                  </a:lnTo>
                  <a:lnTo>
                    <a:pt x="562" y="114"/>
                  </a:lnTo>
                  <a:lnTo>
                    <a:pt x="555" y="111"/>
                  </a:lnTo>
                  <a:lnTo>
                    <a:pt x="548" y="108"/>
                  </a:lnTo>
                  <a:lnTo>
                    <a:pt x="541" y="105"/>
                  </a:lnTo>
                  <a:lnTo>
                    <a:pt x="532" y="102"/>
                  </a:lnTo>
                  <a:lnTo>
                    <a:pt x="520" y="96"/>
                  </a:lnTo>
                  <a:lnTo>
                    <a:pt x="510" y="92"/>
                  </a:lnTo>
                  <a:lnTo>
                    <a:pt x="500" y="89"/>
                  </a:lnTo>
                  <a:lnTo>
                    <a:pt x="490" y="85"/>
                  </a:lnTo>
                  <a:lnTo>
                    <a:pt x="482" y="80"/>
                  </a:lnTo>
                  <a:lnTo>
                    <a:pt x="473" y="78"/>
                  </a:lnTo>
                  <a:lnTo>
                    <a:pt x="464" y="75"/>
                  </a:lnTo>
                  <a:lnTo>
                    <a:pt x="457" y="72"/>
                  </a:lnTo>
                  <a:lnTo>
                    <a:pt x="448" y="69"/>
                  </a:lnTo>
                  <a:lnTo>
                    <a:pt x="441" y="66"/>
                  </a:lnTo>
                  <a:lnTo>
                    <a:pt x="436" y="65"/>
                  </a:lnTo>
                  <a:lnTo>
                    <a:pt x="428" y="62"/>
                  </a:lnTo>
                  <a:lnTo>
                    <a:pt x="421" y="60"/>
                  </a:lnTo>
                  <a:lnTo>
                    <a:pt x="415" y="57"/>
                  </a:lnTo>
                  <a:lnTo>
                    <a:pt x="408" y="56"/>
                  </a:lnTo>
                  <a:lnTo>
                    <a:pt x="402" y="55"/>
                  </a:lnTo>
                  <a:lnTo>
                    <a:pt x="395" y="52"/>
                  </a:lnTo>
                  <a:lnTo>
                    <a:pt x="388" y="50"/>
                  </a:lnTo>
                  <a:lnTo>
                    <a:pt x="382" y="49"/>
                  </a:lnTo>
                  <a:lnTo>
                    <a:pt x="375" y="47"/>
                  </a:lnTo>
                  <a:lnTo>
                    <a:pt x="368" y="46"/>
                  </a:lnTo>
                  <a:lnTo>
                    <a:pt x="359" y="45"/>
                  </a:lnTo>
                  <a:lnTo>
                    <a:pt x="352" y="43"/>
                  </a:lnTo>
                  <a:lnTo>
                    <a:pt x="343" y="42"/>
                  </a:lnTo>
                  <a:lnTo>
                    <a:pt x="333" y="39"/>
                  </a:lnTo>
                  <a:lnTo>
                    <a:pt x="325" y="37"/>
                  </a:lnTo>
                  <a:lnTo>
                    <a:pt x="315" y="36"/>
                  </a:lnTo>
                  <a:lnTo>
                    <a:pt x="303" y="35"/>
                  </a:lnTo>
                  <a:lnTo>
                    <a:pt x="292" y="32"/>
                  </a:lnTo>
                  <a:lnTo>
                    <a:pt x="280" y="30"/>
                  </a:lnTo>
                  <a:lnTo>
                    <a:pt x="267" y="27"/>
                  </a:lnTo>
                  <a:lnTo>
                    <a:pt x="253" y="26"/>
                  </a:lnTo>
                  <a:lnTo>
                    <a:pt x="238" y="23"/>
                  </a:lnTo>
                  <a:lnTo>
                    <a:pt x="226" y="22"/>
                  </a:lnTo>
                  <a:lnTo>
                    <a:pt x="214" y="19"/>
                  </a:lnTo>
                  <a:lnTo>
                    <a:pt x="203" y="17"/>
                  </a:lnTo>
                  <a:lnTo>
                    <a:pt x="192" y="16"/>
                  </a:lnTo>
                  <a:lnTo>
                    <a:pt x="182" y="14"/>
                  </a:lnTo>
                  <a:lnTo>
                    <a:pt x="172" y="13"/>
                  </a:lnTo>
                  <a:lnTo>
                    <a:pt x="164" y="12"/>
                  </a:lnTo>
                  <a:lnTo>
                    <a:pt x="155" y="10"/>
                  </a:lnTo>
                  <a:lnTo>
                    <a:pt x="148" y="9"/>
                  </a:lnTo>
                  <a:lnTo>
                    <a:pt x="139" y="7"/>
                  </a:lnTo>
                  <a:lnTo>
                    <a:pt x="132" y="7"/>
                  </a:lnTo>
                  <a:lnTo>
                    <a:pt x="126" y="6"/>
                  </a:lnTo>
                  <a:lnTo>
                    <a:pt x="119" y="4"/>
                  </a:lnTo>
                  <a:lnTo>
                    <a:pt x="113" y="4"/>
                  </a:lnTo>
                  <a:lnTo>
                    <a:pt x="108" y="3"/>
                  </a:lnTo>
                  <a:lnTo>
                    <a:pt x="102" y="3"/>
                  </a:lnTo>
                  <a:lnTo>
                    <a:pt x="96" y="3"/>
                  </a:lnTo>
                  <a:lnTo>
                    <a:pt x="90" y="1"/>
                  </a:lnTo>
                  <a:lnTo>
                    <a:pt x="85" y="1"/>
                  </a:lnTo>
                  <a:lnTo>
                    <a:pt x="79" y="1"/>
                  </a:lnTo>
                  <a:lnTo>
                    <a:pt x="73" y="1"/>
                  </a:lnTo>
                  <a:lnTo>
                    <a:pt x="66" y="1"/>
                  </a:lnTo>
                  <a:lnTo>
                    <a:pt x="60" y="0"/>
                  </a:lnTo>
                  <a:lnTo>
                    <a:pt x="54" y="0"/>
                  </a:lnTo>
                  <a:lnTo>
                    <a:pt x="47" y="0"/>
                  </a:lnTo>
                  <a:lnTo>
                    <a:pt x="40" y="0"/>
                  </a:lnTo>
                  <a:lnTo>
                    <a:pt x="33" y="0"/>
                  </a:lnTo>
                  <a:lnTo>
                    <a:pt x="26" y="0"/>
                  </a:lnTo>
                  <a:lnTo>
                    <a:pt x="17" y="0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DBB673FA-1360-474C-76FA-FCC3D0C1C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9688" y="3214688"/>
              <a:ext cx="646113" cy="644525"/>
            </a:xfrm>
            <a:custGeom>
              <a:avLst/>
              <a:gdLst>
                <a:gd name="T0" fmla="*/ 1 w 814"/>
                <a:gd name="T1" fmla="*/ 0 h 814"/>
                <a:gd name="T2" fmla="*/ 1 w 814"/>
                <a:gd name="T3" fmla="*/ 0 h 814"/>
                <a:gd name="T4" fmla="*/ 1 w 814"/>
                <a:gd name="T5" fmla="*/ 0 h 814"/>
                <a:gd name="T6" fmla="*/ 1 w 814"/>
                <a:gd name="T7" fmla="*/ 0 h 814"/>
                <a:gd name="T8" fmla="*/ 1 w 814"/>
                <a:gd name="T9" fmla="*/ 0 h 814"/>
                <a:gd name="T10" fmla="*/ 1 w 814"/>
                <a:gd name="T11" fmla="*/ 0 h 814"/>
                <a:gd name="T12" fmla="*/ 1 w 814"/>
                <a:gd name="T13" fmla="*/ 0 h 814"/>
                <a:gd name="T14" fmla="*/ 1 w 814"/>
                <a:gd name="T15" fmla="*/ 0 h 814"/>
                <a:gd name="T16" fmla="*/ 1 w 814"/>
                <a:gd name="T17" fmla="*/ 0 h 814"/>
                <a:gd name="T18" fmla="*/ 1 w 814"/>
                <a:gd name="T19" fmla="*/ 0 h 814"/>
                <a:gd name="T20" fmla="*/ 0 w 814"/>
                <a:gd name="T21" fmla="*/ 0 h 814"/>
                <a:gd name="T22" fmla="*/ 1 w 814"/>
                <a:gd name="T23" fmla="*/ 0 h 814"/>
                <a:gd name="T24" fmla="*/ 1 w 814"/>
                <a:gd name="T25" fmla="*/ 0 h 814"/>
                <a:gd name="T26" fmla="*/ 1 w 814"/>
                <a:gd name="T27" fmla="*/ 0 h 814"/>
                <a:gd name="T28" fmla="*/ 1 w 814"/>
                <a:gd name="T29" fmla="*/ 0 h 814"/>
                <a:gd name="T30" fmla="*/ 1 w 814"/>
                <a:gd name="T31" fmla="*/ 0 h 814"/>
                <a:gd name="T32" fmla="*/ 1 w 814"/>
                <a:gd name="T33" fmla="*/ 0 h 814"/>
                <a:gd name="T34" fmla="*/ 1 w 814"/>
                <a:gd name="T35" fmla="*/ 0 h 814"/>
                <a:gd name="T36" fmla="*/ 1 w 814"/>
                <a:gd name="T37" fmla="*/ 0 h 814"/>
                <a:gd name="T38" fmla="*/ 1 w 814"/>
                <a:gd name="T39" fmla="*/ 0 h 814"/>
                <a:gd name="T40" fmla="*/ 1 w 814"/>
                <a:gd name="T41" fmla="*/ 0 h 814"/>
                <a:gd name="T42" fmla="*/ 1 w 814"/>
                <a:gd name="T43" fmla="*/ 0 h 814"/>
                <a:gd name="T44" fmla="*/ 1 w 814"/>
                <a:gd name="T45" fmla="*/ 0 h 814"/>
                <a:gd name="T46" fmla="*/ 1 w 814"/>
                <a:gd name="T47" fmla="*/ 0 h 814"/>
                <a:gd name="T48" fmla="*/ 1 w 814"/>
                <a:gd name="T49" fmla="*/ 0 h 814"/>
                <a:gd name="T50" fmla="*/ 1 w 814"/>
                <a:gd name="T51" fmla="*/ 0 h 814"/>
                <a:gd name="T52" fmla="*/ 1 w 814"/>
                <a:gd name="T53" fmla="*/ 0 h 814"/>
                <a:gd name="T54" fmla="*/ 1 w 814"/>
                <a:gd name="T55" fmla="*/ 0 h 814"/>
                <a:gd name="T56" fmla="*/ 1 w 814"/>
                <a:gd name="T57" fmla="*/ 0 h 814"/>
                <a:gd name="T58" fmla="*/ 1 w 814"/>
                <a:gd name="T59" fmla="*/ 0 h 814"/>
                <a:gd name="T60" fmla="*/ 1 w 814"/>
                <a:gd name="T61" fmla="*/ 0 h 814"/>
                <a:gd name="T62" fmla="*/ 1 w 814"/>
                <a:gd name="T63" fmla="*/ 0 h 814"/>
                <a:gd name="T64" fmla="*/ 1 w 814"/>
                <a:gd name="T65" fmla="*/ 0 h 814"/>
                <a:gd name="T66" fmla="*/ 1 w 814"/>
                <a:gd name="T67" fmla="*/ 0 h 814"/>
                <a:gd name="T68" fmla="*/ 1 w 814"/>
                <a:gd name="T69" fmla="*/ 0 h 814"/>
                <a:gd name="T70" fmla="*/ 1 w 814"/>
                <a:gd name="T71" fmla="*/ 0 h 814"/>
                <a:gd name="T72" fmla="*/ 1 w 814"/>
                <a:gd name="T73" fmla="*/ 0 h 814"/>
                <a:gd name="T74" fmla="*/ 1 w 814"/>
                <a:gd name="T75" fmla="*/ 0 h 814"/>
                <a:gd name="T76" fmla="*/ 1 w 814"/>
                <a:gd name="T77" fmla="*/ 0 h 814"/>
                <a:gd name="T78" fmla="*/ 1 w 814"/>
                <a:gd name="T79" fmla="*/ 0 h 814"/>
                <a:gd name="T80" fmla="*/ 1 w 814"/>
                <a:gd name="T81" fmla="*/ 0 h 814"/>
                <a:gd name="T82" fmla="*/ 1 w 814"/>
                <a:gd name="T83" fmla="*/ 0 h 814"/>
                <a:gd name="T84" fmla="*/ 1 w 814"/>
                <a:gd name="T85" fmla="*/ 0 h 814"/>
                <a:gd name="T86" fmla="*/ 1 w 814"/>
                <a:gd name="T87" fmla="*/ 0 h 81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814"/>
                <a:gd name="T133" fmla="*/ 0 h 814"/>
                <a:gd name="T134" fmla="*/ 814 w 814"/>
                <a:gd name="T135" fmla="*/ 814 h 81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814" h="814">
                  <a:moveTo>
                    <a:pt x="407" y="0"/>
                  </a:moveTo>
                  <a:lnTo>
                    <a:pt x="386" y="0"/>
                  </a:lnTo>
                  <a:lnTo>
                    <a:pt x="365" y="2"/>
                  </a:lnTo>
                  <a:lnTo>
                    <a:pt x="345" y="5"/>
                  </a:lnTo>
                  <a:lnTo>
                    <a:pt x="325" y="7"/>
                  </a:lnTo>
                  <a:lnTo>
                    <a:pt x="305" y="12"/>
                  </a:lnTo>
                  <a:lnTo>
                    <a:pt x="286" y="17"/>
                  </a:lnTo>
                  <a:lnTo>
                    <a:pt x="268" y="25"/>
                  </a:lnTo>
                  <a:lnTo>
                    <a:pt x="249" y="32"/>
                  </a:lnTo>
                  <a:lnTo>
                    <a:pt x="230" y="39"/>
                  </a:lnTo>
                  <a:lnTo>
                    <a:pt x="213" y="49"/>
                  </a:lnTo>
                  <a:lnTo>
                    <a:pt x="196" y="59"/>
                  </a:lnTo>
                  <a:lnTo>
                    <a:pt x="180" y="69"/>
                  </a:lnTo>
                  <a:lnTo>
                    <a:pt x="163" y="81"/>
                  </a:lnTo>
                  <a:lnTo>
                    <a:pt x="148" y="92"/>
                  </a:lnTo>
                  <a:lnTo>
                    <a:pt x="132" y="105"/>
                  </a:lnTo>
                  <a:lnTo>
                    <a:pt x="119" y="120"/>
                  </a:lnTo>
                  <a:lnTo>
                    <a:pt x="105" y="132"/>
                  </a:lnTo>
                  <a:lnTo>
                    <a:pt x="92" y="148"/>
                  </a:lnTo>
                  <a:lnTo>
                    <a:pt x="81" y="163"/>
                  </a:lnTo>
                  <a:lnTo>
                    <a:pt x="69" y="178"/>
                  </a:lnTo>
                  <a:lnTo>
                    <a:pt x="59" y="196"/>
                  </a:lnTo>
                  <a:lnTo>
                    <a:pt x="49" y="213"/>
                  </a:lnTo>
                  <a:lnTo>
                    <a:pt x="40" y="230"/>
                  </a:lnTo>
                  <a:lnTo>
                    <a:pt x="32" y="249"/>
                  </a:lnTo>
                  <a:lnTo>
                    <a:pt x="24" y="266"/>
                  </a:lnTo>
                  <a:lnTo>
                    <a:pt x="17" y="286"/>
                  </a:lnTo>
                  <a:lnTo>
                    <a:pt x="13" y="305"/>
                  </a:lnTo>
                  <a:lnTo>
                    <a:pt x="7" y="325"/>
                  </a:lnTo>
                  <a:lnTo>
                    <a:pt x="4" y="345"/>
                  </a:lnTo>
                  <a:lnTo>
                    <a:pt x="1" y="365"/>
                  </a:lnTo>
                  <a:lnTo>
                    <a:pt x="0" y="385"/>
                  </a:lnTo>
                  <a:lnTo>
                    <a:pt x="0" y="407"/>
                  </a:lnTo>
                  <a:lnTo>
                    <a:pt x="0" y="429"/>
                  </a:lnTo>
                  <a:lnTo>
                    <a:pt x="1" y="449"/>
                  </a:lnTo>
                  <a:lnTo>
                    <a:pt x="4" y="469"/>
                  </a:lnTo>
                  <a:lnTo>
                    <a:pt x="7" y="489"/>
                  </a:lnTo>
                  <a:lnTo>
                    <a:pt x="13" y="509"/>
                  </a:lnTo>
                  <a:lnTo>
                    <a:pt x="17" y="528"/>
                  </a:lnTo>
                  <a:lnTo>
                    <a:pt x="24" y="546"/>
                  </a:lnTo>
                  <a:lnTo>
                    <a:pt x="32" y="565"/>
                  </a:lnTo>
                  <a:lnTo>
                    <a:pt x="40" y="584"/>
                  </a:lnTo>
                  <a:lnTo>
                    <a:pt x="49" y="601"/>
                  </a:lnTo>
                  <a:lnTo>
                    <a:pt x="59" y="618"/>
                  </a:lnTo>
                  <a:lnTo>
                    <a:pt x="69" y="634"/>
                  </a:lnTo>
                  <a:lnTo>
                    <a:pt x="81" y="650"/>
                  </a:lnTo>
                  <a:lnTo>
                    <a:pt x="92" y="666"/>
                  </a:lnTo>
                  <a:lnTo>
                    <a:pt x="105" y="680"/>
                  </a:lnTo>
                  <a:lnTo>
                    <a:pt x="119" y="694"/>
                  </a:lnTo>
                  <a:lnTo>
                    <a:pt x="132" y="709"/>
                  </a:lnTo>
                  <a:lnTo>
                    <a:pt x="148" y="722"/>
                  </a:lnTo>
                  <a:lnTo>
                    <a:pt x="163" y="733"/>
                  </a:lnTo>
                  <a:lnTo>
                    <a:pt x="180" y="745"/>
                  </a:lnTo>
                  <a:lnTo>
                    <a:pt x="196" y="755"/>
                  </a:lnTo>
                  <a:lnTo>
                    <a:pt x="213" y="765"/>
                  </a:lnTo>
                  <a:lnTo>
                    <a:pt x="230" y="773"/>
                  </a:lnTo>
                  <a:lnTo>
                    <a:pt x="249" y="782"/>
                  </a:lnTo>
                  <a:lnTo>
                    <a:pt x="268" y="789"/>
                  </a:lnTo>
                  <a:lnTo>
                    <a:pt x="286" y="796"/>
                  </a:lnTo>
                  <a:lnTo>
                    <a:pt x="305" y="801"/>
                  </a:lnTo>
                  <a:lnTo>
                    <a:pt x="325" y="807"/>
                  </a:lnTo>
                  <a:lnTo>
                    <a:pt x="345" y="809"/>
                  </a:lnTo>
                  <a:lnTo>
                    <a:pt x="365" y="812"/>
                  </a:lnTo>
                  <a:lnTo>
                    <a:pt x="386" y="814"/>
                  </a:lnTo>
                  <a:lnTo>
                    <a:pt x="407" y="814"/>
                  </a:lnTo>
                  <a:lnTo>
                    <a:pt x="429" y="814"/>
                  </a:lnTo>
                  <a:lnTo>
                    <a:pt x="449" y="812"/>
                  </a:lnTo>
                  <a:lnTo>
                    <a:pt x="469" y="809"/>
                  </a:lnTo>
                  <a:lnTo>
                    <a:pt x="489" y="807"/>
                  </a:lnTo>
                  <a:lnTo>
                    <a:pt x="509" y="801"/>
                  </a:lnTo>
                  <a:lnTo>
                    <a:pt x="528" y="796"/>
                  </a:lnTo>
                  <a:lnTo>
                    <a:pt x="547" y="789"/>
                  </a:lnTo>
                  <a:lnTo>
                    <a:pt x="565" y="782"/>
                  </a:lnTo>
                  <a:lnTo>
                    <a:pt x="584" y="773"/>
                  </a:lnTo>
                  <a:lnTo>
                    <a:pt x="601" y="765"/>
                  </a:lnTo>
                  <a:lnTo>
                    <a:pt x="619" y="755"/>
                  </a:lnTo>
                  <a:lnTo>
                    <a:pt x="634" y="745"/>
                  </a:lnTo>
                  <a:lnTo>
                    <a:pt x="652" y="733"/>
                  </a:lnTo>
                  <a:lnTo>
                    <a:pt x="666" y="722"/>
                  </a:lnTo>
                  <a:lnTo>
                    <a:pt x="682" y="709"/>
                  </a:lnTo>
                  <a:lnTo>
                    <a:pt x="695" y="694"/>
                  </a:lnTo>
                  <a:lnTo>
                    <a:pt x="709" y="680"/>
                  </a:lnTo>
                  <a:lnTo>
                    <a:pt x="722" y="666"/>
                  </a:lnTo>
                  <a:lnTo>
                    <a:pt x="734" y="650"/>
                  </a:lnTo>
                  <a:lnTo>
                    <a:pt x="745" y="634"/>
                  </a:lnTo>
                  <a:lnTo>
                    <a:pt x="755" y="618"/>
                  </a:lnTo>
                  <a:lnTo>
                    <a:pt x="765" y="601"/>
                  </a:lnTo>
                  <a:lnTo>
                    <a:pt x="774" y="584"/>
                  </a:lnTo>
                  <a:lnTo>
                    <a:pt x="783" y="565"/>
                  </a:lnTo>
                  <a:lnTo>
                    <a:pt x="790" y="546"/>
                  </a:lnTo>
                  <a:lnTo>
                    <a:pt x="797" y="528"/>
                  </a:lnTo>
                  <a:lnTo>
                    <a:pt x="801" y="509"/>
                  </a:lnTo>
                  <a:lnTo>
                    <a:pt x="807" y="489"/>
                  </a:lnTo>
                  <a:lnTo>
                    <a:pt x="810" y="469"/>
                  </a:lnTo>
                  <a:lnTo>
                    <a:pt x="813" y="449"/>
                  </a:lnTo>
                  <a:lnTo>
                    <a:pt x="814" y="429"/>
                  </a:lnTo>
                  <a:lnTo>
                    <a:pt x="814" y="407"/>
                  </a:lnTo>
                  <a:lnTo>
                    <a:pt x="814" y="385"/>
                  </a:lnTo>
                  <a:lnTo>
                    <a:pt x="813" y="365"/>
                  </a:lnTo>
                  <a:lnTo>
                    <a:pt x="810" y="345"/>
                  </a:lnTo>
                  <a:lnTo>
                    <a:pt x="807" y="325"/>
                  </a:lnTo>
                  <a:lnTo>
                    <a:pt x="801" y="305"/>
                  </a:lnTo>
                  <a:lnTo>
                    <a:pt x="797" y="286"/>
                  </a:lnTo>
                  <a:lnTo>
                    <a:pt x="790" y="266"/>
                  </a:lnTo>
                  <a:lnTo>
                    <a:pt x="783" y="249"/>
                  </a:lnTo>
                  <a:lnTo>
                    <a:pt x="774" y="230"/>
                  </a:lnTo>
                  <a:lnTo>
                    <a:pt x="765" y="213"/>
                  </a:lnTo>
                  <a:lnTo>
                    <a:pt x="755" y="196"/>
                  </a:lnTo>
                  <a:lnTo>
                    <a:pt x="745" y="178"/>
                  </a:lnTo>
                  <a:lnTo>
                    <a:pt x="734" y="163"/>
                  </a:lnTo>
                  <a:lnTo>
                    <a:pt x="722" y="148"/>
                  </a:lnTo>
                  <a:lnTo>
                    <a:pt x="709" y="132"/>
                  </a:lnTo>
                  <a:lnTo>
                    <a:pt x="695" y="120"/>
                  </a:lnTo>
                  <a:lnTo>
                    <a:pt x="682" y="105"/>
                  </a:lnTo>
                  <a:lnTo>
                    <a:pt x="666" y="92"/>
                  </a:lnTo>
                  <a:lnTo>
                    <a:pt x="652" y="81"/>
                  </a:lnTo>
                  <a:lnTo>
                    <a:pt x="634" y="69"/>
                  </a:lnTo>
                  <a:lnTo>
                    <a:pt x="619" y="59"/>
                  </a:lnTo>
                  <a:lnTo>
                    <a:pt x="601" y="49"/>
                  </a:lnTo>
                  <a:lnTo>
                    <a:pt x="584" y="39"/>
                  </a:lnTo>
                  <a:lnTo>
                    <a:pt x="565" y="32"/>
                  </a:lnTo>
                  <a:lnTo>
                    <a:pt x="547" y="25"/>
                  </a:lnTo>
                  <a:lnTo>
                    <a:pt x="528" y="17"/>
                  </a:lnTo>
                  <a:lnTo>
                    <a:pt x="509" y="12"/>
                  </a:lnTo>
                  <a:lnTo>
                    <a:pt x="489" y="7"/>
                  </a:lnTo>
                  <a:lnTo>
                    <a:pt x="469" y="5"/>
                  </a:lnTo>
                  <a:lnTo>
                    <a:pt x="449" y="2"/>
                  </a:lnTo>
                  <a:lnTo>
                    <a:pt x="429" y="0"/>
                  </a:lnTo>
                  <a:lnTo>
                    <a:pt x="407" y="0"/>
                  </a:lnTo>
                </a:path>
              </a:pathLst>
            </a:custGeom>
            <a:solidFill>
              <a:schemeClr val="bg1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Rectangle 29">
              <a:extLst>
                <a:ext uri="{FF2B5EF4-FFF2-40B4-BE49-F238E27FC236}">
                  <a16:creationId xmlns:a16="http://schemas.microsoft.com/office/drawing/2014/main" id="{FE30771A-6FD0-3A74-CB94-41E4D10F27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05525" y="3886200"/>
              <a:ext cx="90488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1700">
                  <a:solidFill>
                    <a:srgbClr val="000000"/>
                  </a:solidFill>
                  <a:latin typeface="Symbol" charset="0"/>
                </a:rPr>
                <a:t>¤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39" name="Rectangle 30">
              <a:extLst>
                <a:ext uri="{FF2B5EF4-FFF2-40B4-BE49-F238E27FC236}">
                  <a16:creationId xmlns:a16="http://schemas.microsoft.com/office/drawing/2014/main" id="{CCA5E66E-9194-F690-5CA5-7BD6D2E4FA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0038" y="3432175"/>
              <a:ext cx="18573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B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40" name="Rectangle 31">
              <a:extLst>
                <a:ext uri="{FF2B5EF4-FFF2-40B4-BE49-F238E27FC236}">
                  <a16:creationId xmlns:a16="http://schemas.microsoft.com/office/drawing/2014/main" id="{6101D7C1-FA9B-2CA1-D401-4621665F7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4575" y="3890962"/>
              <a:ext cx="18573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 dirty="0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kumimoji="0" lang="en-US" sz="2400" dirty="0">
                <a:latin typeface="Times New Roman" charset="0"/>
              </a:endParaRPr>
            </a:p>
          </p:txBody>
        </p:sp>
        <p:sp>
          <p:nvSpPr>
            <p:cNvPr id="41" name="Rectangle 32">
              <a:extLst>
                <a:ext uri="{FF2B5EF4-FFF2-40B4-BE49-F238E27FC236}">
                  <a16:creationId xmlns:a16="http://schemas.microsoft.com/office/drawing/2014/main" id="{F291DAEE-6A4B-833A-1FED-27767C944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5100" y="3890962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42" name="Rectangle 33">
              <a:extLst>
                <a:ext uri="{FF2B5EF4-FFF2-40B4-BE49-F238E27FC236}">
                  <a16:creationId xmlns:a16="http://schemas.microsoft.com/office/drawing/2014/main" id="{C10AD47A-851E-76AB-3EED-76650439E5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0950" y="3890962"/>
              <a:ext cx="1651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43" name="Rectangle 34">
              <a:extLst>
                <a:ext uri="{FF2B5EF4-FFF2-40B4-BE49-F238E27FC236}">
                  <a16:creationId xmlns:a16="http://schemas.microsoft.com/office/drawing/2014/main" id="{813A63D1-1E9E-2DB4-D62F-14C5EFF0A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4813" y="3890962"/>
              <a:ext cx="13017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>
                  <a:solidFill>
                    <a:srgbClr val="000000"/>
                  </a:solidFill>
                  <a:latin typeface="Times-Roman" charset="0"/>
                </a:rPr>
                <a:t>z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44" name="Rectangle 35">
              <a:extLst>
                <a:ext uri="{FF2B5EF4-FFF2-40B4-BE49-F238E27FC236}">
                  <a16:creationId xmlns:a16="http://schemas.microsoft.com/office/drawing/2014/main" id="{5E9ED9C0-D883-6663-C044-7AB3257B88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3890962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45" name="Rectangle 36">
              <a:extLst>
                <a:ext uri="{FF2B5EF4-FFF2-40B4-BE49-F238E27FC236}">
                  <a16:creationId xmlns:a16="http://schemas.microsoft.com/office/drawing/2014/main" id="{123E981D-A718-DF65-C4FF-6224AA52A3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4038" y="3890962"/>
              <a:ext cx="1651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dirty="0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 dirty="0">
                <a:latin typeface="Times New Roman" charset="0"/>
              </a:endParaRPr>
            </a:p>
          </p:txBody>
        </p:sp>
        <p:sp>
          <p:nvSpPr>
            <p:cNvPr id="46" name="Freeform 37">
              <a:extLst>
                <a:ext uri="{FF2B5EF4-FFF2-40B4-BE49-F238E27FC236}">
                  <a16:creationId xmlns:a16="http://schemas.microsoft.com/office/drawing/2014/main" id="{62D027C7-8E68-A490-6276-245141DA2B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6625" y="3032125"/>
              <a:ext cx="68263" cy="138113"/>
            </a:xfrm>
            <a:custGeom>
              <a:avLst/>
              <a:gdLst>
                <a:gd name="T0" fmla="*/ 0 w 86"/>
                <a:gd name="T1" fmla="*/ 0 h 172"/>
                <a:gd name="T2" fmla="*/ 1 w 86"/>
                <a:gd name="T3" fmla="*/ 1 h 172"/>
                <a:gd name="T4" fmla="*/ 1 w 86"/>
                <a:gd name="T5" fmla="*/ 0 h 172"/>
                <a:gd name="T6" fmla="*/ 1 w 86"/>
                <a:gd name="T7" fmla="*/ 0 h 172"/>
                <a:gd name="T8" fmla="*/ 0 w 86"/>
                <a:gd name="T9" fmla="*/ 0 h 1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"/>
                <a:gd name="T16" fmla="*/ 0 h 172"/>
                <a:gd name="T17" fmla="*/ 86 w 86"/>
                <a:gd name="T18" fmla="*/ 172 h 1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" h="172">
                  <a:moveTo>
                    <a:pt x="0" y="0"/>
                  </a:moveTo>
                  <a:lnTo>
                    <a:pt x="29" y="172"/>
                  </a:lnTo>
                  <a:lnTo>
                    <a:pt x="86" y="0"/>
                  </a:lnTo>
                  <a:lnTo>
                    <a:pt x="2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38">
              <a:extLst>
                <a:ext uri="{FF2B5EF4-FFF2-40B4-BE49-F238E27FC236}">
                  <a16:creationId xmlns:a16="http://schemas.microsoft.com/office/drawing/2014/main" id="{DE5F7158-A754-FCCF-5023-8B4DA2DF70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8850" y="2736850"/>
              <a:ext cx="1588" cy="295275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Rectangle 39">
              <a:extLst>
                <a:ext uri="{FF2B5EF4-FFF2-40B4-BE49-F238E27FC236}">
                  <a16:creationId xmlns:a16="http://schemas.microsoft.com/office/drawing/2014/main" id="{A7BA74EF-81E7-885E-2978-00FA60192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088" y="3886200"/>
              <a:ext cx="90488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1700" dirty="0">
                  <a:solidFill>
                    <a:srgbClr val="000000"/>
                  </a:solidFill>
                  <a:latin typeface="Symbol" charset="0"/>
                </a:rPr>
                <a:t>¤ </a:t>
              </a:r>
              <a:endParaRPr kumimoji="0" lang="en-US" sz="2400" dirty="0">
                <a:latin typeface="Times New Roman" charset="0"/>
              </a:endParaRPr>
            </a:p>
          </p:txBody>
        </p:sp>
        <p:sp>
          <p:nvSpPr>
            <p:cNvPr id="49" name="Rectangle 40">
              <a:extLst>
                <a:ext uri="{FF2B5EF4-FFF2-40B4-BE49-F238E27FC236}">
                  <a16:creationId xmlns:a16="http://schemas.microsoft.com/office/drawing/2014/main" id="{E25F4527-2B84-CC97-4C86-5C3A3FFC6B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5013" y="2438400"/>
              <a:ext cx="50323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Reset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50" name="Rectangle 41">
              <a:extLst>
                <a:ext uri="{FF2B5EF4-FFF2-40B4-BE49-F238E27FC236}">
                  <a16:creationId xmlns:a16="http://schemas.microsoft.com/office/drawing/2014/main" id="{4BBB9A70-539E-0107-6658-2A7E47D66F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7950" y="2752725"/>
              <a:ext cx="18573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51" name="Rectangle 42">
              <a:extLst>
                <a:ext uri="{FF2B5EF4-FFF2-40B4-BE49-F238E27FC236}">
                  <a16:creationId xmlns:a16="http://schemas.microsoft.com/office/drawing/2014/main" id="{9CAE9350-9A47-96F8-45BE-46C2DA21B0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475" y="2752725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52" name="Rectangle 43">
              <a:extLst>
                <a:ext uri="{FF2B5EF4-FFF2-40B4-BE49-F238E27FC236}">
                  <a16:creationId xmlns:a16="http://schemas.microsoft.com/office/drawing/2014/main" id="{5D67E5EF-71D1-2FD8-6FB4-DF31977FD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2738" y="2752725"/>
              <a:ext cx="1651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53" name="Rectangle 44">
              <a:extLst>
                <a:ext uri="{FF2B5EF4-FFF2-40B4-BE49-F238E27FC236}">
                  <a16:creationId xmlns:a16="http://schemas.microsoft.com/office/drawing/2014/main" id="{B111D5C1-29A9-A671-7AD3-B573716BA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8188" y="2752725"/>
              <a:ext cx="13017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>
                  <a:solidFill>
                    <a:srgbClr val="000000"/>
                  </a:solidFill>
                  <a:latin typeface="Times-Roman" charset="0"/>
                </a:rPr>
                <a:t>z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54" name="Rectangle 45">
              <a:extLst>
                <a:ext uri="{FF2B5EF4-FFF2-40B4-BE49-F238E27FC236}">
                  <a16:creationId xmlns:a16="http://schemas.microsoft.com/office/drawing/2014/main" id="{64616FFF-AB03-9AFB-DA05-B281B1699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9975" y="2752725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55" name="Rectangle 46">
              <a:extLst>
                <a:ext uri="{FF2B5EF4-FFF2-40B4-BE49-F238E27FC236}">
                  <a16:creationId xmlns:a16="http://schemas.microsoft.com/office/drawing/2014/main" id="{EC0CCC86-1D65-83A8-223A-1E4570700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5825" y="2752725"/>
              <a:ext cx="1651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56" name="Rectangle 47">
              <a:extLst>
                <a:ext uri="{FF2B5EF4-FFF2-40B4-BE49-F238E27FC236}">
                  <a16:creationId xmlns:a16="http://schemas.microsoft.com/office/drawing/2014/main" id="{46D60728-0C92-64C8-DD1B-6C7830FB9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2463" y="2747963"/>
              <a:ext cx="90488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1700">
                  <a:solidFill>
                    <a:srgbClr val="000000"/>
                  </a:solidFill>
                  <a:latin typeface="Symbol" charset="0"/>
                </a:rPr>
                <a:t>¤ </a:t>
              </a:r>
              <a:endParaRPr kumimoji="0" lang="en-US" sz="2400">
                <a:latin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96235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ASM: Mealy FSM Example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40E9FFAA-91DE-5B8E-38D0-16CC95C16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9412" y="960430"/>
            <a:ext cx="7673335" cy="5509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tabLst>
                <a:tab pos="512763" algn="l"/>
                <a:tab pos="919163" algn="l"/>
                <a:tab pos="1366838" algn="l"/>
                <a:tab pos="1825625" algn="l"/>
                <a:tab pos="2286000" algn="l"/>
                <a:tab pos="2746375" algn="l"/>
                <a:tab pos="3205163" algn="l"/>
                <a:tab pos="3652838" algn="l"/>
                <a:tab pos="3889375" algn="l"/>
              </a:tabLst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512763" algn="l"/>
                <a:tab pos="919163" algn="l"/>
                <a:tab pos="1366838" algn="l"/>
                <a:tab pos="1825625" algn="l"/>
                <a:tab pos="2286000" algn="l"/>
                <a:tab pos="2746375" algn="l"/>
                <a:tab pos="3205163" algn="l"/>
                <a:tab pos="3652838" algn="l"/>
                <a:tab pos="3889375" algn="l"/>
              </a:tabLst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tabLst>
                <a:tab pos="512763" algn="l"/>
                <a:tab pos="919163" algn="l"/>
                <a:tab pos="1366838" algn="l"/>
                <a:tab pos="1825625" algn="l"/>
                <a:tab pos="2286000" algn="l"/>
                <a:tab pos="2746375" algn="l"/>
                <a:tab pos="3205163" algn="l"/>
                <a:tab pos="3652838" algn="l"/>
                <a:tab pos="3889375" algn="l"/>
              </a:tabLst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tabLst>
                <a:tab pos="512763" algn="l"/>
                <a:tab pos="919163" algn="l"/>
                <a:tab pos="1366838" algn="l"/>
                <a:tab pos="1825625" algn="l"/>
                <a:tab pos="2286000" algn="l"/>
                <a:tab pos="2746375" algn="l"/>
                <a:tab pos="3205163" algn="l"/>
                <a:tab pos="3652838" algn="l"/>
                <a:tab pos="3889375" algn="l"/>
              </a:tabLst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tabLst>
                <a:tab pos="512763" algn="l"/>
                <a:tab pos="919163" algn="l"/>
                <a:tab pos="1366838" algn="l"/>
                <a:tab pos="1825625" algn="l"/>
                <a:tab pos="2286000" algn="l"/>
                <a:tab pos="2746375" algn="l"/>
                <a:tab pos="3205163" algn="l"/>
                <a:tab pos="3652838" algn="l"/>
                <a:tab pos="3889375" algn="l"/>
              </a:tabLst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512763" algn="l"/>
                <a:tab pos="919163" algn="l"/>
                <a:tab pos="1366838" algn="l"/>
                <a:tab pos="1825625" algn="l"/>
                <a:tab pos="2286000" algn="l"/>
                <a:tab pos="2746375" algn="l"/>
                <a:tab pos="3205163" algn="l"/>
                <a:tab pos="3652838" algn="l"/>
                <a:tab pos="3889375" algn="l"/>
              </a:tabLst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512763" algn="l"/>
                <a:tab pos="919163" algn="l"/>
                <a:tab pos="1366838" algn="l"/>
                <a:tab pos="1825625" algn="l"/>
                <a:tab pos="2286000" algn="l"/>
                <a:tab pos="2746375" algn="l"/>
                <a:tab pos="3205163" algn="l"/>
                <a:tab pos="3652838" algn="l"/>
                <a:tab pos="3889375" algn="l"/>
              </a:tabLst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512763" algn="l"/>
                <a:tab pos="919163" algn="l"/>
                <a:tab pos="1366838" algn="l"/>
                <a:tab pos="1825625" algn="l"/>
                <a:tab pos="2286000" algn="l"/>
                <a:tab pos="2746375" algn="l"/>
                <a:tab pos="3205163" algn="l"/>
                <a:tab pos="3652838" algn="l"/>
                <a:tab pos="3889375" algn="l"/>
              </a:tabLst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512763" algn="l"/>
                <a:tab pos="919163" algn="l"/>
                <a:tab pos="1366838" algn="l"/>
                <a:tab pos="1825625" algn="l"/>
                <a:tab pos="2286000" algn="l"/>
                <a:tab pos="2746375" algn="l"/>
                <a:tab pos="3205163" algn="l"/>
                <a:tab pos="3652838" algn="l"/>
                <a:tab pos="3889375" algn="l"/>
              </a:tabLst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kumimoji="0" lang="en-US" sz="2200" b="1" dirty="0">
                <a:solidFill>
                  <a:srgbClr val="000000"/>
                </a:solidFill>
                <a:latin typeface="Lucida Console"/>
                <a:cs typeface="Lucida Console"/>
              </a:rPr>
              <a:t>entity </a:t>
            </a:r>
            <a:r>
              <a:rPr kumimoji="0" lang="en-US" sz="2200" dirty="0">
                <a:solidFill>
                  <a:srgbClr val="000000"/>
                </a:solidFill>
                <a:latin typeface="Lucida Console"/>
                <a:cs typeface="Lucida Console"/>
              </a:rPr>
              <a:t>Mealy </a:t>
            </a:r>
            <a:r>
              <a:rPr kumimoji="0" lang="en-US" sz="2200" b="1" dirty="0">
                <a:solidFill>
                  <a:srgbClr val="000000"/>
                </a:solidFill>
                <a:latin typeface="Lucida Console"/>
                <a:cs typeface="Lucida Console"/>
              </a:rPr>
              <a:t>is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200" dirty="0">
                <a:solidFill>
                  <a:srgbClr val="000000"/>
                </a:solidFill>
                <a:latin typeface="Lucida Console"/>
                <a:cs typeface="Lucida Console"/>
              </a:rPr>
              <a:t>	PORT ( clock	: IN  STD_LOGIC;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200" dirty="0">
                <a:solidFill>
                  <a:srgbClr val="000000"/>
                </a:solidFill>
                <a:latin typeface="Lucida Console"/>
                <a:cs typeface="Lucida Console"/>
              </a:rPr>
              <a:t>    		</a:t>
            </a:r>
            <a:r>
              <a:rPr kumimoji="0" lang="en-US" sz="2200" dirty="0" err="1">
                <a:solidFill>
                  <a:srgbClr val="000000"/>
                </a:solidFill>
                <a:latin typeface="Lucida Console"/>
                <a:cs typeface="Lucida Console"/>
              </a:rPr>
              <a:t>resetn</a:t>
            </a:r>
            <a:r>
              <a:rPr kumimoji="0" lang="en-US" sz="2200" dirty="0">
                <a:solidFill>
                  <a:srgbClr val="000000"/>
                </a:solidFill>
                <a:latin typeface="Lucida Console"/>
                <a:cs typeface="Lucida Console"/>
              </a:rPr>
              <a:t>	: IN  STD_LOGIC;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200" dirty="0">
                <a:solidFill>
                  <a:srgbClr val="000000"/>
                </a:solidFill>
                <a:latin typeface="Lucida Console"/>
                <a:cs typeface="Lucida Console"/>
              </a:rPr>
              <a:t>			w 			: IN  STD_LOGIC;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200" dirty="0">
                <a:solidFill>
                  <a:srgbClr val="000000"/>
                </a:solidFill>
                <a:latin typeface="Lucida Console"/>
                <a:cs typeface="Lucida Console"/>
              </a:rPr>
              <a:t>			z			: OUT STD_LOGIC);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200" b="1" dirty="0">
                <a:solidFill>
                  <a:srgbClr val="000000"/>
                </a:solidFill>
                <a:latin typeface="Lucida Console"/>
                <a:cs typeface="Lucida Console"/>
              </a:rPr>
              <a:t>end </a:t>
            </a:r>
            <a:r>
              <a:rPr kumimoji="0" lang="en-US" sz="2200" dirty="0">
                <a:solidFill>
                  <a:srgbClr val="000000"/>
                </a:solidFill>
                <a:latin typeface="Lucida Console"/>
                <a:cs typeface="Lucida Console"/>
              </a:rPr>
              <a:t>Mealy;</a:t>
            </a:r>
          </a:p>
          <a:p>
            <a:pPr>
              <a:spcBef>
                <a:spcPct val="0"/>
              </a:spcBef>
              <a:buClrTx/>
            </a:pPr>
            <a:endParaRPr kumimoji="0" lang="en-US" sz="2200" dirty="0">
              <a:solidFill>
                <a:srgbClr val="000000"/>
              </a:solidFill>
              <a:latin typeface="Lucida Console"/>
              <a:cs typeface="Lucida Console"/>
            </a:endParaRPr>
          </a:p>
          <a:p>
            <a:pPr>
              <a:spcBef>
                <a:spcPct val="0"/>
              </a:spcBef>
              <a:buClrTx/>
            </a:pPr>
            <a:r>
              <a:rPr kumimoji="0" lang="en-US" sz="2200" b="1" dirty="0">
                <a:solidFill>
                  <a:srgbClr val="000000"/>
                </a:solidFill>
                <a:latin typeface="Lucida Console"/>
                <a:cs typeface="Lucida Console"/>
              </a:rPr>
              <a:t>architecture </a:t>
            </a:r>
            <a:r>
              <a:rPr kumimoji="0" lang="en-US" sz="2200" dirty="0">
                <a:solidFill>
                  <a:srgbClr val="000000"/>
                </a:solidFill>
                <a:latin typeface="Lucida Console"/>
                <a:cs typeface="Lucida Console"/>
              </a:rPr>
              <a:t>Behavior </a:t>
            </a:r>
            <a:r>
              <a:rPr kumimoji="0" lang="en-US" sz="2200" b="1" dirty="0">
                <a:solidFill>
                  <a:srgbClr val="000000"/>
                </a:solidFill>
                <a:latin typeface="Lucida Console"/>
                <a:cs typeface="Lucida Console"/>
              </a:rPr>
              <a:t>of </a:t>
            </a:r>
            <a:r>
              <a:rPr kumimoji="0" lang="en-US" sz="2200" dirty="0">
                <a:solidFill>
                  <a:srgbClr val="000000"/>
                </a:solidFill>
                <a:latin typeface="Lucida Console"/>
                <a:cs typeface="Lucida Console"/>
              </a:rPr>
              <a:t>Mealy </a:t>
            </a:r>
            <a:r>
              <a:rPr kumimoji="0" lang="en-US" sz="2200" b="1" dirty="0">
                <a:solidFill>
                  <a:srgbClr val="000000"/>
                </a:solidFill>
                <a:latin typeface="Lucida Console"/>
                <a:cs typeface="Lucida Console"/>
              </a:rPr>
              <a:t>is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200" dirty="0">
                <a:solidFill>
                  <a:srgbClr val="000000"/>
                </a:solidFill>
                <a:latin typeface="Lucida Console"/>
                <a:cs typeface="Lucida Console"/>
              </a:rPr>
              <a:t>	</a:t>
            </a:r>
            <a:r>
              <a:rPr kumimoji="0" lang="en-US" sz="2200" b="1" dirty="0">
                <a:solidFill>
                  <a:srgbClr val="000000"/>
                </a:solidFill>
                <a:latin typeface="Lucida Console"/>
                <a:cs typeface="Lucida Console"/>
              </a:rPr>
              <a:t>type </a:t>
            </a:r>
            <a:r>
              <a:rPr kumimoji="0" lang="en-US" sz="2200" dirty="0" err="1">
                <a:solidFill>
                  <a:srgbClr val="000000"/>
                </a:solidFill>
                <a:latin typeface="Lucida Console"/>
                <a:cs typeface="Lucida Console"/>
              </a:rPr>
              <a:t>State_type</a:t>
            </a:r>
            <a:r>
              <a:rPr kumimoji="0" lang="en-US" sz="2200" dirty="0">
                <a:solidFill>
                  <a:srgbClr val="000000"/>
                </a:solidFill>
                <a:latin typeface="Lucida Console"/>
                <a:cs typeface="Lucida Console"/>
              </a:rPr>
              <a:t> </a:t>
            </a:r>
            <a:r>
              <a:rPr kumimoji="0" lang="en-US" sz="2200" b="1" dirty="0">
                <a:solidFill>
                  <a:srgbClr val="000000"/>
                </a:solidFill>
                <a:latin typeface="Lucida Console"/>
                <a:cs typeface="Lucida Console"/>
              </a:rPr>
              <a:t>is </a:t>
            </a:r>
            <a:r>
              <a:rPr kumimoji="0" lang="en-US" sz="2200" dirty="0">
                <a:solidFill>
                  <a:srgbClr val="000000"/>
                </a:solidFill>
                <a:latin typeface="Lucida Console"/>
                <a:cs typeface="Lucida Console"/>
              </a:rPr>
              <a:t>(A, B) ;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200" dirty="0">
                <a:solidFill>
                  <a:srgbClr val="000000"/>
                </a:solidFill>
                <a:latin typeface="Lucida Console"/>
                <a:cs typeface="Lucida Console"/>
              </a:rPr>
              <a:t>	</a:t>
            </a:r>
            <a:r>
              <a:rPr kumimoji="0" lang="en-US" sz="2200" b="1" dirty="0">
                <a:solidFill>
                  <a:srgbClr val="000000"/>
                </a:solidFill>
                <a:latin typeface="Lucida Console"/>
                <a:cs typeface="Lucida Console"/>
              </a:rPr>
              <a:t>signal </a:t>
            </a:r>
            <a:r>
              <a:rPr kumimoji="0" lang="en-US" sz="2200" dirty="0">
                <a:solidFill>
                  <a:srgbClr val="000000"/>
                </a:solidFill>
                <a:latin typeface="Lucida Console"/>
                <a:cs typeface="Lucida Console"/>
              </a:rPr>
              <a:t>state: </a:t>
            </a:r>
            <a:r>
              <a:rPr kumimoji="0" lang="en-US" sz="2200" dirty="0" err="1">
                <a:solidFill>
                  <a:srgbClr val="000000"/>
                </a:solidFill>
                <a:latin typeface="Lucida Console"/>
                <a:cs typeface="Lucida Console"/>
              </a:rPr>
              <a:t>State_type</a:t>
            </a:r>
            <a:r>
              <a:rPr kumimoji="0" lang="en-US" sz="2200" dirty="0">
                <a:solidFill>
                  <a:srgbClr val="000000"/>
                </a:solidFill>
                <a:latin typeface="Lucida Console"/>
                <a:cs typeface="Lucida Console"/>
              </a:rPr>
              <a:t> ;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200" b="1" dirty="0">
                <a:solidFill>
                  <a:srgbClr val="000000"/>
                </a:solidFill>
                <a:latin typeface="Lucida Console"/>
                <a:cs typeface="Lucida Console"/>
              </a:rPr>
              <a:t>begin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200" dirty="0">
                <a:solidFill>
                  <a:srgbClr val="000000"/>
                </a:solidFill>
                <a:latin typeface="Lucida Console"/>
                <a:cs typeface="Lucida Console"/>
              </a:rPr>
              <a:t>	</a:t>
            </a:r>
            <a:r>
              <a:rPr kumimoji="0" lang="en-US" sz="2200" b="1" dirty="0">
                <a:solidFill>
                  <a:srgbClr val="000000"/>
                </a:solidFill>
                <a:latin typeface="Lucida Console"/>
                <a:cs typeface="Lucida Console"/>
              </a:rPr>
              <a:t>process </a:t>
            </a:r>
            <a:r>
              <a:rPr kumimoji="0" lang="en-US" sz="2200" dirty="0">
                <a:solidFill>
                  <a:srgbClr val="000000"/>
                </a:solidFill>
                <a:latin typeface="Lucida Console"/>
                <a:cs typeface="Lucida Console"/>
              </a:rPr>
              <a:t>(</a:t>
            </a:r>
            <a:r>
              <a:rPr kumimoji="0" lang="en-US" sz="2200" dirty="0" err="1">
                <a:solidFill>
                  <a:srgbClr val="000000"/>
                </a:solidFill>
                <a:latin typeface="Lucida Console"/>
                <a:cs typeface="Lucida Console"/>
              </a:rPr>
              <a:t>resetn</a:t>
            </a:r>
            <a:r>
              <a:rPr kumimoji="0" lang="en-US" sz="2200" dirty="0">
                <a:solidFill>
                  <a:srgbClr val="000000"/>
                </a:solidFill>
                <a:latin typeface="Lucida Console"/>
                <a:cs typeface="Lucida Console"/>
              </a:rPr>
              <a:t>, clock)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200" dirty="0">
                <a:solidFill>
                  <a:srgbClr val="000000"/>
                </a:solidFill>
                <a:latin typeface="Lucida Console"/>
                <a:cs typeface="Lucida Console"/>
              </a:rPr>
              <a:t>	</a:t>
            </a:r>
            <a:r>
              <a:rPr kumimoji="0" lang="en-US" sz="2200" b="1" dirty="0">
                <a:solidFill>
                  <a:srgbClr val="000000"/>
                </a:solidFill>
                <a:latin typeface="Lucida Console"/>
                <a:cs typeface="Lucida Console"/>
              </a:rPr>
              <a:t>begin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200" dirty="0">
                <a:solidFill>
                  <a:srgbClr val="000000"/>
                </a:solidFill>
                <a:latin typeface="Lucida Console"/>
                <a:cs typeface="Lucida Console"/>
              </a:rPr>
              <a:t>		</a:t>
            </a:r>
            <a:r>
              <a:rPr kumimoji="0" lang="en-US" sz="2200" b="1" dirty="0">
                <a:solidFill>
                  <a:srgbClr val="000000"/>
                </a:solidFill>
                <a:latin typeface="Lucida Console"/>
                <a:cs typeface="Lucida Console"/>
              </a:rPr>
              <a:t>if </a:t>
            </a:r>
            <a:r>
              <a:rPr kumimoji="0" lang="en-US" sz="2200" dirty="0" err="1">
                <a:solidFill>
                  <a:srgbClr val="000000"/>
                </a:solidFill>
                <a:latin typeface="Lucida Console"/>
                <a:cs typeface="Lucida Console"/>
              </a:rPr>
              <a:t>resetn</a:t>
            </a:r>
            <a:r>
              <a:rPr kumimoji="0" lang="en-US" sz="2200" dirty="0">
                <a:solidFill>
                  <a:srgbClr val="000000"/>
                </a:solidFill>
                <a:latin typeface="Lucida Console"/>
                <a:cs typeface="Lucida Console"/>
              </a:rPr>
              <a:t> = '0' </a:t>
            </a:r>
            <a:r>
              <a:rPr kumimoji="0" lang="en-US" sz="2200" b="1" dirty="0">
                <a:solidFill>
                  <a:srgbClr val="000000"/>
                </a:solidFill>
                <a:latin typeface="Lucida Console"/>
                <a:cs typeface="Lucida Console"/>
              </a:rPr>
              <a:t>then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200" dirty="0">
                <a:solidFill>
                  <a:srgbClr val="000000"/>
                </a:solidFill>
                <a:latin typeface="Lucida Console"/>
                <a:cs typeface="Lucida Console"/>
              </a:rPr>
              <a:t>			state&lt;= A ;</a:t>
            </a:r>
          </a:p>
          <a:p>
            <a:pPr>
              <a:spcBef>
                <a:spcPct val="0"/>
              </a:spcBef>
              <a:buClrTx/>
            </a:pPr>
            <a:r>
              <a:rPr kumimoji="0" lang="en-US" sz="2200" dirty="0">
                <a:solidFill>
                  <a:srgbClr val="000000"/>
                </a:solidFill>
                <a:latin typeface="Lucida Console"/>
                <a:cs typeface="Lucida Console"/>
              </a:rPr>
              <a:t>		</a:t>
            </a:r>
            <a:r>
              <a:rPr kumimoji="0" lang="en-US" sz="2200" b="1" dirty="0" err="1">
                <a:solidFill>
                  <a:srgbClr val="000000"/>
                </a:solidFill>
                <a:latin typeface="Lucida Console"/>
                <a:cs typeface="Lucida Console"/>
              </a:rPr>
              <a:t>elsif</a:t>
            </a:r>
            <a:r>
              <a:rPr kumimoji="0" lang="en-US" sz="2200" b="1" dirty="0">
                <a:solidFill>
                  <a:srgbClr val="000000"/>
                </a:solidFill>
                <a:latin typeface="Lucida Console"/>
                <a:cs typeface="Lucida Console"/>
              </a:rPr>
              <a:t> </a:t>
            </a:r>
            <a:r>
              <a:rPr kumimoji="0" lang="en-US" sz="2200" b="1" dirty="0" err="1">
                <a:solidFill>
                  <a:srgbClr val="000000"/>
                </a:solidFill>
                <a:latin typeface="Lucida Console"/>
                <a:cs typeface="Lucida Console"/>
              </a:rPr>
              <a:t>rising_edge</a:t>
            </a:r>
            <a:r>
              <a:rPr kumimoji="0" lang="en-US" sz="2200" dirty="0">
                <a:solidFill>
                  <a:srgbClr val="000000"/>
                </a:solidFill>
                <a:latin typeface="Lucida Console"/>
                <a:cs typeface="Lucida Console"/>
              </a:rPr>
              <a:t>(clock) </a:t>
            </a:r>
            <a:r>
              <a:rPr kumimoji="0" lang="en-US" sz="2200" b="1" dirty="0">
                <a:solidFill>
                  <a:srgbClr val="000000"/>
                </a:solidFill>
                <a:latin typeface="Lucida Console"/>
                <a:cs typeface="Lucida Console"/>
              </a:rPr>
              <a:t>then</a:t>
            </a:r>
          </a:p>
        </p:txBody>
      </p:sp>
    </p:spTree>
    <p:extLst>
      <p:ext uri="{BB962C8B-B14F-4D97-AF65-F5344CB8AC3E}">
        <p14:creationId xmlns:p14="http://schemas.microsoft.com/office/powerpoint/2010/main" val="8040516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ASM: Mealy FSM Example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2328C27-4ADA-9B82-CCBC-BE096585FE9F}"/>
              </a:ext>
            </a:extLst>
          </p:cNvPr>
          <p:cNvGrpSpPr/>
          <p:nvPr/>
        </p:nvGrpSpPr>
        <p:grpSpPr>
          <a:xfrm>
            <a:off x="7096006" y="2455068"/>
            <a:ext cx="4362450" cy="1947863"/>
            <a:chOff x="2314575" y="2438400"/>
            <a:chExt cx="4362450" cy="1947863"/>
          </a:xfrm>
        </p:grpSpPr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BB9F030C-5839-8170-5F2A-20C430B3E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4050" y="3711575"/>
              <a:ext cx="136525" cy="112713"/>
            </a:xfrm>
            <a:custGeom>
              <a:avLst/>
              <a:gdLst>
                <a:gd name="T0" fmla="*/ 0 w 173"/>
                <a:gd name="T1" fmla="*/ 0 h 144"/>
                <a:gd name="T2" fmla="*/ 0 w 173"/>
                <a:gd name="T3" fmla="*/ 0 h 144"/>
                <a:gd name="T4" fmla="*/ 0 w 173"/>
                <a:gd name="T5" fmla="*/ 0 h 144"/>
                <a:gd name="T6" fmla="*/ 0 w 173"/>
                <a:gd name="T7" fmla="*/ 0 h 144"/>
                <a:gd name="T8" fmla="*/ 0 w 173"/>
                <a:gd name="T9" fmla="*/ 0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3"/>
                <a:gd name="T16" fmla="*/ 0 h 144"/>
                <a:gd name="T17" fmla="*/ 173 w 173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3" h="144">
                  <a:moveTo>
                    <a:pt x="173" y="86"/>
                  </a:moveTo>
                  <a:lnTo>
                    <a:pt x="0" y="0"/>
                  </a:lnTo>
                  <a:lnTo>
                    <a:pt x="115" y="144"/>
                  </a:lnTo>
                  <a:lnTo>
                    <a:pt x="144" y="115"/>
                  </a:lnTo>
                  <a:lnTo>
                    <a:pt x="173" y="86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26985372-D075-805B-F110-1F43CF51BE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1188" y="3214688"/>
              <a:ext cx="639763" cy="639763"/>
            </a:xfrm>
            <a:custGeom>
              <a:avLst/>
              <a:gdLst>
                <a:gd name="T0" fmla="*/ 1 w 805"/>
                <a:gd name="T1" fmla="*/ 1 h 805"/>
                <a:gd name="T2" fmla="*/ 1 w 805"/>
                <a:gd name="T3" fmla="*/ 1 h 805"/>
                <a:gd name="T4" fmla="*/ 1 w 805"/>
                <a:gd name="T5" fmla="*/ 1 h 805"/>
                <a:gd name="T6" fmla="*/ 1 w 805"/>
                <a:gd name="T7" fmla="*/ 1 h 805"/>
                <a:gd name="T8" fmla="*/ 1 w 805"/>
                <a:gd name="T9" fmla="*/ 1 h 805"/>
                <a:gd name="T10" fmla="*/ 1 w 805"/>
                <a:gd name="T11" fmla="*/ 1 h 805"/>
                <a:gd name="T12" fmla="*/ 1 w 805"/>
                <a:gd name="T13" fmla="*/ 1 h 805"/>
                <a:gd name="T14" fmla="*/ 1 w 805"/>
                <a:gd name="T15" fmla="*/ 1 h 805"/>
                <a:gd name="T16" fmla="*/ 1 w 805"/>
                <a:gd name="T17" fmla="*/ 1 h 805"/>
                <a:gd name="T18" fmla="*/ 1 w 805"/>
                <a:gd name="T19" fmla="*/ 1 h 805"/>
                <a:gd name="T20" fmla="*/ 1 w 805"/>
                <a:gd name="T21" fmla="*/ 1 h 805"/>
                <a:gd name="T22" fmla="*/ 1 w 805"/>
                <a:gd name="T23" fmla="*/ 0 h 805"/>
                <a:gd name="T24" fmla="*/ 1 w 805"/>
                <a:gd name="T25" fmla="*/ 1 h 805"/>
                <a:gd name="T26" fmla="*/ 1 w 805"/>
                <a:gd name="T27" fmla="*/ 1 h 805"/>
                <a:gd name="T28" fmla="*/ 1 w 805"/>
                <a:gd name="T29" fmla="*/ 1 h 805"/>
                <a:gd name="T30" fmla="*/ 1 w 805"/>
                <a:gd name="T31" fmla="*/ 1 h 805"/>
                <a:gd name="T32" fmla="*/ 1 w 805"/>
                <a:gd name="T33" fmla="*/ 1 h 805"/>
                <a:gd name="T34" fmla="*/ 1 w 805"/>
                <a:gd name="T35" fmla="*/ 1 h 805"/>
                <a:gd name="T36" fmla="*/ 1 w 805"/>
                <a:gd name="T37" fmla="*/ 1 h 805"/>
                <a:gd name="T38" fmla="*/ 1 w 805"/>
                <a:gd name="T39" fmla="*/ 1 h 805"/>
                <a:gd name="T40" fmla="*/ 1 w 805"/>
                <a:gd name="T41" fmla="*/ 1 h 805"/>
                <a:gd name="T42" fmla="*/ 1 w 805"/>
                <a:gd name="T43" fmla="*/ 1 h 805"/>
                <a:gd name="T44" fmla="*/ 1 w 805"/>
                <a:gd name="T45" fmla="*/ 1 h 805"/>
                <a:gd name="T46" fmla="*/ 1 w 805"/>
                <a:gd name="T47" fmla="*/ 1 h 805"/>
                <a:gd name="T48" fmla="*/ 1 w 805"/>
                <a:gd name="T49" fmla="*/ 1 h 805"/>
                <a:gd name="T50" fmla="*/ 1 w 805"/>
                <a:gd name="T51" fmla="*/ 1 h 805"/>
                <a:gd name="T52" fmla="*/ 1 w 805"/>
                <a:gd name="T53" fmla="*/ 1 h 805"/>
                <a:gd name="T54" fmla="*/ 1 w 805"/>
                <a:gd name="T55" fmla="*/ 1 h 805"/>
                <a:gd name="T56" fmla="*/ 1 w 805"/>
                <a:gd name="T57" fmla="*/ 1 h 805"/>
                <a:gd name="T58" fmla="*/ 1 w 805"/>
                <a:gd name="T59" fmla="*/ 1 h 805"/>
                <a:gd name="T60" fmla="*/ 1 w 805"/>
                <a:gd name="T61" fmla="*/ 1 h 805"/>
                <a:gd name="T62" fmla="*/ 1 w 805"/>
                <a:gd name="T63" fmla="*/ 1 h 805"/>
                <a:gd name="T64" fmla="*/ 1 w 805"/>
                <a:gd name="T65" fmla="*/ 1 h 805"/>
                <a:gd name="T66" fmla="*/ 1 w 805"/>
                <a:gd name="T67" fmla="*/ 1 h 805"/>
                <a:gd name="T68" fmla="*/ 1 w 805"/>
                <a:gd name="T69" fmla="*/ 1 h 805"/>
                <a:gd name="T70" fmla="*/ 1 w 805"/>
                <a:gd name="T71" fmla="*/ 1 h 805"/>
                <a:gd name="T72" fmla="*/ 1 w 805"/>
                <a:gd name="T73" fmla="*/ 1 h 805"/>
                <a:gd name="T74" fmla="*/ 1 w 805"/>
                <a:gd name="T75" fmla="*/ 1 h 805"/>
                <a:gd name="T76" fmla="*/ 1 w 805"/>
                <a:gd name="T77" fmla="*/ 1 h 805"/>
                <a:gd name="T78" fmla="*/ 1 w 805"/>
                <a:gd name="T79" fmla="*/ 1 h 805"/>
                <a:gd name="T80" fmla="*/ 1 w 805"/>
                <a:gd name="T81" fmla="*/ 1 h 805"/>
                <a:gd name="T82" fmla="*/ 1 w 805"/>
                <a:gd name="T83" fmla="*/ 1 h 805"/>
                <a:gd name="T84" fmla="*/ 1 w 805"/>
                <a:gd name="T85" fmla="*/ 1 h 805"/>
                <a:gd name="T86" fmla="*/ 1 w 805"/>
                <a:gd name="T87" fmla="*/ 1 h 805"/>
                <a:gd name="T88" fmla="*/ 1 w 805"/>
                <a:gd name="T89" fmla="*/ 1 h 805"/>
                <a:gd name="T90" fmla="*/ 1 w 805"/>
                <a:gd name="T91" fmla="*/ 1 h 805"/>
                <a:gd name="T92" fmla="*/ 1 w 805"/>
                <a:gd name="T93" fmla="*/ 1 h 805"/>
                <a:gd name="T94" fmla="*/ 1 w 805"/>
                <a:gd name="T95" fmla="*/ 1 h 805"/>
                <a:gd name="T96" fmla="*/ 1 w 805"/>
                <a:gd name="T97" fmla="*/ 1 h 805"/>
                <a:gd name="T98" fmla="*/ 1 w 805"/>
                <a:gd name="T99" fmla="*/ 1 h 805"/>
                <a:gd name="T100" fmla="*/ 1 w 805"/>
                <a:gd name="T101" fmla="*/ 1 h 805"/>
                <a:gd name="T102" fmla="*/ 1 w 805"/>
                <a:gd name="T103" fmla="*/ 1 h 805"/>
                <a:gd name="T104" fmla="*/ 1 w 805"/>
                <a:gd name="T105" fmla="*/ 1 h 805"/>
                <a:gd name="T106" fmla="*/ 1 w 805"/>
                <a:gd name="T107" fmla="*/ 1 h 805"/>
                <a:gd name="T108" fmla="*/ 1 w 805"/>
                <a:gd name="T109" fmla="*/ 1 h 805"/>
                <a:gd name="T110" fmla="*/ 1 w 805"/>
                <a:gd name="T111" fmla="*/ 1 h 805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805"/>
                <a:gd name="T169" fmla="*/ 0 h 805"/>
                <a:gd name="T170" fmla="*/ 805 w 805"/>
                <a:gd name="T171" fmla="*/ 805 h 805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805" h="805">
                  <a:moveTo>
                    <a:pt x="0" y="398"/>
                  </a:moveTo>
                  <a:lnTo>
                    <a:pt x="0" y="408"/>
                  </a:lnTo>
                  <a:lnTo>
                    <a:pt x="1" y="386"/>
                  </a:lnTo>
                  <a:lnTo>
                    <a:pt x="3" y="366"/>
                  </a:lnTo>
                  <a:lnTo>
                    <a:pt x="5" y="345"/>
                  </a:lnTo>
                  <a:lnTo>
                    <a:pt x="8" y="326"/>
                  </a:lnTo>
                  <a:lnTo>
                    <a:pt x="13" y="306"/>
                  </a:lnTo>
                  <a:lnTo>
                    <a:pt x="18" y="286"/>
                  </a:lnTo>
                  <a:lnTo>
                    <a:pt x="24" y="267"/>
                  </a:lnTo>
                  <a:lnTo>
                    <a:pt x="33" y="248"/>
                  </a:lnTo>
                  <a:lnTo>
                    <a:pt x="40" y="231"/>
                  </a:lnTo>
                  <a:lnTo>
                    <a:pt x="49" y="214"/>
                  </a:lnTo>
                  <a:lnTo>
                    <a:pt x="59" y="197"/>
                  </a:lnTo>
                  <a:lnTo>
                    <a:pt x="70" y="179"/>
                  </a:lnTo>
                  <a:lnTo>
                    <a:pt x="82" y="164"/>
                  </a:lnTo>
                  <a:lnTo>
                    <a:pt x="93" y="148"/>
                  </a:lnTo>
                  <a:lnTo>
                    <a:pt x="106" y="133"/>
                  </a:lnTo>
                  <a:lnTo>
                    <a:pt x="119" y="119"/>
                  </a:lnTo>
                  <a:lnTo>
                    <a:pt x="133" y="106"/>
                  </a:lnTo>
                  <a:lnTo>
                    <a:pt x="148" y="93"/>
                  </a:lnTo>
                  <a:lnTo>
                    <a:pt x="164" y="82"/>
                  </a:lnTo>
                  <a:lnTo>
                    <a:pt x="180" y="70"/>
                  </a:lnTo>
                  <a:lnTo>
                    <a:pt x="197" y="59"/>
                  </a:lnTo>
                  <a:lnTo>
                    <a:pt x="214" y="49"/>
                  </a:lnTo>
                  <a:lnTo>
                    <a:pt x="231" y="40"/>
                  </a:lnTo>
                  <a:lnTo>
                    <a:pt x="249" y="31"/>
                  </a:lnTo>
                  <a:lnTo>
                    <a:pt x="267" y="24"/>
                  </a:lnTo>
                  <a:lnTo>
                    <a:pt x="286" y="18"/>
                  </a:lnTo>
                  <a:lnTo>
                    <a:pt x="306" y="13"/>
                  </a:lnTo>
                  <a:lnTo>
                    <a:pt x="326" y="8"/>
                  </a:lnTo>
                  <a:lnTo>
                    <a:pt x="346" y="4"/>
                  </a:lnTo>
                  <a:lnTo>
                    <a:pt x="367" y="3"/>
                  </a:lnTo>
                  <a:lnTo>
                    <a:pt x="387" y="1"/>
                  </a:lnTo>
                  <a:lnTo>
                    <a:pt x="408" y="0"/>
                  </a:lnTo>
                  <a:lnTo>
                    <a:pt x="398" y="0"/>
                  </a:lnTo>
                  <a:lnTo>
                    <a:pt x="418" y="1"/>
                  </a:lnTo>
                  <a:lnTo>
                    <a:pt x="440" y="3"/>
                  </a:lnTo>
                  <a:lnTo>
                    <a:pt x="460" y="4"/>
                  </a:lnTo>
                  <a:lnTo>
                    <a:pt x="480" y="8"/>
                  </a:lnTo>
                  <a:lnTo>
                    <a:pt x="500" y="13"/>
                  </a:lnTo>
                  <a:lnTo>
                    <a:pt x="519" y="18"/>
                  </a:lnTo>
                  <a:lnTo>
                    <a:pt x="538" y="24"/>
                  </a:lnTo>
                  <a:lnTo>
                    <a:pt x="556" y="31"/>
                  </a:lnTo>
                  <a:lnTo>
                    <a:pt x="575" y="40"/>
                  </a:lnTo>
                  <a:lnTo>
                    <a:pt x="592" y="49"/>
                  </a:lnTo>
                  <a:lnTo>
                    <a:pt x="610" y="59"/>
                  </a:lnTo>
                  <a:lnTo>
                    <a:pt x="625" y="70"/>
                  </a:lnTo>
                  <a:lnTo>
                    <a:pt x="641" y="82"/>
                  </a:lnTo>
                  <a:lnTo>
                    <a:pt x="657" y="93"/>
                  </a:lnTo>
                  <a:lnTo>
                    <a:pt x="671" y="106"/>
                  </a:lnTo>
                  <a:lnTo>
                    <a:pt x="686" y="119"/>
                  </a:lnTo>
                  <a:lnTo>
                    <a:pt x="700" y="133"/>
                  </a:lnTo>
                  <a:lnTo>
                    <a:pt x="713" y="148"/>
                  </a:lnTo>
                  <a:lnTo>
                    <a:pt x="725" y="164"/>
                  </a:lnTo>
                  <a:lnTo>
                    <a:pt x="736" y="179"/>
                  </a:lnTo>
                  <a:lnTo>
                    <a:pt x="746" y="197"/>
                  </a:lnTo>
                  <a:lnTo>
                    <a:pt x="756" y="214"/>
                  </a:lnTo>
                  <a:lnTo>
                    <a:pt x="765" y="231"/>
                  </a:lnTo>
                  <a:lnTo>
                    <a:pt x="774" y="248"/>
                  </a:lnTo>
                  <a:lnTo>
                    <a:pt x="781" y="267"/>
                  </a:lnTo>
                  <a:lnTo>
                    <a:pt x="788" y="286"/>
                  </a:lnTo>
                  <a:lnTo>
                    <a:pt x="792" y="306"/>
                  </a:lnTo>
                  <a:lnTo>
                    <a:pt x="798" y="326"/>
                  </a:lnTo>
                  <a:lnTo>
                    <a:pt x="801" y="345"/>
                  </a:lnTo>
                  <a:lnTo>
                    <a:pt x="804" y="366"/>
                  </a:lnTo>
                  <a:lnTo>
                    <a:pt x="805" y="386"/>
                  </a:lnTo>
                  <a:lnTo>
                    <a:pt x="805" y="408"/>
                  </a:lnTo>
                  <a:lnTo>
                    <a:pt x="805" y="398"/>
                  </a:lnTo>
                  <a:lnTo>
                    <a:pt x="805" y="418"/>
                  </a:lnTo>
                  <a:lnTo>
                    <a:pt x="804" y="439"/>
                  </a:lnTo>
                  <a:lnTo>
                    <a:pt x="801" y="460"/>
                  </a:lnTo>
                  <a:lnTo>
                    <a:pt x="798" y="480"/>
                  </a:lnTo>
                  <a:lnTo>
                    <a:pt x="792" y="500"/>
                  </a:lnTo>
                  <a:lnTo>
                    <a:pt x="788" y="519"/>
                  </a:lnTo>
                  <a:lnTo>
                    <a:pt x="781" y="537"/>
                  </a:lnTo>
                  <a:lnTo>
                    <a:pt x="774" y="556"/>
                  </a:lnTo>
                  <a:lnTo>
                    <a:pt x="765" y="575"/>
                  </a:lnTo>
                  <a:lnTo>
                    <a:pt x="756" y="592"/>
                  </a:lnTo>
                  <a:lnTo>
                    <a:pt x="746" y="609"/>
                  </a:lnTo>
                  <a:lnTo>
                    <a:pt x="736" y="625"/>
                  </a:lnTo>
                  <a:lnTo>
                    <a:pt x="725" y="641"/>
                  </a:lnTo>
                  <a:lnTo>
                    <a:pt x="713" y="656"/>
                  </a:lnTo>
                  <a:lnTo>
                    <a:pt x="700" y="671"/>
                  </a:lnTo>
                  <a:lnTo>
                    <a:pt x="686" y="685"/>
                  </a:lnTo>
                  <a:lnTo>
                    <a:pt x="671" y="700"/>
                  </a:lnTo>
                  <a:lnTo>
                    <a:pt x="657" y="713"/>
                  </a:lnTo>
                  <a:lnTo>
                    <a:pt x="641" y="724"/>
                  </a:lnTo>
                  <a:lnTo>
                    <a:pt x="625" y="736"/>
                  </a:lnTo>
                  <a:lnTo>
                    <a:pt x="610" y="746"/>
                  </a:lnTo>
                  <a:lnTo>
                    <a:pt x="592" y="756"/>
                  </a:lnTo>
                  <a:lnTo>
                    <a:pt x="575" y="764"/>
                  </a:lnTo>
                  <a:lnTo>
                    <a:pt x="556" y="773"/>
                  </a:lnTo>
                  <a:lnTo>
                    <a:pt x="538" y="780"/>
                  </a:lnTo>
                  <a:lnTo>
                    <a:pt x="519" y="786"/>
                  </a:lnTo>
                  <a:lnTo>
                    <a:pt x="500" y="792"/>
                  </a:lnTo>
                  <a:lnTo>
                    <a:pt x="480" y="796"/>
                  </a:lnTo>
                  <a:lnTo>
                    <a:pt x="460" y="800"/>
                  </a:lnTo>
                  <a:lnTo>
                    <a:pt x="440" y="803"/>
                  </a:lnTo>
                  <a:lnTo>
                    <a:pt x="418" y="805"/>
                  </a:lnTo>
                  <a:lnTo>
                    <a:pt x="398" y="805"/>
                  </a:lnTo>
                  <a:lnTo>
                    <a:pt x="408" y="805"/>
                  </a:lnTo>
                  <a:lnTo>
                    <a:pt x="387" y="805"/>
                  </a:lnTo>
                  <a:lnTo>
                    <a:pt x="367" y="803"/>
                  </a:lnTo>
                  <a:lnTo>
                    <a:pt x="346" y="800"/>
                  </a:lnTo>
                  <a:lnTo>
                    <a:pt x="326" y="796"/>
                  </a:lnTo>
                  <a:lnTo>
                    <a:pt x="306" y="792"/>
                  </a:lnTo>
                  <a:lnTo>
                    <a:pt x="286" y="786"/>
                  </a:lnTo>
                  <a:lnTo>
                    <a:pt x="267" y="780"/>
                  </a:lnTo>
                  <a:lnTo>
                    <a:pt x="249" y="773"/>
                  </a:lnTo>
                  <a:lnTo>
                    <a:pt x="231" y="764"/>
                  </a:lnTo>
                  <a:lnTo>
                    <a:pt x="214" y="756"/>
                  </a:lnTo>
                  <a:lnTo>
                    <a:pt x="197" y="746"/>
                  </a:lnTo>
                  <a:lnTo>
                    <a:pt x="180" y="736"/>
                  </a:lnTo>
                  <a:lnTo>
                    <a:pt x="164" y="724"/>
                  </a:lnTo>
                  <a:lnTo>
                    <a:pt x="148" y="713"/>
                  </a:lnTo>
                  <a:lnTo>
                    <a:pt x="133" y="700"/>
                  </a:lnTo>
                  <a:lnTo>
                    <a:pt x="119" y="685"/>
                  </a:lnTo>
                  <a:lnTo>
                    <a:pt x="106" y="671"/>
                  </a:lnTo>
                  <a:lnTo>
                    <a:pt x="93" y="656"/>
                  </a:lnTo>
                  <a:lnTo>
                    <a:pt x="82" y="641"/>
                  </a:lnTo>
                  <a:lnTo>
                    <a:pt x="70" y="625"/>
                  </a:lnTo>
                  <a:lnTo>
                    <a:pt x="59" y="609"/>
                  </a:lnTo>
                  <a:lnTo>
                    <a:pt x="49" y="592"/>
                  </a:lnTo>
                  <a:lnTo>
                    <a:pt x="40" y="575"/>
                  </a:lnTo>
                  <a:lnTo>
                    <a:pt x="33" y="556"/>
                  </a:lnTo>
                  <a:lnTo>
                    <a:pt x="24" y="537"/>
                  </a:lnTo>
                  <a:lnTo>
                    <a:pt x="18" y="519"/>
                  </a:lnTo>
                  <a:lnTo>
                    <a:pt x="13" y="500"/>
                  </a:lnTo>
                  <a:lnTo>
                    <a:pt x="8" y="480"/>
                  </a:lnTo>
                  <a:lnTo>
                    <a:pt x="5" y="460"/>
                  </a:lnTo>
                  <a:lnTo>
                    <a:pt x="3" y="439"/>
                  </a:lnTo>
                  <a:lnTo>
                    <a:pt x="1" y="418"/>
                  </a:lnTo>
                  <a:lnTo>
                    <a:pt x="0" y="398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44003D1A-045A-AE40-27BE-3ADB42F09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688" y="3717925"/>
              <a:ext cx="114300" cy="112713"/>
            </a:xfrm>
            <a:custGeom>
              <a:avLst/>
              <a:gdLst>
                <a:gd name="T0" fmla="*/ 1 w 144"/>
                <a:gd name="T1" fmla="*/ 0 h 144"/>
                <a:gd name="T2" fmla="*/ 1 w 144"/>
                <a:gd name="T3" fmla="*/ 0 h 144"/>
                <a:gd name="T4" fmla="*/ 0 w 144"/>
                <a:gd name="T5" fmla="*/ 0 h 144"/>
                <a:gd name="T6" fmla="*/ 1 w 144"/>
                <a:gd name="T7" fmla="*/ 0 h 144"/>
                <a:gd name="T8" fmla="*/ 1 w 144"/>
                <a:gd name="T9" fmla="*/ 0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"/>
                <a:gd name="T16" fmla="*/ 0 h 144"/>
                <a:gd name="T17" fmla="*/ 144 w 144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" h="144">
                  <a:moveTo>
                    <a:pt x="58" y="144"/>
                  </a:moveTo>
                  <a:lnTo>
                    <a:pt x="144" y="0"/>
                  </a:lnTo>
                  <a:lnTo>
                    <a:pt x="0" y="86"/>
                  </a:lnTo>
                  <a:lnTo>
                    <a:pt x="29" y="115"/>
                  </a:lnTo>
                  <a:lnTo>
                    <a:pt x="58" y="144"/>
                  </a:lnTo>
                  <a:close/>
                </a:path>
              </a:pathLst>
            </a:custGeom>
            <a:solidFill>
              <a:srgbClr val="0000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4354A172-E66D-1615-0C57-41E11662A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3214688"/>
              <a:ext cx="661988" cy="639763"/>
            </a:xfrm>
            <a:custGeom>
              <a:avLst/>
              <a:gdLst>
                <a:gd name="T0" fmla="*/ 1 w 834"/>
                <a:gd name="T1" fmla="*/ 1 h 805"/>
                <a:gd name="T2" fmla="*/ 1 w 834"/>
                <a:gd name="T3" fmla="*/ 1 h 805"/>
                <a:gd name="T4" fmla="*/ 1 w 834"/>
                <a:gd name="T5" fmla="*/ 1 h 805"/>
                <a:gd name="T6" fmla="*/ 1 w 834"/>
                <a:gd name="T7" fmla="*/ 1 h 805"/>
                <a:gd name="T8" fmla="*/ 1 w 834"/>
                <a:gd name="T9" fmla="*/ 1 h 805"/>
                <a:gd name="T10" fmla="*/ 1 w 834"/>
                <a:gd name="T11" fmla="*/ 1 h 805"/>
                <a:gd name="T12" fmla="*/ 1 w 834"/>
                <a:gd name="T13" fmla="*/ 1 h 805"/>
                <a:gd name="T14" fmla="*/ 1 w 834"/>
                <a:gd name="T15" fmla="*/ 1 h 805"/>
                <a:gd name="T16" fmla="*/ 1 w 834"/>
                <a:gd name="T17" fmla="*/ 1 h 805"/>
                <a:gd name="T18" fmla="*/ 1 w 834"/>
                <a:gd name="T19" fmla="*/ 1 h 805"/>
                <a:gd name="T20" fmla="*/ 1 w 834"/>
                <a:gd name="T21" fmla="*/ 1 h 805"/>
                <a:gd name="T22" fmla="*/ 1 w 834"/>
                <a:gd name="T23" fmla="*/ 0 h 805"/>
                <a:gd name="T24" fmla="*/ 1 w 834"/>
                <a:gd name="T25" fmla="*/ 1 h 805"/>
                <a:gd name="T26" fmla="*/ 1 w 834"/>
                <a:gd name="T27" fmla="*/ 1 h 805"/>
                <a:gd name="T28" fmla="*/ 1 w 834"/>
                <a:gd name="T29" fmla="*/ 1 h 805"/>
                <a:gd name="T30" fmla="*/ 1 w 834"/>
                <a:gd name="T31" fmla="*/ 1 h 805"/>
                <a:gd name="T32" fmla="*/ 1 w 834"/>
                <a:gd name="T33" fmla="*/ 1 h 805"/>
                <a:gd name="T34" fmla="*/ 1 w 834"/>
                <a:gd name="T35" fmla="*/ 1 h 805"/>
                <a:gd name="T36" fmla="*/ 1 w 834"/>
                <a:gd name="T37" fmla="*/ 1 h 805"/>
                <a:gd name="T38" fmla="*/ 1 w 834"/>
                <a:gd name="T39" fmla="*/ 1 h 805"/>
                <a:gd name="T40" fmla="*/ 1 w 834"/>
                <a:gd name="T41" fmla="*/ 1 h 805"/>
                <a:gd name="T42" fmla="*/ 1 w 834"/>
                <a:gd name="T43" fmla="*/ 1 h 805"/>
                <a:gd name="T44" fmla="*/ 1 w 834"/>
                <a:gd name="T45" fmla="*/ 1 h 805"/>
                <a:gd name="T46" fmla="*/ 1 w 834"/>
                <a:gd name="T47" fmla="*/ 1 h 805"/>
                <a:gd name="T48" fmla="*/ 1 w 834"/>
                <a:gd name="T49" fmla="*/ 1 h 805"/>
                <a:gd name="T50" fmla="*/ 1 w 834"/>
                <a:gd name="T51" fmla="*/ 1 h 805"/>
                <a:gd name="T52" fmla="*/ 1 w 834"/>
                <a:gd name="T53" fmla="*/ 1 h 805"/>
                <a:gd name="T54" fmla="*/ 1 w 834"/>
                <a:gd name="T55" fmla="*/ 1 h 805"/>
                <a:gd name="T56" fmla="*/ 1 w 834"/>
                <a:gd name="T57" fmla="*/ 1 h 805"/>
                <a:gd name="T58" fmla="*/ 1 w 834"/>
                <a:gd name="T59" fmla="*/ 1 h 805"/>
                <a:gd name="T60" fmla="*/ 1 w 834"/>
                <a:gd name="T61" fmla="*/ 1 h 805"/>
                <a:gd name="T62" fmla="*/ 1 w 834"/>
                <a:gd name="T63" fmla="*/ 1 h 805"/>
                <a:gd name="T64" fmla="*/ 1 w 834"/>
                <a:gd name="T65" fmla="*/ 1 h 805"/>
                <a:gd name="T66" fmla="*/ 1 w 834"/>
                <a:gd name="T67" fmla="*/ 1 h 805"/>
                <a:gd name="T68" fmla="*/ 1 w 834"/>
                <a:gd name="T69" fmla="*/ 1 h 805"/>
                <a:gd name="T70" fmla="*/ 1 w 834"/>
                <a:gd name="T71" fmla="*/ 1 h 805"/>
                <a:gd name="T72" fmla="*/ 1 w 834"/>
                <a:gd name="T73" fmla="*/ 1 h 805"/>
                <a:gd name="T74" fmla="*/ 1 w 834"/>
                <a:gd name="T75" fmla="*/ 1 h 805"/>
                <a:gd name="T76" fmla="*/ 1 w 834"/>
                <a:gd name="T77" fmla="*/ 1 h 805"/>
                <a:gd name="T78" fmla="*/ 1 w 834"/>
                <a:gd name="T79" fmla="*/ 1 h 805"/>
                <a:gd name="T80" fmla="*/ 1 w 834"/>
                <a:gd name="T81" fmla="*/ 1 h 805"/>
                <a:gd name="T82" fmla="*/ 1 w 834"/>
                <a:gd name="T83" fmla="*/ 1 h 805"/>
                <a:gd name="T84" fmla="*/ 1 w 834"/>
                <a:gd name="T85" fmla="*/ 1 h 805"/>
                <a:gd name="T86" fmla="*/ 1 w 834"/>
                <a:gd name="T87" fmla="*/ 1 h 805"/>
                <a:gd name="T88" fmla="*/ 1 w 834"/>
                <a:gd name="T89" fmla="*/ 1 h 805"/>
                <a:gd name="T90" fmla="*/ 1 w 834"/>
                <a:gd name="T91" fmla="*/ 1 h 805"/>
                <a:gd name="T92" fmla="*/ 1 w 834"/>
                <a:gd name="T93" fmla="*/ 1 h 805"/>
                <a:gd name="T94" fmla="*/ 1 w 834"/>
                <a:gd name="T95" fmla="*/ 1 h 805"/>
                <a:gd name="T96" fmla="*/ 1 w 834"/>
                <a:gd name="T97" fmla="*/ 1 h 805"/>
                <a:gd name="T98" fmla="*/ 1 w 834"/>
                <a:gd name="T99" fmla="*/ 1 h 805"/>
                <a:gd name="T100" fmla="*/ 1 w 834"/>
                <a:gd name="T101" fmla="*/ 1 h 805"/>
                <a:gd name="T102" fmla="*/ 1 w 834"/>
                <a:gd name="T103" fmla="*/ 1 h 805"/>
                <a:gd name="T104" fmla="*/ 1 w 834"/>
                <a:gd name="T105" fmla="*/ 1 h 805"/>
                <a:gd name="T106" fmla="*/ 1 w 834"/>
                <a:gd name="T107" fmla="*/ 1 h 805"/>
                <a:gd name="T108" fmla="*/ 1 w 834"/>
                <a:gd name="T109" fmla="*/ 1 h 805"/>
                <a:gd name="T110" fmla="*/ 1 w 834"/>
                <a:gd name="T111" fmla="*/ 1 h 805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834"/>
                <a:gd name="T169" fmla="*/ 0 h 805"/>
                <a:gd name="T170" fmla="*/ 834 w 834"/>
                <a:gd name="T171" fmla="*/ 805 h 805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834" h="805">
                  <a:moveTo>
                    <a:pt x="0" y="398"/>
                  </a:moveTo>
                  <a:lnTo>
                    <a:pt x="0" y="408"/>
                  </a:lnTo>
                  <a:lnTo>
                    <a:pt x="1" y="386"/>
                  </a:lnTo>
                  <a:lnTo>
                    <a:pt x="3" y="366"/>
                  </a:lnTo>
                  <a:lnTo>
                    <a:pt x="6" y="345"/>
                  </a:lnTo>
                  <a:lnTo>
                    <a:pt x="8" y="326"/>
                  </a:lnTo>
                  <a:lnTo>
                    <a:pt x="13" y="306"/>
                  </a:lnTo>
                  <a:lnTo>
                    <a:pt x="19" y="286"/>
                  </a:lnTo>
                  <a:lnTo>
                    <a:pt x="24" y="267"/>
                  </a:lnTo>
                  <a:lnTo>
                    <a:pt x="33" y="248"/>
                  </a:lnTo>
                  <a:lnTo>
                    <a:pt x="40" y="231"/>
                  </a:lnTo>
                  <a:lnTo>
                    <a:pt x="49" y="214"/>
                  </a:lnTo>
                  <a:lnTo>
                    <a:pt x="59" y="197"/>
                  </a:lnTo>
                  <a:lnTo>
                    <a:pt x="70" y="179"/>
                  </a:lnTo>
                  <a:lnTo>
                    <a:pt x="82" y="164"/>
                  </a:lnTo>
                  <a:lnTo>
                    <a:pt x="93" y="148"/>
                  </a:lnTo>
                  <a:lnTo>
                    <a:pt x="106" y="133"/>
                  </a:lnTo>
                  <a:lnTo>
                    <a:pt x="119" y="119"/>
                  </a:lnTo>
                  <a:lnTo>
                    <a:pt x="134" y="106"/>
                  </a:lnTo>
                  <a:lnTo>
                    <a:pt x="148" y="93"/>
                  </a:lnTo>
                  <a:lnTo>
                    <a:pt x="164" y="82"/>
                  </a:lnTo>
                  <a:lnTo>
                    <a:pt x="180" y="70"/>
                  </a:lnTo>
                  <a:lnTo>
                    <a:pt x="197" y="59"/>
                  </a:lnTo>
                  <a:lnTo>
                    <a:pt x="214" y="49"/>
                  </a:lnTo>
                  <a:lnTo>
                    <a:pt x="231" y="40"/>
                  </a:lnTo>
                  <a:lnTo>
                    <a:pt x="249" y="31"/>
                  </a:lnTo>
                  <a:lnTo>
                    <a:pt x="267" y="24"/>
                  </a:lnTo>
                  <a:lnTo>
                    <a:pt x="286" y="18"/>
                  </a:lnTo>
                  <a:lnTo>
                    <a:pt x="306" y="13"/>
                  </a:lnTo>
                  <a:lnTo>
                    <a:pt x="326" y="8"/>
                  </a:lnTo>
                  <a:lnTo>
                    <a:pt x="347" y="4"/>
                  </a:lnTo>
                  <a:lnTo>
                    <a:pt x="367" y="3"/>
                  </a:lnTo>
                  <a:lnTo>
                    <a:pt x="387" y="1"/>
                  </a:lnTo>
                  <a:lnTo>
                    <a:pt x="408" y="0"/>
                  </a:lnTo>
                  <a:lnTo>
                    <a:pt x="427" y="0"/>
                  </a:lnTo>
                  <a:lnTo>
                    <a:pt x="447" y="1"/>
                  </a:lnTo>
                  <a:lnTo>
                    <a:pt x="469" y="3"/>
                  </a:lnTo>
                  <a:lnTo>
                    <a:pt x="489" y="4"/>
                  </a:lnTo>
                  <a:lnTo>
                    <a:pt x="509" y="8"/>
                  </a:lnTo>
                  <a:lnTo>
                    <a:pt x="529" y="13"/>
                  </a:lnTo>
                  <a:lnTo>
                    <a:pt x="548" y="18"/>
                  </a:lnTo>
                  <a:lnTo>
                    <a:pt x="567" y="24"/>
                  </a:lnTo>
                  <a:lnTo>
                    <a:pt x="585" y="31"/>
                  </a:lnTo>
                  <a:lnTo>
                    <a:pt x="604" y="40"/>
                  </a:lnTo>
                  <a:lnTo>
                    <a:pt x="621" y="49"/>
                  </a:lnTo>
                  <a:lnTo>
                    <a:pt x="639" y="59"/>
                  </a:lnTo>
                  <a:lnTo>
                    <a:pt x="654" y="70"/>
                  </a:lnTo>
                  <a:lnTo>
                    <a:pt x="670" y="82"/>
                  </a:lnTo>
                  <a:lnTo>
                    <a:pt x="686" y="93"/>
                  </a:lnTo>
                  <a:lnTo>
                    <a:pt x="700" y="106"/>
                  </a:lnTo>
                  <a:lnTo>
                    <a:pt x="715" y="119"/>
                  </a:lnTo>
                  <a:lnTo>
                    <a:pt x="729" y="133"/>
                  </a:lnTo>
                  <a:lnTo>
                    <a:pt x="742" y="148"/>
                  </a:lnTo>
                  <a:lnTo>
                    <a:pt x="754" y="164"/>
                  </a:lnTo>
                  <a:lnTo>
                    <a:pt x="765" y="179"/>
                  </a:lnTo>
                  <a:lnTo>
                    <a:pt x="775" y="197"/>
                  </a:lnTo>
                  <a:lnTo>
                    <a:pt x="785" y="214"/>
                  </a:lnTo>
                  <a:lnTo>
                    <a:pt x="794" y="231"/>
                  </a:lnTo>
                  <a:lnTo>
                    <a:pt x="803" y="248"/>
                  </a:lnTo>
                  <a:lnTo>
                    <a:pt x="810" y="267"/>
                  </a:lnTo>
                  <a:lnTo>
                    <a:pt x="817" y="286"/>
                  </a:lnTo>
                  <a:lnTo>
                    <a:pt x="821" y="306"/>
                  </a:lnTo>
                  <a:lnTo>
                    <a:pt x="827" y="326"/>
                  </a:lnTo>
                  <a:lnTo>
                    <a:pt x="830" y="345"/>
                  </a:lnTo>
                  <a:lnTo>
                    <a:pt x="833" y="366"/>
                  </a:lnTo>
                  <a:lnTo>
                    <a:pt x="834" y="386"/>
                  </a:lnTo>
                  <a:lnTo>
                    <a:pt x="834" y="408"/>
                  </a:lnTo>
                  <a:lnTo>
                    <a:pt x="834" y="398"/>
                  </a:lnTo>
                  <a:lnTo>
                    <a:pt x="834" y="418"/>
                  </a:lnTo>
                  <a:lnTo>
                    <a:pt x="833" y="439"/>
                  </a:lnTo>
                  <a:lnTo>
                    <a:pt x="830" y="460"/>
                  </a:lnTo>
                  <a:lnTo>
                    <a:pt x="827" y="480"/>
                  </a:lnTo>
                  <a:lnTo>
                    <a:pt x="821" y="500"/>
                  </a:lnTo>
                  <a:lnTo>
                    <a:pt x="817" y="519"/>
                  </a:lnTo>
                  <a:lnTo>
                    <a:pt x="810" y="537"/>
                  </a:lnTo>
                  <a:lnTo>
                    <a:pt x="803" y="556"/>
                  </a:lnTo>
                  <a:lnTo>
                    <a:pt x="794" y="575"/>
                  </a:lnTo>
                  <a:lnTo>
                    <a:pt x="785" y="592"/>
                  </a:lnTo>
                  <a:lnTo>
                    <a:pt x="775" y="609"/>
                  </a:lnTo>
                  <a:lnTo>
                    <a:pt x="765" y="625"/>
                  </a:lnTo>
                  <a:lnTo>
                    <a:pt x="754" y="641"/>
                  </a:lnTo>
                  <a:lnTo>
                    <a:pt x="742" y="656"/>
                  </a:lnTo>
                  <a:lnTo>
                    <a:pt x="729" y="671"/>
                  </a:lnTo>
                  <a:lnTo>
                    <a:pt x="715" y="685"/>
                  </a:lnTo>
                  <a:lnTo>
                    <a:pt x="700" y="700"/>
                  </a:lnTo>
                  <a:lnTo>
                    <a:pt x="686" y="713"/>
                  </a:lnTo>
                  <a:lnTo>
                    <a:pt x="670" y="724"/>
                  </a:lnTo>
                  <a:lnTo>
                    <a:pt x="654" y="736"/>
                  </a:lnTo>
                  <a:lnTo>
                    <a:pt x="639" y="746"/>
                  </a:lnTo>
                  <a:lnTo>
                    <a:pt x="621" y="756"/>
                  </a:lnTo>
                  <a:lnTo>
                    <a:pt x="604" y="764"/>
                  </a:lnTo>
                  <a:lnTo>
                    <a:pt x="585" y="773"/>
                  </a:lnTo>
                  <a:lnTo>
                    <a:pt x="567" y="780"/>
                  </a:lnTo>
                  <a:lnTo>
                    <a:pt x="548" y="786"/>
                  </a:lnTo>
                  <a:lnTo>
                    <a:pt x="529" y="792"/>
                  </a:lnTo>
                  <a:lnTo>
                    <a:pt x="509" y="796"/>
                  </a:lnTo>
                  <a:lnTo>
                    <a:pt x="489" y="800"/>
                  </a:lnTo>
                  <a:lnTo>
                    <a:pt x="469" y="803"/>
                  </a:lnTo>
                  <a:lnTo>
                    <a:pt x="447" y="805"/>
                  </a:lnTo>
                  <a:lnTo>
                    <a:pt x="427" y="805"/>
                  </a:lnTo>
                  <a:lnTo>
                    <a:pt x="408" y="805"/>
                  </a:lnTo>
                  <a:lnTo>
                    <a:pt x="387" y="805"/>
                  </a:lnTo>
                  <a:lnTo>
                    <a:pt x="367" y="803"/>
                  </a:lnTo>
                  <a:lnTo>
                    <a:pt x="347" y="800"/>
                  </a:lnTo>
                  <a:lnTo>
                    <a:pt x="326" y="796"/>
                  </a:lnTo>
                  <a:lnTo>
                    <a:pt x="306" y="792"/>
                  </a:lnTo>
                  <a:lnTo>
                    <a:pt x="286" y="786"/>
                  </a:lnTo>
                  <a:lnTo>
                    <a:pt x="267" y="780"/>
                  </a:lnTo>
                  <a:lnTo>
                    <a:pt x="249" y="773"/>
                  </a:lnTo>
                  <a:lnTo>
                    <a:pt x="231" y="764"/>
                  </a:lnTo>
                  <a:lnTo>
                    <a:pt x="214" y="756"/>
                  </a:lnTo>
                  <a:lnTo>
                    <a:pt x="197" y="746"/>
                  </a:lnTo>
                  <a:lnTo>
                    <a:pt x="180" y="736"/>
                  </a:lnTo>
                  <a:lnTo>
                    <a:pt x="164" y="724"/>
                  </a:lnTo>
                  <a:lnTo>
                    <a:pt x="148" y="713"/>
                  </a:lnTo>
                  <a:lnTo>
                    <a:pt x="134" y="700"/>
                  </a:lnTo>
                  <a:lnTo>
                    <a:pt x="119" y="685"/>
                  </a:lnTo>
                  <a:lnTo>
                    <a:pt x="106" y="671"/>
                  </a:lnTo>
                  <a:lnTo>
                    <a:pt x="93" y="656"/>
                  </a:lnTo>
                  <a:lnTo>
                    <a:pt x="82" y="641"/>
                  </a:lnTo>
                  <a:lnTo>
                    <a:pt x="70" y="625"/>
                  </a:lnTo>
                  <a:lnTo>
                    <a:pt x="59" y="609"/>
                  </a:lnTo>
                  <a:lnTo>
                    <a:pt x="49" y="592"/>
                  </a:lnTo>
                  <a:lnTo>
                    <a:pt x="40" y="575"/>
                  </a:lnTo>
                  <a:lnTo>
                    <a:pt x="33" y="556"/>
                  </a:lnTo>
                  <a:lnTo>
                    <a:pt x="24" y="537"/>
                  </a:lnTo>
                  <a:lnTo>
                    <a:pt x="19" y="519"/>
                  </a:lnTo>
                  <a:lnTo>
                    <a:pt x="13" y="500"/>
                  </a:lnTo>
                  <a:lnTo>
                    <a:pt x="8" y="480"/>
                  </a:lnTo>
                  <a:lnTo>
                    <a:pt x="6" y="460"/>
                  </a:lnTo>
                  <a:lnTo>
                    <a:pt x="3" y="439"/>
                  </a:lnTo>
                  <a:lnTo>
                    <a:pt x="1" y="418"/>
                  </a:lnTo>
                  <a:lnTo>
                    <a:pt x="0" y="398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EB51BC34-FAE4-9DED-0AD3-53FC600BF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8175" y="3214688"/>
              <a:ext cx="646113" cy="644525"/>
            </a:xfrm>
            <a:custGeom>
              <a:avLst/>
              <a:gdLst>
                <a:gd name="T0" fmla="*/ 1 w 814"/>
                <a:gd name="T1" fmla="*/ 0 h 814"/>
                <a:gd name="T2" fmla="*/ 1 w 814"/>
                <a:gd name="T3" fmla="*/ 0 h 814"/>
                <a:gd name="T4" fmla="*/ 1 w 814"/>
                <a:gd name="T5" fmla="*/ 0 h 814"/>
                <a:gd name="T6" fmla="*/ 1 w 814"/>
                <a:gd name="T7" fmla="*/ 0 h 814"/>
                <a:gd name="T8" fmla="*/ 1 w 814"/>
                <a:gd name="T9" fmla="*/ 0 h 814"/>
                <a:gd name="T10" fmla="*/ 1 w 814"/>
                <a:gd name="T11" fmla="*/ 0 h 814"/>
                <a:gd name="T12" fmla="*/ 1 w 814"/>
                <a:gd name="T13" fmla="*/ 0 h 814"/>
                <a:gd name="T14" fmla="*/ 1 w 814"/>
                <a:gd name="T15" fmla="*/ 0 h 814"/>
                <a:gd name="T16" fmla="*/ 1 w 814"/>
                <a:gd name="T17" fmla="*/ 0 h 814"/>
                <a:gd name="T18" fmla="*/ 1 w 814"/>
                <a:gd name="T19" fmla="*/ 0 h 814"/>
                <a:gd name="T20" fmla="*/ 0 w 814"/>
                <a:gd name="T21" fmla="*/ 0 h 814"/>
                <a:gd name="T22" fmla="*/ 1 w 814"/>
                <a:gd name="T23" fmla="*/ 0 h 814"/>
                <a:gd name="T24" fmla="*/ 1 w 814"/>
                <a:gd name="T25" fmla="*/ 0 h 814"/>
                <a:gd name="T26" fmla="*/ 1 w 814"/>
                <a:gd name="T27" fmla="*/ 0 h 814"/>
                <a:gd name="T28" fmla="*/ 1 w 814"/>
                <a:gd name="T29" fmla="*/ 0 h 814"/>
                <a:gd name="T30" fmla="*/ 1 w 814"/>
                <a:gd name="T31" fmla="*/ 0 h 814"/>
                <a:gd name="T32" fmla="*/ 1 w 814"/>
                <a:gd name="T33" fmla="*/ 0 h 814"/>
                <a:gd name="T34" fmla="*/ 1 w 814"/>
                <a:gd name="T35" fmla="*/ 0 h 814"/>
                <a:gd name="T36" fmla="*/ 1 w 814"/>
                <a:gd name="T37" fmla="*/ 0 h 814"/>
                <a:gd name="T38" fmla="*/ 1 w 814"/>
                <a:gd name="T39" fmla="*/ 0 h 814"/>
                <a:gd name="T40" fmla="*/ 1 w 814"/>
                <a:gd name="T41" fmla="*/ 0 h 814"/>
                <a:gd name="T42" fmla="*/ 1 w 814"/>
                <a:gd name="T43" fmla="*/ 0 h 814"/>
                <a:gd name="T44" fmla="*/ 1 w 814"/>
                <a:gd name="T45" fmla="*/ 0 h 814"/>
                <a:gd name="T46" fmla="*/ 1 w 814"/>
                <a:gd name="T47" fmla="*/ 0 h 814"/>
                <a:gd name="T48" fmla="*/ 1 w 814"/>
                <a:gd name="T49" fmla="*/ 0 h 814"/>
                <a:gd name="T50" fmla="*/ 1 w 814"/>
                <a:gd name="T51" fmla="*/ 0 h 814"/>
                <a:gd name="T52" fmla="*/ 1 w 814"/>
                <a:gd name="T53" fmla="*/ 0 h 814"/>
                <a:gd name="T54" fmla="*/ 1 w 814"/>
                <a:gd name="T55" fmla="*/ 0 h 814"/>
                <a:gd name="T56" fmla="*/ 1 w 814"/>
                <a:gd name="T57" fmla="*/ 0 h 814"/>
                <a:gd name="T58" fmla="*/ 1 w 814"/>
                <a:gd name="T59" fmla="*/ 0 h 814"/>
                <a:gd name="T60" fmla="*/ 1 w 814"/>
                <a:gd name="T61" fmla="*/ 0 h 814"/>
                <a:gd name="T62" fmla="*/ 1 w 814"/>
                <a:gd name="T63" fmla="*/ 0 h 814"/>
                <a:gd name="T64" fmla="*/ 1 w 814"/>
                <a:gd name="T65" fmla="*/ 0 h 814"/>
                <a:gd name="T66" fmla="*/ 1 w 814"/>
                <a:gd name="T67" fmla="*/ 0 h 814"/>
                <a:gd name="T68" fmla="*/ 1 w 814"/>
                <a:gd name="T69" fmla="*/ 0 h 814"/>
                <a:gd name="T70" fmla="*/ 1 w 814"/>
                <a:gd name="T71" fmla="*/ 0 h 814"/>
                <a:gd name="T72" fmla="*/ 1 w 814"/>
                <a:gd name="T73" fmla="*/ 0 h 814"/>
                <a:gd name="T74" fmla="*/ 1 w 814"/>
                <a:gd name="T75" fmla="*/ 0 h 814"/>
                <a:gd name="T76" fmla="*/ 1 w 814"/>
                <a:gd name="T77" fmla="*/ 0 h 814"/>
                <a:gd name="T78" fmla="*/ 1 w 814"/>
                <a:gd name="T79" fmla="*/ 0 h 814"/>
                <a:gd name="T80" fmla="*/ 1 w 814"/>
                <a:gd name="T81" fmla="*/ 0 h 814"/>
                <a:gd name="T82" fmla="*/ 1 w 814"/>
                <a:gd name="T83" fmla="*/ 0 h 814"/>
                <a:gd name="T84" fmla="*/ 1 w 814"/>
                <a:gd name="T85" fmla="*/ 0 h 814"/>
                <a:gd name="T86" fmla="*/ 1 w 814"/>
                <a:gd name="T87" fmla="*/ 0 h 81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814"/>
                <a:gd name="T133" fmla="*/ 0 h 814"/>
                <a:gd name="T134" fmla="*/ 814 w 814"/>
                <a:gd name="T135" fmla="*/ 814 h 81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814" h="814">
                  <a:moveTo>
                    <a:pt x="407" y="0"/>
                  </a:moveTo>
                  <a:lnTo>
                    <a:pt x="385" y="0"/>
                  </a:lnTo>
                  <a:lnTo>
                    <a:pt x="365" y="2"/>
                  </a:lnTo>
                  <a:lnTo>
                    <a:pt x="345" y="5"/>
                  </a:lnTo>
                  <a:lnTo>
                    <a:pt x="325" y="7"/>
                  </a:lnTo>
                  <a:lnTo>
                    <a:pt x="305" y="12"/>
                  </a:lnTo>
                  <a:lnTo>
                    <a:pt x="286" y="17"/>
                  </a:lnTo>
                  <a:lnTo>
                    <a:pt x="267" y="25"/>
                  </a:lnTo>
                  <a:lnTo>
                    <a:pt x="248" y="32"/>
                  </a:lnTo>
                  <a:lnTo>
                    <a:pt x="230" y="39"/>
                  </a:lnTo>
                  <a:lnTo>
                    <a:pt x="213" y="49"/>
                  </a:lnTo>
                  <a:lnTo>
                    <a:pt x="195" y="59"/>
                  </a:lnTo>
                  <a:lnTo>
                    <a:pt x="179" y="69"/>
                  </a:lnTo>
                  <a:lnTo>
                    <a:pt x="162" y="81"/>
                  </a:lnTo>
                  <a:lnTo>
                    <a:pt x="148" y="92"/>
                  </a:lnTo>
                  <a:lnTo>
                    <a:pt x="132" y="105"/>
                  </a:lnTo>
                  <a:lnTo>
                    <a:pt x="119" y="120"/>
                  </a:lnTo>
                  <a:lnTo>
                    <a:pt x="105" y="132"/>
                  </a:lnTo>
                  <a:lnTo>
                    <a:pt x="92" y="148"/>
                  </a:lnTo>
                  <a:lnTo>
                    <a:pt x="80" y="163"/>
                  </a:lnTo>
                  <a:lnTo>
                    <a:pt x="69" y="178"/>
                  </a:lnTo>
                  <a:lnTo>
                    <a:pt x="59" y="196"/>
                  </a:lnTo>
                  <a:lnTo>
                    <a:pt x="49" y="213"/>
                  </a:lnTo>
                  <a:lnTo>
                    <a:pt x="40" y="230"/>
                  </a:lnTo>
                  <a:lnTo>
                    <a:pt x="31" y="249"/>
                  </a:lnTo>
                  <a:lnTo>
                    <a:pt x="24" y="266"/>
                  </a:lnTo>
                  <a:lnTo>
                    <a:pt x="17" y="286"/>
                  </a:lnTo>
                  <a:lnTo>
                    <a:pt x="13" y="305"/>
                  </a:lnTo>
                  <a:lnTo>
                    <a:pt x="7" y="325"/>
                  </a:lnTo>
                  <a:lnTo>
                    <a:pt x="4" y="345"/>
                  </a:lnTo>
                  <a:lnTo>
                    <a:pt x="1" y="365"/>
                  </a:lnTo>
                  <a:lnTo>
                    <a:pt x="0" y="385"/>
                  </a:lnTo>
                  <a:lnTo>
                    <a:pt x="0" y="407"/>
                  </a:lnTo>
                  <a:lnTo>
                    <a:pt x="0" y="429"/>
                  </a:lnTo>
                  <a:lnTo>
                    <a:pt x="1" y="449"/>
                  </a:lnTo>
                  <a:lnTo>
                    <a:pt x="4" y="469"/>
                  </a:lnTo>
                  <a:lnTo>
                    <a:pt x="7" y="489"/>
                  </a:lnTo>
                  <a:lnTo>
                    <a:pt x="13" y="509"/>
                  </a:lnTo>
                  <a:lnTo>
                    <a:pt x="17" y="528"/>
                  </a:lnTo>
                  <a:lnTo>
                    <a:pt x="24" y="546"/>
                  </a:lnTo>
                  <a:lnTo>
                    <a:pt x="31" y="565"/>
                  </a:lnTo>
                  <a:lnTo>
                    <a:pt x="40" y="584"/>
                  </a:lnTo>
                  <a:lnTo>
                    <a:pt x="49" y="601"/>
                  </a:lnTo>
                  <a:lnTo>
                    <a:pt x="59" y="618"/>
                  </a:lnTo>
                  <a:lnTo>
                    <a:pt x="69" y="634"/>
                  </a:lnTo>
                  <a:lnTo>
                    <a:pt x="80" y="650"/>
                  </a:lnTo>
                  <a:lnTo>
                    <a:pt x="92" y="666"/>
                  </a:lnTo>
                  <a:lnTo>
                    <a:pt x="105" y="680"/>
                  </a:lnTo>
                  <a:lnTo>
                    <a:pt x="119" y="694"/>
                  </a:lnTo>
                  <a:lnTo>
                    <a:pt x="132" y="709"/>
                  </a:lnTo>
                  <a:lnTo>
                    <a:pt x="148" y="722"/>
                  </a:lnTo>
                  <a:lnTo>
                    <a:pt x="162" y="733"/>
                  </a:lnTo>
                  <a:lnTo>
                    <a:pt x="179" y="745"/>
                  </a:lnTo>
                  <a:lnTo>
                    <a:pt x="195" y="755"/>
                  </a:lnTo>
                  <a:lnTo>
                    <a:pt x="213" y="765"/>
                  </a:lnTo>
                  <a:lnTo>
                    <a:pt x="230" y="773"/>
                  </a:lnTo>
                  <a:lnTo>
                    <a:pt x="248" y="782"/>
                  </a:lnTo>
                  <a:lnTo>
                    <a:pt x="267" y="789"/>
                  </a:lnTo>
                  <a:lnTo>
                    <a:pt x="286" y="796"/>
                  </a:lnTo>
                  <a:lnTo>
                    <a:pt x="305" y="801"/>
                  </a:lnTo>
                  <a:lnTo>
                    <a:pt x="325" y="807"/>
                  </a:lnTo>
                  <a:lnTo>
                    <a:pt x="345" y="809"/>
                  </a:lnTo>
                  <a:lnTo>
                    <a:pt x="365" y="812"/>
                  </a:lnTo>
                  <a:lnTo>
                    <a:pt x="385" y="814"/>
                  </a:lnTo>
                  <a:lnTo>
                    <a:pt x="407" y="814"/>
                  </a:lnTo>
                  <a:lnTo>
                    <a:pt x="428" y="814"/>
                  </a:lnTo>
                  <a:lnTo>
                    <a:pt x="448" y="812"/>
                  </a:lnTo>
                  <a:lnTo>
                    <a:pt x="469" y="809"/>
                  </a:lnTo>
                  <a:lnTo>
                    <a:pt x="489" y="807"/>
                  </a:lnTo>
                  <a:lnTo>
                    <a:pt x="509" y="801"/>
                  </a:lnTo>
                  <a:lnTo>
                    <a:pt x="528" y="796"/>
                  </a:lnTo>
                  <a:lnTo>
                    <a:pt x="546" y="789"/>
                  </a:lnTo>
                  <a:lnTo>
                    <a:pt x="565" y="782"/>
                  </a:lnTo>
                  <a:lnTo>
                    <a:pt x="584" y="773"/>
                  </a:lnTo>
                  <a:lnTo>
                    <a:pt x="601" y="765"/>
                  </a:lnTo>
                  <a:lnTo>
                    <a:pt x="618" y="755"/>
                  </a:lnTo>
                  <a:lnTo>
                    <a:pt x="634" y="745"/>
                  </a:lnTo>
                  <a:lnTo>
                    <a:pt x="651" y="733"/>
                  </a:lnTo>
                  <a:lnTo>
                    <a:pt x="666" y="722"/>
                  </a:lnTo>
                  <a:lnTo>
                    <a:pt x="681" y="709"/>
                  </a:lnTo>
                  <a:lnTo>
                    <a:pt x="694" y="694"/>
                  </a:lnTo>
                  <a:lnTo>
                    <a:pt x="709" y="680"/>
                  </a:lnTo>
                  <a:lnTo>
                    <a:pt x="722" y="666"/>
                  </a:lnTo>
                  <a:lnTo>
                    <a:pt x="733" y="650"/>
                  </a:lnTo>
                  <a:lnTo>
                    <a:pt x="745" y="634"/>
                  </a:lnTo>
                  <a:lnTo>
                    <a:pt x="755" y="618"/>
                  </a:lnTo>
                  <a:lnTo>
                    <a:pt x="765" y="601"/>
                  </a:lnTo>
                  <a:lnTo>
                    <a:pt x="774" y="584"/>
                  </a:lnTo>
                  <a:lnTo>
                    <a:pt x="782" y="565"/>
                  </a:lnTo>
                  <a:lnTo>
                    <a:pt x="789" y="546"/>
                  </a:lnTo>
                  <a:lnTo>
                    <a:pt x="797" y="528"/>
                  </a:lnTo>
                  <a:lnTo>
                    <a:pt x="801" y="509"/>
                  </a:lnTo>
                  <a:lnTo>
                    <a:pt x="807" y="489"/>
                  </a:lnTo>
                  <a:lnTo>
                    <a:pt x="809" y="469"/>
                  </a:lnTo>
                  <a:lnTo>
                    <a:pt x="812" y="449"/>
                  </a:lnTo>
                  <a:lnTo>
                    <a:pt x="814" y="429"/>
                  </a:lnTo>
                  <a:lnTo>
                    <a:pt x="814" y="407"/>
                  </a:lnTo>
                  <a:lnTo>
                    <a:pt x="814" y="385"/>
                  </a:lnTo>
                  <a:lnTo>
                    <a:pt x="812" y="365"/>
                  </a:lnTo>
                  <a:lnTo>
                    <a:pt x="809" y="345"/>
                  </a:lnTo>
                  <a:lnTo>
                    <a:pt x="807" y="325"/>
                  </a:lnTo>
                  <a:lnTo>
                    <a:pt x="801" y="305"/>
                  </a:lnTo>
                  <a:lnTo>
                    <a:pt x="797" y="286"/>
                  </a:lnTo>
                  <a:lnTo>
                    <a:pt x="789" y="266"/>
                  </a:lnTo>
                  <a:lnTo>
                    <a:pt x="782" y="249"/>
                  </a:lnTo>
                  <a:lnTo>
                    <a:pt x="774" y="230"/>
                  </a:lnTo>
                  <a:lnTo>
                    <a:pt x="765" y="213"/>
                  </a:lnTo>
                  <a:lnTo>
                    <a:pt x="755" y="196"/>
                  </a:lnTo>
                  <a:lnTo>
                    <a:pt x="745" y="178"/>
                  </a:lnTo>
                  <a:lnTo>
                    <a:pt x="733" y="163"/>
                  </a:lnTo>
                  <a:lnTo>
                    <a:pt x="722" y="148"/>
                  </a:lnTo>
                  <a:lnTo>
                    <a:pt x="709" y="132"/>
                  </a:lnTo>
                  <a:lnTo>
                    <a:pt x="694" y="120"/>
                  </a:lnTo>
                  <a:lnTo>
                    <a:pt x="681" y="105"/>
                  </a:lnTo>
                  <a:lnTo>
                    <a:pt x="666" y="92"/>
                  </a:lnTo>
                  <a:lnTo>
                    <a:pt x="651" y="81"/>
                  </a:lnTo>
                  <a:lnTo>
                    <a:pt x="634" y="69"/>
                  </a:lnTo>
                  <a:lnTo>
                    <a:pt x="618" y="59"/>
                  </a:lnTo>
                  <a:lnTo>
                    <a:pt x="601" y="49"/>
                  </a:lnTo>
                  <a:lnTo>
                    <a:pt x="584" y="39"/>
                  </a:lnTo>
                  <a:lnTo>
                    <a:pt x="565" y="32"/>
                  </a:lnTo>
                  <a:lnTo>
                    <a:pt x="546" y="25"/>
                  </a:lnTo>
                  <a:lnTo>
                    <a:pt x="528" y="17"/>
                  </a:lnTo>
                  <a:lnTo>
                    <a:pt x="509" y="12"/>
                  </a:lnTo>
                  <a:lnTo>
                    <a:pt x="489" y="7"/>
                  </a:lnTo>
                  <a:lnTo>
                    <a:pt x="469" y="5"/>
                  </a:lnTo>
                  <a:lnTo>
                    <a:pt x="448" y="2"/>
                  </a:lnTo>
                  <a:lnTo>
                    <a:pt x="428" y="0"/>
                  </a:lnTo>
                  <a:lnTo>
                    <a:pt x="407" y="0"/>
                  </a:lnTo>
                </a:path>
              </a:pathLst>
            </a:custGeom>
            <a:solidFill>
              <a:schemeClr val="bg1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Rectangle 8">
              <a:extLst>
                <a:ext uri="{FF2B5EF4-FFF2-40B4-BE49-F238E27FC236}">
                  <a16:creationId xmlns:a16="http://schemas.microsoft.com/office/drawing/2014/main" id="{3662639D-0CE3-1849-EE2F-C29D87D5C4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0588" y="3432175"/>
              <a:ext cx="19685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A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F271EC9D-5664-F557-6D3C-5A3D577F2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7950" y="4132263"/>
              <a:ext cx="18573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id="{4C31B640-24E2-CE2B-3CEE-39A30BD70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475" y="4132263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14" name="Rectangle 11">
              <a:extLst>
                <a:ext uri="{FF2B5EF4-FFF2-40B4-BE49-F238E27FC236}">
                  <a16:creationId xmlns:a16="http://schemas.microsoft.com/office/drawing/2014/main" id="{BE5F552D-8C86-1F2D-7DA3-523E70E80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2738" y="4132263"/>
              <a:ext cx="1651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15" name="Rectangle 12">
              <a:extLst>
                <a:ext uri="{FF2B5EF4-FFF2-40B4-BE49-F238E27FC236}">
                  <a16:creationId xmlns:a16="http://schemas.microsoft.com/office/drawing/2014/main" id="{800D28F0-9FC0-4012-E489-EA97FEB8A7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8188" y="4132263"/>
              <a:ext cx="13017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>
                  <a:solidFill>
                    <a:srgbClr val="000000"/>
                  </a:solidFill>
                  <a:latin typeface="Times-Roman" charset="0"/>
                </a:rPr>
                <a:t>z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16" name="Rectangle 13">
              <a:extLst>
                <a:ext uri="{FF2B5EF4-FFF2-40B4-BE49-F238E27FC236}">
                  <a16:creationId xmlns:a16="http://schemas.microsoft.com/office/drawing/2014/main" id="{F3281D62-11EF-4E12-A05C-20F2B4194A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9975" y="4132263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17" name="Rectangle 14">
              <a:extLst>
                <a:ext uri="{FF2B5EF4-FFF2-40B4-BE49-F238E27FC236}">
                  <a16:creationId xmlns:a16="http://schemas.microsoft.com/office/drawing/2014/main" id="{BBFEA018-4DF5-14D2-841B-369266D6ED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5825" y="4132263"/>
              <a:ext cx="1651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2FB27F08-071C-EDAD-A8D1-8595773AC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2463" y="4127500"/>
              <a:ext cx="90488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1700">
                  <a:solidFill>
                    <a:srgbClr val="000000"/>
                  </a:solidFill>
                  <a:latin typeface="Symbol" charset="0"/>
                </a:rPr>
                <a:t>¤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19" name="Rectangle 16">
              <a:extLst>
                <a:ext uri="{FF2B5EF4-FFF2-40B4-BE49-F238E27FC236}">
                  <a16:creationId xmlns:a16="http://schemas.microsoft.com/office/drawing/2014/main" id="{1B4CE246-F8FB-3689-FFD2-769CDD463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3890962"/>
              <a:ext cx="18573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F27FAE0B-AB35-C644-397D-2B86FD24D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1537" y="3890962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496661C9-5CA3-7D1F-985D-3CA34B1AD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8975" y="3890962"/>
              <a:ext cx="1651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F40BEB2B-2AE1-189C-832C-227891A77B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1250" y="3890962"/>
              <a:ext cx="13017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>
                  <a:solidFill>
                    <a:srgbClr val="000000"/>
                  </a:solidFill>
                  <a:latin typeface="Times-Roman" charset="0"/>
                </a:rPr>
                <a:t>z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23" name="Rectangle 20">
              <a:extLst>
                <a:ext uri="{FF2B5EF4-FFF2-40B4-BE49-F238E27FC236}">
                  <a16:creationId xmlns:a16="http://schemas.microsoft.com/office/drawing/2014/main" id="{2994E677-E067-5A99-5BCB-74CE07F825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4625" y="3890962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24" name="Rectangle 21">
              <a:extLst>
                <a:ext uri="{FF2B5EF4-FFF2-40B4-BE49-F238E27FC236}">
                  <a16:creationId xmlns:a16="http://schemas.microsoft.com/office/drawing/2014/main" id="{C7634077-0B58-E0E3-AC41-1A1EA5AFE1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0475" y="3890962"/>
              <a:ext cx="1651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6EC5DB35-2AF8-1361-3B77-818ED137B0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9925" y="3760788"/>
              <a:ext cx="723900" cy="280988"/>
            </a:xfrm>
            <a:custGeom>
              <a:avLst/>
              <a:gdLst>
                <a:gd name="T0" fmla="*/ 0 w 914"/>
                <a:gd name="T1" fmla="*/ 0 h 355"/>
                <a:gd name="T2" fmla="*/ 0 w 914"/>
                <a:gd name="T3" fmla="*/ 0 h 355"/>
                <a:gd name="T4" fmla="*/ 0 w 914"/>
                <a:gd name="T5" fmla="*/ 0 h 355"/>
                <a:gd name="T6" fmla="*/ 0 w 914"/>
                <a:gd name="T7" fmla="*/ 0 h 355"/>
                <a:gd name="T8" fmla="*/ 0 w 914"/>
                <a:gd name="T9" fmla="*/ 0 h 355"/>
                <a:gd name="T10" fmla="*/ 0 w 914"/>
                <a:gd name="T11" fmla="*/ 0 h 355"/>
                <a:gd name="T12" fmla="*/ 0 w 914"/>
                <a:gd name="T13" fmla="*/ 0 h 355"/>
                <a:gd name="T14" fmla="*/ 0 w 914"/>
                <a:gd name="T15" fmla="*/ 0 h 355"/>
                <a:gd name="T16" fmla="*/ 0 w 914"/>
                <a:gd name="T17" fmla="*/ 0 h 355"/>
                <a:gd name="T18" fmla="*/ 0 w 914"/>
                <a:gd name="T19" fmla="*/ 0 h 355"/>
                <a:gd name="T20" fmla="*/ 0 w 914"/>
                <a:gd name="T21" fmla="*/ 0 h 355"/>
                <a:gd name="T22" fmla="*/ 0 w 914"/>
                <a:gd name="T23" fmla="*/ 0 h 355"/>
                <a:gd name="T24" fmla="*/ 0 w 914"/>
                <a:gd name="T25" fmla="*/ 0 h 355"/>
                <a:gd name="T26" fmla="*/ 0 w 914"/>
                <a:gd name="T27" fmla="*/ 0 h 355"/>
                <a:gd name="T28" fmla="*/ 0 w 914"/>
                <a:gd name="T29" fmla="*/ 0 h 355"/>
                <a:gd name="T30" fmla="*/ 0 w 914"/>
                <a:gd name="T31" fmla="*/ 0 h 355"/>
                <a:gd name="T32" fmla="*/ 0 w 914"/>
                <a:gd name="T33" fmla="*/ 0 h 355"/>
                <a:gd name="T34" fmla="*/ 0 w 914"/>
                <a:gd name="T35" fmla="*/ 0 h 355"/>
                <a:gd name="T36" fmla="*/ 0 w 914"/>
                <a:gd name="T37" fmla="*/ 0 h 355"/>
                <a:gd name="T38" fmla="*/ 0 w 914"/>
                <a:gd name="T39" fmla="*/ 0 h 355"/>
                <a:gd name="T40" fmla="*/ 0 w 914"/>
                <a:gd name="T41" fmla="*/ 0 h 355"/>
                <a:gd name="T42" fmla="*/ 0 w 914"/>
                <a:gd name="T43" fmla="*/ 0 h 355"/>
                <a:gd name="T44" fmla="*/ 0 w 914"/>
                <a:gd name="T45" fmla="*/ 0 h 355"/>
                <a:gd name="T46" fmla="*/ 0 w 914"/>
                <a:gd name="T47" fmla="*/ 0 h 355"/>
                <a:gd name="T48" fmla="*/ 0 w 914"/>
                <a:gd name="T49" fmla="*/ 0 h 355"/>
                <a:gd name="T50" fmla="*/ 0 w 914"/>
                <a:gd name="T51" fmla="*/ 0 h 355"/>
                <a:gd name="T52" fmla="*/ 0 w 914"/>
                <a:gd name="T53" fmla="*/ 0 h 355"/>
                <a:gd name="T54" fmla="*/ 0 w 914"/>
                <a:gd name="T55" fmla="*/ 0 h 355"/>
                <a:gd name="T56" fmla="*/ 0 w 914"/>
                <a:gd name="T57" fmla="*/ 0 h 355"/>
                <a:gd name="T58" fmla="*/ 0 w 914"/>
                <a:gd name="T59" fmla="*/ 0 h 355"/>
                <a:gd name="T60" fmla="*/ 0 w 914"/>
                <a:gd name="T61" fmla="*/ 0 h 355"/>
                <a:gd name="T62" fmla="*/ 0 w 914"/>
                <a:gd name="T63" fmla="*/ 0 h 355"/>
                <a:gd name="T64" fmla="*/ 0 w 914"/>
                <a:gd name="T65" fmla="*/ 0 h 355"/>
                <a:gd name="T66" fmla="*/ 0 w 914"/>
                <a:gd name="T67" fmla="*/ 0 h 355"/>
                <a:gd name="T68" fmla="*/ 0 w 914"/>
                <a:gd name="T69" fmla="*/ 0 h 355"/>
                <a:gd name="T70" fmla="*/ 0 w 914"/>
                <a:gd name="T71" fmla="*/ 0 h 355"/>
                <a:gd name="T72" fmla="*/ 0 w 914"/>
                <a:gd name="T73" fmla="*/ 0 h 355"/>
                <a:gd name="T74" fmla="*/ 0 w 914"/>
                <a:gd name="T75" fmla="*/ 0 h 355"/>
                <a:gd name="T76" fmla="*/ 0 w 914"/>
                <a:gd name="T77" fmla="*/ 0 h 355"/>
                <a:gd name="T78" fmla="*/ 0 w 914"/>
                <a:gd name="T79" fmla="*/ 0 h 355"/>
                <a:gd name="T80" fmla="*/ 0 w 914"/>
                <a:gd name="T81" fmla="*/ 0 h 355"/>
                <a:gd name="T82" fmla="*/ 0 w 914"/>
                <a:gd name="T83" fmla="*/ 0 h 355"/>
                <a:gd name="T84" fmla="*/ 0 w 914"/>
                <a:gd name="T85" fmla="*/ 0 h 355"/>
                <a:gd name="T86" fmla="*/ 0 w 914"/>
                <a:gd name="T87" fmla="*/ 0 h 355"/>
                <a:gd name="T88" fmla="*/ 0 w 914"/>
                <a:gd name="T89" fmla="*/ 0 h 355"/>
                <a:gd name="T90" fmla="*/ 0 w 914"/>
                <a:gd name="T91" fmla="*/ 0 h 355"/>
                <a:gd name="T92" fmla="*/ 0 w 914"/>
                <a:gd name="T93" fmla="*/ 0 h 355"/>
                <a:gd name="T94" fmla="*/ 0 w 914"/>
                <a:gd name="T95" fmla="*/ 0 h 355"/>
                <a:gd name="T96" fmla="*/ 0 w 914"/>
                <a:gd name="T97" fmla="*/ 0 h 355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914"/>
                <a:gd name="T148" fmla="*/ 0 h 355"/>
                <a:gd name="T149" fmla="*/ 914 w 914"/>
                <a:gd name="T150" fmla="*/ 355 h 355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914" h="355">
                  <a:moveTo>
                    <a:pt x="914" y="0"/>
                  </a:moveTo>
                  <a:lnTo>
                    <a:pt x="891" y="18"/>
                  </a:lnTo>
                  <a:lnTo>
                    <a:pt x="869" y="36"/>
                  </a:lnTo>
                  <a:lnTo>
                    <a:pt x="849" y="53"/>
                  </a:lnTo>
                  <a:lnTo>
                    <a:pt x="829" y="67"/>
                  </a:lnTo>
                  <a:lnTo>
                    <a:pt x="812" y="82"/>
                  </a:lnTo>
                  <a:lnTo>
                    <a:pt x="796" y="95"/>
                  </a:lnTo>
                  <a:lnTo>
                    <a:pt x="780" y="107"/>
                  </a:lnTo>
                  <a:lnTo>
                    <a:pt x="766" y="119"/>
                  </a:lnTo>
                  <a:lnTo>
                    <a:pt x="751" y="129"/>
                  </a:lnTo>
                  <a:lnTo>
                    <a:pt x="738" y="139"/>
                  </a:lnTo>
                  <a:lnTo>
                    <a:pt x="727" y="148"/>
                  </a:lnTo>
                  <a:lnTo>
                    <a:pt x="715" y="156"/>
                  </a:lnTo>
                  <a:lnTo>
                    <a:pt x="704" y="164"/>
                  </a:lnTo>
                  <a:lnTo>
                    <a:pt x="694" y="171"/>
                  </a:lnTo>
                  <a:lnTo>
                    <a:pt x="685" y="178"/>
                  </a:lnTo>
                  <a:lnTo>
                    <a:pt x="677" y="184"/>
                  </a:lnTo>
                  <a:lnTo>
                    <a:pt x="667" y="189"/>
                  </a:lnTo>
                  <a:lnTo>
                    <a:pt x="659" y="195"/>
                  </a:lnTo>
                  <a:lnTo>
                    <a:pt x="651" y="201"/>
                  </a:lnTo>
                  <a:lnTo>
                    <a:pt x="642" y="205"/>
                  </a:lnTo>
                  <a:lnTo>
                    <a:pt x="635" y="210"/>
                  </a:lnTo>
                  <a:lnTo>
                    <a:pt x="626" y="214"/>
                  </a:lnTo>
                  <a:lnTo>
                    <a:pt x="619" y="218"/>
                  </a:lnTo>
                  <a:lnTo>
                    <a:pt x="610" y="221"/>
                  </a:lnTo>
                  <a:lnTo>
                    <a:pt x="602" y="225"/>
                  </a:lnTo>
                  <a:lnTo>
                    <a:pt x="593" y="230"/>
                  </a:lnTo>
                  <a:lnTo>
                    <a:pt x="585" y="233"/>
                  </a:lnTo>
                  <a:lnTo>
                    <a:pt x="576" y="237"/>
                  </a:lnTo>
                  <a:lnTo>
                    <a:pt x="566" y="241"/>
                  </a:lnTo>
                  <a:lnTo>
                    <a:pt x="556" y="245"/>
                  </a:lnTo>
                  <a:lnTo>
                    <a:pt x="544" y="250"/>
                  </a:lnTo>
                  <a:lnTo>
                    <a:pt x="533" y="254"/>
                  </a:lnTo>
                  <a:lnTo>
                    <a:pt x="521" y="258"/>
                  </a:lnTo>
                  <a:lnTo>
                    <a:pt x="511" y="263"/>
                  </a:lnTo>
                  <a:lnTo>
                    <a:pt x="501" y="267"/>
                  </a:lnTo>
                  <a:lnTo>
                    <a:pt x="491" y="270"/>
                  </a:lnTo>
                  <a:lnTo>
                    <a:pt x="482" y="274"/>
                  </a:lnTo>
                  <a:lnTo>
                    <a:pt x="474" y="277"/>
                  </a:lnTo>
                  <a:lnTo>
                    <a:pt x="465" y="280"/>
                  </a:lnTo>
                  <a:lnTo>
                    <a:pt x="458" y="283"/>
                  </a:lnTo>
                  <a:lnTo>
                    <a:pt x="449" y="286"/>
                  </a:lnTo>
                  <a:lnTo>
                    <a:pt x="442" y="289"/>
                  </a:lnTo>
                  <a:lnTo>
                    <a:pt x="436" y="291"/>
                  </a:lnTo>
                  <a:lnTo>
                    <a:pt x="429" y="293"/>
                  </a:lnTo>
                  <a:lnTo>
                    <a:pt x="422" y="296"/>
                  </a:lnTo>
                  <a:lnTo>
                    <a:pt x="416" y="297"/>
                  </a:lnTo>
                  <a:lnTo>
                    <a:pt x="409" y="300"/>
                  </a:lnTo>
                  <a:lnTo>
                    <a:pt x="403" y="302"/>
                  </a:lnTo>
                  <a:lnTo>
                    <a:pt x="396" y="303"/>
                  </a:lnTo>
                  <a:lnTo>
                    <a:pt x="389" y="304"/>
                  </a:lnTo>
                  <a:lnTo>
                    <a:pt x="383" y="306"/>
                  </a:lnTo>
                  <a:lnTo>
                    <a:pt x="376" y="309"/>
                  </a:lnTo>
                  <a:lnTo>
                    <a:pt x="369" y="310"/>
                  </a:lnTo>
                  <a:lnTo>
                    <a:pt x="360" y="312"/>
                  </a:lnTo>
                  <a:lnTo>
                    <a:pt x="353" y="313"/>
                  </a:lnTo>
                  <a:lnTo>
                    <a:pt x="344" y="314"/>
                  </a:lnTo>
                  <a:lnTo>
                    <a:pt x="334" y="316"/>
                  </a:lnTo>
                  <a:lnTo>
                    <a:pt x="326" y="317"/>
                  </a:lnTo>
                  <a:lnTo>
                    <a:pt x="316" y="320"/>
                  </a:lnTo>
                  <a:lnTo>
                    <a:pt x="304" y="322"/>
                  </a:lnTo>
                  <a:lnTo>
                    <a:pt x="293" y="323"/>
                  </a:lnTo>
                  <a:lnTo>
                    <a:pt x="281" y="326"/>
                  </a:lnTo>
                  <a:lnTo>
                    <a:pt x="268" y="327"/>
                  </a:lnTo>
                  <a:lnTo>
                    <a:pt x="254" y="330"/>
                  </a:lnTo>
                  <a:lnTo>
                    <a:pt x="239" y="332"/>
                  </a:lnTo>
                  <a:lnTo>
                    <a:pt x="226" y="335"/>
                  </a:lnTo>
                  <a:lnTo>
                    <a:pt x="215" y="336"/>
                  </a:lnTo>
                  <a:lnTo>
                    <a:pt x="203" y="339"/>
                  </a:lnTo>
                  <a:lnTo>
                    <a:pt x="193" y="340"/>
                  </a:lnTo>
                  <a:lnTo>
                    <a:pt x="183" y="342"/>
                  </a:lnTo>
                  <a:lnTo>
                    <a:pt x="173" y="343"/>
                  </a:lnTo>
                  <a:lnTo>
                    <a:pt x="164" y="345"/>
                  </a:lnTo>
                  <a:lnTo>
                    <a:pt x="156" y="346"/>
                  </a:lnTo>
                  <a:lnTo>
                    <a:pt x="149" y="348"/>
                  </a:lnTo>
                  <a:lnTo>
                    <a:pt x="140" y="348"/>
                  </a:lnTo>
                  <a:lnTo>
                    <a:pt x="133" y="349"/>
                  </a:lnTo>
                  <a:lnTo>
                    <a:pt x="127" y="350"/>
                  </a:lnTo>
                  <a:lnTo>
                    <a:pt x="120" y="350"/>
                  </a:lnTo>
                  <a:lnTo>
                    <a:pt x="114" y="352"/>
                  </a:lnTo>
                  <a:lnTo>
                    <a:pt x="108" y="352"/>
                  </a:lnTo>
                  <a:lnTo>
                    <a:pt x="103" y="353"/>
                  </a:lnTo>
                  <a:lnTo>
                    <a:pt x="97" y="353"/>
                  </a:lnTo>
                  <a:lnTo>
                    <a:pt x="91" y="353"/>
                  </a:lnTo>
                  <a:lnTo>
                    <a:pt x="85" y="353"/>
                  </a:lnTo>
                  <a:lnTo>
                    <a:pt x="80" y="355"/>
                  </a:lnTo>
                  <a:lnTo>
                    <a:pt x="74" y="355"/>
                  </a:lnTo>
                  <a:lnTo>
                    <a:pt x="67" y="355"/>
                  </a:lnTo>
                  <a:lnTo>
                    <a:pt x="61" y="355"/>
                  </a:lnTo>
                  <a:lnTo>
                    <a:pt x="55" y="355"/>
                  </a:lnTo>
                  <a:lnTo>
                    <a:pt x="48" y="355"/>
                  </a:lnTo>
                  <a:lnTo>
                    <a:pt x="41" y="355"/>
                  </a:lnTo>
                  <a:lnTo>
                    <a:pt x="34" y="355"/>
                  </a:lnTo>
                  <a:lnTo>
                    <a:pt x="26" y="355"/>
                  </a:lnTo>
                  <a:lnTo>
                    <a:pt x="18" y="355"/>
                  </a:lnTo>
                  <a:lnTo>
                    <a:pt x="9" y="355"/>
                  </a:lnTo>
                  <a:lnTo>
                    <a:pt x="0" y="35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B2156BBE-DB9D-26E0-B735-BC43EFA5B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488" y="3762375"/>
              <a:ext cx="136525" cy="114300"/>
            </a:xfrm>
            <a:custGeom>
              <a:avLst/>
              <a:gdLst>
                <a:gd name="T0" fmla="*/ 0 w 173"/>
                <a:gd name="T1" fmla="*/ 1 h 143"/>
                <a:gd name="T2" fmla="*/ 0 w 173"/>
                <a:gd name="T3" fmla="*/ 0 h 143"/>
                <a:gd name="T4" fmla="*/ 0 w 173"/>
                <a:gd name="T5" fmla="*/ 1 h 143"/>
                <a:gd name="T6" fmla="*/ 0 w 173"/>
                <a:gd name="T7" fmla="*/ 1 h 143"/>
                <a:gd name="T8" fmla="*/ 0 w 173"/>
                <a:gd name="T9" fmla="*/ 1 h 1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3"/>
                <a:gd name="T16" fmla="*/ 0 h 143"/>
                <a:gd name="T17" fmla="*/ 173 w 173"/>
                <a:gd name="T18" fmla="*/ 143 h 14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3" h="143">
                  <a:moveTo>
                    <a:pt x="173" y="86"/>
                  </a:moveTo>
                  <a:lnTo>
                    <a:pt x="0" y="0"/>
                  </a:lnTo>
                  <a:lnTo>
                    <a:pt x="115" y="143"/>
                  </a:lnTo>
                  <a:lnTo>
                    <a:pt x="144" y="115"/>
                  </a:lnTo>
                  <a:lnTo>
                    <a:pt x="173" y="86"/>
                  </a:lnTo>
                  <a:close/>
                </a:path>
              </a:pathLst>
            </a:custGeom>
            <a:solidFill>
              <a:srgbClr val="0000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4">
              <a:extLst>
                <a:ext uri="{FF2B5EF4-FFF2-40B4-BE49-F238E27FC236}">
                  <a16:creationId xmlns:a16="http://schemas.microsoft.com/office/drawing/2014/main" id="{C0FA8ADC-BD0B-4D7E-BA6E-D07F3B93E5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0963" y="3854450"/>
              <a:ext cx="588963" cy="187325"/>
            </a:xfrm>
            <a:custGeom>
              <a:avLst/>
              <a:gdLst>
                <a:gd name="T0" fmla="*/ 1 w 742"/>
                <a:gd name="T1" fmla="*/ 1 h 236"/>
                <a:gd name="T2" fmla="*/ 1 w 742"/>
                <a:gd name="T3" fmla="*/ 1 h 236"/>
                <a:gd name="T4" fmla="*/ 1 w 742"/>
                <a:gd name="T5" fmla="*/ 1 h 236"/>
                <a:gd name="T6" fmla="*/ 1 w 742"/>
                <a:gd name="T7" fmla="*/ 1 h 236"/>
                <a:gd name="T8" fmla="*/ 1 w 742"/>
                <a:gd name="T9" fmla="*/ 1 h 236"/>
                <a:gd name="T10" fmla="*/ 1 w 742"/>
                <a:gd name="T11" fmla="*/ 1 h 236"/>
                <a:gd name="T12" fmla="*/ 1 w 742"/>
                <a:gd name="T13" fmla="*/ 1 h 236"/>
                <a:gd name="T14" fmla="*/ 1 w 742"/>
                <a:gd name="T15" fmla="*/ 1 h 236"/>
                <a:gd name="T16" fmla="*/ 1 w 742"/>
                <a:gd name="T17" fmla="*/ 1 h 236"/>
                <a:gd name="T18" fmla="*/ 1 w 742"/>
                <a:gd name="T19" fmla="*/ 1 h 236"/>
                <a:gd name="T20" fmla="*/ 1 w 742"/>
                <a:gd name="T21" fmla="*/ 1 h 236"/>
                <a:gd name="T22" fmla="*/ 1 w 742"/>
                <a:gd name="T23" fmla="*/ 1 h 236"/>
                <a:gd name="T24" fmla="*/ 1 w 742"/>
                <a:gd name="T25" fmla="*/ 1 h 236"/>
                <a:gd name="T26" fmla="*/ 1 w 742"/>
                <a:gd name="T27" fmla="*/ 1 h 236"/>
                <a:gd name="T28" fmla="*/ 1 w 742"/>
                <a:gd name="T29" fmla="*/ 1 h 236"/>
                <a:gd name="T30" fmla="*/ 1 w 742"/>
                <a:gd name="T31" fmla="*/ 1 h 236"/>
                <a:gd name="T32" fmla="*/ 1 w 742"/>
                <a:gd name="T33" fmla="*/ 1 h 236"/>
                <a:gd name="T34" fmla="*/ 1 w 742"/>
                <a:gd name="T35" fmla="*/ 1 h 236"/>
                <a:gd name="T36" fmla="*/ 1 w 742"/>
                <a:gd name="T37" fmla="*/ 1 h 236"/>
                <a:gd name="T38" fmla="*/ 1 w 742"/>
                <a:gd name="T39" fmla="*/ 1 h 236"/>
                <a:gd name="T40" fmla="*/ 1 w 742"/>
                <a:gd name="T41" fmla="*/ 1 h 236"/>
                <a:gd name="T42" fmla="*/ 1 w 742"/>
                <a:gd name="T43" fmla="*/ 1 h 236"/>
                <a:gd name="T44" fmla="*/ 1 w 742"/>
                <a:gd name="T45" fmla="*/ 1 h 236"/>
                <a:gd name="T46" fmla="*/ 1 w 742"/>
                <a:gd name="T47" fmla="*/ 1 h 236"/>
                <a:gd name="T48" fmla="*/ 1 w 742"/>
                <a:gd name="T49" fmla="*/ 1 h 236"/>
                <a:gd name="T50" fmla="*/ 1 w 742"/>
                <a:gd name="T51" fmla="*/ 1 h 236"/>
                <a:gd name="T52" fmla="*/ 1 w 742"/>
                <a:gd name="T53" fmla="*/ 1 h 236"/>
                <a:gd name="T54" fmla="*/ 1 w 742"/>
                <a:gd name="T55" fmla="*/ 1 h 236"/>
                <a:gd name="T56" fmla="*/ 1 w 742"/>
                <a:gd name="T57" fmla="*/ 1 h 236"/>
                <a:gd name="T58" fmla="*/ 1 w 742"/>
                <a:gd name="T59" fmla="*/ 1 h 236"/>
                <a:gd name="T60" fmla="*/ 1 w 742"/>
                <a:gd name="T61" fmla="*/ 1 h 236"/>
                <a:gd name="T62" fmla="*/ 1 w 742"/>
                <a:gd name="T63" fmla="*/ 1 h 236"/>
                <a:gd name="T64" fmla="*/ 1 w 742"/>
                <a:gd name="T65" fmla="*/ 1 h 236"/>
                <a:gd name="T66" fmla="*/ 1 w 742"/>
                <a:gd name="T67" fmla="*/ 1 h 236"/>
                <a:gd name="T68" fmla="*/ 1 w 742"/>
                <a:gd name="T69" fmla="*/ 1 h 236"/>
                <a:gd name="T70" fmla="*/ 1 w 742"/>
                <a:gd name="T71" fmla="*/ 1 h 236"/>
                <a:gd name="T72" fmla="*/ 1 w 742"/>
                <a:gd name="T73" fmla="*/ 1 h 236"/>
                <a:gd name="T74" fmla="*/ 1 w 742"/>
                <a:gd name="T75" fmla="*/ 1 h 236"/>
                <a:gd name="T76" fmla="*/ 1 w 742"/>
                <a:gd name="T77" fmla="*/ 1 h 236"/>
                <a:gd name="T78" fmla="*/ 1 w 742"/>
                <a:gd name="T79" fmla="*/ 1 h 236"/>
                <a:gd name="T80" fmla="*/ 1 w 742"/>
                <a:gd name="T81" fmla="*/ 1 h 236"/>
                <a:gd name="T82" fmla="*/ 1 w 742"/>
                <a:gd name="T83" fmla="*/ 1 h 236"/>
                <a:gd name="T84" fmla="*/ 1 w 742"/>
                <a:gd name="T85" fmla="*/ 1 h 236"/>
                <a:gd name="T86" fmla="*/ 1 w 742"/>
                <a:gd name="T87" fmla="*/ 1 h 236"/>
                <a:gd name="T88" fmla="*/ 1 w 742"/>
                <a:gd name="T89" fmla="*/ 1 h 236"/>
                <a:gd name="T90" fmla="*/ 1 w 742"/>
                <a:gd name="T91" fmla="*/ 1 h 236"/>
                <a:gd name="T92" fmla="*/ 1 w 742"/>
                <a:gd name="T93" fmla="*/ 1 h 236"/>
                <a:gd name="T94" fmla="*/ 1 w 742"/>
                <a:gd name="T95" fmla="*/ 1 h 236"/>
                <a:gd name="T96" fmla="*/ 1 w 742"/>
                <a:gd name="T97" fmla="*/ 1 h 2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742"/>
                <a:gd name="T148" fmla="*/ 0 h 236"/>
                <a:gd name="T149" fmla="*/ 742 w 742"/>
                <a:gd name="T150" fmla="*/ 236 h 2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742" h="236">
                  <a:moveTo>
                    <a:pt x="0" y="0"/>
                  </a:moveTo>
                  <a:lnTo>
                    <a:pt x="9" y="7"/>
                  </a:lnTo>
                  <a:lnTo>
                    <a:pt x="18" y="14"/>
                  </a:lnTo>
                  <a:lnTo>
                    <a:pt x="26" y="20"/>
                  </a:lnTo>
                  <a:lnTo>
                    <a:pt x="33" y="27"/>
                  </a:lnTo>
                  <a:lnTo>
                    <a:pt x="41" y="33"/>
                  </a:lnTo>
                  <a:lnTo>
                    <a:pt x="48" y="39"/>
                  </a:lnTo>
                  <a:lnTo>
                    <a:pt x="53" y="43"/>
                  </a:lnTo>
                  <a:lnTo>
                    <a:pt x="61" y="49"/>
                  </a:lnTo>
                  <a:lnTo>
                    <a:pt x="66" y="53"/>
                  </a:lnTo>
                  <a:lnTo>
                    <a:pt x="72" y="59"/>
                  </a:lnTo>
                  <a:lnTo>
                    <a:pt x="79" y="63"/>
                  </a:lnTo>
                  <a:lnTo>
                    <a:pt x="85" y="68"/>
                  </a:lnTo>
                  <a:lnTo>
                    <a:pt x="91" y="72"/>
                  </a:lnTo>
                  <a:lnTo>
                    <a:pt x="97" y="76"/>
                  </a:lnTo>
                  <a:lnTo>
                    <a:pt x="101" y="79"/>
                  </a:lnTo>
                  <a:lnTo>
                    <a:pt x="107" y="83"/>
                  </a:lnTo>
                  <a:lnTo>
                    <a:pt x="112" y="86"/>
                  </a:lnTo>
                  <a:lnTo>
                    <a:pt x="118" y="91"/>
                  </a:lnTo>
                  <a:lnTo>
                    <a:pt x="124" y="93"/>
                  </a:lnTo>
                  <a:lnTo>
                    <a:pt x="130" y="98"/>
                  </a:lnTo>
                  <a:lnTo>
                    <a:pt x="135" y="101"/>
                  </a:lnTo>
                  <a:lnTo>
                    <a:pt x="141" y="103"/>
                  </a:lnTo>
                  <a:lnTo>
                    <a:pt x="147" y="106"/>
                  </a:lnTo>
                  <a:lnTo>
                    <a:pt x="153" y="109"/>
                  </a:lnTo>
                  <a:lnTo>
                    <a:pt x="158" y="114"/>
                  </a:lnTo>
                  <a:lnTo>
                    <a:pt x="166" y="116"/>
                  </a:lnTo>
                  <a:lnTo>
                    <a:pt x="171" y="119"/>
                  </a:lnTo>
                  <a:lnTo>
                    <a:pt x="179" y="122"/>
                  </a:lnTo>
                  <a:lnTo>
                    <a:pt x="186" y="125"/>
                  </a:lnTo>
                  <a:lnTo>
                    <a:pt x="193" y="128"/>
                  </a:lnTo>
                  <a:lnTo>
                    <a:pt x="200" y="132"/>
                  </a:lnTo>
                  <a:lnTo>
                    <a:pt x="209" y="135"/>
                  </a:lnTo>
                  <a:lnTo>
                    <a:pt x="220" y="139"/>
                  </a:lnTo>
                  <a:lnTo>
                    <a:pt x="232" y="144"/>
                  </a:lnTo>
                  <a:lnTo>
                    <a:pt x="242" y="148"/>
                  </a:lnTo>
                  <a:lnTo>
                    <a:pt x="251" y="151"/>
                  </a:lnTo>
                  <a:lnTo>
                    <a:pt x="261" y="155"/>
                  </a:lnTo>
                  <a:lnTo>
                    <a:pt x="269" y="158"/>
                  </a:lnTo>
                  <a:lnTo>
                    <a:pt x="276" y="161"/>
                  </a:lnTo>
                  <a:lnTo>
                    <a:pt x="285" y="164"/>
                  </a:lnTo>
                  <a:lnTo>
                    <a:pt x="292" y="167"/>
                  </a:lnTo>
                  <a:lnTo>
                    <a:pt x="299" y="170"/>
                  </a:lnTo>
                  <a:lnTo>
                    <a:pt x="307" y="172"/>
                  </a:lnTo>
                  <a:lnTo>
                    <a:pt x="312" y="174"/>
                  </a:lnTo>
                  <a:lnTo>
                    <a:pt x="320" y="177"/>
                  </a:lnTo>
                  <a:lnTo>
                    <a:pt x="325" y="178"/>
                  </a:lnTo>
                  <a:lnTo>
                    <a:pt x="333" y="181"/>
                  </a:lnTo>
                  <a:lnTo>
                    <a:pt x="338" y="183"/>
                  </a:lnTo>
                  <a:lnTo>
                    <a:pt x="345" y="184"/>
                  </a:lnTo>
                  <a:lnTo>
                    <a:pt x="353" y="185"/>
                  </a:lnTo>
                  <a:lnTo>
                    <a:pt x="360" y="187"/>
                  </a:lnTo>
                  <a:lnTo>
                    <a:pt x="366" y="190"/>
                  </a:lnTo>
                  <a:lnTo>
                    <a:pt x="374" y="191"/>
                  </a:lnTo>
                  <a:lnTo>
                    <a:pt x="381" y="193"/>
                  </a:lnTo>
                  <a:lnTo>
                    <a:pt x="390" y="194"/>
                  </a:lnTo>
                  <a:lnTo>
                    <a:pt x="399" y="195"/>
                  </a:lnTo>
                  <a:lnTo>
                    <a:pt x="407" y="197"/>
                  </a:lnTo>
                  <a:lnTo>
                    <a:pt x="416" y="198"/>
                  </a:lnTo>
                  <a:lnTo>
                    <a:pt x="427" y="201"/>
                  </a:lnTo>
                  <a:lnTo>
                    <a:pt x="438" y="203"/>
                  </a:lnTo>
                  <a:lnTo>
                    <a:pt x="449" y="204"/>
                  </a:lnTo>
                  <a:lnTo>
                    <a:pt x="461" y="207"/>
                  </a:lnTo>
                  <a:lnTo>
                    <a:pt x="473" y="208"/>
                  </a:lnTo>
                  <a:lnTo>
                    <a:pt x="488" y="211"/>
                  </a:lnTo>
                  <a:lnTo>
                    <a:pt x="502" y="213"/>
                  </a:lnTo>
                  <a:lnTo>
                    <a:pt x="515" y="216"/>
                  </a:lnTo>
                  <a:lnTo>
                    <a:pt x="527" y="217"/>
                  </a:lnTo>
                  <a:lnTo>
                    <a:pt x="538" y="220"/>
                  </a:lnTo>
                  <a:lnTo>
                    <a:pt x="550" y="221"/>
                  </a:lnTo>
                  <a:lnTo>
                    <a:pt x="560" y="223"/>
                  </a:lnTo>
                  <a:lnTo>
                    <a:pt x="568" y="224"/>
                  </a:lnTo>
                  <a:lnTo>
                    <a:pt x="577" y="226"/>
                  </a:lnTo>
                  <a:lnTo>
                    <a:pt x="586" y="227"/>
                  </a:lnTo>
                  <a:lnTo>
                    <a:pt x="594" y="229"/>
                  </a:lnTo>
                  <a:lnTo>
                    <a:pt x="602" y="229"/>
                  </a:lnTo>
                  <a:lnTo>
                    <a:pt x="609" y="230"/>
                  </a:lnTo>
                  <a:lnTo>
                    <a:pt x="616" y="231"/>
                  </a:lnTo>
                  <a:lnTo>
                    <a:pt x="622" y="231"/>
                  </a:lnTo>
                  <a:lnTo>
                    <a:pt x="627" y="233"/>
                  </a:lnTo>
                  <a:lnTo>
                    <a:pt x="635" y="233"/>
                  </a:lnTo>
                  <a:lnTo>
                    <a:pt x="640" y="234"/>
                  </a:lnTo>
                  <a:lnTo>
                    <a:pt x="646" y="234"/>
                  </a:lnTo>
                  <a:lnTo>
                    <a:pt x="652" y="234"/>
                  </a:lnTo>
                  <a:lnTo>
                    <a:pt x="658" y="234"/>
                  </a:lnTo>
                  <a:lnTo>
                    <a:pt x="663" y="236"/>
                  </a:lnTo>
                  <a:lnTo>
                    <a:pt x="669" y="236"/>
                  </a:lnTo>
                  <a:lnTo>
                    <a:pt x="675" y="236"/>
                  </a:lnTo>
                  <a:lnTo>
                    <a:pt x="681" y="236"/>
                  </a:lnTo>
                  <a:lnTo>
                    <a:pt x="688" y="236"/>
                  </a:lnTo>
                  <a:lnTo>
                    <a:pt x="694" y="236"/>
                  </a:lnTo>
                  <a:lnTo>
                    <a:pt x="701" y="236"/>
                  </a:lnTo>
                  <a:lnTo>
                    <a:pt x="708" y="236"/>
                  </a:lnTo>
                  <a:lnTo>
                    <a:pt x="717" y="236"/>
                  </a:lnTo>
                  <a:lnTo>
                    <a:pt x="724" y="236"/>
                  </a:lnTo>
                  <a:lnTo>
                    <a:pt x="732" y="236"/>
                  </a:lnTo>
                  <a:lnTo>
                    <a:pt x="742" y="23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5">
              <a:extLst>
                <a:ext uri="{FF2B5EF4-FFF2-40B4-BE49-F238E27FC236}">
                  <a16:creationId xmlns:a16="http://schemas.microsoft.com/office/drawing/2014/main" id="{2129C538-3C3C-CA66-F2E4-59A3B0513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9200" y="3036888"/>
              <a:ext cx="725488" cy="280988"/>
            </a:xfrm>
            <a:custGeom>
              <a:avLst/>
              <a:gdLst>
                <a:gd name="T0" fmla="*/ 0 w 915"/>
                <a:gd name="T1" fmla="*/ 0 h 355"/>
                <a:gd name="T2" fmla="*/ 0 w 915"/>
                <a:gd name="T3" fmla="*/ 0 h 355"/>
                <a:gd name="T4" fmla="*/ 0 w 915"/>
                <a:gd name="T5" fmla="*/ 0 h 355"/>
                <a:gd name="T6" fmla="*/ 0 w 915"/>
                <a:gd name="T7" fmla="*/ 0 h 355"/>
                <a:gd name="T8" fmla="*/ 0 w 915"/>
                <a:gd name="T9" fmla="*/ 0 h 355"/>
                <a:gd name="T10" fmla="*/ 0 w 915"/>
                <a:gd name="T11" fmla="*/ 0 h 355"/>
                <a:gd name="T12" fmla="*/ 0 w 915"/>
                <a:gd name="T13" fmla="*/ 0 h 355"/>
                <a:gd name="T14" fmla="*/ 0 w 915"/>
                <a:gd name="T15" fmla="*/ 0 h 355"/>
                <a:gd name="T16" fmla="*/ 0 w 915"/>
                <a:gd name="T17" fmla="*/ 0 h 355"/>
                <a:gd name="T18" fmla="*/ 0 w 915"/>
                <a:gd name="T19" fmla="*/ 0 h 355"/>
                <a:gd name="T20" fmla="*/ 0 w 915"/>
                <a:gd name="T21" fmla="*/ 0 h 355"/>
                <a:gd name="T22" fmla="*/ 0 w 915"/>
                <a:gd name="T23" fmla="*/ 0 h 355"/>
                <a:gd name="T24" fmla="*/ 0 w 915"/>
                <a:gd name="T25" fmla="*/ 0 h 355"/>
                <a:gd name="T26" fmla="*/ 0 w 915"/>
                <a:gd name="T27" fmla="*/ 0 h 355"/>
                <a:gd name="T28" fmla="*/ 0 w 915"/>
                <a:gd name="T29" fmla="*/ 0 h 355"/>
                <a:gd name="T30" fmla="*/ 0 w 915"/>
                <a:gd name="T31" fmla="*/ 0 h 355"/>
                <a:gd name="T32" fmla="*/ 0 w 915"/>
                <a:gd name="T33" fmla="*/ 0 h 355"/>
                <a:gd name="T34" fmla="*/ 0 w 915"/>
                <a:gd name="T35" fmla="*/ 0 h 355"/>
                <a:gd name="T36" fmla="*/ 0 w 915"/>
                <a:gd name="T37" fmla="*/ 0 h 355"/>
                <a:gd name="T38" fmla="*/ 0 w 915"/>
                <a:gd name="T39" fmla="*/ 0 h 355"/>
                <a:gd name="T40" fmla="*/ 0 w 915"/>
                <a:gd name="T41" fmla="*/ 0 h 355"/>
                <a:gd name="T42" fmla="*/ 0 w 915"/>
                <a:gd name="T43" fmla="*/ 0 h 355"/>
                <a:gd name="T44" fmla="*/ 0 w 915"/>
                <a:gd name="T45" fmla="*/ 0 h 355"/>
                <a:gd name="T46" fmla="*/ 0 w 915"/>
                <a:gd name="T47" fmla="*/ 0 h 355"/>
                <a:gd name="T48" fmla="*/ 0 w 915"/>
                <a:gd name="T49" fmla="*/ 0 h 355"/>
                <a:gd name="T50" fmla="*/ 0 w 915"/>
                <a:gd name="T51" fmla="*/ 0 h 355"/>
                <a:gd name="T52" fmla="*/ 0 w 915"/>
                <a:gd name="T53" fmla="*/ 0 h 355"/>
                <a:gd name="T54" fmla="*/ 0 w 915"/>
                <a:gd name="T55" fmla="*/ 0 h 355"/>
                <a:gd name="T56" fmla="*/ 0 w 915"/>
                <a:gd name="T57" fmla="*/ 0 h 355"/>
                <a:gd name="T58" fmla="*/ 0 w 915"/>
                <a:gd name="T59" fmla="*/ 0 h 355"/>
                <a:gd name="T60" fmla="*/ 0 w 915"/>
                <a:gd name="T61" fmla="*/ 0 h 355"/>
                <a:gd name="T62" fmla="*/ 0 w 915"/>
                <a:gd name="T63" fmla="*/ 0 h 355"/>
                <a:gd name="T64" fmla="*/ 0 w 915"/>
                <a:gd name="T65" fmla="*/ 0 h 355"/>
                <a:gd name="T66" fmla="*/ 0 w 915"/>
                <a:gd name="T67" fmla="*/ 0 h 355"/>
                <a:gd name="T68" fmla="*/ 0 w 915"/>
                <a:gd name="T69" fmla="*/ 0 h 355"/>
                <a:gd name="T70" fmla="*/ 0 w 915"/>
                <a:gd name="T71" fmla="*/ 0 h 355"/>
                <a:gd name="T72" fmla="*/ 0 w 915"/>
                <a:gd name="T73" fmla="*/ 0 h 355"/>
                <a:gd name="T74" fmla="*/ 0 w 915"/>
                <a:gd name="T75" fmla="*/ 0 h 355"/>
                <a:gd name="T76" fmla="*/ 0 w 915"/>
                <a:gd name="T77" fmla="*/ 0 h 355"/>
                <a:gd name="T78" fmla="*/ 0 w 915"/>
                <a:gd name="T79" fmla="*/ 0 h 355"/>
                <a:gd name="T80" fmla="*/ 0 w 915"/>
                <a:gd name="T81" fmla="*/ 0 h 355"/>
                <a:gd name="T82" fmla="*/ 0 w 915"/>
                <a:gd name="T83" fmla="*/ 0 h 355"/>
                <a:gd name="T84" fmla="*/ 0 w 915"/>
                <a:gd name="T85" fmla="*/ 0 h 355"/>
                <a:gd name="T86" fmla="*/ 0 w 915"/>
                <a:gd name="T87" fmla="*/ 0 h 355"/>
                <a:gd name="T88" fmla="*/ 0 w 915"/>
                <a:gd name="T89" fmla="*/ 0 h 355"/>
                <a:gd name="T90" fmla="*/ 0 w 915"/>
                <a:gd name="T91" fmla="*/ 0 h 355"/>
                <a:gd name="T92" fmla="*/ 0 w 915"/>
                <a:gd name="T93" fmla="*/ 0 h 355"/>
                <a:gd name="T94" fmla="*/ 0 w 915"/>
                <a:gd name="T95" fmla="*/ 0 h 355"/>
                <a:gd name="T96" fmla="*/ 0 w 915"/>
                <a:gd name="T97" fmla="*/ 0 h 355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915"/>
                <a:gd name="T148" fmla="*/ 0 h 355"/>
                <a:gd name="T149" fmla="*/ 915 w 915"/>
                <a:gd name="T150" fmla="*/ 355 h 355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915" h="355">
                  <a:moveTo>
                    <a:pt x="0" y="355"/>
                  </a:moveTo>
                  <a:lnTo>
                    <a:pt x="23" y="336"/>
                  </a:lnTo>
                  <a:lnTo>
                    <a:pt x="44" y="319"/>
                  </a:lnTo>
                  <a:lnTo>
                    <a:pt x="66" y="303"/>
                  </a:lnTo>
                  <a:lnTo>
                    <a:pt x="85" y="289"/>
                  </a:lnTo>
                  <a:lnTo>
                    <a:pt x="102" y="275"/>
                  </a:lnTo>
                  <a:lnTo>
                    <a:pt x="119" y="262"/>
                  </a:lnTo>
                  <a:lnTo>
                    <a:pt x="135" y="249"/>
                  </a:lnTo>
                  <a:lnTo>
                    <a:pt x="149" y="237"/>
                  </a:lnTo>
                  <a:lnTo>
                    <a:pt x="162" y="227"/>
                  </a:lnTo>
                  <a:lnTo>
                    <a:pt x="175" y="217"/>
                  </a:lnTo>
                  <a:lnTo>
                    <a:pt x="188" y="207"/>
                  </a:lnTo>
                  <a:lnTo>
                    <a:pt x="198" y="200"/>
                  </a:lnTo>
                  <a:lnTo>
                    <a:pt x="210" y="191"/>
                  </a:lnTo>
                  <a:lnTo>
                    <a:pt x="220" y="184"/>
                  </a:lnTo>
                  <a:lnTo>
                    <a:pt x="229" y="178"/>
                  </a:lnTo>
                  <a:lnTo>
                    <a:pt x="239" y="171"/>
                  </a:lnTo>
                  <a:lnTo>
                    <a:pt x="247" y="165"/>
                  </a:lnTo>
                  <a:lnTo>
                    <a:pt x="256" y="161"/>
                  </a:lnTo>
                  <a:lnTo>
                    <a:pt x="264" y="155"/>
                  </a:lnTo>
                  <a:lnTo>
                    <a:pt x="272" y="151"/>
                  </a:lnTo>
                  <a:lnTo>
                    <a:pt x="280" y="147"/>
                  </a:lnTo>
                  <a:lnTo>
                    <a:pt x="288" y="142"/>
                  </a:lnTo>
                  <a:lnTo>
                    <a:pt x="296" y="138"/>
                  </a:lnTo>
                  <a:lnTo>
                    <a:pt x="303" y="134"/>
                  </a:lnTo>
                  <a:lnTo>
                    <a:pt x="312" y="131"/>
                  </a:lnTo>
                  <a:lnTo>
                    <a:pt x="321" y="126"/>
                  </a:lnTo>
                  <a:lnTo>
                    <a:pt x="329" y="122"/>
                  </a:lnTo>
                  <a:lnTo>
                    <a:pt x="339" y="119"/>
                  </a:lnTo>
                  <a:lnTo>
                    <a:pt x="348" y="115"/>
                  </a:lnTo>
                  <a:lnTo>
                    <a:pt x="359" y="111"/>
                  </a:lnTo>
                  <a:lnTo>
                    <a:pt x="370" y="106"/>
                  </a:lnTo>
                  <a:lnTo>
                    <a:pt x="381" y="102"/>
                  </a:lnTo>
                  <a:lnTo>
                    <a:pt x="393" y="96"/>
                  </a:lnTo>
                  <a:lnTo>
                    <a:pt x="404" y="92"/>
                  </a:lnTo>
                  <a:lnTo>
                    <a:pt x="414" y="89"/>
                  </a:lnTo>
                  <a:lnTo>
                    <a:pt x="423" y="85"/>
                  </a:lnTo>
                  <a:lnTo>
                    <a:pt x="433" y="80"/>
                  </a:lnTo>
                  <a:lnTo>
                    <a:pt x="441" y="78"/>
                  </a:lnTo>
                  <a:lnTo>
                    <a:pt x="449" y="75"/>
                  </a:lnTo>
                  <a:lnTo>
                    <a:pt x="457" y="72"/>
                  </a:lnTo>
                  <a:lnTo>
                    <a:pt x="464" y="69"/>
                  </a:lnTo>
                  <a:lnTo>
                    <a:pt x="472" y="66"/>
                  </a:lnTo>
                  <a:lnTo>
                    <a:pt x="479" y="65"/>
                  </a:lnTo>
                  <a:lnTo>
                    <a:pt x="485" y="62"/>
                  </a:lnTo>
                  <a:lnTo>
                    <a:pt x="492" y="60"/>
                  </a:lnTo>
                  <a:lnTo>
                    <a:pt x="498" y="57"/>
                  </a:lnTo>
                  <a:lnTo>
                    <a:pt x="505" y="56"/>
                  </a:lnTo>
                  <a:lnTo>
                    <a:pt x="510" y="55"/>
                  </a:lnTo>
                  <a:lnTo>
                    <a:pt x="518" y="52"/>
                  </a:lnTo>
                  <a:lnTo>
                    <a:pt x="525" y="50"/>
                  </a:lnTo>
                  <a:lnTo>
                    <a:pt x="532" y="49"/>
                  </a:lnTo>
                  <a:lnTo>
                    <a:pt x="538" y="47"/>
                  </a:lnTo>
                  <a:lnTo>
                    <a:pt x="546" y="46"/>
                  </a:lnTo>
                  <a:lnTo>
                    <a:pt x="554" y="45"/>
                  </a:lnTo>
                  <a:lnTo>
                    <a:pt x="562" y="43"/>
                  </a:lnTo>
                  <a:lnTo>
                    <a:pt x="571" y="42"/>
                  </a:lnTo>
                  <a:lnTo>
                    <a:pt x="580" y="39"/>
                  </a:lnTo>
                  <a:lnTo>
                    <a:pt x="588" y="37"/>
                  </a:lnTo>
                  <a:lnTo>
                    <a:pt x="600" y="36"/>
                  </a:lnTo>
                  <a:lnTo>
                    <a:pt x="610" y="35"/>
                  </a:lnTo>
                  <a:lnTo>
                    <a:pt x="621" y="32"/>
                  </a:lnTo>
                  <a:lnTo>
                    <a:pt x="633" y="30"/>
                  </a:lnTo>
                  <a:lnTo>
                    <a:pt x="646" y="27"/>
                  </a:lnTo>
                  <a:lnTo>
                    <a:pt x="660" y="26"/>
                  </a:lnTo>
                  <a:lnTo>
                    <a:pt x="674" y="23"/>
                  </a:lnTo>
                  <a:lnTo>
                    <a:pt x="687" y="22"/>
                  </a:lnTo>
                  <a:lnTo>
                    <a:pt x="699" y="19"/>
                  </a:lnTo>
                  <a:lnTo>
                    <a:pt x="710" y="17"/>
                  </a:lnTo>
                  <a:lnTo>
                    <a:pt x="722" y="16"/>
                  </a:lnTo>
                  <a:lnTo>
                    <a:pt x="732" y="14"/>
                  </a:lnTo>
                  <a:lnTo>
                    <a:pt x="741" y="13"/>
                  </a:lnTo>
                  <a:lnTo>
                    <a:pt x="749" y="12"/>
                  </a:lnTo>
                  <a:lnTo>
                    <a:pt x="758" y="10"/>
                  </a:lnTo>
                  <a:lnTo>
                    <a:pt x="767" y="9"/>
                  </a:lnTo>
                  <a:lnTo>
                    <a:pt x="774" y="7"/>
                  </a:lnTo>
                  <a:lnTo>
                    <a:pt x="781" y="7"/>
                  </a:lnTo>
                  <a:lnTo>
                    <a:pt x="788" y="6"/>
                  </a:lnTo>
                  <a:lnTo>
                    <a:pt x="794" y="4"/>
                  </a:lnTo>
                  <a:lnTo>
                    <a:pt x="800" y="4"/>
                  </a:lnTo>
                  <a:lnTo>
                    <a:pt x="807" y="3"/>
                  </a:lnTo>
                  <a:lnTo>
                    <a:pt x="813" y="3"/>
                  </a:lnTo>
                  <a:lnTo>
                    <a:pt x="818" y="3"/>
                  </a:lnTo>
                  <a:lnTo>
                    <a:pt x="824" y="1"/>
                  </a:lnTo>
                  <a:lnTo>
                    <a:pt x="830" y="1"/>
                  </a:lnTo>
                  <a:lnTo>
                    <a:pt x="836" y="1"/>
                  </a:lnTo>
                  <a:lnTo>
                    <a:pt x="841" y="1"/>
                  </a:lnTo>
                  <a:lnTo>
                    <a:pt x="847" y="1"/>
                  </a:lnTo>
                  <a:lnTo>
                    <a:pt x="853" y="0"/>
                  </a:lnTo>
                  <a:lnTo>
                    <a:pt x="860" y="0"/>
                  </a:lnTo>
                  <a:lnTo>
                    <a:pt x="866" y="0"/>
                  </a:lnTo>
                  <a:lnTo>
                    <a:pt x="873" y="0"/>
                  </a:lnTo>
                  <a:lnTo>
                    <a:pt x="880" y="0"/>
                  </a:lnTo>
                  <a:lnTo>
                    <a:pt x="889" y="0"/>
                  </a:lnTo>
                  <a:lnTo>
                    <a:pt x="896" y="0"/>
                  </a:lnTo>
                  <a:lnTo>
                    <a:pt x="905" y="0"/>
                  </a:lnTo>
                  <a:lnTo>
                    <a:pt x="91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id="{F8B0FED5-E3A7-45DC-2E52-37B2FE95F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1425" y="3192463"/>
              <a:ext cx="136525" cy="114300"/>
            </a:xfrm>
            <a:custGeom>
              <a:avLst/>
              <a:gdLst>
                <a:gd name="T0" fmla="*/ 0 w 173"/>
                <a:gd name="T1" fmla="*/ 1 h 144"/>
                <a:gd name="T2" fmla="*/ 0 w 173"/>
                <a:gd name="T3" fmla="*/ 1 h 144"/>
                <a:gd name="T4" fmla="*/ 0 w 173"/>
                <a:gd name="T5" fmla="*/ 0 h 144"/>
                <a:gd name="T6" fmla="*/ 0 w 173"/>
                <a:gd name="T7" fmla="*/ 1 h 144"/>
                <a:gd name="T8" fmla="*/ 0 w 173"/>
                <a:gd name="T9" fmla="*/ 1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3"/>
                <a:gd name="T16" fmla="*/ 0 h 144"/>
                <a:gd name="T17" fmla="*/ 173 w 173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3" h="144">
                  <a:moveTo>
                    <a:pt x="0" y="57"/>
                  </a:moveTo>
                  <a:lnTo>
                    <a:pt x="173" y="144"/>
                  </a:lnTo>
                  <a:lnTo>
                    <a:pt x="58" y="0"/>
                  </a:lnTo>
                  <a:lnTo>
                    <a:pt x="29" y="29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0000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7">
              <a:extLst>
                <a:ext uri="{FF2B5EF4-FFF2-40B4-BE49-F238E27FC236}">
                  <a16:creationId xmlns:a16="http://schemas.microsoft.com/office/drawing/2014/main" id="{C0F12B44-ED79-FB9A-7EAA-FF9A3AC8A8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688" y="3036888"/>
              <a:ext cx="585788" cy="169863"/>
            </a:xfrm>
            <a:custGeom>
              <a:avLst/>
              <a:gdLst>
                <a:gd name="T0" fmla="*/ 1 w 736"/>
                <a:gd name="T1" fmla="*/ 0 h 216"/>
                <a:gd name="T2" fmla="*/ 1 w 736"/>
                <a:gd name="T3" fmla="*/ 0 h 216"/>
                <a:gd name="T4" fmla="*/ 1 w 736"/>
                <a:gd name="T5" fmla="*/ 0 h 216"/>
                <a:gd name="T6" fmla="*/ 1 w 736"/>
                <a:gd name="T7" fmla="*/ 0 h 216"/>
                <a:gd name="T8" fmla="*/ 1 w 736"/>
                <a:gd name="T9" fmla="*/ 0 h 216"/>
                <a:gd name="T10" fmla="*/ 1 w 736"/>
                <a:gd name="T11" fmla="*/ 0 h 216"/>
                <a:gd name="T12" fmla="*/ 1 w 736"/>
                <a:gd name="T13" fmla="*/ 0 h 216"/>
                <a:gd name="T14" fmla="*/ 1 w 736"/>
                <a:gd name="T15" fmla="*/ 0 h 216"/>
                <a:gd name="T16" fmla="*/ 1 w 736"/>
                <a:gd name="T17" fmla="*/ 0 h 216"/>
                <a:gd name="T18" fmla="*/ 1 w 736"/>
                <a:gd name="T19" fmla="*/ 0 h 216"/>
                <a:gd name="T20" fmla="*/ 1 w 736"/>
                <a:gd name="T21" fmla="*/ 0 h 216"/>
                <a:gd name="T22" fmla="*/ 1 w 736"/>
                <a:gd name="T23" fmla="*/ 0 h 216"/>
                <a:gd name="T24" fmla="*/ 1 w 736"/>
                <a:gd name="T25" fmla="*/ 0 h 216"/>
                <a:gd name="T26" fmla="*/ 1 w 736"/>
                <a:gd name="T27" fmla="*/ 0 h 216"/>
                <a:gd name="T28" fmla="*/ 1 w 736"/>
                <a:gd name="T29" fmla="*/ 0 h 216"/>
                <a:gd name="T30" fmla="*/ 1 w 736"/>
                <a:gd name="T31" fmla="*/ 0 h 216"/>
                <a:gd name="T32" fmla="*/ 1 w 736"/>
                <a:gd name="T33" fmla="*/ 0 h 216"/>
                <a:gd name="T34" fmla="*/ 1 w 736"/>
                <a:gd name="T35" fmla="*/ 0 h 216"/>
                <a:gd name="T36" fmla="*/ 1 w 736"/>
                <a:gd name="T37" fmla="*/ 0 h 216"/>
                <a:gd name="T38" fmla="*/ 1 w 736"/>
                <a:gd name="T39" fmla="*/ 0 h 216"/>
                <a:gd name="T40" fmla="*/ 1 w 736"/>
                <a:gd name="T41" fmla="*/ 0 h 216"/>
                <a:gd name="T42" fmla="*/ 1 w 736"/>
                <a:gd name="T43" fmla="*/ 0 h 216"/>
                <a:gd name="T44" fmla="*/ 1 w 736"/>
                <a:gd name="T45" fmla="*/ 0 h 216"/>
                <a:gd name="T46" fmla="*/ 1 w 736"/>
                <a:gd name="T47" fmla="*/ 0 h 216"/>
                <a:gd name="T48" fmla="*/ 1 w 736"/>
                <a:gd name="T49" fmla="*/ 0 h 216"/>
                <a:gd name="T50" fmla="*/ 1 w 736"/>
                <a:gd name="T51" fmla="*/ 0 h 216"/>
                <a:gd name="T52" fmla="*/ 1 w 736"/>
                <a:gd name="T53" fmla="*/ 0 h 216"/>
                <a:gd name="T54" fmla="*/ 1 w 736"/>
                <a:gd name="T55" fmla="*/ 0 h 216"/>
                <a:gd name="T56" fmla="*/ 1 w 736"/>
                <a:gd name="T57" fmla="*/ 0 h 216"/>
                <a:gd name="T58" fmla="*/ 1 w 736"/>
                <a:gd name="T59" fmla="*/ 0 h 216"/>
                <a:gd name="T60" fmla="*/ 1 w 736"/>
                <a:gd name="T61" fmla="*/ 0 h 216"/>
                <a:gd name="T62" fmla="*/ 1 w 736"/>
                <a:gd name="T63" fmla="*/ 0 h 216"/>
                <a:gd name="T64" fmla="*/ 1 w 736"/>
                <a:gd name="T65" fmla="*/ 0 h 216"/>
                <a:gd name="T66" fmla="*/ 1 w 736"/>
                <a:gd name="T67" fmla="*/ 0 h 216"/>
                <a:gd name="T68" fmla="*/ 1 w 736"/>
                <a:gd name="T69" fmla="*/ 0 h 216"/>
                <a:gd name="T70" fmla="*/ 1 w 736"/>
                <a:gd name="T71" fmla="*/ 0 h 216"/>
                <a:gd name="T72" fmla="*/ 1 w 736"/>
                <a:gd name="T73" fmla="*/ 0 h 216"/>
                <a:gd name="T74" fmla="*/ 1 w 736"/>
                <a:gd name="T75" fmla="*/ 0 h 216"/>
                <a:gd name="T76" fmla="*/ 1 w 736"/>
                <a:gd name="T77" fmla="*/ 0 h 216"/>
                <a:gd name="T78" fmla="*/ 1 w 736"/>
                <a:gd name="T79" fmla="*/ 0 h 216"/>
                <a:gd name="T80" fmla="*/ 1 w 736"/>
                <a:gd name="T81" fmla="*/ 0 h 216"/>
                <a:gd name="T82" fmla="*/ 1 w 736"/>
                <a:gd name="T83" fmla="*/ 0 h 216"/>
                <a:gd name="T84" fmla="*/ 1 w 736"/>
                <a:gd name="T85" fmla="*/ 0 h 216"/>
                <a:gd name="T86" fmla="*/ 1 w 736"/>
                <a:gd name="T87" fmla="*/ 0 h 216"/>
                <a:gd name="T88" fmla="*/ 1 w 736"/>
                <a:gd name="T89" fmla="*/ 0 h 216"/>
                <a:gd name="T90" fmla="*/ 1 w 736"/>
                <a:gd name="T91" fmla="*/ 0 h 216"/>
                <a:gd name="T92" fmla="*/ 1 w 736"/>
                <a:gd name="T93" fmla="*/ 0 h 216"/>
                <a:gd name="T94" fmla="*/ 1 w 736"/>
                <a:gd name="T95" fmla="*/ 0 h 216"/>
                <a:gd name="T96" fmla="*/ 1 w 736"/>
                <a:gd name="T97" fmla="*/ 0 h 21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736"/>
                <a:gd name="T148" fmla="*/ 0 h 216"/>
                <a:gd name="T149" fmla="*/ 736 w 736"/>
                <a:gd name="T150" fmla="*/ 216 h 21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736" h="216">
                  <a:moveTo>
                    <a:pt x="736" y="216"/>
                  </a:moveTo>
                  <a:lnTo>
                    <a:pt x="728" y="210"/>
                  </a:lnTo>
                  <a:lnTo>
                    <a:pt x="720" y="203"/>
                  </a:lnTo>
                  <a:lnTo>
                    <a:pt x="713" y="197"/>
                  </a:lnTo>
                  <a:lnTo>
                    <a:pt x="706" y="193"/>
                  </a:lnTo>
                  <a:lnTo>
                    <a:pt x="699" y="187"/>
                  </a:lnTo>
                  <a:lnTo>
                    <a:pt x="692" y="183"/>
                  </a:lnTo>
                  <a:lnTo>
                    <a:pt x="686" y="178"/>
                  </a:lnTo>
                  <a:lnTo>
                    <a:pt x="679" y="174"/>
                  </a:lnTo>
                  <a:lnTo>
                    <a:pt x="673" y="170"/>
                  </a:lnTo>
                  <a:lnTo>
                    <a:pt x="667" y="165"/>
                  </a:lnTo>
                  <a:lnTo>
                    <a:pt x="661" y="161"/>
                  </a:lnTo>
                  <a:lnTo>
                    <a:pt x="656" y="158"/>
                  </a:lnTo>
                  <a:lnTo>
                    <a:pt x="650" y="155"/>
                  </a:lnTo>
                  <a:lnTo>
                    <a:pt x="644" y="151"/>
                  </a:lnTo>
                  <a:lnTo>
                    <a:pt x="638" y="148"/>
                  </a:lnTo>
                  <a:lnTo>
                    <a:pt x="634" y="145"/>
                  </a:lnTo>
                  <a:lnTo>
                    <a:pt x="628" y="142"/>
                  </a:lnTo>
                  <a:lnTo>
                    <a:pt x="623" y="139"/>
                  </a:lnTo>
                  <a:lnTo>
                    <a:pt x="617" y="137"/>
                  </a:lnTo>
                  <a:lnTo>
                    <a:pt x="611" y="135"/>
                  </a:lnTo>
                  <a:lnTo>
                    <a:pt x="605" y="132"/>
                  </a:lnTo>
                  <a:lnTo>
                    <a:pt x="600" y="129"/>
                  </a:lnTo>
                  <a:lnTo>
                    <a:pt x="594" y="126"/>
                  </a:lnTo>
                  <a:lnTo>
                    <a:pt x="588" y="124"/>
                  </a:lnTo>
                  <a:lnTo>
                    <a:pt x="582" y="122"/>
                  </a:lnTo>
                  <a:lnTo>
                    <a:pt x="575" y="119"/>
                  </a:lnTo>
                  <a:lnTo>
                    <a:pt x="569" y="116"/>
                  </a:lnTo>
                  <a:lnTo>
                    <a:pt x="562" y="114"/>
                  </a:lnTo>
                  <a:lnTo>
                    <a:pt x="555" y="111"/>
                  </a:lnTo>
                  <a:lnTo>
                    <a:pt x="548" y="108"/>
                  </a:lnTo>
                  <a:lnTo>
                    <a:pt x="541" y="105"/>
                  </a:lnTo>
                  <a:lnTo>
                    <a:pt x="532" y="102"/>
                  </a:lnTo>
                  <a:lnTo>
                    <a:pt x="520" y="96"/>
                  </a:lnTo>
                  <a:lnTo>
                    <a:pt x="510" y="92"/>
                  </a:lnTo>
                  <a:lnTo>
                    <a:pt x="500" y="89"/>
                  </a:lnTo>
                  <a:lnTo>
                    <a:pt x="490" y="85"/>
                  </a:lnTo>
                  <a:lnTo>
                    <a:pt x="482" y="80"/>
                  </a:lnTo>
                  <a:lnTo>
                    <a:pt x="473" y="78"/>
                  </a:lnTo>
                  <a:lnTo>
                    <a:pt x="464" y="75"/>
                  </a:lnTo>
                  <a:lnTo>
                    <a:pt x="457" y="72"/>
                  </a:lnTo>
                  <a:lnTo>
                    <a:pt x="448" y="69"/>
                  </a:lnTo>
                  <a:lnTo>
                    <a:pt x="441" y="66"/>
                  </a:lnTo>
                  <a:lnTo>
                    <a:pt x="436" y="65"/>
                  </a:lnTo>
                  <a:lnTo>
                    <a:pt x="428" y="62"/>
                  </a:lnTo>
                  <a:lnTo>
                    <a:pt x="421" y="60"/>
                  </a:lnTo>
                  <a:lnTo>
                    <a:pt x="415" y="57"/>
                  </a:lnTo>
                  <a:lnTo>
                    <a:pt x="408" y="56"/>
                  </a:lnTo>
                  <a:lnTo>
                    <a:pt x="402" y="55"/>
                  </a:lnTo>
                  <a:lnTo>
                    <a:pt x="395" y="52"/>
                  </a:lnTo>
                  <a:lnTo>
                    <a:pt x="388" y="50"/>
                  </a:lnTo>
                  <a:lnTo>
                    <a:pt x="382" y="49"/>
                  </a:lnTo>
                  <a:lnTo>
                    <a:pt x="375" y="47"/>
                  </a:lnTo>
                  <a:lnTo>
                    <a:pt x="368" y="46"/>
                  </a:lnTo>
                  <a:lnTo>
                    <a:pt x="359" y="45"/>
                  </a:lnTo>
                  <a:lnTo>
                    <a:pt x="352" y="43"/>
                  </a:lnTo>
                  <a:lnTo>
                    <a:pt x="343" y="42"/>
                  </a:lnTo>
                  <a:lnTo>
                    <a:pt x="333" y="39"/>
                  </a:lnTo>
                  <a:lnTo>
                    <a:pt x="325" y="37"/>
                  </a:lnTo>
                  <a:lnTo>
                    <a:pt x="315" y="36"/>
                  </a:lnTo>
                  <a:lnTo>
                    <a:pt x="303" y="35"/>
                  </a:lnTo>
                  <a:lnTo>
                    <a:pt x="292" y="32"/>
                  </a:lnTo>
                  <a:lnTo>
                    <a:pt x="280" y="30"/>
                  </a:lnTo>
                  <a:lnTo>
                    <a:pt x="267" y="27"/>
                  </a:lnTo>
                  <a:lnTo>
                    <a:pt x="253" y="26"/>
                  </a:lnTo>
                  <a:lnTo>
                    <a:pt x="238" y="23"/>
                  </a:lnTo>
                  <a:lnTo>
                    <a:pt x="226" y="22"/>
                  </a:lnTo>
                  <a:lnTo>
                    <a:pt x="214" y="19"/>
                  </a:lnTo>
                  <a:lnTo>
                    <a:pt x="203" y="17"/>
                  </a:lnTo>
                  <a:lnTo>
                    <a:pt x="192" y="16"/>
                  </a:lnTo>
                  <a:lnTo>
                    <a:pt x="182" y="14"/>
                  </a:lnTo>
                  <a:lnTo>
                    <a:pt x="172" y="13"/>
                  </a:lnTo>
                  <a:lnTo>
                    <a:pt x="164" y="12"/>
                  </a:lnTo>
                  <a:lnTo>
                    <a:pt x="155" y="10"/>
                  </a:lnTo>
                  <a:lnTo>
                    <a:pt x="148" y="9"/>
                  </a:lnTo>
                  <a:lnTo>
                    <a:pt x="139" y="7"/>
                  </a:lnTo>
                  <a:lnTo>
                    <a:pt x="132" y="7"/>
                  </a:lnTo>
                  <a:lnTo>
                    <a:pt x="126" y="6"/>
                  </a:lnTo>
                  <a:lnTo>
                    <a:pt x="119" y="4"/>
                  </a:lnTo>
                  <a:lnTo>
                    <a:pt x="113" y="4"/>
                  </a:lnTo>
                  <a:lnTo>
                    <a:pt x="108" y="3"/>
                  </a:lnTo>
                  <a:lnTo>
                    <a:pt x="102" y="3"/>
                  </a:lnTo>
                  <a:lnTo>
                    <a:pt x="96" y="3"/>
                  </a:lnTo>
                  <a:lnTo>
                    <a:pt x="90" y="1"/>
                  </a:lnTo>
                  <a:lnTo>
                    <a:pt x="85" y="1"/>
                  </a:lnTo>
                  <a:lnTo>
                    <a:pt x="79" y="1"/>
                  </a:lnTo>
                  <a:lnTo>
                    <a:pt x="73" y="1"/>
                  </a:lnTo>
                  <a:lnTo>
                    <a:pt x="66" y="1"/>
                  </a:lnTo>
                  <a:lnTo>
                    <a:pt x="60" y="0"/>
                  </a:lnTo>
                  <a:lnTo>
                    <a:pt x="54" y="0"/>
                  </a:lnTo>
                  <a:lnTo>
                    <a:pt x="47" y="0"/>
                  </a:lnTo>
                  <a:lnTo>
                    <a:pt x="40" y="0"/>
                  </a:lnTo>
                  <a:lnTo>
                    <a:pt x="33" y="0"/>
                  </a:lnTo>
                  <a:lnTo>
                    <a:pt x="26" y="0"/>
                  </a:lnTo>
                  <a:lnTo>
                    <a:pt x="17" y="0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1A2E63FB-7FA7-ABCC-97CD-06B6C52B99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9688" y="3214688"/>
              <a:ext cx="646113" cy="644525"/>
            </a:xfrm>
            <a:custGeom>
              <a:avLst/>
              <a:gdLst>
                <a:gd name="T0" fmla="*/ 1 w 814"/>
                <a:gd name="T1" fmla="*/ 0 h 814"/>
                <a:gd name="T2" fmla="*/ 1 w 814"/>
                <a:gd name="T3" fmla="*/ 0 h 814"/>
                <a:gd name="T4" fmla="*/ 1 w 814"/>
                <a:gd name="T5" fmla="*/ 0 h 814"/>
                <a:gd name="T6" fmla="*/ 1 w 814"/>
                <a:gd name="T7" fmla="*/ 0 h 814"/>
                <a:gd name="T8" fmla="*/ 1 w 814"/>
                <a:gd name="T9" fmla="*/ 0 h 814"/>
                <a:gd name="T10" fmla="*/ 1 w 814"/>
                <a:gd name="T11" fmla="*/ 0 h 814"/>
                <a:gd name="T12" fmla="*/ 1 w 814"/>
                <a:gd name="T13" fmla="*/ 0 h 814"/>
                <a:gd name="T14" fmla="*/ 1 w 814"/>
                <a:gd name="T15" fmla="*/ 0 h 814"/>
                <a:gd name="T16" fmla="*/ 1 w 814"/>
                <a:gd name="T17" fmla="*/ 0 h 814"/>
                <a:gd name="T18" fmla="*/ 1 w 814"/>
                <a:gd name="T19" fmla="*/ 0 h 814"/>
                <a:gd name="T20" fmla="*/ 0 w 814"/>
                <a:gd name="T21" fmla="*/ 0 h 814"/>
                <a:gd name="T22" fmla="*/ 1 w 814"/>
                <a:gd name="T23" fmla="*/ 0 h 814"/>
                <a:gd name="T24" fmla="*/ 1 w 814"/>
                <a:gd name="T25" fmla="*/ 0 h 814"/>
                <a:gd name="T26" fmla="*/ 1 w 814"/>
                <a:gd name="T27" fmla="*/ 0 h 814"/>
                <a:gd name="T28" fmla="*/ 1 w 814"/>
                <a:gd name="T29" fmla="*/ 0 h 814"/>
                <a:gd name="T30" fmla="*/ 1 w 814"/>
                <a:gd name="T31" fmla="*/ 0 h 814"/>
                <a:gd name="T32" fmla="*/ 1 w 814"/>
                <a:gd name="T33" fmla="*/ 0 h 814"/>
                <a:gd name="T34" fmla="*/ 1 w 814"/>
                <a:gd name="T35" fmla="*/ 0 h 814"/>
                <a:gd name="T36" fmla="*/ 1 w 814"/>
                <a:gd name="T37" fmla="*/ 0 h 814"/>
                <a:gd name="T38" fmla="*/ 1 w 814"/>
                <a:gd name="T39" fmla="*/ 0 h 814"/>
                <a:gd name="T40" fmla="*/ 1 w 814"/>
                <a:gd name="T41" fmla="*/ 0 h 814"/>
                <a:gd name="T42" fmla="*/ 1 w 814"/>
                <a:gd name="T43" fmla="*/ 0 h 814"/>
                <a:gd name="T44" fmla="*/ 1 w 814"/>
                <a:gd name="T45" fmla="*/ 0 h 814"/>
                <a:gd name="T46" fmla="*/ 1 w 814"/>
                <a:gd name="T47" fmla="*/ 0 h 814"/>
                <a:gd name="T48" fmla="*/ 1 w 814"/>
                <a:gd name="T49" fmla="*/ 0 h 814"/>
                <a:gd name="T50" fmla="*/ 1 w 814"/>
                <a:gd name="T51" fmla="*/ 0 h 814"/>
                <a:gd name="T52" fmla="*/ 1 w 814"/>
                <a:gd name="T53" fmla="*/ 0 h 814"/>
                <a:gd name="T54" fmla="*/ 1 w 814"/>
                <a:gd name="T55" fmla="*/ 0 h 814"/>
                <a:gd name="T56" fmla="*/ 1 w 814"/>
                <a:gd name="T57" fmla="*/ 0 h 814"/>
                <a:gd name="T58" fmla="*/ 1 w 814"/>
                <a:gd name="T59" fmla="*/ 0 h 814"/>
                <a:gd name="T60" fmla="*/ 1 w 814"/>
                <a:gd name="T61" fmla="*/ 0 h 814"/>
                <a:gd name="T62" fmla="*/ 1 w 814"/>
                <a:gd name="T63" fmla="*/ 0 h 814"/>
                <a:gd name="T64" fmla="*/ 1 w 814"/>
                <a:gd name="T65" fmla="*/ 0 h 814"/>
                <a:gd name="T66" fmla="*/ 1 w 814"/>
                <a:gd name="T67" fmla="*/ 0 h 814"/>
                <a:gd name="T68" fmla="*/ 1 w 814"/>
                <a:gd name="T69" fmla="*/ 0 h 814"/>
                <a:gd name="T70" fmla="*/ 1 w 814"/>
                <a:gd name="T71" fmla="*/ 0 h 814"/>
                <a:gd name="T72" fmla="*/ 1 w 814"/>
                <a:gd name="T73" fmla="*/ 0 h 814"/>
                <a:gd name="T74" fmla="*/ 1 w 814"/>
                <a:gd name="T75" fmla="*/ 0 h 814"/>
                <a:gd name="T76" fmla="*/ 1 w 814"/>
                <a:gd name="T77" fmla="*/ 0 h 814"/>
                <a:gd name="T78" fmla="*/ 1 w 814"/>
                <a:gd name="T79" fmla="*/ 0 h 814"/>
                <a:gd name="T80" fmla="*/ 1 w 814"/>
                <a:gd name="T81" fmla="*/ 0 h 814"/>
                <a:gd name="T82" fmla="*/ 1 w 814"/>
                <a:gd name="T83" fmla="*/ 0 h 814"/>
                <a:gd name="T84" fmla="*/ 1 w 814"/>
                <a:gd name="T85" fmla="*/ 0 h 814"/>
                <a:gd name="T86" fmla="*/ 1 w 814"/>
                <a:gd name="T87" fmla="*/ 0 h 81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814"/>
                <a:gd name="T133" fmla="*/ 0 h 814"/>
                <a:gd name="T134" fmla="*/ 814 w 814"/>
                <a:gd name="T135" fmla="*/ 814 h 81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814" h="814">
                  <a:moveTo>
                    <a:pt x="407" y="0"/>
                  </a:moveTo>
                  <a:lnTo>
                    <a:pt x="386" y="0"/>
                  </a:lnTo>
                  <a:lnTo>
                    <a:pt x="365" y="2"/>
                  </a:lnTo>
                  <a:lnTo>
                    <a:pt x="345" y="5"/>
                  </a:lnTo>
                  <a:lnTo>
                    <a:pt x="325" y="7"/>
                  </a:lnTo>
                  <a:lnTo>
                    <a:pt x="305" y="12"/>
                  </a:lnTo>
                  <a:lnTo>
                    <a:pt x="286" y="17"/>
                  </a:lnTo>
                  <a:lnTo>
                    <a:pt x="268" y="25"/>
                  </a:lnTo>
                  <a:lnTo>
                    <a:pt x="249" y="32"/>
                  </a:lnTo>
                  <a:lnTo>
                    <a:pt x="230" y="39"/>
                  </a:lnTo>
                  <a:lnTo>
                    <a:pt x="213" y="49"/>
                  </a:lnTo>
                  <a:lnTo>
                    <a:pt x="196" y="59"/>
                  </a:lnTo>
                  <a:lnTo>
                    <a:pt x="180" y="69"/>
                  </a:lnTo>
                  <a:lnTo>
                    <a:pt x="163" y="81"/>
                  </a:lnTo>
                  <a:lnTo>
                    <a:pt x="148" y="92"/>
                  </a:lnTo>
                  <a:lnTo>
                    <a:pt x="132" y="105"/>
                  </a:lnTo>
                  <a:lnTo>
                    <a:pt x="119" y="120"/>
                  </a:lnTo>
                  <a:lnTo>
                    <a:pt x="105" y="132"/>
                  </a:lnTo>
                  <a:lnTo>
                    <a:pt x="92" y="148"/>
                  </a:lnTo>
                  <a:lnTo>
                    <a:pt x="81" y="163"/>
                  </a:lnTo>
                  <a:lnTo>
                    <a:pt x="69" y="178"/>
                  </a:lnTo>
                  <a:lnTo>
                    <a:pt x="59" y="196"/>
                  </a:lnTo>
                  <a:lnTo>
                    <a:pt x="49" y="213"/>
                  </a:lnTo>
                  <a:lnTo>
                    <a:pt x="40" y="230"/>
                  </a:lnTo>
                  <a:lnTo>
                    <a:pt x="32" y="249"/>
                  </a:lnTo>
                  <a:lnTo>
                    <a:pt x="24" y="266"/>
                  </a:lnTo>
                  <a:lnTo>
                    <a:pt x="17" y="286"/>
                  </a:lnTo>
                  <a:lnTo>
                    <a:pt x="13" y="305"/>
                  </a:lnTo>
                  <a:lnTo>
                    <a:pt x="7" y="325"/>
                  </a:lnTo>
                  <a:lnTo>
                    <a:pt x="4" y="345"/>
                  </a:lnTo>
                  <a:lnTo>
                    <a:pt x="1" y="365"/>
                  </a:lnTo>
                  <a:lnTo>
                    <a:pt x="0" y="385"/>
                  </a:lnTo>
                  <a:lnTo>
                    <a:pt x="0" y="407"/>
                  </a:lnTo>
                  <a:lnTo>
                    <a:pt x="0" y="429"/>
                  </a:lnTo>
                  <a:lnTo>
                    <a:pt x="1" y="449"/>
                  </a:lnTo>
                  <a:lnTo>
                    <a:pt x="4" y="469"/>
                  </a:lnTo>
                  <a:lnTo>
                    <a:pt x="7" y="489"/>
                  </a:lnTo>
                  <a:lnTo>
                    <a:pt x="13" y="509"/>
                  </a:lnTo>
                  <a:lnTo>
                    <a:pt x="17" y="528"/>
                  </a:lnTo>
                  <a:lnTo>
                    <a:pt x="24" y="546"/>
                  </a:lnTo>
                  <a:lnTo>
                    <a:pt x="32" y="565"/>
                  </a:lnTo>
                  <a:lnTo>
                    <a:pt x="40" y="584"/>
                  </a:lnTo>
                  <a:lnTo>
                    <a:pt x="49" y="601"/>
                  </a:lnTo>
                  <a:lnTo>
                    <a:pt x="59" y="618"/>
                  </a:lnTo>
                  <a:lnTo>
                    <a:pt x="69" y="634"/>
                  </a:lnTo>
                  <a:lnTo>
                    <a:pt x="81" y="650"/>
                  </a:lnTo>
                  <a:lnTo>
                    <a:pt x="92" y="666"/>
                  </a:lnTo>
                  <a:lnTo>
                    <a:pt x="105" y="680"/>
                  </a:lnTo>
                  <a:lnTo>
                    <a:pt x="119" y="694"/>
                  </a:lnTo>
                  <a:lnTo>
                    <a:pt x="132" y="709"/>
                  </a:lnTo>
                  <a:lnTo>
                    <a:pt x="148" y="722"/>
                  </a:lnTo>
                  <a:lnTo>
                    <a:pt x="163" y="733"/>
                  </a:lnTo>
                  <a:lnTo>
                    <a:pt x="180" y="745"/>
                  </a:lnTo>
                  <a:lnTo>
                    <a:pt x="196" y="755"/>
                  </a:lnTo>
                  <a:lnTo>
                    <a:pt x="213" y="765"/>
                  </a:lnTo>
                  <a:lnTo>
                    <a:pt x="230" y="773"/>
                  </a:lnTo>
                  <a:lnTo>
                    <a:pt x="249" y="782"/>
                  </a:lnTo>
                  <a:lnTo>
                    <a:pt x="268" y="789"/>
                  </a:lnTo>
                  <a:lnTo>
                    <a:pt x="286" y="796"/>
                  </a:lnTo>
                  <a:lnTo>
                    <a:pt x="305" y="801"/>
                  </a:lnTo>
                  <a:lnTo>
                    <a:pt x="325" y="807"/>
                  </a:lnTo>
                  <a:lnTo>
                    <a:pt x="345" y="809"/>
                  </a:lnTo>
                  <a:lnTo>
                    <a:pt x="365" y="812"/>
                  </a:lnTo>
                  <a:lnTo>
                    <a:pt x="386" y="814"/>
                  </a:lnTo>
                  <a:lnTo>
                    <a:pt x="407" y="814"/>
                  </a:lnTo>
                  <a:lnTo>
                    <a:pt x="429" y="814"/>
                  </a:lnTo>
                  <a:lnTo>
                    <a:pt x="449" y="812"/>
                  </a:lnTo>
                  <a:lnTo>
                    <a:pt x="469" y="809"/>
                  </a:lnTo>
                  <a:lnTo>
                    <a:pt x="489" y="807"/>
                  </a:lnTo>
                  <a:lnTo>
                    <a:pt x="509" y="801"/>
                  </a:lnTo>
                  <a:lnTo>
                    <a:pt x="528" y="796"/>
                  </a:lnTo>
                  <a:lnTo>
                    <a:pt x="547" y="789"/>
                  </a:lnTo>
                  <a:lnTo>
                    <a:pt x="565" y="782"/>
                  </a:lnTo>
                  <a:lnTo>
                    <a:pt x="584" y="773"/>
                  </a:lnTo>
                  <a:lnTo>
                    <a:pt x="601" y="765"/>
                  </a:lnTo>
                  <a:lnTo>
                    <a:pt x="619" y="755"/>
                  </a:lnTo>
                  <a:lnTo>
                    <a:pt x="634" y="745"/>
                  </a:lnTo>
                  <a:lnTo>
                    <a:pt x="652" y="733"/>
                  </a:lnTo>
                  <a:lnTo>
                    <a:pt x="666" y="722"/>
                  </a:lnTo>
                  <a:lnTo>
                    <a:pt x="682" y="709"/>
                  </a:lnTo>
                  <a:lnTo>
                    <a:pt x="695" y="694"/>
                  </a:lnTo>
                  <a:lnTo>
                    <a:pt x="709" y="680"/>
                  </a:lnTo>
                  <a:lnTo>
                    <a:pt x="722" y="666"/>
                  </a:lnTo>
                  <a:lnTo>
                    <a:pt x="734" y="650"/>
                  </a:lnTo>
                  <a:lnTo>
                    <a:pt x="745" y="634"/>
                  </a:lnTo>
                  <a:lnTo>
                    <a:pt x="755" y="618"/>
                  </a:lnTo>
                  <a:lnTo>
                    <a:pt x="765" y="601"/>
                  </a:lnTo>
                  <a:lnTo>
                    <a:pt x="774" y="584"/>
                  </a:lnTo>
                  <a:lnTo>
                    <a:pt x="783" y="565"/>
                  </a:lnTo>
                  <a:lnTo>
                    <a:pt x="790" y="546"/>
                  </a:lnTo>
                  <a:lnTo>
                    <a:pt x="797" y="528"/>
                  </a:lnTo>
                  <a:lnTo>
                    <a:pt x="801" y="509"/>
                  </a:lnTo>
                  <a:lnTo>
                    <a:pt x="807" y="489"/>
                  </a:lnTo>
                  <a:lnTo>
                    <a:pt x="810" y="469"/>
                  </a:lnTo>
                  <a:lnTo>
                    <a:pt x="813" y="449"/>
                  </a:lnTo>
                  <a:lnTo>
                    <a:pt x="814" y="429"/>
                  </a:lnTo>
                  <a:lnTo>
                    <a:pt x="814" y="407"/>
                  </a:lnTo>
                  <a:lnTo>
                    <a:pt x="814" y="385"/>
                  </a:lnTo>
                  <a:lnTo>
                    <a:pt x="813" y="365"/>
                  </a:lnTo>
                  <a:lnTo>
                    <a:pt x="810" y="345"/>
                  </a:lnTo>
                  <a:lnTo>
                    <a:pt x="807" y="325"/>
                  </a:lnTo>
                  <a:lnTo>
                    <a:pt x="801" y="305"/>
                  </a:lnTo>
                  <a:lnTo>
                    <a:pt x="797" y="286"/>
                  </a:lnTo>
                  <a:lnTo>
                    <a:pt x="790" y="266"/>
                  </a:lnTo>
                  <a:lnTo>
                    <a:pt x="783" y="249"/>
                  </a:lnTo>
                  <a:lnTo>
                    <a:pt x="774" y="230"/>
                  </a:lnTo>
                  <a:lnTo>
                    <a:pt x="765" y="213"/>
                  </a:lnTo>
                  <a:lnTo>
                    <a:pt x="755" y="196"/>
                  </a:lnTo>
                  <a:lnTo>
                    <a:pt x="745" y="178"/>
                  </a:lnTo>
                  <a:lnTo>
                    <a:pt x="734" y="163"/>
                  </a:lnTo>
                  <a:lnTo>
                    <a:pt x="722" y="148"/>
                  </a:lnTo>
                  <a:lnTo>
                    <a:pt x="709" y="132"/>
                  </a:lnTo>
                  <a:lnTo>
                    <a:pt x="695" y="120"/>
                  </a:lnTo>
                  <a:lnTo>
                    <a:pt x="682" y="105"/>
                  </a:lnTo>
                  <a:lnTo>
                    <a:pt x="666" y="92"/>
                  </a:lnTo>
                  <a:lnTo>
                    <a:pt x="652" y="81"/>
                  </a:lnTo>
                  <a:lnTo>
                    <a:pt x="634" y="69"/>
                  </a:lnTo>
                  <a:lnTo>
                    <a:pt x="619" y="59"/>
                  </a:lnTo>
                  <a:lnTo>
                    <a:pt x="601" y="49"/>
                  </a:lnTo>
                  <a:lnTo>
                    <a:pt x="584" y="39"/>
                  </a:lnTo>
                  <a:lnTo>
                    <a:pt x="565" y="32"/>
                  </a:lnTo>
                  <a:lnTo>
                    <a:pt x="547" y="25"/>
                  </a:lnTo>
                  <a:lnTo>
                    <a:pt x="528" y="17"/>
                  </a:lnTo>
                  <a:lnTo>
                    <a:pt x="509" y="12"/>
                  </a:lnTo>
                  <a:lnTo>
                    <a:pt x="489" y="7"/>
                  </a:lnTo>
                  <a:lnTo>
                    <a:pt x="469" y="5"/>
                  </a:lnTo>
                  <a:lnTo>
                    <a:pt x="449" y="2"/>
                  </a:lnTo>
                  <a:lnTo>
                    <a:pt x="429" y="0"/>
                  </a:lnTo>
                  <a:lnTo>
                    <a:pt x="407" y="0"/>
                  </a:lnTo>
                </a:path>
              </a:pathLst>
            </a:custGeom>
            <a:solidFill>
              <a:schemeClr val="bg1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Rectangle 29">
              <a:extLst>
                <a:ext uri="{FF2B5EF4-FFF2-40B4-BE49-F238E27FC236}">
                  <a16:creationId xmlns:a16="http://schemas.microsoft.com/office/drawing/2014/main" id="{8E45C162-C3E4-335E-2B13-7C82730C7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05525" y="3886200"/>
              <a:ext cx="90488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1700">
                  <a:solidFill>
                    <a:srgbClr val="000000"/>
                  </a:solidFill>
                  <a:latin typeface="Symbol" charset="0"/>
                </a:rPr>
                <a:t>¤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33" name="Rectangle 30">
              <a:extLst>
                <a:ext uri="{FF2B5EF4-FFF2-40B4-BE49-F238E27FC236}">
                  <a16:creationId xmlns:a16="http://schemas.microsoft.com/office/drawing/2014/main" id="{4DBD0344-4839-15A5-04B8-C8A315813D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0038" y="3432175"/>
              <a:ext cx="18573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B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34" name="Rectangle 31">
              <a:extLst>
                <a:ext uri="{FF2B5EF4-FFF2-40B4-BE49-F238E27FC236}">
                  <a16:creationId xmlns:a16="http://schemas.microsoft.com/office/drawing/2014/main" id="{CAD1B84F-D43D-C703-0D6C-E7C05708C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4575" y="3890962"/>
              <a:ext cx="18573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 dirty="0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kumimoji="0" lang="en-US" sz="2400" dirty="0">
                <a:latin typeface="Times New Roman" charset="0"/>
              </a:endParaRPr>
            </a:p>
          </p:txBody>
        </p:sp>
        <p:sp>
          <p:nvSpPr>
            <p:cNvPr id="35" name="Rectangle 32">
              <a:extLst>
                <a:ext uri="{FF2B5EF4-FFF2-40B4-BE49-F238E27FC236}">
                  <a16:creationId xmlns:a16="http://schemas.microsoft.com/office/drawing/2014/main" id="{B8D449D9-77EF-F1B5-00BF-869BD8749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5100" y="3890962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36" name="Rectangle 33">
              <a:extLst>
                <a:ext uri="{FF2B5EF4-FFF2-40B4-BE49-F238E27FC236}">
                  <a16:creationId xmlns:a16="http://schemas.microsoft.com/office/drawing/2014/main" id="{0F52C5DC-14AD-9350-64C7-BD83887FCE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0950" y="3890962"/>
              <a:ext cx="1651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37" name="Rectangle 34">
              <a:extLst>
                <a:ext uri="{FF2B5EF4-FFF2-40B4-BE49-F238E27FC236}">
                  <a16:creationId xmlns:a16="http://schemas.microsoft.com/office/drawing/2014/main" id="{D1AF1FAB-2DFE-3B28-DB97-75C650CF9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4813" y="3890962"/>
              <a:ext cx="13017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>
                  <a:solidFill>
                    <a:srgbClr val="000000"/>
                  </a:solidFill>
                  <a:latin typeface="Times-Roman" charset="0"/>
                </a:rPr>
                <a:t>z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38" name="Rectangle 35">
              <a:extLst>
                <a:ext uri="{FF2B5EF4-FFF2-40B4-BE49-F238E27FC236}">
                  <a16:creationId xmlns:a16="http://schemas.microsoft.com/office/drawing/2014/main" id="{DAEBA1BC-B5EE-B076-DDC8-8697B5009D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3890962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39" name="Rectangle 36">
              <a:extLst>
                <a:ext uri="{FF2B5EF4-FFF2-40B4-BE49-F238E27FC236}">
                  <a16:creationId xmlns:a16="http://schemas.microsoft.com/office/drawing/2014/main" id="{304C8ECF-1BE4-6854-59D7-49E47FE378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4038" y="3890962"/>
              <a:ext cx="1651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dirty="0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 dirty="0">
                <a:latin typeface="Times New Roman" charset="0"/>
              </a:endParaRPr>
            </a:p>
          </p:txBody>
        </p:sp>
        <p:sp>
          <p:nvSpPr>
            <p:cNvPr id="40" name="Freeform 37">
              <a:extLst>
                <a:ext uri="{FF2B5EF4-FFF2-40B4-BE49-F238E27FC236}">
                  <a16:creationId xmlns:a16="http://schemas.microsoft.com/office/drawing/2014/main" id="{F8A5426E-4C5B-E295-FC74-0AD7AFCB3A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6625" y="3032125"/>
              <a:ext cx="68263" cy="138113"/>
            </a:xfrm>
            <a:custGeom>
              <a:avLst/>
              <a:gdLst>
                <a:gd name="T0" fmla="*/ 0 w 86"/>
                <a:gd name="T1" fmla="*/ 0 h 172"/>
                <a:gd name="T2" fmla="*/ 1 w 86"/>
                <a:gd name="T3" fmla="*/ 1 h 172"/>
                <a:gd name="T4" fmla="*/ 1 w 86"/>
                <a:gd name="T5" fmla="*/ 0 h 172"/>
                <a:gd name="T6" fmla="*/ 1 w 86"/>
                <a:gd name="T7" fmla="*/ 0 h 172"/>
                <a:gd name="T8" fmla="*/ 0 w 86"/>
                <a:gd name="T9" fmla="*/ 0 h 1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"/>
                <a:gd name="T16" fmla="*/ 0 h 172"/>
                <a:gd name="T17" fmla="*/ 86 w 86"/>
                <a:gd name="T18" fmla="*/ 172 h 1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" h="172">
                  <a:moveTo>
                    <a:pt x="0" y="0"/>
                  </a:moveTo>
                  <a:lnTo>
                    <a:pt x="29" y="172"/>
                  </a:lnTo>
                  <a:lnTo>
                    <a:pt x="86" y="0"/>
                  </a:lnTo>
                  <a:lnTo>
                    <a:pt x="2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38">
              <a:extLst>
                <a:ext uri="{FF2B5EF4-FFF2-40B4-BE49-F238E27FC236}">
                  <a16:creationId xmlns:a16="http://schemas.microsoft.com/office/drawing/2014/main" id="{7602245F-CBCB-BC41-8395-EFE39D3120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8850" y="2736850"/>
              <a:ext cx="1588" cy="295275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Rectangle 39">
              <a:extLst>
                <a:ext uri="{FF2B5EF4-FFF2-40B4-BE49-F238E27FC236}">
                  <a16:creationId xmlns:a16="http://schemas.microsoft.com/office/drawing/2014/main" id="{DD4152A9-EFD3-771F-22CC-23DE83611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088" y="3886200"/>
              <a:ext cx="90488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1700" dirty="0">
                  <a:solidFill>
                    <a:srgbClr val="000000"/>
                  </a:solidFill>
                  <a:latin typeface="Symbol" charset="0"/>
                </a:rPr>
                <a:t>¤ </a:t>
              </a:r>
              <a:endParaRPr kumimoji="0" lang="en-US" sz="2400" dirty="0">
                <a:latin typeface="Times New Roman" charset="0"/>
              </a:endParaRPr>
            </a:p>
          </p:txBody>
        </p:sp>
        <p:sp>
          <p:nvSpPr>
            <p:cNvPr id="43" name="Rectangle 40">
              <a:extLst>
                <a:ext uri="{FF2B5EF4-FFF2-40B4-BE49-F238E27FC236}">
                  <a16:creationId xmlns:a16="http://schemas.microsoft.com/office/drawing/2014/main" id="{1C57F107-E491-678D-5018-4C136B8517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5013" y="2438400"/>
              <a:ext cx="50323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Reset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44" name="Rectangle 41">
              <a:extLst>
                <a:ext uri="{FF2B5EF4-FFF2-40B4-BE49-F238E27FC236}">
                  <a16:creationId xmlns:a16="http://schemas.microsoft.com/office/drawing/2014/main" id="{7F1FACB5-E4BF-7F50-FD67-7CEF125345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7950" y="2752725"/>
              <a:ext cx="18573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 dirty="0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kumimoji="0" lang="en-US" sz="2400" dirty="0">
                <a:latin typeface="Times New Roman" charset="0"/>
              </a:endParaRPr>
            </a:p>
          </p:txBody>
        </p:sp>
        <p:sp>
          <p:nvSpPr>
            <p:cNvPr id="45" name="Rectangle 42">
              <a:extLst>
                <a:ext uri="{FF2B5EF4-FFF2-40B4-BE49-F238E27FC236}">
                  <a16:creationId xmlns:a16="http://schemas.microsoft.com/office/drawing/2014/main" id="{C69CC525-8B82-5E1E-7E75-079C08BCEE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475" y="2752725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46" name="Rectangle 43">
              <a:extLst>
                <a:ext uri="{FF2B5EF4-FFF2-40B4-BE49-F238E27FC236}">
                  <a16:creationId xmlns:a16="http://schemas.microsoft.com/office/drawing/2014/main" id="{4A27F6C7-5FF2-43B2-0F9F-4ED7E476CF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2738" y="2752725"/>
              <a:ext cx="1651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47" name="Rectangle 44">
              <a:extLst>
                <a:ext uri="{FF2B5EF4-FFF2-40B4-BE49-F238E27FC236}">
                  <a16:creationId xmlns:a16="http://schemas.microsoft.com/office/drawing/2014/main" id="{A24E1892-9470-81C4-C32C-9092D21AC4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8188" y="2752725"/>
              <a:ext cx="13017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>
                  <a:solidFill>
                    <a:srgbClr val="000000"/>
                  </a:solidFill>
                  <a:latin typeface="Times-Roman" charset="0"/>
                </a:rPr>
                <a:t>z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48" name="Rectangle 45">
              <a:extLst>
                <a:ext uri="{FF2B5EF4-FFF2-40B4-BE49-F238E27FC236}">
                  <a16:creationId xmlns:a16="http://schemas.microsoft.com/office/drawing/2014/main" id="{6C5DF7F4-5129-E676-41FA-8BF461BB0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9975" y="2752725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49" name="Rectangle 46">
              <a:extLst>
                <a:ext uri="{FF2B5EF4-FFF2-40B4-BE49-F238E27FC236}">
                  <a16:creationId xmlns:a16="http://schemas.microsoft.com/office/drawing/2014/main" id="{A5E9B9C3-1180-D784-F199-7DC033749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5825" y="2752725"/>
              <a:ext cx="1651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dirty="0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 dirty="0">
                <a:latin typeface="Times New Roman" charset="0"/>
              </a:endParaRPr>
            </a:p>
          </p:txBody>
        </p:sp>
        <p:sp>
          <p:nvSpPr>
            <p:cNvPr id="50" name="Rectangle 47">
              <a:extLst>
                <a:ext uri="{FF2B5EF4-FFF2-40B4-BE49-F238E27FC236}">
                  <a16:creationId xmlns:a16="http://schemas.microsoft.com/office/drawing/2014/main" id="{44945046-ABF8-831D-426F-136CE6C2F3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2463" y="2747963"/>
              <a:ext cx="90488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1700">
                  <a:solidFill>
                    <a:srgbClr val="000000"/>
                  </a:solidFill>
                  <a:latin typeface="Symbol" charset="0"/>
                </a:rPr>
                <a:t>¤ </a:t>
              </a:r>
              <a:endParaRPr kumimoji="0" lang="en-US" sz="2400">
                <a:latin typeface="Times New Roman" charset="0"/>
              </a:endParaRPr>
            </a:p>
          </p:txBody>
        </p:sp>
      </p:grpSp>
      <p:pic>
        <p:nvPicPr>
          <p:cNvPr id="52" name="Picture 51">
            <a:extLst>
              <a:ext uri="{FF2B5EF4-FFF2-40B4-BE49-F238E27FC236}">
                <a16:creationId xmlns:a16="http://schemas.microsoft.com/office/drawing/2014/main" id="{3DEE17EE-8054-3E13-1DE1-F4E7A5069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987" y="921639"/>
            <a:ext cx="4952442" cy="554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8388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ASM: Mealy FSM Example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A45B5C2-190F-9CDC-F7F5-DCB3E592CB76}"/>
              </a:ext>
            </a:extLst>
          </p:cNvPr>
          <p:cNvSpPr txBox="1">
            <a:spLocks noChangeArrowheads="1"/>
          </p:cNvSpPr>
          <p:nvPr/>
        </p:nvSpPr>
        <p:spPr>
          <a:xfrm>
            <a:off x="1752600" y="1257024"/>
            <a:ext cx="8686800" cy="51152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pl-PL" sz="2000" dirty="0">
                <a:latin typeface="Lucida Console"/>
                <a:ea typeface="ＭＳ Ｐゴシック" charset="0"/>
                <a:cs typeface="Lucida Console"/>
              </a:rPr>
              <a:t>		</a:t>
            </a:r>
            <a:endParaRPr lang="en-US" sz="2000" dirty="0">
              <a:latin typeface="Lucida Console"/>
              <a:ea typeface="ＭＳ Ｐゴシック" charset="0"/>
              <a:cs typeface="Lucida Console"/>
            </a:endParaRPr>
          </a:p>
          <a:p>
            <a:pPr>
              <a:buFontTx/>
              <a:buNone/>
            </a:pPr>
            <a:r>
              <a:rPr lang="en-US" sz="2000" dirty="0">
                <a:latin typeface="Lucida Console"/>
                <a:ea typeface="ＭＳ Ｐゴシック" charset="0"/>
                <a:cs typeface="Lucida Console"/>
              </a:rPr>
              <a:t> </a:t>
            </a:r>
            <a:r>
              <a:rPr lang="pl-PL" sz="2000" dirty="0">
                <a:latin typeface="Lucida Console"/>
                <a:ea typeface="ＭＳ Ｐゴシック" charset="0"/>
                <a:cs typeface="Lucida Console"/>
              </a:rPr>
              <a:t>     </a:t>
            </a:r>
            <a:r>
              <a:rPr lang="en-US" sz="2000" dirty="0">
                <a:latin typeface="Lucida Console"/>
                <a:ea typeface="ＭＳ Ｐゴシック" charset="0"/>
                <a:cs typeface="Lucida Console"/>
              </a:rPr>
              <a:t>z &lt;=	'1' </a:t>
            </a:r>
            <a:r>
              <a:rPr lang="en-US" sz="2000" b="1" dirty="0">
                <a:latin typeface="Lucida Console"/>
                <a:ea typeface="ＭＳ Ｐゴシック" charset="0"/>
                <a:cs typeface="Lucida Console"/>
              </a:rPr>
              <a:t>when </a:t>
            </a:r>
            <a:r>
              <a:rPr lang="pl-PL" sz="2000" dirty="0">
                <a:latin typeface="Lucida Console"/>
                <a:ea typeface="ＭＳ Ｐゴシック" charset="0"/>
                <a:cs typeface="Lucida Console"/>
              </a:rPr>
              <a:t>(</a:t>
            </a:r>
            <a:r>
              <a:rPr lang="en-US" sz="2000" dirty="0">
                <a:latin typeface="Lucida Console"/>
                <a:ea typeface="ＭＳ Ｐゴシック" charset="0"/>
                <a:cs typeface="Lucida Console"/>
              </a:rPr>
              <a:t>y = </a:t>
            </a:r>
            <a:r>
              <a:rPr lang="pl-PL" sz="2000" dirty="0">
                <a:latin typeface="Lucida Console"/>
                <a:ea typeface="ＭＳ Ｐゴシック" charset="0"/>
                <a:cs typeface="Lucida Console"/>
              </a:rPr>
              <a:t>B) </a:t>
            </a:r>
            <a:r>
              <a:rPr lang="pl-PL" sz="2000" b="1" dirty="0">
                <a:latin typeface="Lucida Console"/>
                <a:ea typeface="ＭＳ Ｐゴシック" charset="0"/>
                <a:cs typeface="Lucida Console"/>
              </a:rPr>
              <a:t>and </a:t>
            </a:r>
            <a:r>
              <a:rPr lang="pl-PL" sz="2000" dirty="0">
                <a:latin typeface="Lucida Console"/>
                <a:ea typeface="ＭＳ Ｐゴシック" charset="0"/>
                <a:cs typeface="Lucida Console"/>
              </a:rPr>
              <a:t>(w=‘1’)</a:t>
            </a:r>
            <a:r>
              <a:rPr lang="en-US" sz="2000" dirty="0">
                <a:latin typeface="Lucida Console"/>
                <a:ea typeface="ＭＳ Ｐゴシック" charset="0"/>
                <a:cs typeface="Lucida Console"/>
              </a:rPr>
              <a:t> </a:t>
            </a:r>
            <a:r>
              <a:rPr lang="en-US" sz="2000" b="1" dirty="0">
                <a:latin typeface="Lucida Console"/>
                <a:ea typeface="ＭＳ Ｐゴシック" charset="0"/>
                <a:cs typeface="Lucida Console"/>
              </a:rPr>
              <a:t>else </a:t>
            </a:r>
          </a:p>
          <a:p>
            <a:pPr>
              <a:buFontTx/>
              <a:buNone/>
            </a:pPr>
            <a:r>
              <a:rPr lang="en-US" sz="2000" b="1" dirty="0">
                <a:latin typeface="Lucida Console"/>
                <a:ea typeface="ＭＳ Ｐゴシック" charset="0"/>
                <a:cs typeface="Lucida Console"/>
              </a:rPr>
              <a:t>			</a:t>
            </a:r>
            <a:r>
              <a:rPr lang="en-US" sz="2000" dirty="0">
                <a:latin typeface="Lucida Console"/>
                <a:ea typeface="ＭＳ Ｐゴシック" charset="0"/>
                <a:cs typeface="Lucida Console"/>
              </a:rPr>
              <a:t>'0’;</a:t>
            </a:r>
            <a:endParaRPr lang="en-US" sz="2000" dirty="0">
              <a:solidFill>
                <a:srgbClr val="660033"/>
              </a:solidFill>
              <a:latin typeface="Lucida Console"/>
              <a:ea typeface="ＭＳ Ｐゴシック" charset="0"/>
              <a:cs typeface="Lucida Console"/>
            </a:endParaRPr>
          </a:p>
          <a:p>
            <a:pPr>
              <a:buFontTx/>
              <a:buNone/>
            </a:pPr>
            <a:r>
              <a:rPr lang="en-US" sz="2000" b="1" dirty="0">
                <a:latin typeface="Lucida Console"/>
                <a:ea typeface="ＭＳ Ｐゴシック" charset="0"/>
                <a:cs typeface="Lucida Console"/>
              </a:rPr>
              <a:t>end architecture </a:t>
            </a:r>
            <a:r>
              <a:rPr lang="en-US" sz="2000" dirty="0">
                <a:latin typeface="Lucida Console"/>
                <a:ea typeface="ＭＳ Ｐゴシック" charset="0"/>
                <a:cs typeface="Lucida Console"/>
              </a:rPr>
              <a:t>Behavior ;</a:t>
            </a:r>
          </a:p>
          <a:p>
            <a:pPr>
              <a:buFontTx/>
              <a:buNone/>
            </a:pPr>
            <a:endParaRPr lang="en-US" sz="2000" dirty="0">
              <a:latin typeface="Lucida Console"/>
              <a:ea typeface="ＭＳ Ｐゴシック" charset="0"/>
              <a:cs typeface="Lucida Console"/>
            </a:endParaRPr>
          </a:p>
          <a:p>
            <a:pPr>
              <a:buFontTx/>
              <a:buNone/>
            </a:pPr>
            <a:endParaRPr lang="pl-PL" sz="2000" dirty="0">
              <a:latin typeface="Lucida Console"/>
              <a:ea typeface="ＭＳ Ｐゴシック" charset="0"/>
              <a:cs typeface="Lucida Console"/>
            </a:endParaRPr>
          </a:p>
          <a:p>
            <a:pPr>
              <a:buFontTx/>
              <a:buNone/>
            </a:pPr>
            <a:endParaRPr lang="pl-PL" sz="2000" dirty="0">
              <a:latin typeface="Lucida Console"/>
              <a:ea typeface="ＭＳ Ｐゴシック" charset="0"/>
              <a:cs typeface="Lucida Console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1F90123-5E75-0674-7821-47754932A060}"/>
              </a:ext>
            </a:extLst>
          </p:cNvPr>
          <p:cNvGrpSpPr/>
          <p:nvPr/>
        </p:nvGrpSpPr>
        <p:grpSpPr>
          <a:xfrm>
            <a:off x="3914775" y="3558445"/>
            <a:ext cx="4362450" cy="1854122"/>
            <a:chOff x="2314575" y="2438400"/>
            <a:chExt cx="4362450" cy="1947863"/>
          </a:xfrm>
        </p:grpSpPr>
        <p:sp>
          <p:nvSpPr>
            <p:cNvPr id="51" name="Freeform 3">
              <a:extLst>
                <a:ext uri="{FF2B5EF4-FFF2-40B4-BE49-F238E27FC236}">
                  <a16:creationId xmlns:a16="http://schemas.microsoft.com/office/drawing/2014/main" id="{A6CA067E-5028-F3C8-B2ED-C746F55879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4050" y="3711575"/>
              <a:ext cx="136525" cy="112713"/>
            </a:xfrm>
            <a:custGeom>
              <a:avLst/>
              <a:gdLst>
                <a:gd name="T0" fmla="*/ 0 w 173"/>
                <a:gd name="T1" fmla="*/ 0 h 144"/>
                <a:gd name="T2" fmla="*/ 0 w 173"/>
                <a:gd name="T3" fmla="*/ 0 h 144"/>
                <a:gd name="T4" fmla="*/ 0 w 173"/>
                <a:gd name="T5" fmla="*/ 0 h 144"/>
                <a:gd name="T6" fmla="*/ 0 w 173"/>
                <a:gd name="T7" fmla="*/ 0 h 144"/>
                <a:gd name="T8" fmla="*/ 0 w 173"/>
                <a:gd name="T9" fmla="*/ 0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3"/>
                <a:gd name="T16" fmla="*/ 0 h 144"/>
                <a:gd name="T17" fmla="*/ 173 w 173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3" h="144">
                  <a:moveTo>
                    <a:pt x="173" y="86"/>
                  </a:moveTo>
                  <a:lnTo>
                    <a:pt x="0" y="0"/>
                  </a:lnTo>
                  <a:lnTo>
                    <a:pt x="115" y="144"/>
                  </a:lnTo>
                  <a:lnTo>
                    <a:pt x="144" y="115"/>
                  </a:lnTo>
                  <a:lnTo>
                    <a:pt x="173" y="86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">
              <a:extLst>
                <a:ext uri="{FF2B5EF4-FFF2-40B4-BE49-F238E27FC236}">
                  <a16:creationId xmlns:a16="http://schemas.microsoft.com/office/drawing/2014/main" id="{54A11131-36B3-9273-C106-1BF6AA235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1188" y="3214688"/>
              <a:ext cx="639763" cy="639763"/>
            </a:xfrm>
            <a:custGeom>
              <a:avLst/>
              <a:gdLst>
                <a:gd name="T0" fmla="*/ 1 w 805"/>
                <a:gd name="T1" fmla="*/ 1 h 805"/>
                <a:gd name="T2" fmla="*/ 1 w 805"/>
                <a:gd name="T3" fmla="*/ 1 h 805"/>
                <a:gd name="T4" fmla="*/ 1 w 805"/>
                <a:gd name="T5" fmla="*/ 1 h 805"/>
                <a:gd name="T6" fmla="*/ 1 w 805"/>
                <a:gd name="T7" fmla="*/ 1 h 805"/>
                <a:gd name="T8" fmla="*/ 1 w 805"/>
                <a:gd name="T9" fmla="*/ 1 h 805"/>
                <a:gd name="T10" fmla="*/ 1 w 805"/>
                <a:gd name="T11" fmla="*/ 1 h 805"/>
                <a:gd name="T12" fmla="*/ 1 w 805"/>
                <a:gd name="T13" fmla="*/ 1 h 805"/>
                <a:gd name="T14" fmla="*/ 1 w 805"/>
                <a:gd name="T15" fmla="*/ 1 h 805"/>
                <a:gd name="T16" fmla="*/ 1 w 805"/>
                <a:gd name="T17" fmla="*/ 1 h 805"/>
                <a:gd name="T18" fmla="*/ 1 w 805"/>
                <a:gd name="T19" fmla="*/ 1 h 805"/>
                <a:gd name="T20" fmla="*/ 1 w 805"/>
                <a:gd name="T21" fmla="*/ 1 h 805"/>
                <a:gd name="T22" fmla="*/ 1 w 805"/>
                <a:gd name="T23" fmla="*/ 0 h 805"/>
                <a:gd name="T24" fmla="*/ 1 w 805"/>
                <a:gd name="T25" fmla="*/ 1 h 805"/>
                <a:gd name="T26" fmla="*/ 1 w 805"/>
                <a:gd name="T27" fmla="*/ 1 h 805"/>
                <a:gd name="T28" fmla="*/ 1 w 805"/>
                <a:gd name="T29" fmla="*/ 1 h 805"/>
                <a:gd name="T30" fmla="*/ 1 w 805"/>
                <a:gd name="T31" fmla="*/ 1 h 805"/>
                <a:gd name="T32" fmla="*/ 1 w 805"/>
                <a:gd name="T33" fmla="*/ 1 h 805"/>
                <a:gd name="T34" fmla="*/ 1 w 805"/>
                <a:gd name="T35" fmla="*/ 1 h 805"/>
                <a:gd name="T36" fmla="*/ 1 w 805"/>
                <a:gd name="T37" fmla="*/ 1 h 805"/>
                <a:gd name="T38" fmla="*/ 1 w 805"/>
                <a:gd name="T39" fmla="*/ 1 h 805"/>
                <a:gd name="T40" fmla="*/ 1 w 805"/>
                <a:gd name="T41" fmla="*/ 1 h 805"/>
                <a:gd name="T42" fmla="*/ 1 w 805"/>
                <a:gd name="T43" fmla="*/ 1 h 805"/>
                <a:gd name="T44" fmla="*/ 1 w 805"/>
                <a:gd name="T45" fmla="*/ 1 h 805"/>
                <a:gd name="T46" fmla="*/ 1 w 805"/>
                <a:gd name="T47" fmla="*/ 1 h 805"/>
                <a:gd name="T48" fmla="*/ 1 w 805"/>
                <a:gd name="T49" fmla="*/ 1 h 805"/>
                <a:gd name="T50" fmla="*/ 1 w 805"/>
                <a:gd name="T51" fmla="*/ 1 h 805"/>
                <a:gd name="T52" fmla="*/ 1 w 805"/>
                <a:gd name="T53" fmla="*/ 1 h 805"/>
                <a:gd name="T54" fmla="*/ 1 w 805"/>
                <a:gd name="T55" fmla="*/ 1 h 805"/>
                <a:gd name="T56" fmla="*/ 1 w 805"/>
                <a:gd name="T57" fmla="*/ 1 h 805"/>
                <a:gd name="T58" fmla="*/ 1 w 805"/>
                <a:gd name="T59" fmla="*/ 1 h 805"/>
                <a:gd name="T60" fmla="*/ 1 w 805"/>
                <a:gd name="T61" fmla="*/ 1 h 805"/>
                <a:gd name="T62" fmla="*/ 1 w 805"/>
                <a:gd name="T63" fmla="*/ 1 h 805"/>
                <a:gd name="T64" fmla="*/ 1 w 805"/>
                <a:gd name="T65" fmla="*/ 1 h 805"/>
                <a:gd name="T66" fmla="*/ 1 w 805"/>
                <a:gd name="T67" fmla="*/ 1 h 805"/>
                <a:gd name="T68" fmla="*/ 1 w 805"/>
                <a:gd name="T69" fmla="*/ 1 h 805"/>
                <a:gd name="T70" fmla="*/ 1 w 805"/>
                <a:gd name="T71" fmla="*/ 1 h 805"/>
                <a:gd name="T72" fmla="*/ 1 w 805"/>
                <a:gd name="T73" fmla="*/ 1 h 805"/>
                <a:gd name="T74" fmla="*/ 1 w 805"/>
                <a:gd name="T75" fmla="*/ 1 h 805"/>
                <a:gd name="T76" fmla="*/ 1 w 805"/>
                <a:gd name="T77" fmla="*/ 1 h 805"/>
                <a:gd name="T78" fmla="*/ 1 w 805"/>
                <a:gd name="T79" fmla="*/ 1 h 805"/>
                <a:gd name="T80" fmla="*/ 1 w 805"/>
                <a:gd name="T81" fmla="*/ 1 h 805"/>
                <a:gd name="T82" fmla="*/ 1 w 805"/>
                <a:gd name="T83" fmla="*/ 1 h 805"/>
                <a:gd name="T84" fmla="*/ 1 w 805"/>
                <a:gd name="T85" fmla="*/ 1 h 805"/>
                <a:gd name="T86" fmla="*/ 1 w 805"/>
                <a:gd name="T87" fmla="*/ 1 h 805"/>
                <a:gd name="T88" fmla="*/ 1 w 805"/>
                <a:gd name="T89" fmla="*/ 1 h 805"/>
                <a:gd name="T90" fmla="*/ 1 w 805"/>
                <a:gd name="T91" fmla="*/ 1 h 805"/>
                <a:gd name="T92" fmla="*/ 1 w 805"/>
                <a:gd name="T93" fmla="*/ 1 h 805"/>
                <a:gd name="T94" fmla="*/ 1 w 805"/>
                <a:gd name="T95" fmla="*/ 1 h 805"/>
                <a:gd name="T96" fmla="*/ 1 w 805"/>
                <a:gd name="T97" fmla="*/ 1 h 805"/>
                <a:gd name="T98" fmla="*/ 1 w 805"/>
                <a:gd name="T99" fmla="*/ 1 h 805"/>
                <a:gd name="T100" fmla="*/ 1 w 805"/>
                <a:gd name="T101" fmla="*/ 1 h 805"/>
                <a:gd name="T102" fmla="*/ 1 w 805"/>
                <a:gd name="T103" fmla="*/ 1 h 805"/>
                <a:gd name="T104" fmla="*/ 1 w 805"/>
                <a:gd name="T105" fmla="*/ 1 h 805"/>
                <a:gd name="T106" fmla="*/ 1 w 805"/>
                <a:gd name="T107" fmla="*/ 1 h 805"/>
                <a:gd name="T108" fmla="*/ 1 w 805"/>
                <a:gd name="T109" fmla="*/ 1 h 805"/>
                <a:gd name="T110" fmla="*/ 1 w 805"/>
                <a:gd name="T111" fmla="*/ 1 h 805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805"/>
                <a:gd name="T169" fmla="*/ 0 h 805"/>
                <a:gd name="T170" fmla="*/ 805 w 805"/>
                <a:gd name="T171" fmla="*/ 805 h 805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805" h="805">
                  <a:moveTo>
                    <a:pt x="0" y="398"/>
                  </a:moveTo>
                  <a:lnTo>
                    <a:pt x="0" y="408"/>
                  </a:lnTo>
                  <a:lnTo>
                    <a:pt x="1" y="386"/>
                  </a:lnTo>
                  <a:lnTo>
                    <a:pt x="3" y="366"/>
                  </a:lnTo>
                  <a:lnTo>
                    <a:pt x="5" y="345"/>
                  </a:lnTo>
                  <a:lnTo>
                    <a:pt x="8" y="326"/>
                  </a:lnTo>
                  <a:lnTo>
                    <a:pt x="13" y="306"/>
                  </a:lnTo>
                  <a:lnTo>
                    <a:pt x="18" y="286"/>
                  </a:lnTo>
                  <a:lnTo>
                    <a:pt x="24" y="267"/>
                  </a:lnTo>
                  <a:lnTo>
                    <a:pt x="33" y="248"/>
                  </a:lnTo>
                  <a:lnTo>
                    <a:pt x="40" y="231"/>
                  </a:lnTo>
                  <a:lnTo>
                    <a:pt x="49" y="214"/>
                  </a:lnTo>
                  <a:lnTo>
                    <a:pt x="59" y="197"/>
                  </a:lnTo>
                  <a:lnTo>
                    <a:pt x="70" y="179"/>
                  </a:lnTo>
                  <a:lnTo>
                    <a:pt x="82" y="164"/>
                  </a:lnTo>
                  <a:lnTo>
                    <a:pt x="93" y="148"/>
                  </a:lnTo>
                  <a:lnTo>
                    <a:pt x="106" y="133"/>
                  </a:lnTo>
                  <a:lnTo>
                    <a:pt x="119" y="119"/>
                  </a:lnTo>
                  <a:lnTo>
                    <a:pt x="133" y="106"/>
                  </a:lnTo>
                  <a:lnTo>
                    <a:pt x="148" y="93"/>
                  </a:lnTo>
                  <a:lnTo>
                    <a:pt x="164" y="82"/>
                  </a:lnTo>
                  <a:lnTo>
                    <a:pt x="180" y="70"/>
                  </a:lnTo>
                  <a:lnTo>
                    <a:pt x="197" y="59"/>
                  </a:lnTo>
                  <a:lnTo>
                    <a:pt x="214" y="49"/>
                  </a:lnTo>
                  <a:lnTo>
                    <a:pt x="231" y="40"/>
                  </a:lnTo>
                  <a:lnTo>
                    <a:pt x="249" y="31"/>
                  </a:lnTo>
                  <a:lnTo>
                    <a:pt x="267" y="24"/>
                  </a:lnTo>
                  <a:lnTo>
                    <a:pt x="286" y="18"/>
                  </a:lnTo>
                  <a:lnTo>
                    <a:pt x="306" y="13"/>
                  </a:lnTo>
                  <a:lnTo>
                    <a:pt x="326" y="8"/>
                  </a:lnTo>
                  <a:lnTo>
                    <a:pt x="346" y="4"/>
                  </a:lnTo>
                  <a:lnTo>
                    <a:pt x="367" y="3"/>
                  </a:lnTo>
                  <a:lnTo>
                    <a:pt x="387" y="1"/>
                  </a:lnTo>
                  <a:lnTo>
                    <a:pt x="408" y="0"/>
                  </a:lnTo>
                  <a:lnTo>
                    <a:pt x="398" y="0"/>
                  </a:lnTo>
                  <a:lnTo>
                    <a:pt x="418" y="1"/>
                  </a:lnTo>
                  <a:lnTo>
                    <a:pt x="440" y="3"/>
                  </a:lnTo>
                  <a:lnTo>
                    <a:pt x="460" y="4"/>
                  </a:lnTo>
                  <a:lnTo>
                    <a:pt x="480" y="8"/>
                  </a:lnTo>
                  <a:lnTo>
                    <a:pt x="500" y="13"/>
                  </a:lnTo>
                  <a:lnTo>
                    <a:pt x="519" y="18"/>
                  </a:lnTo>
                  <a:lnTo>
                    <a:pt x="538" y="24"/>
                  </a:lnTo>
                  <a:lnTo>
                    <a:pt x="556" y="31"/>
                  </a:lnTo>
                  <a:lnTo>
                    <a:pt x="575" y="40"/>
                  </a:lnTo>
                  <a:lnTo>
                    <a:pt x="592" y="49"/>
                  </a:lnTo>
                  <a:lnTo>
                    <a:pt x="610" y="59"/>
                  </a:lnTo>
                  <a:lnTo>
                    <a:pt x="625" y="70"/>
                  </a:lnTo>
                  <a:lnTo>
                    <a:pt x="641" y="82"/>
                  </a:lnTo>
                  <a:lnTo>
                    <a:pt x="657" y="93"/>
                  </a:lnTo>
                  <a:lnTo>
                    <a:pt x="671" y="106"/>
                  </a:lnTo>
                  <a:lnTo>
                    <a:pt x="686" y="119"/>
                  </a:lnTo>
                  <a:lnTo>
                    <a:pt x="700" y="133"/>
                  </a:lnTo>
                  <a:lnTo>
                    <a:pt x="713" y="148"/>
                  </a:lnTo>
                  <a:lnTo>
                    <a:pt x="725" y="164"/>
                  </a:lnTo>
                  <a:lnTo>
                    <a:pt x="736" y="179"/>
                  </a:lnTo>
                  <a:lnTo>
                    <a:pt x="746" y="197"/>
                  </a:lnTo>
                  <a:lnTo>
                    <a:pt x="756" y="214"/>
                  </a:lnTo>
                  <a:lnTo>
                    <a:pt x="765" y="231"/>
                  </a:lnTo>
                  <a:lnTo>
                    <a:pt x="774" y="248"/>
                  </a:lnTo>
                  <a:lnTo>
                    <a:pt x="781" y="267"/>
                  </a:lnTo>
                  <a:lnTo>
                    <a:pt x="788" y="286"/>
                  </a:lnTo>
                  <a:lnTo>
                    <a:pt x="792" y="306"/>
                  </a:lnTo>
                  <a:lnTo>
                    <a:pt x="798" y="326"/>
                  </a:lnTo>
                  <a:lnTo>
                    <a:pt x="801" y="345"/>
                  </a:lnTo>
                  <a:lnTo>
                    <a:pt x="804" y="366"/>
                  </a:lnTo>
                  <a:lnTo>
                    <a:pt x="805" y="386"/>
                  </a:lnTo>
                  <a:lnTo>
                    <a:pt x="805" y="408"/>
                  </a:lnTo>
                  <a:lnTo>
                    <a:pt x="805" y="398"/>
                  </a:lnTo>
                  <a:lnTo>
                    <a:pt x="805" y="418"/>
                  </a:lnTo>
                  <a:lnTo>
                    <a:pt x="804" y="439"/>
                  </a:lnTo>
                  <a:lnTo>
                    <a:pt x="801" y="460"/>
                  </a:lnTo>
                  <a:lnTo>
                    <a:pt x="798" y="480"/>
                  </a:lnTo>
                  <a:lnTo>
                    <a:pt x="792" y="500"/>
                  </a:lnTo>
                  <a:lnTo>
                    <a:pt x="788" y="519"/>
                  </a:lnTo>
                  <a:lnTo>
                    <a:pt x="781" y="537"/>
                  </a:lnTo>
                  <a:lnTo>
                    <a:pt x="774" y="556"/>
                  </a:lnTo>
                  <a:lnTo>
                    <a:pt x="765" y="575"/>
                  </a:lnTo>
                  <a:lnTo>
                    <a:pt x="756" y="592"/>
                  </a:lnTo>
                  <a:lnTo>
                    <a:pt x="746" y="609"/>
                  </a:lnTo>
                  <a:lnTo>
                    <a:pt x="736" y="625"/>
                  </a:lnTo>
                  <a:lnTo>
                    <a:pt x="725" y="641"/>
                  </a:lnTo>
                  <a:lnTo>
                    <a:pt x="713" y="656"/>
                  </a:lnTo>
                  <a:lnTo>
                    <a:pt x="700" y="671"/>
                  </a:lnTo>
                  <a:lnTo>
                    <a:pt x="686" y="685"/>
                  </a:lnTo>
                  <a:lnTo>
                    <a:pt x="671" y="700"/>
                  </a:lnTo>
                  <a:lnTo>
                    <a:pt x="657" y="713"/>
                  </a:lnTo>
                  <a:lnTo>
                    <a:pt x="641" y="724"/>
                  </a:lnTo>
                  <a:lnTo>
                    <a:pt x="625" y="736"/>
                  </a:lnTo>
                  <a:lnTo>
                    <a:pt x="610" y="746"/>
                  </a:lnTo>
                  <a:lnTo>
                    <a:pt x="592" y="756"/>
                  </a:lnTo>
                  <a:lnTo>
                    <a:pt x="575" y="764"/>
                  </a:lnTo>
                  <a:lnTo>
                    <a:pt x="556" y="773"/>
                  </a:lnTo>
                  <a:lnTo>
                    <a:pt x="538" y="780"/>
                  </a:lnTo>
                  <a:lnTo>
                    <a:pt x="519" y="786"/>
                  </a:lnTo>
                  <a:lnTo>
                    <a:pt x="500" y="792"/>
                  </a:lnTo>
                  <a:lnTo>
                    <a:pt x="480" y="796"/>
                  </a:lnTo>
                  <a:lnTo>
                    <a:pt x="460" y="800"/>
                  </a:lnTo>
                  <a:lnTo>
                    <a:pt x="440" y="803"/>
                  </a:lnTo>
                  <a:lnTo>
                    <a:pt x="418" y="805"/>
                  </a:lnTo>
                  <a:lnTo>
                    <a:pt x="398" y="805"/>
                  </a:lnTo>
                  <a:lnTo>
                    <a:pt x="408" y="805"/>
                  </a:lnTo>
                  <a:lnTo>
                    <a:pt x="387" y="805"/>
                  </a:lnTo>
                  <a:lnTo>
                    <a:pt x="367" y="803"/>
                  </a:lnTo>
                  <a:lnTo>
                    <a:pt x="346" y="800"/>
                  </a:lnTo>
                  <a:lnTo>
                    <a:pt x="326" y="796"/>
                  </a:lnTo>
                  <a:lnTo>
                    <a:pt x="306" y="792"/>
                  </a:lnTo>
                  <a:lnTo>
                    <a:pt x="286" y="786"/>
                  </a:lnTo>
                  <a:lnTo>
                    <a:pt x="267" y="780"/>
                  </a:lnTo>
                  <a:lnTo>
                    <a:pt x="249" y="773"/>
                  </a:lnTo>
                  <a:lnTo>
                    <a:pt x="231" y="764"/>
                  </a:lnTo>
                  <a:lnTo>
                    <a:pt x="214" y="756"/>
                  </a:lnTo>
                  <a:lnTo>
                    <a:pt x="197" y="746"/>
                  </a:lnTo>
                  <a:lnTo>
                    <a:pt x="180" y="736"/>
                  </a:lnTo>
                  <a:lnTo>
                    <a:pt x="164" y="724"/>
                  </a:lnTo>
                  <a:lnTo>
                    <a:pt x="148" y="713"/>
                  </a:lnTo>
                  <a:lnTo>
                    <a:pt x="133" y="700"/>
                  </a:lnTo>
                  <a:lnTo>
                    <a:pt x="119" y="685"/>
                  </a:lnTo>
                  <a:lnTo>
                    <a:pt x="106" y="671"/>
                  </a:lnTo>
                  <a:lnTo>
                    <a:pt x="93" y="656"/>
                  </a:lnTo>
                  <a:lnTo>
                    <a:pt x="82" y="641"/>
                  </a:lnTo>
                  <a:lnTo>
                    <a:pt x="70" y="625"/>
                  </a:lnTo>
                  <a:lnTo>
                    <a:pt x="59" y="609"/>
                  </a:lnTo>
                  <a:lnTo>
                    <a:pt x="49" y="592"/>
                  </a:lnTo>
                  <a:lnTo>
                    <a:pt x="40" y="575"/>
                  </a:lnTo>
                  <a:lnTo>
                    <a:pt x="33" y="556"/>
                  </a:lnTo>
                  <a:lnTo>
                    <a:pt x="24" y="537"/>
                  </a:lnTo>
                  <a:lnTo>
                    <a:pt x="18" y="519"/>
                  </a:lnTo>
                  <a:lnTo>
                    <a:pt x="13" y="500"/>
                  </a:lnTo>
                  <a:lnTo>
                    <a:pt x="8" y="480"/>
                  </a:lnTo>
                  <a:lnTo>
                    <a:pt x="5" y="460"/>
                  </a:lnTo>
                  <a:lnTo>
                    <a:pt x="3" y="439"/>
                  </a:lnTo>
                  <a:lnTo>
                    <a:pt x="1" y="418"/>
                  </a:lnTo>
                  <a:lnTo>
                    <a:pt x="0" y="398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5">
              <a:extLst>
                <a:ext uri="{FF2B5EF4-FFF2-40B4-BE49-F238E27FC236}">
                  <a16:creationId xmlns:a16="http://schemas.microsoft.com/office/drawing/2014/main" id="{8F43A098-7FFA-EE12-2E40-0FFFEFB836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688" y="3717925"/>
              <a:ext cx="114300" cy="112713"/>
            </a:xfrm>
            <a:custGeom>
              <a:avLst/>
              <a:gdLst>
                <a:gd name="T0" fmla="*/ 1 w 144"/>
                <a:gd name="T1" fmla="*/ 0 h 144"/>
                <a:gd name="T2" fmla="*/ 1 w 144"/>
                <a:gd name="T3" fmla="*/ 0 h 144"/>
                <a:gd name="T4" fmla="*/ 0 w 144"/>
                <a:gd name="T5" fmla="*/ 0 h 144"/>
                <a:gd name="T6" fmla="*/ 1 w 144"/>
                <a:gd name="T7" fmla="*/ 0 h 144"/>
                <a:gd name="T8" fmla="*/ 1 w 144"/>
                <a:gd name="T9" fmla="*/ 0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"/>
                <a:gd name="T16" fmla="*/ 0 h 144"/>
                <a:gd name="T17" fmla="*/ 144 w 144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" h="144">
                  <a:moveTo>
                    <a:pt x="58" y="144"/>
                  </a:moveTo>
                  <a:lnTo>
                    <a:pt x="144" y="0"/>
                  </a:lnTo>
                  <a:lnTo>
                    <a:pt x="0" y="86"/>
                  </a:lnTo>
                  <a:lnTo>
                    <a:pt x="29" y="115"/>
                  </a:lnTo>
                  <a:lnTo>
                    <a:pt x="58" y="144"/>
                  </a:lnTo>
                  <a:close/>
                </a:path>
              </a:pathLst>
            </a:custGeom>
            <a:solidFill>
              <a:srgbClr val="0000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6">
              <a:extLst>
                <a:ext uri="{FF2B5EF4-FFF2-40B4-BE49-F238E27FC236}">
                  <a16:creationId xmlns:a16="http://schemas.microsoft.com/office/drawing/2014/main" id="{663FF77C-AC3F-1254-3506-0A9201F5CF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3214688"/>
              <a:ext cx="661988" cy="639763"/>
            </a:xfrm>
            <a:custGeom>
              <a:avLst/>
              <a:gdLst>
                <a:gd name="T0" fmla="*/ 1 w 834"/>
                <a:gd name="T1" fmla="*/ 1 h 805"/>
                <a:gd name="T2" fmla="*/ 1 w 834"/>
                <a:gd name="T3" fmla="*/ 1 h 805"/>
                <a:gd name="T4" fmla="*/ 1 w 834"/>
                <a:gd name="T5" fmla="*/ 1 h 805"/>
                <a:gd name="T6" fmla="*/ 1 w 834"/>
                <a:gd name="T7" fmla="*/ 1 h 805"/>
                <a:gd name="T8" fmla="*/ 1 w 834"/>
                <a:gd name="T9" fmla="*/ 1 h 805"/>
                <a:gd name="T10" fmla="*/ 1 w 834"/>
                <a:gd name="T11" fmla="*/ 1 h 805"/>
                <a:gd name="T12" fmla="*/ 1 w 834"/>
                <a:gd name="T13" fmla="*/ 1 h 805"/>
                <a:gd name="T14" fmla="*/ 1 w 834"/>
                <a:gd name="T15" fmla="*/ 1 h 805"/>
                <a:gd name="T16" fmla="*/ 1 w 834"/>
                <a:gd name="T17" fmla="*/ 1 h 805"/>
                <a:gd name="T18" fmla="*/ 1 w 834"/>
                <a:gd name="T19" fmla="*/ 1 h 805"/>
                <a:gd name="T20" fmla="*/ 1 w 834"/>
                <a:gd name="T21" fmla="*/ 1 h 805"/>
                <a:gd name="T22" fmla="*/ 1 w 834"/>
                <a:gd name="T23" fmla="*/ 0 h 805"/>
                <a:gd name="T24" fmla="*/ 1 w 834"/>
                <a:gd name="T25" fmla="*/ 1 h 805"/>
                <a:gd name="T26" fmla="*/ 1 w 834"/>
                <a:gd name="T27" fmla="*/ 1 h 805"/>
                <a:gd name="T28" fmla="*/ 1 w 834"/>
                <a:gd name="T29" fmla="*/ 1 h 805"/>
                <a:gd name="T30" fmla="*/ 1 w 834"/>
                <a:gd name="T31" fmla="*/ 1 h 805"/>
                <a:gd name="T32" fmla="*/ 1 w 834"/>
                <a:gd name="T33" fmla="*/ 1 h 805"/>
                <a:gd name="T34" fmla="*/ 1 w 834"/>
                <a:gd name="T35" fmla="*/ 1 h 805"/>
                <a:gd name="T36" fmla="*/ 1 w 834"/>
                <a:gd name="T37" fmla="*/ 1 h 805"/>
                <a:gd name="T38" fmla="*/ 1 w 834"/>
                <a:gd name="T39" fmla="*/ 1 h 805"/>
                <a:gd name="T40" fmla="*/ 1 w 834"/>
                <a:gd name="T41" fmla="*/ 1 h 805"/>
                <a:gd name="T42" fmla="*/ 1 w 834"/>
                <a:gd name="T43" fmla="*/ 1 h 805"/>
                <a:gd name="T44" fmla="*/ 1 w 834"/>
                <a:gd name="T45" fmla="*/ 1 h 805"/>
                <a:gd name="T46" fmla="*/ 1 w 834"/>
                <a:gd name="T47" fmla="*/ 1 h 805"/>
                <a:gd name="T48" fmla="*/ 1 w 834"/>
                <a:gd name="T49" fmla="*/ 1 h 805"/>
                <a:gd name="T50" fmla="*/ 1 w 834"/>
                <a:gd name="T51" fmla="*/ 1 h 805"/>
                <a:gd name="T52" fmla="*/ 1 w 834"/>
                <a:gd name="T53" fmla="*/ 1 h 805"/>
                <a:gd name="T54" fmla="*/ 1 w 834"/>
                <a:gd name="T55" fmla="*/ 1 h 805"/>
                <a:gd name="T56" fmla="*/ 1 w 834"/>
                <a:gd name="T57" fmla="*/ 1 h 805"/>
                <a:gd name="T58" fmla="*/ 1 w 834"/>
                <a:gd name="T59" fmla="*/ 1 h 805"/>
                <a:gd name="T60" fmla="*/ 1 w 834"/>
                <a:gd name="T61" fmla="*/ 1 h 805"/>
                <a:gd name="T62" fmla="*/ 1 w 834"/>
                <a:gd name="T63" fmla="*/ 1 h 805"/>
                <a:gd name="T64" fmla="*/ 1 w 834"/>
                <a:gd name="T65" fmla="*/ 1 h 805"/>
                <a:gd name="T66" fmla="*/ 1 w 834"/>
                <a:gd name="T67" fmla="*/ 1 h 805"/>
                <a:gd name="T68" fmla="*/ 1 w 834"/>
                <a:gd name="T69" fmla="*/ 1 h 805"/>
                <a:gd name="T70" fmla="*/ 1 w 834"/>
                <a:gd name="T71" fmla="*/ 1 h 805"/>
                <a:gd name="T72" fmla="*/ 1 w 834"/>
                <a:gd name="T73" fmla="*/ 1 h 805"/>
                <a:gd name="T74" fmla="*/ 1 w 834"/>
                <a:gd name="T75" fmla="*/ 1 h 805"/>
                <a:gd name="T76" fmla="*/ 1 w 834"/>
                <a:gd name="T77" fmla="*/ 1 h 805"/>
                <a:gd name="T78" fmla="*/ 1 w 834"/>
                <a:gd name="T79" fmla="*/ 1 h 805"/>
                <a:gd name="T80" fmla="*/ 1 w 834"/>
                <a:gd name="T81" fmla="*/ 1 h 805"/>
                <a:gd name="T82" fmla="*/ 1 w 834"/>
                <a:gd name="T83" fmla="*/ 1 h 805"/>
                <a:gd name="T84" fmla="*/ 1 w 834"/>
                <a:gd name="T85" fmla="*/ 1 h 805"/>
                <a:gd name="T86" fmla="*/ 1 w 834"/>
                <a:gd name="T87" fmla="*/ 1 h 805"/>
                <a:gd name="T88" fmla="*/ 1 w 834"/>
                <a:gd name="T89" fmla="*/ 1 h 805"/>
                <a:gd name="T90" fmla="*/ 1 w 834"/>
                <a:gd name="T91" fmla="*/ 1 h 805"/>
                <a:gd name="T92" fmla="*/ 1 w 834"/>
                <a:gd name="T93" fmla="*/ 1 h 805"/>
                <a:gd name="T94" fmla="*/ 1 w 834"/>
                <a:gd name="T95" fmla="*/ 1 h 805"/>
                <a:gd name="T96" fmla="*/ 1 w 834"/>
                <a:gd name="T97" fmla="*/ 1 h 805"/>
                <a:gd name="T98" fmla="*/ 1 w 834"/>
                <a:gd name="T99" fmla="*/ 1 h 805"/>
                <a:gd name="T100" fmla="*/ 1 w 834"/>
                <a:gd name="T101" fmla="*/ 1 h 805"/>
                <a:gd name="T102" fmla="*/ 1 w 834"/>
                <a:gd name="T103" fmla="*/ 1 h 805"/>
                <a:gd name="T104" fmla="*/ 1 w 834"/>
                <a:gd name="T105" fmla="*/ 1 h 805"/>
                <a:gd name="T106" fmla="*/ 1 w 834"/>
                <a:gd name="T107" fmla="*/ 1 h 805"/>
                <a:gd name="T108" fmla="*/ 1 w 834"/>
                <a:gd name="T109" fmla="*/ 1 h 805"/>
                <a:gd name="T110" fmla="*/ 1 w 834"/>
                <a:gd name="T111" fmla="*/ 1 h 805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834"/>
                <a:gd name="T169" fmla="*/ 0 h 805"/>
                <a:gd name="T170" fmla="*/ 834 w 834"/>
                <a:gd name="T171" fmla="*/ 805 h 805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834" h="805">
                  <a:moveTo>
                    <a:pt x="0" y="398"/>
                  </a:moveTo>
                  <a:lnTo>
                    <a:pt x="0" y="408"/>
                  </a:lnTo>
                  <a:lnTo>
                    <a:pt x="1" y="386"/>
                  </a:lnTo>
                  <a:lnTo>
                    <a:pt x="3" y="366"/>
                  </a:lnTo>
                  <a:lnTo>
                    <a:pt x="6" y="345"/>
                  </a:lnTo>
                  <a:lnTo>
                    <a:pt x="8" y="326"/>
                  </a:lnTo>
                  <a:lnTo>
                    <a:pt x="13" y="306"/>
                  </a:lnTo>
                  <a:lnTo>
                    <a:pt x="19" y="286"/>
                  </a:lnTo>
                  <a:lnTo>
                    <a:pt x="24" y="267"/>
                  </a:lnTo>
                  <a:lnTo>
                    <a:pt x="33" y="248"/>
                  </a:lnTo>
                  <a:lnTo>
                    <a:pt x="40" y="231"/>
                  </a:lnTo>
                  <a:lnTo>
                    <a:pt x="49" y="214"/>
                  </a:lnTo>
                  <a:lnTo>
                    <a:pt x="59" y="197"/>
                  </a:lnTo>
                  <a:lnTo>
                    <a:pt x="70" y="179"/>
                  </a:lnTo>
                  <a:lnTo>
                    <a:pt x="82" y="164"/>
                  </a:lnTo>
                  <a:lnTo>
                    <a:pt x="93" y="148"/>
                  </a:lnTo>
                  <a:lnTo>
                    <a:pt x="106" y="133"/>
                  </a:lnTo>
                  <a:lnTo>
                    <a:pt x="119" y="119"/>
                  </a:lnTo>
                  <a:lnTo>
                    <a:pt x="134" y="106"/>
                  </a:lnTo>
                  <a:lnTo>
                    <a:pt x="148" y="93"/>
                  </a:lnTo>
                  <a:lnTo>
                    <a:pt x="164" y="82"/>
                  </a:lnTo>
                  <a:lnTo>
                    <a:pt x="180" y="70"/>
                  </a:lnTo>
                  <a:lnTo>
                    <a:pt x="197" y="59"/>
                  </a:lnTo>
                  <a:lnTo>
                    <a:pt x="214" y="49"/>
                  </a:lnTo>
                  <a:lnTo>
                    <a:pt x="231" y="40"/>
                  </a:lnTo>
                  <a:lnTo>
                    <a:pt x="249" y="31"/>
                  </a:lnTo>
                  <a:lnTo>
                    <a:pt x="267" y="24"/>
                  </a:lnTo>
                  <a:lnTo>
                    <a:pt x="286" y="18"/>
                  </a:lnTo>
                  <a:lnTo>
                    <a:pt x="306" y="13"/>
                  </a:lnTo>
                  <a:lnTo>
                    <a:pt x="326" y="8"/>
                  </a:lnTo>
                  <a:lnTo>
                    <a:pt x="347" y="4"/>
                  </a:lnTo>
                  <a:lnTo>
                    <a:pt x="367" y="3"/>
                  </a:lnTo>
                  <a:lnTo>
                    <a:pt x="387" y="1"/>
                  </a:lnTo>
                  <a:lnTo>
                    <a:pt x="408" y="0"/>
                  </a:lnTo>
                  <a:lnTo>
                    <a:pt x="427" y="0"/>
                  </a:lnTo>
                  <a:lnTo>
                    <a:pt x="447" y="1"/>
                  </a:lnTo>
                  <a:lnTo>
                    <a:pt x="469" y="3"/>
                  </a:lnTo>
                  <a:lnTo>
                    <a:pt x="489" y="4"/>
                  </a:lnTo>
                  <a:lnTo>
                    <a:pt x="509" y="8"/>
                  </a:lnTo>
                  <a:lnTo>
                    <a:pt x="529" y="13"/>
                  </a:lnTo>
                  <a:lnTo>
                    <a:pt x="548" y="18"/>
                  </a:lnTo>
                  <a:lnTo>
                    <a:pt x="567" y="24"/>
                  </a:lnTo>
                  <a:lnTo>
                    <a:pt x="585" y="31"/>
                  </a:lnTo>
                  <a:lnTo>
                    <a:pt x="604" y="40"/>
                  </a:lnTo>
                  <a:lnTo>
                    <a:pt x="621" y="49"/>
                  </a:lnTo>
                  <a:lnTo>
                    <a:pt x="639" y="59"/>
                  </a:lnTo>
                  <a:lnTo>
                    <a:pt x="654" y="70"/>
                  </a:lnTo>
                  <a:lnTo>
                    <a:pt x="670" y="82"/>
                  </a:lnTo>
                  <a:lnTo>
                    <a:pt x="686" y="93"/>
                  </a:lnTo>
                  <a:lnTo>
                    <a:pt x="700" y="106"/>
                  </a:lnTo>
                  <a:lnTo>
                    <a:pt x="715" y="119"/>
                  </a:lnTo>
                  <a:lnTo>
                    <a:pt x="729" y="133"/>
                  </a:lnTo>
                  <a:lnTo>
                    <a:pt x="742" y="148"/>
                  </a:lnTo>
                  <a:lnTo>
                    <a:pt x="754" y="164"/>
                  </a:lnTo>
                  <a:lnTo>
                    <a:pt x="765" y="179"/>
                  </a:lnTo>
                  <a:lnTo>
                    <a:pt x="775" y="197"/>
                  </a:lnTo>
                  <a:lnTo>
                    <a:pt x="785" y="214"/>
                  </a:lnTo>
                  <a:lnTo>
                    <a:pt x="794" y="231"/>
                  </a:lnTo>
                  <a:lnTo>
                    <a:pt x="803" y="248"/>
                  </a:lnTo>
                  <a:lnTo>
                    <a:pt x="810" y="267"/>
                  </a:lnTo>
                  <a:lnTo>
                    <a:pt x="817" y="286"/>
                  </a:lnTo>
                  <a:lnTo>
                    <a:pt x="821" y="306"/>
                  </a:lnTo>
                  <a:lnTo>
                    <a:pt x="827" y="326"/>
                  </a:lnTo>
                  <a:lnTo>
                    <a:pt x="830" y="345"/>
                  </a:lnTo>
                  <a:lnTo>
                    <a:pt x="833" y="366"/>
                  </a:lnTo>
                  <a:lnTo>
                    <a:pt x="834" y="386"/>
                  </a:lnTo>
                  <a:lnTo>
                    <a:pt x="834" y="408"/>
                  </a:lnTo>
                  <a:lnTo>
                    <a:pt x="834" y="398"/>
                  </a:lnTo>
                  <a:lnTo>
                    <a:pt x="834" y="418"/>
                  </a:lnTo>
                  <a:lnTo>
                    <a:pt x="833" y="439"/>
                  </a:lnTo>
                  <a:lnTo>
                    <a:pt x="830" y="460"/>
                  </a:lnTo>
                  <a:lnTo>
                    <a:pt x="827" y="480"/>
                  </a:lnTo>
                  <a:lnTo>
                    <a:pt x="821" y="500"/>
                  </a:lnTo>
                  <a:lnTo>
                    <a:pt x="817" y="519"/>
                  </a:lnTo>
                  <a:lnTo>
                    <a:pt x="810" y="537"/>
                  </a:lnTo>
                  <a:lnTo>
                    <a:pt x="803" y="556"/>
                  </a:lnTo>
                  <a:lnTo>
                    <a:pt x="794" y="575"/>
                  </a:lnTo>
                  <a:lnTo>
                    <a:pt x="785" y="592"/>
                  </a:lnTo>
                  <a:lnTo>
                    <a:pt x="775" y="609"/>
                  </a:lnTo>
                  <a:lnTo>
                    <a:pt x="765" y="625"/>
                  </a:lnTo>
                  <a:lnTo>
                    <a:pt x="754" y="641"/>
                  </a:lnTo>
                  <a:lnTo>
                    <a:pt x="742" y="656"/>
                  </a:lnTo>
                  <a:lnTo>
                    <a:pt x="729" y="671"/>
                  </a:lnTo>
                  <a:lnTo>
                    <a:pt x="715" y="685"/>
                  </a:lnTo>
                  <a:lnTo>
                    <a:pt x="700" y="700"/>
                  </a:lnTo>
                  <a:lnTo>
                    <a:pt x="686" y="713"/>
                  </a:lnTo>
                  <a:lnTo>
                    <a:pt x="670" y="724"/>
                  </a:lnTo>
                  <a:lnTo>
                    <a:pt x="654" y="736"/>
                  </a:lnTo>
                  <a:lnTo>
                    <a:pt x="639" y="746"/>
                  </a:lnTo>
                  <a:lnTo>
                    <a:pt x="621" y="756"/>
                  </a:lnTo>
                  <a:lnTo>
                    <a:pt x="604" y="764"/>
                  </a:lnTo>
                  <a:lnTo>
                    <a:pt x="585" y="773"/>
                  </a:lnTo>
                  <a:lnTo>
                    <a:pt x="567" y="780"/>
                  </a:lnTo>
                  <a:lnTo>
                    <a:pt x="548" y="786"/>
                  </a:lnTo>
                  <a:lnTo>
                    <a:pt x="529" y="792"/>
                  </a:lnTo>
                  <a:lnTo>
                    <a:pt x="509" y="796"/>
                  </a:lnTo>
                  <a:lnTo>
                    <a:pt x="489" y="800"/>
                  </a:lnTo>
                  <a:lnTo>
                    <a:pt x="469" y="803"/>
                  </a:lnTo>
                  <a:lnTo>
                    <a:pt x="447" y="805"/>
                  </a:lnTo>
                  <a:lnTo>
                    <a:pt x="427" y="805"/>
                  </a:lnTo>
                  <a:lnTo>
                    <a:pt x="408" y="805"/>
                  </a:lnTo>
                  <a:lnTo>
                    <a:pt x="387" y="805"/>
                  </a:lnTo>
                  <a:lnTo>
                    <a:pt x="367" y="803"/>
                  </a:lnTo>
                  <a:lnTo>
                    <a:pt x="347" y="800"/>
                  </a:lnTo>
                  <a:lnTo>
                    <a:pt x="326" y="796"/>
                  </a:lnTo>
                  <a:lnTo>
                    <a:pt x="306" y="792"/>
                  </a:lnTo>
                  <a:lnTo>
                    <a:pt x="286" y="786"/>
                  </a:lnTo>
                  <a:lnTo>
                    <a:pt x="267" y="780"/>
                  </a:lnTo>
                  <a:lnTo>
                    <a:pt x="249" y="773"/>
                  </a:lnTo>
                  <a:lnTo>
                    <a:pt x="231" y="764"/>
                  </a:lnTo>
                  <a:lnTo>
                    <a:pt x="214" y="756"/>
                  </a:lnTo>
                  <a:lnTo>
                    <a:pt x="197" y="746"/>
                  </a:lnTo>
                  <a:lnTo>
                    <a:pt x="180" y="736"/>
                  </a:lnTo>
                  <a:lnTo>
                    <a:pt x="164" y="724"/>
                  </a:lnTo>
                  <a:lnTo>
                    <a:pt x="148" y="713"/>
                  </a:lnTo>
                  <a:lnTo>
                    <a:pt x="134" y="700"/>
                  </a:lnTo>
                  <a:lnTo>
                    <a:pt x="119" y="685"/>
                  </a:lnTo>
                  <a:lnTo>
                    <a:pt x="106" y="671"/>
                  </a:lnTo>
                  <a:lnTo>
                    <a:pt x="93" y="656"/>
                  </a:lnTo>
                  <a:lnTo>
                    <a:pt x="82" y="641"/>
                  </a:lnTo>
                  <a:lnTo>
                    <a:pt x="70" y="625"/>
                  </a:lnTo>
                  <a:lnTo>
                    <a:pt x="59" y="609"/>
                  </a:lnTo>
                  <a:lnTo>
                    <a:pt x="49" y="592"/>
                  </a:lnTo>
                  <a:lnTo>
                    <a:pt x="40" y="575"/>
                  </a:lnTo>
                  <a:lnTo>
                    <a:pt x="33" y="556"/>
                  </a:lnTo>
                  <a:lnTo>
                    <a:pt x="24" y="537"/>
                  </a:lnTo>
                  <a:lnTo>
                    <a:pt x="19" y="519"/>
                  </a:lnTo>
                  <a:lnTo>
                    <a:pt x="13" y="500"/>
                  </a:lnTo>
                  <a:lnTo>
                    <a:pt x="8" y="480"/>
                  </a:lnTo>
                  <a:lnTo>
                    <a:pt x="6" y="460"/>
                  </a:lnTo>
                  <a:lnTo>
                    <a:pt x="3" y="439"/>
                  </a:lnTo>
                  <a:lnTo>
                    <a:pt x="1" y="418"/>
                  </a:lnTo>
                  <a:lnTo>
                    <a:pt x="0" y="398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7">
              <a:extLst>
                <a:ext uri="{FF2B5EF4-FFF2-40B4-BE49-F238E27FC236}">
                  <a16:creationId xmlns:a16="http://schemas.microsoft.com/office/drawing/2014/main" id="{F9D6CB84-7804-D8F2-2AA3-AA2BC04A54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8175" y="3214688"/>
              <a:ext cx="646113" cy="644525"/>
            </a:xfrm>
            <a:custGeom>
              <a:avLst/>
              <a:gdLst>
                <a:gd name="T0" fmla="*/ 1 w 814"/>
                <a:gd name="T1" fmla="*/ 0 h 814"/>
                <a:gd name="T2" fmla="*/ 1 w 814"/>
                <a:gd name="T3" fmla="*/ 0 h 814"/>
                <a:gd name="T4" fmla="*/ 1 w 814"/>
                <a:gd name="T5" fmla="*/ 0 h 814"/>
                <a:gd name="T6" fmla="*/ 1 w 814"/>
                <a:gd name="T7" fmla="*/ 0 h 814"/>
                <a:gd name="T8" fmla="*/ 1 w 814"/>
                <a:gd name="T9" fmla="*/ 0 h 814"/>
                <a:gd name="T10" fmla="*/ 1 w 814"/>
                <a:gd name="T11" fmla="*/ 0 h 814"/>
                <a:gd name="T12" fmla="*/ 1 w 814"/>
                <a:gd name="T13" fmla="*/ 0 h 814"/>
                <a:gd name="T14" fmla="*/ 1 w 814"/>
                <a:gd name="T15" fmla="*/ 0 h 814"/>
                <a:gd name="T16" fmla="*/ 1 w 814"/>
                <a:gd name="T17" fmla="*/ 0 h 814"/>
                <a:gd name="T18" fmla="*/ 1 w 814"/>
                <a:gd name="T19" fmla="*/ 0 h 814"/>
                <a:gd name="T20" fmla="*/ 0 w 814"/>
                <a:gd name="T21" fmla="*/ 0 h 814"/>
                <a:gd name="T22" fmla="*/ 1 w 814"/>
                <a:gd name="T23" fmla="*/ 0 h 814"/>
                <a:gd name="T24" fmla="*/ 1 w 814"/>
                <a:gd name="T25" fmla="*/ 0 h 814"/>
                <a:gd name="T26" fmla="*/ 1 w 814"/>
                <a:gd name="T27" fmla="*/ 0 h 814"/>
                <a:gd name="T28" fmla="*/ 1 w 814"/>
                <a:gd name="T29" fmla="*/ 0 h 814"/>
                <a:gd name="T30" fmla="*/ 1 w 814"/>
                <a:gd name="T31" fmla="*/ 0 h 814"/>
                <a:gd name="T32" fmla="*/ 1 w 814"/>
                <a:gd name="T33" fmla="*/ 0 h 814"/>
                <a:gd name="T34" fmla="*/ 1 w 814"/>
                <a:gd name="T35" fmla="*/ 0 h 814"/>
                <a:gd name="T36" fmla="*/ 1 w 814"/>
                <a:gd name="T37" fmla="*/ 0 h 814"/>
                <a:gd name="T38" fmla="*/ 1 w 814"/>
                <a:gd name="T39" fmla="*/ 0 h 814"/>
                <a:gd name="T40" fmla="*/ 1 w 814"/>
                <a:gd name="T41" fmla="*/ 0 h 814"/>
                <a:gd name="T42" fmla="*/ 1 w 814"/>
                <a:gd name="T43" fmla="*/ 0 h 814"/>
                <a:gd name="T44" fmla="*/ 1 w 814"/>
                <a:gd name="T45" fmla="*/ 0 h 814"/>
                <a:gd name="T46" fmla="*/ 1 w 814"/>
                <a:gd name="T47" fmla="*/ 0 h 814"/>
                <a:gd name="T48" fmla="*/ 1 w 814"/>
                <a:gd name="T49" fmla="*/ 0 h 814"/>
                <a:gd name="T50" fmla="*/ 1 w 814"/>
                <a:gd name="T51" fmla="*/ 0 h 814"/>
                <a:gd name="T52" fmla="*/ 1 w 814"/>
                <a:gd name="T53" fmla="*/ 0 h 814"/>
                <a:gd name="T54" fmla="*/ 1 w 814"/>
                <a:gd name="T55" fmla="*/ 0 h 814"/>
                <a:gd name="T56" fmla="*/ 1 w 814"/>
                <a:gd name="T57" fmla="*/ 0 h 814"/>
                <a:gd name="T58" fmla="*/ 1 w 814"/>
                <a:gd name="T59" fmla="*/ 0 h 814"/>
                <a:gd name="T60" fmla="*/ 1 w 814"/>
                <a:gd name="T61" fmla="*/ 0 h 814"/>
                <a:gd name="T62" fmla="*/ 1 w 814"/>
                <a:gd name="T63" fmla="*/ 0 h 814"/>
                <a:gd name="T64" fmla="*/ 1 w 814"/>
                <a:gd name="T65" fmla="*/ 0 h 814"/>
                <a:gd name="T66" fmla="*/ 1 w 814"/>
                <a:gd name="T67" fmla="*/ 0 h 814"/>
                <a:gd name="T68" fmla="*/ 1 w 814"/>
                <a:gd name="T69" fmla="*/ 0 h 814"/>
                <a:gd name="T70" fmla="*/ 1 w 814"/>
                <a:gd name="T71" fmla="*/ 0 h 814"/>
                <a:gd name="T72" fmla="*/ 1 w 814"/>
                <a:gd name="T73" fmla="*/ 0 h 814"/>
                <a:gd name="T74" fmla="*/ 1 w 814"/>
                <a:gd name="T75" fmla="*/ 0 h 814"/>
                <a:gd name="T76" fmla="*/ 1 w 814"/>
                <a:gd name="T77" fmla="*/ 0 h 814"/>
                <a:gd name="T78" fmla="*/ 1 w 814"/>
                <a:gd name="T79" fmla="*/ 0 h 814"/>
                <a:gd name="T80" fmla="*/ 1 w 814"/>
                <a:gd name="T81" fmla="*/ 0 h 814"/>
                <a:gd name="T82" fmla="*/ 1 w 814"/>
                <a:gd name="T83" fmla="*/ 0 h 814"/>
                <a:gd name="T84" fmla="*/ 1 w 814"/>
                <a:gd name="T85" fmla="*/ 0 h 814"/>
                <a:gd name="T86" fmla="*/ 1 w 814"/>
                <a:gd name="T87" fmla="*/ 0 h 81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814"/>
                <a:gd name="T133" fmla="*/ 0 h 814"/>
                <a:gd name="T134" fmla="*/ 814 w 814"/>
                <a:gd name="T135" fmla="*/ 814 h 81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814" h="814">
                  <a:moveTo>
                    <a:pt x="407" y="0"/>
                  </a:moveTo>
                  <a:lnTo>
                    <a:pt x="385" y="0"/>
                  </a:lnTo>
                  <a:lnTo>
                    <a:pt x="365" y="2"/>
                  </a:lnTo>
                  <a:lnTo>
                    <a:pt x="345" y="5"/>
                  </a:lnTo>
                  <a:lnTo>
                    <a:pt x="325" y="7"/>
                  </a:lnTo>
                  <a:lnTo>
                    <a:pt x="305" y="12"/>
                  </a:lnTo>
                  <a:lnTo>
                    <a:pt x="286" y="17"/>
                  </a:lnTo>
                  <a:lnTo>
                    <a:pt x="267" y="25"/>
                  </a:lnTo>
                  <a:lnTo>
                    <a:pt x="248" y="32"/>
                  </a:lnTo>
                  <a:lnTo>
                    <a:pt x="230" y="39"/>
                  </a:lnTo>
                  <a:lnTo>
                    <a:pt x="213" y="49"/>
                  </a:lnTo>
                  <a:lnTo>
                    <a:pt x="195" y="59"/>
                  </a:lnTo>
                  <a:lnTo>
                    <a:pt x="179" y="69"/>
                  </a:lnTo>
                  <a:lnTo>
                    <a:pt x="162" y="81"/>
                  </a:lnTo>
                  <a:lnTo>
                    <a:pt x="148" y="92"/>
                  </a:lnTo>
                  <a:lnTo>
                    <a:pt x="132" y="105"/>
                  </a:lnTo>
                  <a:lnTo>
                    <a:pt x="119" y="120"/>
                  </a:lnTo>
                  <a:lnTo>
                    <a:pt x="105" y="132"/>
                  </a:lnTo>
                  <a:lnTo>
                    <a:pt x="92" y="148"/>
                  </a:lnTo>
                  <a:lnTo>
                    <a:pt x="80" y="163"/>
                  </a:lnTo>
                  <a:lnTo>
                    <a:pt x="69" y="178"/>
                  </a:lnTo>
                  <a:lnTo>
                    <a:pt x="59" y="196"/>
                  </a:lnTo>
                  <a:lnTo>
                    <a:pt x="49" y="213"/>
                  </a:lnTo>
                  <a:lnTo>
                    <a:pt x="40" y="230"/>
                  </a:lnTo>
                  <a:lnTo>
                    <a:pt x="31" y="249"/>
                  </a:lnTo>
                  <a:lnTo>
                    <a:pt x="24" y="266"/>
                  </a:lnTo>
                  <a:lnTo>
                    <a:pt x="17" y="286"/>
                  </a:lnTo>
                  <a:lnTo>
                    <a:pt x="13" y="305"/>
                  </a:lnTo>
                  <a:lnTo>
                    <a:pt x="7" y="325"/>
                  </a:lnTo>
                  <a:lnTo>
                    <a:pt x="4" y="345"/>
                  </a:lnTo>
                  <a:lnTo>
                    <a:pt x="1" y="365"/>
                  </a:lnTo>
                  <a:lnTo>
                    <a:pt x="0" y="385"/>
                  </a:lnTo>
                  <a:lnTo>
                    <a:pt x="0" y="407"/>
                  </a:lnTo>
                  <a:lnTo>
                    <a:pt x="0" y="429"/>
                  </a:lnTo>
                  <a:lnTo>
                    <a:pt x="1" y="449"/>
                  </a:lnTo>
                  <a:lnTo>
                    <a:pt x="4" y="469"/>
                  </a:lnTo>
                  <a:lnTo>
                    <a:pt x="7" y="489"/>
                  </a:lnTo>
                  <a:lnTo>
                    <a:pt x="13" y="509"/>
                  </a:lnTo>
                  <a:lnTo>
                    <a:pt x="17" y="528"/>
                  </a:lnTo>
                  <a:lnTo>
                    <a:pt x="24" y="546"/>
                  </a:lnTo>
                  <a:lnTo>
                    <a:pt x="31" y="565"/>
                  </a:lnTo>
                  <a:lnTo>
                    <a:pt x="40" y="584"/>
                  </a:lnTo>
                  <a:lnTo>
                    <a:pt x="49" y="601"/>
                  </a:lnTo>
                  <a:lnTo>
                    <a:pt x="59" y="618"/>
                  </a:lnTo>
                  <a:lnTo>
                    <a:pt x="69" y="634"/>
                  </a:lnTo>
                  <a:lnTo>
                    <a:pt x="80" y="650"/>
                  </a:lnTo>
                  <a:lnTo>
                    <a:pt x="92" y="666"/>
                  </a:lnTo>
                  <a:lnTo>
                    <a:pt x="105" y="680"/>
                  </a:lnTo>
                  <a:lnTo>
                    <a:pt x="119" y="694"/>
                  </a:lnTo>
                  <a:lnTo>
                    <a:pt x="132" y="709"/>
                  </a:lnTo>
                  <a:lnTo>
                    <a:pt x="148" y="722"/>
                  </a:lnTo>
                  <a:lnTo>
                    <a:pt x="162" y="733"/>
                  </a:lnTo>
                  <a:lnTo>
                    <a:pt x="179" y="745"/>
                  </a:lnTo>
                  <a:lnTo>
                    <a:pt x="195" y="755"/>
                  </a:lnTo>
                  <a:lnTo>
                    <a:pt x="213" y="765"/>
                  </a:lnTo>
                  <a:lnTo>
                    <a:pt x="230" y="773"/>
                  </a:lnTo>
                  <a:lnTo>
                    <a:pt x="248" y="782"/>
                  </a:lnTo>
                  <a:lnTo>
                    <a:pt x="267" y="789"/>
                  </a:lnTo>
                  <a:lnTo>
                    <a:pt x="286" y="796"/>
                  </a:lnTo>
                  <a:lnTo>
                    <a:pt x="305" y="801"/>
                  </a:lnTo>
                  <a:lnTo>
                    <a:pt x="325" y="807"/>
                  </a:lnTo>
                  <a:lnTo>
                    <a:pt x="345" y="809"/>
                  </a:lnTo>
                  <a:lnTo>
                    <a:pt x="365" y="812"/>
                  </a:lnTo>
                  <a:lnTo>
                    <a:pt x="385" y="814"/>
                  </a:lnTo>
                  <a:lnTo>
                    <a:pt x="407" y="814"/>
                  </a:lnTo>
                  <a:lnTo>
                    <a:pt x="428" y="814"/>
                  </a:lnTo>
                  <a:lnTo>
                    <a:pt x="448" y="812"/>
                  </a:lnTo>
                  <a:lnTo>
                    <a:pt x="469" y="809"/>
                  </a:lnTo>
                  <a:lnTo>
                    <a:pt x="489" y="807"/>
                  </a:lnTo>
                  <a:lnTo>
                    <a:pt x="509" y="801"/>
                  </a:lnTo>
                  <a:lnTo>
                    <a:pt x="528" y="796"/>
                  </a:lnTo>
                  <a:lnTo>
                    <a:pt x="546" y="789"/>
                  </a:lnTo>
                  <a:lnTo>
                    <a:pt x="565" y="782"/>
                  </a:lnTo>
                  <a:lnTo>
                    <a:pt x="584" y="773"/>
                  </a:lnTo>
                  <a:lnTo>
                    <a:pt x="601" y="765"/>
                  </a:lnTo>
                  <a:lnTo>
                    <a:pt x="618" y="755"/>
                  </a:lnTo>
                  <a:lnTo>
                    <a:pt x="634" y="745"/>
                  </a:lnTo>
                  <a:lnTo>
                    <a:pt x="651" y="733"/>
                  </a:lnTo>
                  <a:lnTo>
                    <a:pt x="666" y="722"/>
                  </a:lnTo>
                  <a:lnTo>
                    <a:pt x="681" y="709"/>
                  </a:lnTo>
                  <a:lnTo>
                    <a:pt x="694" y="694"/>
                  </a:lnTo>
                  <a:lnTo>
                    <a:pt x="709" y="680"/>
                  </a:lnTo>
                  <a:lnTo>
                    <a:pt x="722" y="666"/>
                  </a:lnTo>
                  <a:lnTo>
                    <a:pt x="733" y="650"/>
                  </a:lnTo>
                  <a:lnTo>
                    <a:pt x="745" y="634"/>
                  </a:lnTo>
                  <a:lnTo>
                    <a:pt x="755" y="618"/>
                  </a:lnTo>
                  <a:lnTo>
                    <a:pt x="765" y="601"/>
                  </a:lnTo>
                  <a:lnTo>
                    <a:pt x="774" y="584"/>
                  </a:lnTo>
                  <a:lnTo>
                    <a:pt x="782" y="565"/>
                  </a:lnTo>
                  <a:lnTo>
                    <a:pt x="789" y="546"/>
                  </a:lnTo>
                  <a:lnTo>
                    <a:pt x="797" y="528"/>
                  </a:lnTo>
                  <a:lnTo>
                    <a:pt x="801" y="509"/>
                  </a:lnTo>
                  <a:lnTo>
                    <a:pt x="807" y="489"/>
                  </a:lnTo>
                  <a:lnTo>
                    <a:pt x="809" y="469"/>
                  </a:lnTo>
                  <a:lnTo>
                    <a:pt x="812" y="449"/>
                  </a:lnTo>
                  <a:lnTo>
                    <a:pt x="814" y="429"/>
                  </a:lnTo>
                  <a:lnTo>
                    <a:pt x="814" y="407"/>
                  </a:lnTo>
                  <a:lnTo>
                    <a:pt x="814" y="385"/>
                  </a:lnTo>
                  <a:lnTo>
                    <a:pt x="812" y="365"/>
                  </a:lnTo>
                  <a:lnTo>
                    <a:pt x="809" y="345"/>
                  </a:lnTo>
                  <a:lnTo>
                    <a:pt x="807" y="325"/>
                  </a:lnTo>
                  <a:lnTo>
                    <a:pt x="801" y="305"/>
                  </a:lnTo>
                  <a:lnTo>
                    <a:pt x="797" y="286"/>
                  </a:lnTo>
                  <a:lnTo>
                    <a:pt x="789" y="266"/>
                  </a:lnTo>
                  <a:lnTo>
                    <a:pt x="782" y="249"/>
                  </a:lnTo>
                  <a:lnTo>
                    <a:pt x="774" y="230"/>
                  </a:lnTo>
                  <a:lnTo>
                    <a:pt x="765" y="213"/>
                  </a:lnTo>
                  <a:lnTo>
                    <a:pt x="755" y="196"/>
                  </a:lnTo>
                  <a:lnTo>
                    <a:pt x="745" y="178"/>
                  </a:lnTo>
                  <a:lnTo>
                    <a:pt x="733" y="163"/>
                  </a:lnTo>
                  <a:lnTo>
                    <a:pt x="722" y="148"/>
                  </a:lnTo>
                  <a:lnTo>
                    <a:pt x="709" y="132"/>
                  </a:lnTo>
                  <a:lnTo>
                    <a:pt x="694" y="120"/>
                  </a:lnTo>
                  <a:lnTo>
                    <a:pt x="681" y="105"/>
                  </a:lnTo>
                  <a:lnTo>
                    <a:pt x="666" y="92"/>
                  </a:lnTo>
                  <a:lnTo>
                    <a:pt x="651" y="81"/>
                  </a:lnTo>
                  <a:lnTo>
                    <a:pt x="634" y="69"/>
                  </a:lnTo>
                  <a:lnTo>
                    <a:pt x="618" y="59"/>
                  </a:lnTo>
                  <a:lnTo>
                    <a:pt x="601" y="49"/>
                  </a:lnTo>
                  <a:lnTo>
                    <a:pt x="584" y="39"/>
                  </a:lnTo>
                  <a:lnTo>
                    <a:pt x="565" y="32"/>
                  </a:lnTo>
                  <a:lnTo>
                    <a:pt x="546" y="25"/>
                  </a:lnTo>
                  <a:lnTo>
                    <a:pt x="528" y="17"/>
                  </a:lnTo>
                  <a:lnTo>
                    <a:pt x="509" y="12"/>
                  </a:lnTo>
                  <a:lnTo>
                    <a:pt x="489" y="7"/>
                  </a:lnTo>
                  <a:lnTo>
                    <a:pt x="469" y="5"/>
                  </a:lnTo>
                  <a:lnTo>
                    <a:pt x="448" y="2"/>
                  </a:lnTo>
                  <a:lnTo>
                    <a:pt x="428" y="0"/>
                  </a:lnTo>
                  <a:lnTo>
                    <a:pt x="407" y="0"/>
                  </a:lnTo>
                </a:path>
              </a:pathLst>
            </a:custGeom>
            <a:solidFill>
              <a:schemeClr val="bg1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Rectangle 8">
              <a:extLst>
                <a:ext uri="{FF2B5EF4-FFF2-40B4-BE49-F238E27FC236}">
                  <a16:creationId xmlns:a16="http://schemas.microsoft.com/office/drawing/2014/main" id="{30A24D22-D78D-90B9-72B8-B83B93A3F8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0588" y="3432175"/>
              <a:ext cx="19685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A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58" name="Rectangle 9">
              <a:extLst>
                <a:ext uri="{FF2B5EF4-FFF2-40B4-BE49-F238E27FC236}">
                  <a16:creationId xmlns:a16="http://schemas.microsoft.com/office/drawing/2014/main" id="{EB1D28C6-39BB-B304-4D36-739353A031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7950" y="4132263"/>
              <a:ext cx="18573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59" name="Rectangle 10">
              <a:extLst>
                <a:ext uri="{FF2B5EF4-FFF2-40B4-BE49-F238E27FC236}">
                  <a16:creationId xmlns:a16="http://schemas.microsoft.com/office/drawing/2014/main" id="{96477B8A-53EF-40D9-A45F-30E9D95A4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475" y="4132263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60" name="Rectangle 11">
              <a:extLst>
                <a:ext uri="{FF2B5EF4-FFF2-40B4-BE49-F238E27FC236}">
                  <a16:creationId xmlns:a16="http://schemas.microsoft.com/office/drawing/2014/main" id="{A6615225-D798-BCE4-EB8E-B1BE670BB9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2738" y="4132263"/>
              <a:ext cx="1651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61" name="Rectangle 12">
              <a:extLst>
                <a:ext uri="{FF2B5EF4-FFF2-40B4-BE49-F238E27FC236}">
                  <a16:creationId xmlns:a16="http://schemas.microsoft.com/office/drawing/2014/main" id="{5B3387B7-1E53-1B32-FA87-58B8B63591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8188" y="4132263"/>
              <a:ext cx="13017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>
                  <a:solidFill>
                    <a:srgbClr val="000000"/>
                  </a:solidFill>
                  <a:latin typeface="Times-Roman" charset="0"/>
                </a:rPr>
                <a:t>z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62" name="Rectangle 13">
              <a:extLst>
                <a:ext uri="{FF2B5EF4-FFF2-40B4-BE49-F238E27FC236}">
                  <a16:creationId xmlns:a16="http://schemas.microsoft.com/office/drawing/2014/main" id="{EB1C82E5-E4EE-1848-6600-C34E18140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9975" y="4132263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63" name="Rectangle 14">
              <a:extLst>
                <a:ext uri="{FF2B5EF4-FFF2-40B4-BE49-F238E27FC236}">
                  <a16:creationId xmlns:a16="http://schemas.microsoft.com/office/drawing/2014/main" id="{412228E4-E505-9417-3FCD-F905E777FD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5825" y="4132263"/>
              <a:ext cx="1651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64" name="Rectangle 15">
              <a:extLst>
                <a:ext uri="{FF2B5EF4-FFF2-40B4-BE49-F238E27FC236}">
                  <a16:creationId xmlns:a16="http://schemas.microsoft.com/office/drawing/2014/main" id="{52CC3CE7-0414-1822-A875-AC295524C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2463" y="4127500"/>
              <a:ext cx="90488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1700">
                  <a:solidFill>
                    <a:srgbClr val="000000"/>
                  </a:solidFill>
                  <a:latin typeface="Symbol" charset="0"/>
                </a:rPr>
                <a:t>¤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65" name="Rectangle 16">
              <a:extLst>
                <a:ext uri="{FF2B5EF4-FFF2-40B4-BE49-F238E27FC236}">
                  <a16:creationId xmlns:a16="http://schemas.microsoft.com/office/drawing/2014/main" id="{6FA73501-AD9B-DC02-6872-F6E454915D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3890962"/>
              <a:ext cx="18573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66" name="Rectangle 17">
              <a:extLst>
                <a:ext uri="{FF2B5EF4-FFF2-40B4-BE49-F238E27FC236}">
                  <a16:creationId xmlns:a16="http://schemas.microsoft.com/office/drawing/2014/main" id="{58AC0E4B-EA56-A56F-AF92-CD5DBBFB2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1537" y="3890962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67" name="Rectangle 18">
              <a:extLst>
                <a:ext uri="{FF2B5EF4-FFF2-40B4-BE49-F238E27FC236}">
                  <a16:creationId xmlns:a16="http://schemas.microsoft.com/office/drawing/2014/main" id="{F855D8A9-FF5A-36B4-4EC5-0F51E98838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8975" y="3890962"/>
              <a:ext cx="1651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68" name="Rectangle 19">
              <a:extLst>
                <a:ext uri="{FF2B5EF4-FFF2-40B4-BE49-F238E27FC236}">
                  <a16:creationId xmlns:a16="http://schemas.microsoft.com/office/drawing/2014/main" id="{0EDD0994-8FD8-CE65-AA89-019C4B15E5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1250" y="3890962"/>
              <a:ext cx="13017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>
                  <a:solidFill>
                    <a:srgbClr val="000000"/>
                  </a:solidFill>
                  <a:latin typeface="Times-Roman" charset="0"/>
                </a:rPr>
                <a:t>z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69" name="Rectangle 20">
              <a:extLst>
                <a:ext uri="{FF2B5EF4-FFF2-40B4-BE49-F238E27FC236}">
                  <a16:creationId xmlns:a16="http://schemas.microsoft.com/office/drawing/2014/main" id="{E75332EF-34EF-49E5-10CE-40584D318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4625" y="3890962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70" name="Rectangle 21">
              <a:extLst>
                <a:ext uri="{FF2B5EF4-FFF2-40B4-BE49-F238E27FC236}">
                  <a16:creationId xmlns:a16="http://schemas.microsoft.com/office/drawing/2014/main" id="{56664B48-D946-18E4-EDCC-72474AE9B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0475" y="3890962"/>
              <a:ext cx="1651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71" name="Freeform 22">
              <a:extLst>
                <a:ext uri="{FF2B5EF4-FFF2-40B4-BE49-F238E27FC236}">
                  <a16:creationId xmlns:a16="http://schemas.microsoft.com/office/drawing/2014/main" id="{897ED811-7C2E-B5B7-C187-CC14C301A3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9925" y="3760788"/>
              <a:ext cx="723900" cy="280988"/>
            </a:xfrm>
            <a:custGeom>
              <a:avLst/>
              <a:gdLst>
                <a:gd name="T0" fmla="*/ 0 w 914"/>
                <a:gd name="T1" fmla="*/ 0 h 355"/>
                <a:gd name="T2" fmla="*/ 0 w 914"/>
                <a:gd name="T3" fmla="*/ 0 h 355"/>
                <a:gd name="T4" fmla="*/ 0 w 914"/>
                <a:gd name="T5" fmla="*/ 0 h 355"/>
                <a:gd name="T6" fmla="*/ 0 w 914"/>
                <a:gd name="T7" fmla="*/ 0 h 355"/>
                <a:gd name="T8" fmla="*/ 0 w 914"/>
                <a:gd name="T9" fmla="*/ 0 h 355"/>
                <a:gd name="T10" fmla="*/ 0 w 914"/>
                <a:gd name="T11" fmla="*/ 0 h 355"/>
                <a:gd name="T12" fmla="*/ 0 w 914"/>
                <a:gd name="T13" fmla="*/ 0 h 355"/>
                <a:gd name="T14" fmla="*/ 0 w 914"/>
                <a:gd name="T15" fmla="*/ 0 h 355"/>
                <a:gd name="T16" fmla="*/ 0 w 914"/>
                <a:gd name="T17" fmla="*/ 0 h 355"/>
                <a:gd name="T18" fmla="*/ 0 w 914"/>
                <a:gd name="T19" fmla="*/ 0 h 355"/>
                <a:gd name="T20" fmla="*/ 0 w 914"/>
                <a:gd name="T21" fmla="*/ 0 h 355"/>
                <a:gd name="T22" fmla="*/ 0 w 914"/>
                <a:gd name="T23" fmla="*/ 0 h 355"/>
                <a:gd name="T24" fmla="*/ 0 w 914"/>
                <a:gd name="T25" fmla="*/ 0 h 355"/>
                <a:gd name="T26" fmla="*/ 0 w 914"/>
                <a:gd name="T27" fmla="*/ 0 h 355"/>
                <a:gd name="T28" fmla="*/ 0 w 914"/>
                <a:gd name="T29" fmla="*/ 0 h 355"/>
                <a:gd name="T30" fmla="*/ 0 w 914"/>
                <a:gd name="T31" fmla="*/ 0 h 355"/>
                <a:gd name="T32" fmla="*/ 0 w 914"/>
                <a:gd name="T33" fmla="*/ 0 h 355"/>
                <a:gd name="T34" fmla="*/ 0 w 914"/>
                <a:gd name="T35" fmla="*/ 0 h 355"/>
                <a:gd name="T36" fmla="*/ 0 w 914"/>
                <a:gd name="T37" fmla="*/ 0 h 355"/>
                <a:gd name="T38" fmla="*/ 0 w 914"/>
                <a:gd name="T39" fmla="*/ 0 h 355"/>
                <a:gd name="T40" fmla="*/ 0 w 914"/>
                <a:gd name="T41" fmla="*/ 0 h 355"/>
                <a:gd name="T42" fmla="*/ 0 w 914"/>
                <a:gd name="T43" fmla="*/ 0 h 355"/>
                <a:gd name="T44" fmla="*/ 0 w 914"/>
                <a:gd name="T45" fmla="*/ 0 h 355"/>
                <a:gd name="T46" fmla="*/ 0 w 914"/>
                <a:gd name="T47" fmla="*/ 0 h 355"/>
                <a:gd name="T48" fmla="*/ 0 w 914"/>
                <a:gd name="T49" fmla="*/ 0 h 355"/>
                <a:gd name="T50" fmla="*/ 0 w 914"/>
                <a:gd name="T51" fmla="*/ 0 h 355"/>
                <a:gd name="T52" fmla="*/ 0 w 914"/>
                <a:gd name="T53" fmla="*/ 0 h 355"/>
                <a:gd name="T54" fmla="*/ 0 w 914"/>
                <a:gd name="T55" fmla="*/ 0 h 355"/>
                <a:gd name="T56" fmla="*/ 0 w 914"/>
                <a:gd name="T57" fmla="*/ 0 h 355"/>
                <a:gd name="T58" fmla="*/ 0 w 914"/>
                <a:gd name="T59" fmla="*/ 0 h 355"/>
                <a:gd name="T60" fmla="*/ 0 w 914"/>
                <a:gd name="T61" fmla="*/ 0 h 355"/>
                <a:gd name="T62" fmla="*/ 0 w 914"/>
                <a:gd name="T63" fmla="*/ 0 h 355"/>
                <a:gd name="T64" fmla="*/ 0 w 914"/>
                <a:gd name="T65" fmla="*/ 0 h 355"/>
                <a:gd name="T66" fmla="*/ 0 w 914"/>
                <a:gd name="T67" fmla="*/ 0 h 355"/>
                <a:gd name="T68" fmla="*/ 0 w 914"/>
                <a:gd name="T69" fmla="*/ 0 h 355"/>
                <a:gd name="T70" fmla="*/ 0 w 914"/>
                <a:gd name="T71" fmla="*/ 0 h 355"/>
                <a:gd name="T72" fmla="*/ 0 w 914"/>
                <a:gd name="T73" fmla="*/ 0 h 355"/>
                <a:gd name="T74" fmla="*/ 0 w 914"/>
                <a:gd name="T75" fmla="*/ 0 h 355"/>
                <a:gd name="T76" fmla="*/ 0 w 914"/>
                <a:gd name="T77" fmla="*/ 0 h 355"/>
                <a:gd name="T78" fmla="*/ 0 w 914"/>
                <a:gd name="T79" fmla="*/ 0 h 355"/>
                <a:gd name="T80" fmla="*/ 0 w 914"/>
                <a:gd name="T81" fmla="*/ 0 h 355"/>
                <a:gd name="T82" fmla="*/ 0 w 914"/>
                <a:gd name="T83" fmla="*/ 0 h 355"/>
                <a:gd name="T84" fmla="*/ 0 w 914"/>
                <a:gd name="T85" fmla="*/ 0 h 355"/>
                <a:gd name="T86" fmla="*/ 0 w 914"/>
                <a:gd name="T87" fmla="*/ 0 h 355"/>
                <a:gd name="T88" fmla="*/ 0 w 914"/>
                <a:gd name="T89" fmla="*/ 0 h 355"/>
                <a:gd name="T90" fmla="*/ 0 w 914"/>
                <a:gd name="T91" fmla="*/ 0 h 355"/>
                <a:gd name="T92" fmla="*/ 0 w 914"/>
                <a:gd name="T93" fmla="*/ 0 h 355"/>
                <a:gd name="T94" fmla="*/ 0 w 914"/>
                <a:gd name="T95" fmla="*/ 0 h 355"/>
                <a:gd name="T96" fmla="*/ 0 w 914"/>
                <a:gd name="T97" fmla="*/ 0 h 355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914"/>
                <a:gd name="T148" fmla="*/ 0 h 355"/>
                <a:gd name="T149" fmla="*/ 914 w 914"/>
                <a:gd name="T150" fmla="*/ 355 h 355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914" h="355">
                  <a:moveTo>
                    <a:pt x="914" y="0"/>
                  </a:moveTo>
                  <a:lnTo>
                    <a:pt x="891" y="18"/>
                  </a:lnTo>
                  <a:lnTo>
                    <a:pt x="869" y="36"/>
                  </a:lnTo>
                  <a:lnTo>
                    <a:pt x="849" y="53"/>
                  </a:lnTo>
                  <a:lnTo>
                    <a:pt x="829" y="67"/>
                  </a:lnTo>
                  <a:lnTo>
                    <a:pt x="812" y="82"/>
                  </a:lnTo>
                  <a:lnTo>
                    <a:pt x="796" y="95"/>
                  </a:lnTo>
                  <a:lnTo>
                    <a:pt x="780" y="107"/>
                  </a:lnTo>
                  <a:lnTo>
                    <a:pt x="766" y="119"/>
                  </a:lnTo>
                  <a:lnTo>
                    <a:pt x="751" y="129"/>
                  </a:lnTo>
                  <a:lnTo>
                    <a:pt x="738" y="139"/>
                  </a:lnTo>
                  <a:lnTo>
                    <a:pt x="727" y="148"/>
                  </a:lnTo>
                  <a:lnTo>
                    <a:pt x="715" y="156"/>
                  </a:lnTo>
                  <a:lnTo>
                    <a:pt x="704" y="164"/>
                  </a:lnTo>
                  <a:lnTo>
                    <a:pt x="694" y="171"/>
                  </a:lnTo>
                  <a:lnTo>
                    <a:pt x="685" y="178"/>
                  </a:lnTo>
                  <a:lnTo>
                    <a:pt x="677" y="184"/>
                  </a:lnTo>
                  <a:lnTo>
                    <a:pt x="667" y="189"/>
                  </a:lnTo>
                  <a:lnTo>
                    <a:pt x="659" y="195"/>
                  </a:lnTo>
                  <a:lnTo>
                    <a:pt x="651" y="201"/>
                  </a:lnTo>
                  <a:lnTo>
                    <a:pt x="642" y="205"/>
                  </a:lnTo>
                  <a:lnTo>
                    <a:pt x="635" y="210"/>
                  </a:lnTo>
                  <a:lnTo>
                    <a:pt x="626" y="214"/>
                  </a:lnTo>
                  <a:lnTo>
                    <a:pt x="619" y="218"/>
                  </a:lnTo>
                  <a:lnTo>
                    <a:pt x="610" y="221"/>
                  </a:lnTo>
                  <a:lnTo>
                    <a:pt x="602" y="225"/>
                  </a:lnTo>
                  <a:lnTo>
                    <a:pt x="593" y="230"/>
                  </a:lnTo>
                  <a:lnTo>
                    <a:pt x="585" y="233"/>
                  </a:lnTo>
                  <a:lnTo>
                    <a:pt x="576" y="237"/>
                  </a:lnTo>
                  <a:lnTo>
                    <a:pt x="566" y="241"/>
                  </a:lnTo>
                  <a:lnTo>
                    <a:pt x="556" y="245"/>
                  </a:lnTo>
                  <a:lnTo>
                    <a:pt x="544" y="250"/>
                  </a:lnTo>
                  <a:lnTo>
                    <a:pt x="533" y="254"/>
                  </a:lnTo>
                  <a:lnTo>
                    <a:pt x="521" y="258"/>
                  </a:lnTo>
                  <a:lnTo>
                    <a:pt x="511" y="263"/>
                  </a:lnTo>
                  <a:lnTo>
                    <a:pt x="501" y="267"/>
                  </a:lnTo>
                  <a:lnTo>
                    <a:pt x="491" y="270"/>
                  </a:lnTo>
                  <a:lnTo>
                    <a:pt x="482" y="274"/>
                  </a:lnTo>
                  <a:lnTo>
                    <a:pt x="474" y="277"/>
                  </a:lnTo>
                  <a:lnTo>
                    <a:pt x="465" y="280"/>
                  </a:lnTo>
                  <a:lnTo>
                    <a:pt x="458" y="283"/>
                  </a:lnTo>
                  <a:lnTo>
                    <a:pt x="449" y="286"/>
                  </a:lnTo>
                  <a:lnTo>
                    <a:pt x="442" y="289"/>
                  </a:lnTo>
                  <a:lnTo>
                    <a:pt x="436" y="291"/>
                  </a:lnTo>
                  <a:lnTo>
                    <a:pt x="429" y="293"/>
                  </a:lnTo>
                  <a:lnTo>
                    <a:pt x="422" y="296"/>
                  </a:lnTo>
                  <a:lnTo>
                    <a:pt x="416" y="297"/>
                  </a:lnTo>
                  <a:lnTo>
                    <a:pt x="409" y="300"/>
                  </a:lnTo>
                  <a:lnTo>
                    <a:pt x="403" y="302"/>
                  </a:lnTo>
                  <a:lnTo>
                    <a:pt x="396" y="303"/>
                  </a:lnTo>
                  <a:lnTo>
                    <a:pt x="389" y="304"/>
                  </a:lnTo>
                  <a:lnTo>
                    <a:pt x="383" y="306"/>
                  </a:lnTo>
                  <a:lnTo>
                    <a:pt x="376" y="309"/>
                  </a:lnTo>
                  <a:lnTo>
                    <a:pt x="369" y="310"/>
                  </a:lnTo>
                  <a:lnTo>
                    <a:pt x="360" y="312"/>
                  </a:lnTo>
                  <a:lnTo>
                    <a:pt x="353" y="313"/>
                  </a:lnTo>
                  <a:lnTo>
                    <a:pt x="344" y="314"/>
                  </a:lnTo>
                  <a:lnTo>
                    <a:pt x="334" y="316"/>
                  </a:lnTo>
                  <a:lnTo>
                    <a:pt x="326" y="317"/>
                  </a:lnTo>
                  <a:lnTo>
                    <a:pt x="316" y="320"/>
                  </a:lnTo>
                  <a:lnTo>
                    <a:pt x="304" y="322"/>
                  </a:lnTo>
                  <a:lnTo>
                    <a:pt x="293" y="323"/>
                  </a:lnTo>
                  <a:lnTo>
                    <a:pt x="281" y="326"/>
                  </a:lnTo>
                  <a:lnTo>
                    <a:pt x="268" y="327"/>
                  </a:lnTo>
                  <a:lnTo>
                    <a:pt x="254" y="330"/>
                  </a:lnTo>
                  <a:lnTo>
                    <a:pt x="239" y="332"/>
                  </a:lnTo>
                  <a:lnTo>
                    <a:pt x="226" y="335"/>
                  </a:lnTo>
                  <a:lnTo>
                    <a:pt x="215" y="336"/>
                  </a:lnTo>
                  <a:lnTo>
                    <a:pt x="203" y="339"/>
                  </a:lnTo>
                  <a:lnTo>
                    <a:pt x="193" y="340"/>
                  </a:lnTo>
                  <a:lnTo>
                    <a:pt x="183" y="342"/>
                  </a:lnTo>
                  <a:lnTo>
                    <a:pt x="173" y="343"/>
                  </a:lnTo>
                  <a:lnTo>
                    <a:pt x="164" y="345"/>
                  </a:lnTo>
                  <a:lnTo>
                    <a:pt x="156" y="346"/>
                  </a:lnTo>
                  <a:lnTo>
                    <a:pt x="149" y="348"/>
                  </a:lnTo>
                  <a:lnTo>
                    <a:pt x="140" y="348"/>
                  </a:lnTo>
                  <a:lnTo>
                    <a:pt x="133" y="349"/>
                  </a:lnTo>
                  <a:lnTo>
                    <a:pt x="127" y="350"/>
                  </a:lnTo>
                  <a:lnTo>
                    <a:pt x="120" y="350"/>
                  </a:lnTo>
                  <a:lnTo>
                    <a:pt x="114" y="352"/>
                  </a:lnTo>
                  <a:lnTo>
                    <a:pt x="108" y="352"/>
                  </a:lnTo>
                  <a:lnTo>
                    <a:pt x="103" y="353"/>
                  </a:lnTo>
                  <a:lnTo>
                    <a:pt x="97" y="353"/>
                  </a:lnTo>
                  <a:lnTo>
                    <a:pt x="91" y="353"/>
                  </a:lnTo>
                  <a:lnTo>
                    <a:pt x="85" y="353"/>
                  </a:lnTo>
                  <a:lnTo>
                    <a:pt x="80" y="355"/>
                  </a:lnTo>
                  <a:lnTo>
                    <a:pt x="74" y="355"/>
                  </a:lnTo>
                  <a:lnTo>
                    <a:pt x="67" y="355"/>
                  </a:lnTo>
                  <a:lnTo>
                    <a:pt x="61" y="355"/>
                  </a:lnTo>
                  <a:lnTo>
                    <a:pt x="55" y="355"/>
                  </a:lnTo>
                  <a:lnTo>
                    <a:pt x="48" y="355"/>
                  </a:lnTo>
                  <a:lnTo>
                    <a:pt x="41" y="355"/>
                  </a:lnTo>
                  <a:lnTo>
                    <a:pt x="34" y="355"/>
                  </a:lnTo>
                  <a:lnTo>
                    <a:pt x="26" y="355"/>
                  </a:lnTo>
                  <a:lnTo>
                    <a:pt x="18" y="355"/>
                  </a:lnTo>
                  <a:lnTo>
                    <a:pt x="9" y="355"/>
                  </a:lnTo>
                  <a:lnTo>
                    <a:pt x="0" y="35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23">
              <a:extLst>
                <a:ext uri="{FF2B5EF4-FFF2-40B4-BE49-F238E27FC236}">
                  <a16:creationId xmlns:a16="http://schemas.microsoft.com/office/drawing/2014/main" id="{F5E7AD2F-2F1B-70F3-02B1-B3AE78BE83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488" y="3762375"/>
              <a:ext cx="136525" cy="114300"/>
            </a:xfrm>
            <a:custGeom>
              <a:avLst/>
              <a:gdLst>
                <a:gd name="T0" fmla="*/ 0 w 173"/>
                <a:gd name="T1" fmla="*/ 1 h 143"/>
                <a:gd name="T2" fmla="*/ 0 w 173"/>
                <a:gd name="T3" fmla="*/ 0 h 143"/>
                <a:gd name="T4" fmla="*/ 0 w 173"/>
                <a:gd name="T5" fmla="*/ 1 h 143"/>
                <a:gd name="T6" fmla="*/ 0 w 173"/>
                <a:gd name="T7" fmla="*/ 1 h 143"/>
                <a:gd name="T8" fmla="*/ 0 w 173"/>
                <a:gd name="T9" fmla="*/ 1 h 1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3"/>
                <a:gd name="T16" fmla="*/ 0 h 143"/>
                <a:gd name="T17" fmla="*/ 173 w 173"/>
                <a:gd name="T18" fmla="*/ 143 h 14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3" h="143">
                  <a:moveTo>
                    <a:pt x="173" y="86"/>
                  </a:moveTo>
                  <a:lnTo>
                    <a:pt x="0" y="0"/>
                  </a:lnTo>
                  <a:lnTo>
                    <a:pt x="115" y="143"/>
                  </a:lnTo>
                  <a:lnTo>
                    <a:pt x="144" y="115"/>
                  </a:lnTo>
                  <a:lnTo>
                    <a:pt x="173" y="86"/>
                  </a:lnTo>
                  <a:close/>
                </a:path>
              </a:pathLst>
            </a:custGeom>
            <a:solidFill>
              <a:srgbClr val="0000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24">
              <a:extLst>
                <a:ext uri="{FF2B5EF4-FFF2-40B4-BE49-F238E27FC236}">
                  <a16:creationId xmlns:a16="http://schemas.microsoft.com/office/drawing/2014/main" id="{4A95B3E6-1E1D-1AA4-2434-555195F9F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0963" y="3854450"/>
              <a:ext cx="588963" cy="187325"/>
            </a:xfrm>
            <a:custGeom>
              <a:avLst/>
              <a:gdLst>
                <a:gd name="T0" fmla="*/ 1 w 742"/>
                <a:gd name="T1" fmla="*/ 1 h 236"/>
                <a:gd name="T2" fmla="*/ 1 w 742"/>
                <a:gd name="T3" fmla="*/ 1 h 236"/>
                <a:gd name="T4" fmla="*/ 1 w 742"/>
                <a:gd name="T5" fmla="*/ 1 h 236"/>
                <a:gd name="T6" fmla="*/ 1 w 742"/>
                <a:gd name="T7" fmla="*/ 1 h 236"/>
                <a:gd name="T8" fmla="*/ 1 w 742"/>
                <a:gd name="T9" fmla="*/ 1 h 236"/>
                <a:gd name="T10" fmla="*/ 1 w 742"/>
                <a:gd name="T11" fmla="*/ 1 h 236"/>
                <a:gd name="T12" fmla="*/ 1 w 742"/>
                <a:gd name="T13" fmla="*/ 1 h 236"/>
                <a:gd name="T14" fmla="*/ 1 w 742"/>
                <a:gd name="T15" fmla="*/ 1 h 236"/>
                <a:gd name="T16" fmla="*/ 1 w 742"/>
                <a:gd name="T17" fmla="*/ 1 h 236"/>
                <a:gd name="T18" fmla="*/ 1 w 742"/>
                <a:gd name="T19" fmla="*/ 1 h 236"/>
                <a:gd name="T20" fmla="*/ 1 w 742"/>
                <a:gd name="T21" fmla="*/ 1 h 236"/>
                <a:gd name="T22" fmla="*/ 1 w 742"/>
                <a:gd name="T23" fmla="*/ 1 h 236"/>
                <a:gd name="T24" fmla="*/ 1 w 742"/>
                <a:gd name="T25" fmla="*/ 1 h 236"/>
                <a:gd name="T26" fmla="*/ 1 w 742"/>
                <a:gd name="T27" fmla="*/ 1 h 236"/>
                <a:gd name="T28" fmla="*/ 1 w 742"/>
                <a:gd name="T29" fmla="*/ 1 h 236"/>
                <a:gd name="T30" fmla="*/ 1 w 742"/>
                <a:gd name="T31" fmla="*/ 1 h 236"/>
                <a:gd name="T32" fmla="*/ 1 w 742"/>
                <a:gd name="T33" fmla="*/ 1 h 236"/>
                <a:gd name="T34" fmla="*/ 1 w 742"/>
                <a:gd name="T35" fmla="*/ 1 h 236"/>
                <a:gd name="T36" fmla="*/ 1 w 742"/>
                <a:gd name="T37" fmla="*/ 1 h 236"/>
                <a:gd name="T38" fmla="*/ 1 w 742"/>
                <a:gd name="T39" fmla="*/ 1 h 236"/>
                <a:gd name="T40" fmla="*/ 1 w 742"/>
                <a:gd name="T41" fmla="*/ 1 h 236"/>
                <a:gd name="T42" fmla="*/ 1 w 742"/>
                <a:gd name="T43" fmla="*/ 1 h 236"/>
                <a:gd name="T44" fmla="*/ 1 w 742"/>
                <a:gd name="T45" fmla="*/ 1 h 236"/>
                <a:gd name="T46" fmla="*/ 1 w 742"/>
                <a:gd name="T47" fmla="*/ 1 h 236"/>
                <a:gd name="T48" fmla="*/ 1 w 742"/>
                <a:gd name="T49" fmla="*/ 1 h 236"/>
                <a:gd name="T50" fmla="*/ 1 w 742"/>
                <a:gd name="T51" fmla="*/ 1 h 236"/>
                <a:gd name="T52" fmla="*/ 1 w 742"/>
                <a:gd name="T53" fmla="*/ 1 h 236"/>
                <a:gd name="T54" fmla="*/ 1 w 742"/>
                <a:gd name="T55" fmla="*/ 1 h 236"/>
                <a:gd name="T56" fmla="*/ 1 w 742"/>
                <a:gd name="T57" fmla="*/ 1 h 236"/>
                <a:gd name="T58" fmla="*/ 1 w 742"/>
                <a:gd name="T59" fmla="*/ 1 h 236"/>
                <a:gd name="T60" fmla="*/ 1 w 742"/>
                <a:gd name="T61" fmla="*/ 1 h 236"/>
                <a:gd name="T62" fmla="*/ 1 w 742"/>
                <a:gd name="T63" fmla="*/ 1 h 236"/>
                <a:gd name="T64" fmla="*/ 1 w 742"/>
                <a:gd name="T65" fmla="*/ 1 h 236"/>
                <a:gd name="T66" fmla="*/ 1 w 742"/>
                <a:gd name="T67" fmla="*/ 1 h 236"/>
                <a:gd name="T68" fmla="*/ 1 w 742"/>
                <a:gd name="T69" fmla="*/ 1 h 236"/>
                <a:gd name="T70" fmla="*/ 1 w 742"/>
                <a:gd name="T71" fmla="*/ 1 h 236"/>
                <a:gd name="T72" fmla="*/ 1 w 742"/>
                <a:gd name="T73" fmla="*/ 1 h 236"/>
                <a:gd name="T74" fmla="*/ 1 w 742"/>
                <a:gd name="T75" fmla="*/ 1 h 236"/>
                <a:gd name="T76" fmla="*/ 1 w 742"/>
                <a:gd name="T77" fmla="*/ 1 h 236"/>
                <a:gd name="T78" fmla="*/ 1 w 742"/>
                <a:gd name="T79" fmla="*/ 1 h 236"/>
                <a:gd name="T80" fmla="*/ 1 w 742"/>
                <a:gd name="T81" fmla="*/ 1 h 236"/>
                <a:gd name="T82" fmla="*/ 1 w 742"/>
                <a:gd name="T83" fmla="*/ 1 h 236"/>
                <a:gd name="T84" fmla="*/ 1 w 742"/>
                <a:gd name="T85" fmla="*/ 1 h 236"/>
                <a:gd name="T86" fmla="*/ 1 w 742"/>
                <a:gd name="T87" fmla="*/ 1 h 236"/>
                <a:gd name="T88" fmla="*/ 1 w 742"/>
                <a:gd name="T89" fmla="*/ 1 h 236"/>
                <a:gd name="T90" fmla="*/ 1 w 742"/>
                <a:gd name="T91" fmla="*/ 1 h 236"/>
                <a:gd name="T92" fmla="*/ 1 w 742"/>
                <a:gd name="T93" fmla="*/ 1 h 236"/>
                <a:gd name="T94" fmla="*/ 1 w 742"/>
                <a:gd name="T95" fmla="*/ 1 h 236"/>
                <a:gd name="T96" fmla="*/ 1 w 742"/>
                <a:gd name="T97" fmla="*/ 1 h 2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742"/>
                <a:gd name="T148" fmla="*/ 0 h 236"/>
                <a:gd name="T149" fmla="*/ 742 w 742"/>
                <a:gd name="T150" fmla="*/ 236 h 2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742" h="236">
                  <a:moveTo>
                    <a:pt x="0" y="0"/>
                  </a:moveTo>
                  <a:lnTo>
                    <a:pt x="9" y="7"/>
                  </a:lnTo>
                  <a:lnTo>
                    <a:pt x="18" y="14"/>
                  </a:lnTo>
                  <a:lnTo>
                    <a:pt x="26" y="20"/>
                  </a:lnTo>
                  <a:lnTo>
                    <a:pt x="33" y="27"/>
                  </a:lnTo>
                  <a:lnTo>
                    <a:pt x="41" y="33"/>
                  </a:lnTo>
                  <a:lnTo>
                    <a:pt x="48" y="39"/>
                  </a:lnTo>
                  <a:lnTo>
                    <a:pt x="53" y="43"/>
                  </a:lnTo>
                  <a:lnTo>
                    <a:pt x="61" y="49"/>
                  </a:lnTo>
                  <a:lnTo>
                    <a:pt x="66" y="53"/>
                  </a:lnTo>
                  <a:lnTo>
                    <a:pt x="72" y="59"/>
                  </a:lnTo>
                  <a:lnTo>
                    <a:pt x="79" y="63"/>
                  </a:lnTo>
                  <a:lnTo>
                    <a:pt x="85" y="68"/>
                  </a:lnTo>
                  <a:lnTo>
                    <a:pt x="91" y="72"/>
                  </a:lnTo>
                  <a:lnTo>
                    <a:pt x="97" y="76"/>
                  </a:lnTo>
                  <a:lnTo>
                    <a:pt x="101" y="79"/>
                  </a:lnTo>
                  <a:lnTo>
                    <a:pt x="107" y="83"/>
                  </a:lnTo>
                  <a:lnTo>
                    <a:pt x="112" y="86"/>
                  </a:lnTo>
                  <a:lnTo>
                    <a:pt x="118" y="91"/>
                  </a:lnTo>
                  <a:lnTo>
                    <a:pt x="124" y="93"/>
                  </a:lnTo>
                  <a:lnTo>
                    <a:pt x="130" y="98"/>
                  </a:lnTo>
                  <a:lnTo>
                    <a:pt x="135" y="101"/>
                  </a:lnTo>
                  <a:lnTo>
                    <a:pt x="141" y="103"/>
                  </a:lnTo>
                  <a:lnTo>
                    <a:pt x="147" y="106"/>
                  </a:lnTo>
                  <a:lnTo>
                    <a:pt x="153" y="109"/>
                  </a:lnTo>
                  <a:lnTo>
                    <a:pt x="158" y="114"/>
                  </a:lnTo>
                  <a:lnTo>
                    <a:pt x="166" y="116"/>
                  </a:lnTo>
                  <a:lnTo>
                    <a:pt x="171" y="119"/>
                  </a:lnTo>
                  <a:lnTo>
                    <a:pt x="179" y="122"/>
                  </a:lnTo>
                  <a:lnTo>
                    <a:pt x="186" y="125"/>
                  </a:lnTo>
                  <a:lnTo>
                    <a:pt x="193" y="128"/>
                  </a:lnTo>
                  <a:lnTo>
                    <a:pt x="200" y="132"/>
                  </a:lnTo>
                  <a:lnTo>
                    <a:pt x="209" y="135"/>
                  </a:lnTo>
                  <a:lnTo>
                    <a:pt x="220" y="139"/>
                  </a:lnTo>
                  <a:lnTo>
                    <a:pt x="232" y="144"/>
                  </a:lnTo>
                  <a:lnTo>
                    <a:pt x="242" y="148"/>
                  </a:lnTo>
                  <a:lnTo>
                    <a:pt x="251" y="151"/>
                  </a:lnTo>
                  <a:lnTo>
                    <a:pt x="261" y="155"/>
                  </a:lnTo>
                  <a:lnTo>
                    <a:pt x="269" y="158"/>
                  </a:lnTo>
                  <a:lnTo>
                    <a:pt x="276" y="161"/>
                  </a:lnTo>
                  <a:lnTo>
                    <a:pt x="285" y="164"/>
                  </a:lnTo>
                  <a:lnTo>
                    <a:pt x="292" y="167"/>
                  </a:lnTo>
                  <a:lnTo>
                    <a:pt x="299" y="170"/>
                  </a:lnTo>
                  <a:lnTo>
                    <a:pt x="307" y="172"/>
                  </a:lnTo>
                  <a:lnTo>
                    <a:pt x="312" y="174"/>
                  </a:lnTo>
                  <a:lnTo>
                    <a:pt x="320" y="177"/>
                  </a:lnTo>
                  <a:lnTo>
                    <a:pt x="325" y="178"/>
                  </a:lnTo>
                  <a:lnTo>
                    <a:pt x="333" y="181"/>
                  </a:lnTo>
                  <a:lnTo>
                    <a:pt x="338" y="183"/>
                  </a:lnTo>
                  <a:lnTo>
                    <a:pt x="345" y="184"/>
                  </a:lnTo>
                  <a:lnTo>
                    <a:pt x="353" y="185"/>
                  </a:lnTo>
                  <a:lnTo>
                    <a:pt x="360" y="187"/>
                  </a:lnTo>
                  <a:lnTo>
                    <a:pt x="366" y="190"/>
                  </a:lnTo>
                  <a:lnTo>
                    <a:pt x="374" y="191"/>
                  </a:lnTo>
                  <a:lnTo>
                    <a:pt x="381" y="193"/>
                  </a:lnTo>
                  <a:lnTo>
                    <a:pt x="390" y="194"/>
                  </a:lnTo>
                  <a:lnTo>
                    <a:pt x="399" y="195"/>
                  </a:lnTo>
                  <a:lnTo>
                    <a:pt x="407" y="197"/>
                  </a:lnTo>
                  <a:lnTo>
                    <a:pt x="416" y="198"/>
                  </a:lnTo>
                  <a:lnTo>
                    <a:pt x="427" y="201"/>
                  </a:lnTo>
                  <a:lnTo>
                    <a:pt x="438" y="203"/>
                  </a:lnTo>
                  <a:lnTo>
                    <a:pt x="449" y="204"/>
                  </a:lnTo>
                  <a:lnTo>
                    <a:pt x="461" y="207"/>
                  </a:lnTo>
                  <a:lnTo>
                    <a:pt x="473" y="208"/>
                  </a:lnTo>
                  <a:lnTo>
                    <a:pt x="488" y="211"/>
                  </a:lnTo>
                  <a:lnTo>
                    <a:pt x="502" y="213"/>
                  </a:lnTo>
                  <a:lnTo>
                    <a:pt x="515" y="216"/>
                  </a:lnTo>
                  <a:lnTo>
                    <a:pt x="527" y="217"/>
                  </a:lnTo>
                  <a:lnTo>
                    <a:pt x="538" y="220"/>
                  </a:lnTo>
                  <a:lnTo>
                    <a:pt x="550" y="221"/>
                  </a:lnTo>
                  <a:lnTo>
                    <a:pt x="560" y="223"/>
                  </a:lnTo>
                  <a:lnTo>
                    <a:pt x="568" y="224"/>
                  </a:lnTo>
                  <a:lnTo>
                    <a:pt x="577" y="226"/>
                  </a:lnTo>
                  <a:lnTo>
                    <a:pt x="586" y="227"/>
                  </a:lnTo>
                  <a:lnTo>
                    <a:pt x="594" y="229"/>
                  </a:lnTo>
                  <a:lnTo>
                    <a:pt x="602" y="229"/>
                  </a:lnTo>
                  <a:lnTo>
                    <a:pt x="609" y="230"/>
                  </a:lnTo>
                  <a:lnTo>
                    <a:pt x="616" y="231"/>
                  </a:lnTo>
                  <a:lnTo>
                    <a:pt x="622" y="231"/>
                  </a:lnTo>
                  <a:lnTo>
                    <a:pt x="627" y="233"/>
                  </a:lnTo>
                  <a:lnTo>
                    <a:pt x="635" y="233"/>
                  </a:lnTo>
                  <a:lnTo>
                    <a:pt x="640" y="234"/>
                  </a:lnTo>
                  <a:lnTo>
                    <a:pt x="646" y="234"/>
                  </a:lnTo>
                  <a:lnTo>
                    <a:pt x="652" y="234"/>
                  </a:lnTo>
                  <a:lnTo>
                    <a:pt x="658" y="234"/>
                  </a:lnTo>
                  <a:lnTo>
                    <a:pt x="663" y="236"/>
                  </a:lnTo>
                  <a:lnTo>
                    <a:pt x="669" y="236"/>
                  </a:lnTo>
                  <a:lnTo>
                    <a:pt x="675" y="236"/>
                  </a:lnTo>
                  <a:lnTo>
                    <a:pt x="681" y="236"/>
                  </a:lnTo>
                  <a:lnTo>
                    <a:pt x="688" y="236"/>
                  </a:lnTo>
                  <a:lnTo>
                    <a:pt x="694" y="236"/>
                  </a:lnTo>
                  <a:lnTo>
                    <a:pt x="701" y="236"/>
                  </a:lnTo>
                  <a:lnTo>
                    <a:pt x="708" y="236"/>
                  </a:lnTo>
                  <a:lnTo>
                    <a:pt x="717" y="236"/>
                  </a:lnTo>
                  <a:lnTo>
                    <a:pt x="724" y="236"/>
                  </a:lnTo>
                  <a:lnTo>
                    <a:pt x="732" y="236"/>
                  </a:lnTo>
                  <a:lnTo>
                    <a:pt x="742" y="23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25">
              <a:extLst>
                <a:ext uri="{FF2B5EF4-FFF2-40B4-BE49-F238E27FC236}">
                  <a16:creationId xmlns:a16="http://schemas.microsoft.com/office/drawing/2014/main" id="{4CFDB984-B5DE-52D6-6FE3-5487833C19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9200" y="3036888"/>
              <a:ext cx="725488" cy="280988"/>
            </a:xfrm>
            <a:custGeom>
              <a:avLst/>
              <a:gdLst>
                <a:gd name="T0" fmla="*/ 0 w 915"/>
                <a:gd name="T1" fmla="*/ 0 h 355"/>
                <a:gd name="T2" fmla="*/ 0 w 915"/>
                <a:gd name="T3" fmla="*/ 0 h 355"/>
                <a:gd name="T4" fmla="*/ 0 w 915"/>
                <a:gd name="T5" fmla="*/ 0 h 355"/>
                <a:gd name="T6" fmla="*/ 0 w 915"/>
                <a:gd name="T7" fmla="*/ 0 h 355"/>
                <a:gd name="T8" fmla="*/ 0 w 915"/>
                <a:gd name="T9" fmla="*/ 0 h 355"/>
                <a:gd name="T10" fmla="*/ 0 w 915"/>
                <a:gd name="T11" fmla="*/ 0 h 355"/>
                <a:gd name="T12" fmla="*/ 0 w 915"/>
                <a:gd name="T13" fmla="*/ 0 h 355"/>
                <a:gd name="T14" fmla="*/ 0 w 915"/>
                <a:gd name="T15" fmla="*/ 0 h 355"/>
                <a:gd name="T16" fmla="*/ 0 w 915"/>
                <a:gd name="T17" fmla="*/ 0 h 355"/>
                <a:gd name="T18" fmla="*/ 0 w 915"/>
                <a:gd name="T19" fmla="*/ 0 h 355"/>
                <a:gd name="T20" fmla="*/ 0 w 915"/>
                <a:gd name="T21" fmla="*/ 0 h 355"/>
                <a:gd name="T22" fmla="*/ 0 w 915"/>
                <a:gd name="T23" fmla="*/ 0 h 355"/>
                <a:gd name="T24" fmla="*/ 0 w 915"/>
                <a:gd name="T25" fmla="*/ 0 h 355"/>
                <a:gd name="T26" fmla="*/ 0 w 915"/>
                <a:gd name="T27" fmla="*/ 0 h 355"/>
                <a:gd name="T28" fmla="*/ 0 w 915"/>
                <a:gd name="T29" fmla="*/ 0 h 355"/>
                <a:gd name="T30" fmla="*/ 0 w 915"/>
                <a:gd name="T31" fmla="*/ 0 h 355"/>
                <a:gd name="T32" fmla="*/ 0 w 915"/>
                <a:gd name="T33" fmla="*/ 0 h 355"/>
                <a:gd name="T34" fmla="*/ 0 w 915"/>
                <a:gd name="T35" fmla="*/ 0 h 355"/>
                <a:gd name="T36" fmla="*/ 0 w 915"/>
                <a:gd name="T37" fmla="*/ 0 h 355"/>
                <a:gd name="T38" fmla="*/ 0 w 915"/>
                <a:gd name="T39" fmla="*/ 0 h 355"/>
                <a:gd name="T40" fmla="*/ 0 w 915"/>
                <a:gd name="T41" fmla="*/ 0 h 355"/>
                <a:gd name="T42" fmla="*/ 0 w 915"/>
                <a:gd name="T43" fmla="*/ 0 h 355"/>
                <a:gd name="T44" fmla="*/ 0 w 915"/>
                <a:gd name="T45" fmla="*/ 0 h 355"/>
                <a:gd name="T46" fmla="*/ 0 w 915"/>
                <a:gd name="T47" fmla="*/ 0 h 355"/>
                <a:gd name="T48" fmla="*/ 0 w 915"/>
                <a:gd name="T49" fmla="*/ 0 h 355"/>
                <a:gd name="T50" fmla="*/ 0 w 915"/>
                <a:gd name="T51" fmla="*/ 0 h 355"/>
                <a:gd name="T52" fmla="*/ 0 w 915"/>
                <a:gd name="T53" fmla="*/ 0 h 355"/>
                <a:gd name="T54" fmla="*/ 0 w 915"/>
                <a:gd name="T55" fmla="*/ 0 h 355"/>
                <a:gd name="T56" fmla="*/ 0 w 915"/>
                <a:gd name="T57" fmla="*/ 0 h 355"/>
                <a:gd name="T58" fmla="*/ 0 w 915"/>
                <a:gd name="T59" fmla="*/ 0 h 355"/>
                <a:gd name="T60" fmla="*/ 0 w 915"/>
                <a:gd name="T61" fmla="*/ 0 h 355"/>
                <a:gd name="T62" fmla="*/ 0 w 915"/>
                <a:gd name="T63" fmla="*/ 0 h 355"/>
                <a:gd name="T64" fmla="*/ 0 w 915"/>
                <a:gd name="T65" fmla="*/ 0 h 355"/>
                <a:gd name="T66" fmla="*/ 0 w 915"/>
                <a:gd name="T67" fmla="*/ 0 h 355"/>
                <a:gd name="T68" fmla="*/ 0 w 915"/>
                <a:gd name="T69" fmla="*/ 0 h 355"/>
                <a:gd name="T70" fmla="*/ 0 w 915"/>
                <a:gd name="T71" fmla="*/ 0 h 355"/>
                <a:gd name="T72" fmla="*/ 0 w 915"/>
                <a:gd name="T73" fmla="*/ 0 h 355"/>
                <a:gd name="T74" fmla="*/ 0 w 915"/>
                <a:gd name="T75" fmla="*/ 0 h 355"/>
                <a:gd name="T76" fmla="*/ 0 w 915"/>
                <a:gd name="T77" fmla="*/ 0 h 355"/>
                <a:gd name="T78" fmla="*/ 0 w 915"/>
                <a:gd name="T79" fmla="*/ 0 h 355"/>
                <a:gd name="T80" fmla="*/ 0 w 915"/>
                <a:gd name="T81" fmla="*/ 0 h 355"/>
                <a:gd name="T82" fmla="*/ 0 w 915"/>
                <a:gd name="T83" fmla="*/ 0 h 355"/>
                <a:gd name="T84" fmla="*/ 0 w 915"/>
                <a:gd name="T85" fmla="*/ 0 h 355"/>
                <a:gd name="T86" fmla="*/ 0 w 915"/>
                <a:gd name="T87" fmla="*/ 0 h 355"/>
                <a:gd name="T88" fmla="*/ 0 w 915"/>
                <a:gd name="T89" fmla="*/ 0 h 355"/>
                <a:gd name="T90" fmla="*/ 0 w 915"/>
                <a:gd name="T91" fmla="*/ 0 h 355"/>
                <a:gd name="T92" fmla="*/ 0 w 915"/>
                <a:gd name="T93" fmla="*/ 0 h 355"/>
                <a:gd name="T94" fmla="*/ 0 w 915"/>
                <a:gd name="T95" fmla="*/ 0 h 355"/>
                <a:gd name="T96" fmla="*/ 0 w 915"/>
                <a:gd name="T97" fmla="*/ 0 h 355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915"/>
                <a:gd name="T148" fmla="*/ 0 h 355"/>
                <a:gd name="T149" fmla="*/ 915 w 915"/>
                <a:gd name="T150" fmla="*/ 355 h 355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915" h="355">
                  <a:moveTo>
                    <a:pt x="0" y="355"/>
                  </a:moveTo>
                  <a:lnTo>
                    <a:pt x="23" y="336"/>
                  </a:lnTo>
                  <a:lnTo>
                    <a:pt x="44" y="319"/>
                  </a:lnTo>
                  <a:lnTo>
                    <a:pt x="66" y="303"/>
                  </a:lnTo>
                  <a:lnTo>
                    <a:pt x="85" y="289"/>
                  </a:lnTo>
                  <a:lnTo>
                    <a:pt x="102" y="275"/>
                  </a:lnTo>
                  <a:lnTo>
                    <a:pt x="119" y="262"/>
                  </a:lnTo>
                  <a:lnTo>
                    <a:pt x="135" y="249"/>
                  </a:lnTo>
                  <a:lnTo>
                    <a:pt x="149" y="237"/>
                  </a:lnTo>
                  <a:lnTo>
                    <a:pt x="162" y="227"/>
                  </a:lnTo>
                  <a:lnTo>
                    <a:pt x="175" y="217"/>
                  </a:lnTo>
                  <a:lnTo>
                    <a:pt x="188" y="207"/>
                  </a:lnTo>
                  <a:lnTo>
                    <a:pt x="198" y="200"/>
                  </a:lnTo>
                  <a:lnTo>
                    <a:pt x="210" y="191"/>
                  </a:lnTo>
                  <a:lnTo>
                    <a:pt x="220" y="184"/>
                  </a:lnTo>
                  <a:lnTo>
                    <a:pt x="229" y="178"/>
                  </a:lnTo>
                  <a:lnTo>
                    <a:pt x="239" y="171"/>
                  </a:lnTo>
                  <a:lnTo>
                    <a:pt x="247" y="165"/>
                  </a:lnTo>
                  <a:lnTo>
                    <a:pt x="256" y="161"/>
                  </a:lnTo>
                  <a:lnTo>
                    <a:pt x="264" y="155"/>
                  </a:lnTo>
                  <a:lnTo>
                    <a:pt x="272" y="151"/>
                  </a:lnTo>
                  <a:lnTo>
                    <a:pt x="280" y="147"/>
                  </a:lnTo>
                  <a:lnTo>
                    <a:pt x="288" y="142"/>
                  </a:lnTo>
                  <a:lnTo>
                    <a:pt x="296" y="138"/>
                  </a:lnTo>
                  <a:lnTo>
                    <a:pt x="303" y="134"/>
                  </a:lnTo>
                  <a:lnTo>
                    <a:pt x="312" y="131"/>
                  </a:lnTo>
                  <a:lnTo>
                    <a:pt x="321" y="126"/>
                  </a:lnTo>
                  <a:lnTo>
                    <a:pt x="329" y="122"/>
                  </a:lnTo>
                  <a:lnTo>
                    <a:pt x="339" y="119"/>
                  </a:lnTo>
                  <a:lnTo>
                    <a:pt x="348" y="115"/>
                  </a:lnTo>
                  <a:lnTo>
                    <a:pt x="359" y="111"/>
                  </a:lnTo>
                  <a:lnTo>
                    <a:pt x="370" y="106"/>
                  </a:lnTo>
                  <a:lnTo>
                    <a:pt x="381" y="102"/>
                  </a:lnTo>
                  <a:lnTo>
                    <a:pt x="393" y="96"/>
                  </a:lnTo>
                  <a:lnTo>
                    <a:pt x="404" y="92"/>
                  </a:lnTo>
                  <a:lnTo>
                    <a:pt x="414" y="89"/>
                  </a:lnTo>
                  <a:lnTo>
                    <a:pt x="423" y="85"/>
                  </a:lnTo>
                  <a:lnTo>
                    <a:pt x="433" y="80"/>
                  </a:lnTo>
                  <a:lnTo>
                    <a:pt x="441" y="78"/>
                  </a:lnTo>
                  <a:lnTo>
                    <a:pt x="449" y="75"/>
                  </a:lnTo>
                  <a:lnTo>
                    <a:pt x="457" y="72"/>
                  </a:lnTo>
                  <a:lnTo>
                    <a:pt x="464" y="69"/>
                  </a:lnTo>
                  <a:lnTo>
                    <a:pt x="472" y="66"/>
                  </a:lnTo>
                  <a:lnTo>
                    <a:pt x="479" y="65"/>
                  </a:lnTo>
                  <a:lnTo>
                    <a:pt x="485" y="62"/>
                  </a:lnTo>
                  <a:lnTo>
                    <a:pt x="492" y="60"/>
                  </a:lnTo>
                  <a:lnTo>
                    <a:pt x="498" y="57"/>
                  </a:lnTo>
                  <a:lnTo>
                    <a:pt x="505" y="56"/>
                  </a:lnTo>
                  <a:lnTo>
                    <a:pt x="510" y="55"/>
                  </a:lnTo>
                  <a:lnTo>
                    <a:pt x="518" y="52"/>
                  </a:lnTo>
                  <a:lnTo>
                    <a:pt x="525" y="50"/>
                  </a:lnTo>
                  <a:lnTo>
                    <a:pt x="532" y="49"/>
                  </a:lnTo>
                  <a:lnTo>
                    <a:pt x="538" y="47"/>
                  </a:lnTo>
                  <a:lnTo>
                    <a:pt x="546" y="46"/>
                  </a:lnTo>
                  <a:lnTo>
                    <a:pt x="554" y="45"/>
                  </a:lnTo>
                  <a:lnTo>
                    <a:pt x="562" y="43"/>
                  </a:lnTo>
                  <a:lnTo>
                    <a:pt x="571" y="42"/>
                  </a:lnTo>
                  <a:lnTo>
                    <a:pt x="580" y="39"/>
                  </a:lnTo>
                  <a:lnTo>
                    <a:pt x="588" y="37"/>
                  </a:lnTo>
                  <a:lnTo>
                    <a:pt x="600" y="36"/>
                  </a:lnTo>
                  <a:lnTo>
                    <a:pt x="610" y="35"/>
                  </a:lnTo>
                  <a:lnTo>
                    <a:pt x="621" y="32"/>
                  </a:lnTo>
                  <a:lnTo>
                    <a:pt x="633" y="30"/>
                  </a:lnTo>
                  <a:lnTo>
                    <a:pt x="646" y="27"/>
                  </a:lnTo>
                  <a:lnTo>
                    <a:pt x="660" y="26"/>
                  </a:lnTo>
                  <a:lnTo>
                    <a:pt x="674" y="23"/>
                  </a:lnTo>
                  <a:lnTo>
                    <a:pt x="687" y="22"/>
                  </a:lnTo>
                  <a:lnTo>
                    <a:pt x="699" y="19"/>
                  </a:lnTo>
                  <a:lnTo>
                    <a:pt x="710" y="17"/>
                  </a:lnTo>
                  <a:lnTo>
                    <a:pt x="722" y="16"/>
                  </a:lnTo>
                  <a:lnTo>
                    <a:pt x="732" y="14"/>
                  </a:lnTo>
                  <a:lnTo>
                    <a:pt x="741" y="13"/>
                  </a:lnTo>
                  <a:lnTo>
                    <a:pt x="749" y="12"/>
                  </a:lnTo>
                  <a:lnTo>
                    <a:pt x="758" y="10"/>
                  </a:lnTo>
                  <a:lnTo>
                    <a:pt x="767" y="9"/>
                  </a:lnTo>
                  <a:lnTo>
                    <a:pt x="774" y="7"/>
                  </a:lnTo>
                  <a:lnTo>
                    <a:pt x="781" y="7"/>
                  </a:lnTo>
                  <a:lnTo>
                    <a:pt x="788" y="6"/>
                  </a:lnTo>
                  <a:lnTo>
                    <a:pt x="794" y="4"/>
                  </a:lnTo>
                  <a:lnTo>
                    <a:pt x="800" y="4"/>
                  </a:lnTo>
                  <a:lnTo>
                    <a:pt x="807" y="3"/>
                  </a:lnTo>
                  <a:lnTo>
                    <a:pt x="813" y="3"/>
                  </a:lnTo>
                  <a:lnTo>
                    <a:pt x="818" y="3"/>
                  </a:lnTo>
                  <a:lnTo>
                    <a:pt x="824" y="1"/>
                  </a:lnTo>
                  <a:lnTo>
                    <a:pt x="830" y="1"/>
                  </a:lnTo>
                  <a:lnTo>
                    <a:pt x="836" y="1"/>
                  </a:lnTo>
                  <a:lnTo>
                    <a:pt x="841" y="1"/>
                  </a:lnTo>
                  <a:lnTo>
                    <a:pt x="847" y="1"/>
                  </a:lnTo>
                  <a:lnTo>
                    <a:pt x="853" y="0"/>
                  </a:lnTo>
                  <a:lnTo>
                    <a:pt x="860" y="0"/>
                  </a:lnTo>
                  <a:lnTo>
                    <a:pt x="866" y="0"/>
                  </a:lnTo>
                  <a:lnTo>
                    <a:pt x="873" y="0"/>
                  </a:lnTo>
                  <a:lnTo>
                    <a:pt x="880" y="0"/>
                  </a:lnTo>
                  <a:lnTo>
                    <a:pt x="889" y="0"/>
                  </a:lnTo>
                  <a:lnTo>
                    <a:pt x="896" y="0"/>
                  </a:lnTo>
                  <a:lnTo>
                    <a:pt x="905" y="0"/>
                  </a:lnTo>
                  <a:lnTo>
                    <a:pt x="91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26">
              <a:extLst>
                <a:ext uri="{FF2B5EF4-FFF2-40B4-BE49-F238E27FC236}">
                  <a16:creationId xmlns:a16="http://schemas.microsoft.com/office/drawing/2014/main" id="{EC738513-E944-8879-C6BB-4EDD7F0E695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1425" y="3192463"/>
              <a:ext cx="136525" cy="114300"/>
            </a:xfrm>
            <a:custGeom>
              <a:avLst/>
              <a:gdLst>
                <a:gd name="T0" fmla="*/ 0 w 173"/>
                <a:gd name="T1" fmla="*/ 1 h 144"/>
                <a:gd name="T2" fmla="*/ 0 w 173"/>
                <a:gd name="T3" fmla="*/ 1 h 144"/>
                <a:gd name="T4" fmla="*/ 0 w 173"/>
                <a:gd name="T5" fmla="*/ 0 h 144"/>
                <a:gd name="T6" fmla="*/ 0 w 173"/>
                <a:gd name="T7" fmla="*/ 1 h 144"/>
                <a:gd name="T8" fmla="*/ 0 w 173"/>
                <a:gd name="T9" fmla="*/ 1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3"/>
                <a:gd name="T16" fmla="*/ 0 h 144"/>
                <a:gd name="T17" fmla="*/ 173 w 173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3" h="144">
                  <a:moveTo>
                    <a:pt x="0" y="57"/>
                  </a:moveTo>
                  <a:lnTo>
                    <a:pt x="173" y="144"/>
                  </a:lnTo>
                  <a:lnTo>
                    <a:pt x="58" y="0"/>
                  </a:lnTo>
                  <a:lnTo>
                    <a:pt x="29" y="29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0000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27">
              <a:extLst>
                <a:ext uri="{FF2B5EF4-FFF2-40B4-BE49-F238E27FC236}">
                  <a16:creationId xmlns:a16="http://schemas.microsoft.com/office/drawing/2014/main" id="{1CC442B8-4B2D-8DF8-2CC2-2787206494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688" y="3036888"/>
              <a:ext cx="585788" cy="169863"/>
            </a:xfrm>
            <a:custGeom>
              <a:avLst/>
              <a:gdLst>
                <a:gd name="T0" fmla="*/ 1 w 736"/>
                <a:gd name="T1" fmla="*/ 0 h 216"/>
                <a:gd name="T2" fmla="*/ 1 w 736"/>
                <a:gd name="T3" fmla="*/ 0 h 216"/>
                <a:gd name="T4" fmla="*/ 1 w 736"/>
                <a:gd name="T5" fmla="*/ 0 h 216"/>
                <a:gd name="T6" fmla="*/ 1 w 736"/>
                <a:gd name="T7" fmla="*/ 0 h 216"/>
                <a:gd name="T8" fmla="*/ 1 w 736"/>
                <a:gd name="T9" fmla="*/ 0 h 216"/>
                <a:gd name="T10" fmla="*/ 1 w 736"/>
                <a:gd name="T11" fmla="*/ 0 h 216"/>
                <a:gd name="T12" fmla="*/ 1 w 736"/>
                <a:gd name="T13" fmla="*/ 0 h 216"/>
                <a:gd name="T14" fmla="*/ 1 w 736"/>
                <a:gd name="T15" fmla="*/ 0 h 216"/>
                <a:gd name="T16" fmla="*/ 1 w 736"/>
                <a:gd name="T17" fmla="*/ 0 h 216"/>
                <a:gd name="T18" fmla="*/ 1 w 736"/>
                <a:gd name="T19" fmla="*/ 0 h 216"/>
                <a:gd name="T20" fmla="*/ 1 w 736"/>
                <a:gd name="T21" fmla="*/ 0 h 216"/>
                <a:gd name="T22" fmla="*/ 1 w 736"/>
                <a:gd name="T23" fmla="*/ 0 h 216"/>
                <a:gd name="T24" fmla="*/ 1 w 736"/>
                <a:gd name="T25" fmla="*/ 0 h 216"/>
                <a:gd name="T26" fmla="*/ 1 w 736"/>
                <a:gd name="T27" fmla="*/ 0 h 216"/>
                <a:gd name="T28" fmla="*/ 1 w 736"/>
                <a:gd name="T29" fmla="*/ 0 h 216"/>
                <a:gd name="T30" fmla="*/ 1 w 736"/>
                <a:gd name="T31" fmla="*/ 0 h 216"/>
                <a:gd name="T32" fmla="*/ 1 w 736"/>
                <a:gd name="T33" fmla="*/ 0 h 216"/>
                <a:gd name="T34" fmla="*/ 1 w 736"/>
                <a:gd name="T35" fmla="*/ 0 h 216"/>
                <a:gd name="T36" fmla="*/ 1 w 736"/>
                <a:gd name="T37" fmla="*/ 0 h 216"/>
                <a:gd name="T38" fmla="*/ 1 w 736"/>
                <a:gd name="T39" fmla="*/ 0 h 216"/>
                <a:gd name="T40" fmla="*/ 1 w 736"/>
                <a:gd name="T41" fmla="*/ 0 h 216"/>
                <a:gd name="T42" fmla="*/ 1 w 736"/>
                <a:gd name="T43" fmla="*/ 0 h 216"/>
                <a:gd name="T44" fmla="*/ 1 w 736"/>
                <a:gd name="T45" fmla="*/ 0 h 216"/>
                <a:gd name="T46" fmla="*/ 1 w 736"/>
                <a:gd name="T47" fmla="*/ 0 h 216"/>
                <a:gd name="T48" fmla="*/ 1 w 736"/>
                <a:gd name="T49" fmla="*/ 0 h 216"/>
                <a:gd name="T50" fmla="*/ 1 w 736"/>
                <a:gd name="T51" fmla="*/ 0 h 216"/>
                <a:gd name="T52" fmla="*/ 1 w 736"/>
                <a:gd name="T53" fmla="*/ 0 h 216"/>
                <a:gd name="T54" fmla="*/ 1 w 736"/>
                <a:gd name="T55" fmla="*/ 0 h 216"/>
                <a:gd name="T56" fmla="*/ 1 w 736"/>
                <a:gd name="T57" fmla="*/ 0 h 216"/>
                <a:gd name="T58" fmla="*/ 1 w 736"/>
                <a:gd name="T59" fmla="*/ 0 h 216"/>
                <a:gd name="T60" fmla="*/ 1 w 736"/>
                <a:gd name="T61" fmla="*/ 0 h 216"/>
                <a:gd name="T62" fmla="*/ 1 w 736"/>
                <a:gd name="T63" fmla="*/ 0 h 216"/>
                <a:gd name="T64" fmla="*/ 1 w 736"/>
                <a:gd name="T65" fmla="*/ 0 h 216"/>
                <a:gd name="T66" fmla="*/ 1 w 736"/>
                <a:gd name="T67" fmla="*/ 0 h 216"/>
                <a:gd name="T68" fmla="*/ 1 w 736"/>
                <a:gd name="T69" fmla="*/ 0 h 216"/>
                <a:gd name="T70" fmla="*/ 1 w 736"/>
                <a:gd name="T71" fmla="*/ 0 h 216"/>
                <a:gd name="T72" fmla="*/ 1 w 736"/>
                <a:gd name="T73" fmla="*/ 0 h 216"/>
                <a:gd name="T74" fmla="*/ 1 w 736"/>
                <a:gd name="T75" fmla="*/ 0 h 216"/>
                <a:gd name="T76" fmla="*/ 1 w 736"/>
                <a:gd name="T77" fmla="*/ 0 h 216"/>
                <a:gd name="T78" fmla="*/ 1 w 736"/>
                <a:gd name="T79" fmla="*/ 0 h 216"/>
                <a:gd name="T80" fmla="*/ 1 w 736"/>
                <a:gd name="T81" fmla="*/ 0 h 216"/>
                <a:gd name="T82" fmla="*/ 1 w 736"/>
                <a:gd name="T83" fmla="*/ 0 h 216"/>
                <a:gd name="T84" fmla="*/ 1 w 736"/>
                <a:gd name="T85" fmla="*/ 0 h 216"/>
                <a:gd name="T86" fmla="*/ 1 w 736"/>
                <a:gd name="T87" fmla="*/ 0 h 216"/>
                <a:gd name="T88" fmla="*/ 1 w 736"/>
                <a:gd name="T89" fmla="*/ 0 h 216"/>
                <a:gd name="T90" fmla="*/ 1 w 736"/>
                <a:gd name="T91" fmla="*/ 0 h 216"/>
                <a:gd name="T92" fmla="*/ 1 w 736"/>
                <a:gd name="T93" fmla="*/ 0 h 216"/>
                <a:gd name="T94" fmla="*/ 1 w 736"/>
                <a:gd name="T95" fmla="*/ 0 h 216"/>
                <a:gd name="T96" fmla="*/ 1 w 736"/>
                <a:gd name="T97" fmla="*/ 0 h 21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736"/>
                <a:gd name="T148" fmla="*/ 0 h 216"/>
                <a:gd name="T149" fmla="*/ 736 w 736"/>
                <a:gd name="T150" fmla="*/ 216 h 21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736" h="216">
                  <a:moveTo>
                    <a:pt x="736" y="216"/>
                  </a:moveTo>
                  <a:lnTo>
                    <a:pt x="728" y="210"/>
                  </a:lnTo>
                  <a:lnTo>
                    <a:pt x="720" y="203"/>
                  </a:lnTo>
                  <a:lnTo>
                    <a:pt x="713" y="197"/>
                  </a:lnTo>
                  <a:lnTo>
                    <a:pt x="706" y="193"/>
                  </a:lnTo>
                  <a:lnTo>
                    <a:pt x="699" y="187"/>
                  </a:lnTo>
                  <a:lnTo>
                    <a:pt x="692" y="183"/>
                  </a:lnTo>
                  <a:lnTo>
                    <a:pt x="686" y="178"/>
                  </a:lnTo>
                  <a:lnTo>
                    <a:pt x="679" y="174"/>
                  </a:lnTo>
                  <a:lnTo>
                    <a:pt x="673" y="170"/>
                  </a:lnTo>
                  <a:lnTo>
                    <a:pt x="667" y="165"/>
                  </a:lnTo>
                  <a:lnTo>
                    <a:pt x="661" y="161"/>
                  </a:lnTo>
                  <a:lnTo>
                    <a:pt x="656" y="158"/>
                  </a:lnTo>
                  <a:lnTo>
                    <a:pt x="650" y="155"/>
                  </a:lnTo>
                  <a:lnTo>
                    <a:pt x="644" y="151"/>
                  </a:lnTo>
                  <a:lnTo>
                    <a:pt x="638" y="148"/>
                  </a:lnTo>
                  <a:lnTo>
                    <a:pt x="634" y="145"/>
                  </a:lnTo>
                  <a:lnTo>
                    <a:pt x="628" y="142"/>
                  </a:lnTo>
                  <a:lnTo>
                    <a:pt x="623" y="139"/>
                  </a:lnTo>
                  <a:lnTo>
                    <a:pt x="617" y="137"/>
                  </a:lnTo>
                  <a:lnTo>
                    <a:pt x="611" y="135"/>
                  </a:lnTo>
                  <a:lnTo>
                    <a:pt x="605" y="132"/>
                  </a:lnTo>
                  <a:lnTo>
                    <a:pt x="600" y="129"/>
                  </a:lnTo>
                  <a:lnTo>
                    <a:pt x="594" y="126"/>
                  </a:lnTo>
                  <a:lnTo>
                    <a:pt x="588" y="124"/>
                  </a:lnTo>
                  <a:lnTo>
                    <a:pt x="582" y="122"/>
                  </a:lnTo>
                  <a:lnTo>
                    <a:pt x="575" y="119"/>
                  </a:lnTo>
                  <a:lnTo>
                    <a:pt x="569" y="116"/>
                  </a:lnTo>
                  <a:lnTo>
                    <a:pt x="562" y="114"/>
                  </a:lnTo>
                  <a:lnTo>
                    <a:pt x="555" y="111"/>
                  </a:lnTo>
                  <a:lnTo>
                    <a:pt x="548" y="108"/>
                  </a:lnTo>
                  <a:lnTo>
                    <a:pt x="541" y="105"/>
                  </a:lnTo>
                  <a:lnTo>
                    <a:pt x="532" y="102"/>
                  </a:lnTo>
                  <a:lnTo>
                    <a:pt x="520" y="96"/>
                  </a:lnTo>
                  <a:lnTo>
                    <a:pt x="510" y="92"/>
                  </a:lnTo>
                  <a:lnTo>
                    <a:pt x="500" y="89"/>
                  </a:lnTo>
                  <a:lnTo>
                    <a:pt x="490" y="85"/>
                  </a:lnTo>
                  <a:lnTo>
                    <a:pt x="482" y="80"/>
                  </a:lnTo>
                  <a:lnTo>
                    <a:pt x="473" y="78"/>
                  </a:lnTo>
                  <a:lnTo>
                    <a:pt x="464" y="75"/>
                  </a:lnTo>
                  <a:lnTo>
                    <a:pt x="457" y="72"/>
                  </a:lnTo>
                  <a:lnTo>
                    <a:pt x="448" y="69"/>
                  </a:lnTo>
                  <a:lnTo>
                    <a:pt x="441" y="66"/>
                  </a:lnTo>
                  <a:lnTo>
                    <a:pt x="436" y="65"/>
                  </a:lnTo>
                  <a:lnTo>
                    <a:pt x="428" y="62"/>
                  </a:lnTo>
                  <a:lnTo>
                    <a:pt x="421" y="60"/>
                  </a:lnTo>
                  <a:lnTo>
                    <a:pt x="415" y="57"/>
                  </a:lnTo>
                  <a:lnTo>
                    <a:pt x="408" y="56"/>
                  </a:lnTo>
                  <a:lnTo>
                    <a:pt x="402" y="55"/>
                  </a:lnTo>
                  <a:lnTo>
                    <a:pt x="395" y="52"/>
                  </a:lnTo>
                  <a:lnTo>
                    <a:pt x="388" y="50"/>
                  </a:lnTo>
                  <a:lnTo>
                    <a:pt x="382" y="49"/>
                  </a:lnTo>
                  <a:lnTo>
                    <a:pt x="375" y="47"/>
                  </a:lnTo>
                  <a:lnTo>
                    <a:pt x="368" y="46"/>
                  </a:lnTo>
                  <a:lnTo>
                    <a:pt x="359" y="45"/>
                  </a:lnTo>
                  <a:lnTo>
                    <a:pt x="352" y="43"/>
                  </a:lnTo>
                  <a:lnTo>
                    <a:pt x="343" y="42"/>
                  </a:lnTo>
                  <a:lnTo>
                    <a:pt x="333" y="39"/>
                  </a:lnTo>
                  <a:lnTo>
                    <a:pt x="325" y="37"/>
                  </a:lnTo>
                  <a:lnTo>
                    <a:pt x="315" y="36"/>
                  </a:lnTo>
                  <a:lnTo>
                    <a:pt x="303" y="35"/>
                  </a:lnTo>
                  <a:lnTo>
                    <a:pt x="292" y="32"/>
                  </a:lnTo>
                  <a:lnTo>
                    <a:pt x="280" y="30"/>
                  </a:lnTo>
                  <a:lnTo>
                    <a:pt x="267" y="27"/>
                  </a:lnTo>
                  <a:lnTo>
                    <a:pt x="253" y="26"/>
                  </a:lnTo>
                  <a:lnTo>
                    <a:pt x="238" y="23"/>
                  </a:lnTo>
                  <a:lnTo>
                    <a:pt x="226" y="22"/>
                  </a:lnTo>
                  <a:lnTo>
                    <a:pt x="214" y="19"/>
                  </a:lnTo>
                  <a:lnTo>
                    <a:pt x="203" y="17"/>
                  </a:lnTo>
                  <a:lnTo>
                    <a:pt x="192" y="16"/>
                  </a:lnTo>
                  <a:lnTo>
                    <a:pt x="182" y="14"/>
                  </a:lnTo>
                  <a:lnTo>
                    <a:pt x="172" y="13"/>
                  </a:lnTo>
                  <a:lnTo>
                    <a:pt x="164" y="12"/>
                  </a:lnTo>
                  <a:lnTo>
                    <a:pt x="155" y="10"/>
                  </a:lnTo>
                  <a:lnTo>
                    <a:pt x="148" y="9"/>
                  </a:lnTo>
                  <a:lnTo>
                    <a:pt x="139" y="7"/>
                  </a:lnTo>
                  <a:lnTo>
                    <a:pt x="132" y="7"/>
                  </a:lnTo>
                  <a:lnTo>
                    <a:pt x="126" y="6"/>
                  </a:lnTo>
                  <a:lnTo>
                    <a:pt x="119" y="4"/>
                  </a:lnTo>
                  <a:lnTo>
                    <a:pt x="113" y="4"/>
                  </a:lnTo>
                  <a:lnTo>
                    <a:pt x="108" y="3"/>
                  </a:lnTo>
                  <a:lnTo>
                    <a:pt x="102" y="3"/>
                  </a:lnTo>
                  <a:lnTo>
                    <a:pt x="96" y="3"/>
                  </a:lnTo>
                  <a:lnTo>
                    <a:pt x="90" y="1"/>
                  </a:lnTo>
                  <a:lnTo>
                    <a:pt x="85" y="1"/>
                  </a:lnTo>
                  <a:lnTo>
                    <a:pt x="79" y="1"/>
                  </a:lnTo>
                  <a:lnTo>
                    <a:pt x="73" y="1"/>
                  </a:lnTo>
                  <a:lnTo>
                    <a:pt x="66" y="1"/>
                  </a:lnTo>
                  <a:lnTo>
                    <a:pt x="60" y="0"/>
                  </a:lnTo>
                  <a:lnTo>
                    <a:pt x="54" y="0"/>
                  </a:lnTo>
                  <a:lnTo>
                    <a:pt x="47" y="0"/>
                  </a:lnTo>
                  <a:lnTo>
                    <a:pt x="40" y="0"/>
                  </a:lnTo>
                  <a:lnTo>
                    <a:pt x="33" y="0"/>
                  </a:lnTo>
                  <a:lnTo>
                    <a:pt x="26" y="0"/>
                  </a:lnTo>
                  <a:lnTo>
                    <a:pt x="17" y="0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28">
              <a:extLst>
                <a:ext uri="{FF2B5EF4-FFF2-40B4-BE49-F238E27FC236}">
                  <a16:creationId xmlns:a16="http://schemas.microsoft.com/office/drawing/2014/main" id="{9997517F-9C22-AAF7-2302-88E6A9EA06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9688" y="3214688"/>
              <a:ext cx="646113" cy="644525"/>
            </a:xfrm>
            <a:custGeom>
              <a:avLst/>
              <a:gdLst>
                <a:gd name="T0" fmla="*/ 1 w 814"/>
                <a:gd name="T1" fmla="*/ 0 h 814"/>
                <a:gd name="T2" fmla="*/ 1 w 814"/>
                <a:gd name="T3" fmla="*/ 0 h 814"/>
                <a:gd name="T4" fmla="*/ 1 w 814"/>
                <a:gd name="T5" fmla="*/ 0 h 814"/>
                <a:gd name="T6" fmla="*/ 1 w 814"/>
                <a:gd name="T7" fmla="*/ 0 h 814"/>
                <a:gd name="T8" fmla="*/ 1 w 814"/>
                <a:gd name="T9" fmla="*/ 0 h 814"/>
                <a:gd name="T10" fmla="*/ 1 w 814"/>
                <a:gd name="T11" fmla="*/ 0 h 814"/>
                <a:gd name="T12" fmla="*/ 1 w 814"/>
                <a:gd name="T13" fmla="*/ 0 h 814"/>
                <a:gd name="T14" fmla="*/ 1 w 814"/>
                <a:gd name="T15" fmla="*/ 0 h 814"/>
                <a:gd name="T16" fmla="*/ 1 w 814"/>
                <a:gd name="T17" fmla="*/ 0 h 814"/>
                <a:gd name="T18" fmla="*/ 1 w 814"/>
                <a:gd name="T19" fmla="*/ 0 h 814"/>
                <a:gd name="T20" fmla="*/ 0 w 814"/>
                <a:gd name="T21" fmla="*/ 0 h 814"/>
                <a:gd name="T22" fmla="*/ 1 w 814"/>
                <a:gd name="T23" fmla="*/ 0 h 814"/>
                <a:gd name="T24" fmla="*/ 1 w 814"/>
                <a:gd name="T25" fmla="*/ 0 h 814"/>
                <a:gd name="T26" fmla="*/ 1 w 814"/>
                <a:gd name="T27" fmla="*/ 0 h 814"/>
                <a:gd name="T28" fmla="*/ 1 w 814"/>
                <a:gd name="T29" fmla="*/ 0 h 814"/>
                <a:gd name="T30" fmla="*/ 1 w 814"/>
                <a:gd name="T31" fmla="*/ 0 h 814"/>
                <a:gd name="T32" fmla="*/ 1 w 814"/>
                <a:gd name="T33" fmla="*/ 0 h 814"/>
                <a:gd name="T34" fmla="*/ 1 w 814"/>
                <a:gd name="T35" fmla="*/ 0 h 814"/>
                <a:gd name="T36" fmla="*/ 1 w 814"/>
                <a:gd name="T37" fmla="*/ 0 h 814"/>
                <a:gd name="T38" fmla="*/ 1 w 814"/>
                <a:gd name="T39" fmla="*/ 0 h 814"/>
                <a:gd name="T40" fmla="*/ 1 w 814"/>
                <a:gd name="T41" fmla="*/ 0 h 814"/>
                <a:gd name="T42" fmla="*/ 1 w 814"/>
                <a:gd name="T43" fmla="*/ 0 h 814"/>
                <a:gd name="T44" fmla="*/ 1 w 814"/>
                <a:gd name="T45" fmla="*/ 0 h 814"/>
                <a:gd name="T46" fmla="*/ 1 w 814"/>
                <a:gd name="T47" fmla="*/ 0 h 814"/>
                <a:gd name="T48" fmla="*/ 1 w 814"/>
                <a:gd name="T49" fmla="*/ 0 h 814"/>
                <a:gd name="T50" fmla="*/ 1 w 814"/>
                <a:gd name="T51" fmla="*/ 0 h 814"/>
                <a:gd name="T52" fmla="*/ 1 w 814"/>
                <a:gd name="T53" fmla="*/ 0 h 814"/>
                <a:gd name="T54" fmla="*/ 1 w 814"/>
                <a:gd name="T55" fmla="*/ 0 h 814"/>
                <a:gd name="T56" fmla="*/ 1 w 814"/>
                <a:gd name="T57" fmla="*/ 0 h 814"/>
                <a:gd name="T58" fmla="*/ 1 w 814"/>
                <a:gd name="T59" fmla="*/ 0 h 814"/>
                <a:gd name="T60" fmla="*/ 1 w 814"/>
                <a:gd name="T61" fmla="*/ 0 h 814"/>
                <a:gd name="T62" fmla="*/ 1 w 814"/>
                <a:gd name="T63" fmla="*/ 0 h 814"/>
                <a:gd name="T64" fmla="*/ 1 w 814"/>
                <a:gd name="T65" fmla="*/ 0 h 814"/>
                <a:gd name="T66" fmla="*/ 1 w 814"/>
                <a:gd name="T67" fmla="*/ 0 h 814"/>
                <a:gd name="T68" fmla="*/ 1 w 814"/>
                <a:gd name="T69" fmla="*/ 0 h 814"/>
                <a:gd name="T70" fmla="*/ 1 w 814"/>
                <a:gd name="T71" fmla="*/ 0 h 814"/>
                <a:gd name="T72" fmla="*/ 1 w 814"/>
                <a:gd name="T73" fmla="*/ 0 h 814"/>
                <a:gd name="T74" fmla="*/ 1 w 814"/>
                <a:gd name="T75" fmla="*/ 0 h 814"/>
                <a:gd name="T76" fmla="*/ 1 w 814"/>
                <a:gd name="T77" fmla="*/ 0 h 814"/>
                <a:gd name="T78" fmla="*/ 1 w 814"/>
                <a:gd name="T79" fmla="*/ 0 h 814"/>
                <a:gd name="T80" fmla="*/ 1 w 814"/>
                <a:gd name="T81" fmla="*/ 0 h 814"/>
                <a:gd name="T82" fmla="*/ 1 w 814"/>
                <a:gd name="T83" fmla="*/ 0 h 814"/>
                <a:gd name="T84" fmla="*/ 1 w 814"/>
                <a:gd name="T85" fmla="*/ 0 h 814"/>
                <a:gd name="T86" fmla="*/ 1 w 814"/>
                <a:gd name="T87" fmla="*/ 0 h 81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814"/>
                <a:gd name="T133" fmla="*/ 0 h 814"/>
                <a:gd name="T134" fmla="*/ 814 w 814"/>
                <a:gd name="T135" fmla="*/ 814 h 81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814" h="814">
                  <a:moveTo>
                    <a:pt x="407" y="0"/>
                  </a:moveTo>
                  <a:lnTo>
                    <a:pt x="386" y="0"/>
                  </a:lnTo>
                  <a:lnTo>
                    <a:pt x="365" y="2"/>
                  </a:lnTo>
                  <a:lnTo>
                    <a:pt x="345" y="5"/>
                  </a:lnTo>
                  <a:lnTo>
                    <a:pt x="325" y="7"/>
                  </a:lnTo>
                  <a:lnTo>
                    <a:pt x="305" y="12"/>
                  </a:lnTo>
                  <a:lnTo>
                    <a:pt x="286" y="17"/>
                  </a:lnTo>
                  <a:lnTo>
                    <a:pt x="268" y="25"/>
                  </a:lnTo>
                  <a:lnTo>
                    <a:pt x="249" y="32"/>
                  </a:lnTo>
                  <a:lnTo>
                    <a:pt x="230" y="39"/>
                  </a:lnTo>
                  <a:lnTo>
                    <a:pt x="213" y="49"/>
                  </a:lnTo>
                  <a:lnTo>
                    <a:pt x="196" y="59"/>
                  </a:lnTo>
                  <a:lnTo>
                    <a:pt x="180" y="69"/>
                  </a:lnTo>
                  <a:lnTo>
                    <a:pt x="163" y="81"/>
                  </a:lnTo>
                  <a:lnTo>
                    <a:pt x="148" y="92"/>
                  </a:lnTo>
                  <a:lnTo>
                    <a:pt x="132" y="105"/>
                  </a:lnTo>
                  <a:lnTo>
                    <a:pt x="119" y="120"/>
                  </a:lnTo>
                  <a:lnTo>
                    <a:pt x="105" y="132"/>
                  </a:lnTo>
                  <a:lnTo>
                    <a:pt x="92" y="148"/>
                  </a:lnTo>
                  <a:lnTo>
                    <a:pt x="81" y="163"/>
                  </a:lnTo>
                  <a:lnTo>
                    <a:pt x="69" y="178"/>
                  </a:lnTo>
                  <a:lnTo>
                    <a:pt x="59" y="196"/>
                  </a:lnTo>
                  <a:lnTo>
                    <a:pt x="49" y="213"/>
                  </a:lnTo>
                  <a:lnTo>
                    <a:pt x="40" y="230"/>
                  </a:lnTo>
                  <a:lnTo>
                    <a:pt x="32" y="249"/>
                  </a:lnTo>
                  <a:lnTo>
                    <a:pt x="24" y="266"/>
                  </a:lnTo>
                  <a:lnTo>
                    <a:pt x="17" y="286"/>
                  </a:lnTo>
                  <a:lnTo>
                    <a:pt x="13" y="305"/>
                  </a:lnTo>
                  <a:lnTo>
                    <a:pt x="7" y="325"/>
                  </a:lnTo>
                  <a:lnTo>
                    <a:pt x="4" y="345"/>
                  </a:lnTo>
                  <a:lnTo>
                    <a:pt x="1" y="365"/>
                  </a:lnTo>
                  <a:lnTo>
                    <a:pt x="0" y="385"/>
                  </a:lnTo>
                  <a:lnTo>
                    <a:pt x="0" y="407"/>
                  </a:lnTo>
                  <a:lnTo>
                    <a:pt x="0" y="429"/>
                  </a:lnTo>
                  <a:lnTo>
                    <a:pt x="1" y="449"/>
                  </a:lnTo>
                  <a:lnTo>
                    <a:pt x="4" y="469"/>
                  </a:lnTo>
                  <a:lnTo>
                    <a:pt x="7" y="489"/>
                  </a:lnTo>
                  <a:lnTo>
                    <a:pt x="13" y="509"/>
                  </a:lnTo>
                  <a:lnTo>
                    <a:pt x="17" y="528"/>
                  </a:lnTo>
                  <a:lnTo>
                    <a:pt x="24" y="546"/>
                  </a:lnTo>
                  <a:lnTo>
                    <a:pt x="32" y="565"/>
                  </a:lnTo>
                  <a:lnTo>
                    <a:pt x="40" y="584"/>
                  </a:lnTo>
                  <a:lnTo>
                    <a:pt x="49" y="601"/>
                  </a:lnTo>
                  <a:lnTo>
                    <a:pt x="59" y="618"/>
                  </a:lnTo>
                  <a:lnTo>
                    <a:pt x="69" y="634"/>
                  </a:lnTo>
                  <a:lnTo>
                    <a:pt x="81" y="650"/>
                  </a:lnTo>
                  <a:lnTo>
                    <a:pt x="92" y="666"/>
                  </a:lnTo>
                  <a:lnTo>
                    <a:pt x="105" y="680"/>
                  </a:lnTo>
                  <a:lnTo>
                    <a:pt x="119" y="694"/>
                  </a:lnTo>
                  <a:lnTo>
                    <a:pt x="132" y="709"/>
                  </a:lnTo>
                  <a:lnTo>
                    <a:pt x="148" y="722"/>
                  </a:lnTo>
                  <a:lnTo>
                    <a:pt x="163" y="733"/>
                  </a:lnTo>
                  <a:lnTo>
                    <a:pt x="180" y="745"/>
                  </a:lnTo>
                  <a:lnTo>
                    <a:pt x="196" y="755"/>
                  </a:lnTo>
                  <a:lnTo>
                    <a:pt x="213" y="765"/>
                  </a:lnTo>
                  <a:lnTo>
                    <a:pt x="230" y="773"/>
                  </a:lnTo>
                  <a:lnTo>
                    <a:pt x="249" y="782"/>
                  </a:lnTo>
                  <a:lnTo>
                    <a:pt x="268" y="789"/>
                  </a:lnTo>
                  <a:lnTo>
                    <a:pt x="286" y="796"/>
                  </a:lnTo>
                  <a:lnTo>
                    <a:pt x="305" y="801"/>
                  </a:lnTo>
                  <a:lnTo>
                    <a:pt x="325" y="807"/>
                  </a:lnTo>
                  <a:lnTo>
                    <a:pt x="345" y="809"/>
                  </a:lnTo>
                  <a:lnTo>
                    <a:pt x="365" y="812"/>
                  </a:lnTo>
                  <a:lnTo>
                    <a:pt x="386" y="814"/>
                  </a:lnTo>
                  <a:lnTo>
                    <a:pt x="407" y="814"/>
                  </a:lnTo>
                  <a:lnTo>
                    <a:pt x="429" y="814"/>
                  </a:lnTo>
                  <a:lnTo>
                    <a:pt x="449" y="812"/>
                  </a:lnTo>
                  <a:lnTo>
                    <a:pt x="469" y="809"/>
                  </a:lnTo>
                  <a:lnTo>
                    <a:pt x="489" y="807"/>
                  </a:lnTo>
                  <a:lnTo>
                    <a:pt x="509" y="801"/>
                  </a:lnTo>
                  <a:lnTo>
                    <a:pt x="528" y="796"/>
                  </a:lnTo>
                  <a:lnTo>
                    <a:pt x="547" y="789"/>
                  </a:lnTo>
                  <a:lnTo>
                    <a:pt x="565" y="782"/>
                  </a:lnTo>
                  <a:lnTo>
                    <a:pt x="584" y="773"/>
                  </a:lnTo>
                  <a:lnTo>
                    <a:pt x="601" y="765"/>
                  </a:lnTo>
                  <a:lnTo>
                    <a:pt x="619" y="755"/>
                  </a:lnTo>
                  <a:lnTo>
                    <a:pt x="634" y="745"/>
                  </a:lnTo>
                  <a:lnTo>
                    <a:pt x="652" y="733"/>
                  </a:lnTo>
                  <a:lnTo>
                    <a:pt x="666" y="722"/>
                  </a:lnTo>
                  <a:lnTo>
                    <a:pt x="682" y="709"/>
                  </a:lnTo>
                  <a:lnTo>
                    <a:pt x="695" y="694"/>
                  </a:lnTo>
                  <a:lnTo>
                    <a:pt x="709" y="680"/>
                  </a:lnTo>
                  <a:lnTo>
                    <a:pt x="722" y="666"/>
                  </a:lnTo>
                  <a:lnTo>
                    <a:pt x="734" y="650"/>
                  </a:lnTo>
                  <a:lnTo>
                    <a:pt x="745" y="634"/>
                  </a:lnTo>
                  <a:lnTo>
                    <a:pt x="755" y="618"/>
                  </a:lnTo>
                  <a:lnTo>
                    <a:pt x="765" y="601"/>
                  </a:lnTo>
                  <a:lnTo>
                    <a:pt x="774" y="584"/>
                  </a:lnTo>
                  <a:lnTo>
                    <a:pt x="783" y="565"/>
                  </a:lnTo>
                  <a:lnTo>
                    <a:pt x="790" y="546"/>
                  </a:lnTo>
                  <a:lnTo>
                    <a:pt x="797" y="528"/>
                  </a:lnTo>
                  <a:lnTo>
                    <a:pt x="801" y="509"/>
                  </a:lnTo>
                  <a:lnTo>
                    <a:pt x="807" y="489"/>
                  </a:lnTo>
                  <a:lnTo>
                    <a:pt x="810" y="469"/>
                  </a:lnTo>
                  <a:lnTo>
                    <a:pt x="813" y="449"/>
                  </a:lnTo>
                  <a:lnTo>
                    <a:pt x="814" y="429"/>
                  </a:lnTo>
                  <a:lnTo>
                    <a:pt x="814" y="407"/>
                  </a:lnTo>
                  <a:lnTo>
                    <a:pt x="814" y="385"/>
                  </a:lnTo>
                  <a:lnTo>
                    <a:pt x="813" y="365"/>
                  </a:lnTo>
                  <a:lnTo>
                    <a:pt x="810" y="345"/>
                  </a:lnTo>
                  <a:lnTo>
                    <a:pt x="807" y="325"/>
                  </a:lnTo>
                  <a:lnTo>
                    <a:pt x="801" y="305"/>
                  </a:lnTo>
                  <a:lnTo>
                    <a:pt x="797" y="286"/>
                  </a:lnTo>
                  <a:lnTo>
                    <a:pt x="790" y="266"/>
                  </a:lnTo>
                  <a:lnTo>
                    <a:pt x="783" y="249"/>
                  </a:lnTo>
                  <a:lnTo>
                    <a:pt x="774" y="230"/>
                  </a:lnTo>
                  <a:lnTo>
                    <a:pt x="765" y="213"/>
                  </a:lnTo>
                  <a:lnTo>
                    <a:pt x="755" y="196"/>
                  </a:lnTo>
                  <a:lnTo>
                    <a:pt x="745" y="178"/>
                  </a:lnTo>
                  <a:lnTo>
                    <a:pt x="734" y="163"/>
                  </a:lnTo>
                  <a:lnTo>
                    <a:pt x="722" y="148"/>
                  </a:lnTo>
                  <a:lnTo>
                    <a:pt x="709" y="132"/>
                  </a:lnTo>
                  <a:lnTo>
                    <a:pt x="695" y="120"/>
                  </a:lnTo>
                  <a:lnTo>
                    <a:pt x="682" y="105"/>
                  </a:lnTo>
                  <a:lnTo>
                    <a:pt x="666" y="92"/>
                  </a:lnTo>
                  <a:lnTo>
                    <a:pt x="652" y="81"/>
                  </a:lnTo>
                  <a:lnTo>
                    <a:pt x="634" y="69"/>
                  </a:lnTo>
                  <a:lnTo>
                    <a:pt x="619" y="59"/>
                  </a:lnTo>
                  <a:lnTo>
                    <a:pt x="601" y="49"/>
                  </a:lnTo>
                  <a:lnTo>
                    <a:pt x="584" y="39"/>
                  </a:lnTo>
                  <a:lnTo>
                    <a:pt x="565" y="32"/>
                  </a:lnTo>
                  <a:lnTo>
                    <a:pt x="547" y="25"/>
                  </a:lnTo>
                  <a:lnTo>
                    <a:pt x="528" y="17"/>
                  </a:lnTo>
                  <a:lnTo>
                    <a:pt x="509" y="12"/>
                  </a:lnTo>
                  <a:lnTo>
                    <a:pt x="489" y="7"/>
                  </a:lnTo>
                  <a:lnTo>
                    <a:pt x="469" y="5"/>
                  </a:lnTo>
                  <a:lnTo>
                    <a:pt x="449" y="2"/>
                  </a:lnTo>
                  <a:lnTo>
                    <a:pt x="429" y="0"/>
                  </a:lnTo>
                  <a:lnTo>
                    <a:pt x="407" y="0"/>
                  </a:lnTo>
                </a:path>
              </a:pathLst>
            </a:custGeom>
            <a:solidFill>
              <a:schemeClr val="bg1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Rectangle 29">
              <a:extLst>
                <a:ext uri="{FF2B5EF4-FFF2-40B4-BE49-F238E27FC236}">
                  <a16:creationId xmlns:a16="http://schemas.microsoft.com/office/drawing/2014/main" id="{DE75539C-9ED5-B4CE-CEED-6DB07D3103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05525" y="3886200"/>
              <a:ext cx="90488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1700">
                  <a:solidFill>
                    <a:srgbClr val="000000"/>
                  </a:solidFill>
                  <a:latin typeface="Symbol" charset="0"/>
                </a:rPr>
                <a:t>¤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79" name="Rectangle 30">
              <a:extLst>
                <a:ext uri="{FF2B5EF4-FFF2-40B4-BE49-F238E27FC236}">
                  <a16:creationId xmlns:a16="http://schemas.microsoft.com/office/drawing/2014/main" id="{35341CBD-375A-45A4-984E-BC209F49F6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0038" y="3432175"/>
              <a:ext cx="18573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B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80" name="Rectangle 31">
              <a:extLst>
                <a:ext uri="{FF2B5EF4-FFF2-40B4-BE49-F238E27FC236}">
                  <a16:creationId xmlns:a16="http://schemas.microsoft.com/office/drawing/2014/main" id="{66E75180-2204-116A-8E3C-13B1028A2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4575" y="3890962"/>
              <a:ext cx="18573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 dirty="0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kumimoji="0" lang="en-US" sz="2400" dirty="0">
                <a:latin typeface="Times New Roman" charset="0"/>
              </a:endParaRPr>
            </a:p>
          </p:txBody>
        </p:sp>
        <p:sp>
          <p:nvSpPr>
            <p:cNvPr id="81" name="Rectangle 32">
              <a:extLst>
                <a:ext uri="{FF2B5EF4-FFF2-40B4-BE49-F238E27FC236}">
                  <a16:creationId xmlns:a16="http://schemas.microsoft.com/office/drawing/2014/main" id="{794C105D-408C-DD82-806D-55AED5ADD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5100" y="3890962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82" name="Rectangle 33">
              <a:extLst>
                <a:ext uri="{FF2B5EF4-FFF2-40B4-BE49-F238E27FC236}">
                  <a16:creationId xmlns:a16="http://schemas.microsoft.com/office/drawing/2014/main" id="{9E750A5F-751A-A463-0360-BB33326100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0950" y="3890962"/>
              <a:ext cx="1651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83" name="Rectangle 34">
              <a:extLst>
                <a:ext uri="{FF2B5EF4-FFF2-40B4-BE49-F238E27FC236}">
                  <a16:creationId xmlns:a16="http://schemas.microsoft.com/office/drawing/2014/main" id="{D34E4F1A-3B9C-2174-D54A-4C997B9016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4813" y="3890962"/>
              <a:ext cx="13017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>
                  <a:solidFill>
                    <a:srgbClr val="000000"/>
                  </a:solidFill>
                  <a:latin typeface="Times-Roman" charset="0"/>
                </a:rPr>
                <a:t>z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84" name="Rectangle 35">
              <a:extLst>
                <a:ext uri="{FF2B5EF4-FFF2-40B4-BE49-F238E27FC236}">
                  <a16:creationId xmlns:a16="http://schemas.microsoft.com/office/drawing/2014/main" id="{E2D03854-9F84-3B37-6B9E-B471163E2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3890962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85" name="Rectangle 36">
              <a:extLst>
                <a:ext uri="{FF2B5EF4-FFF2-40B4-BE49-F238E27FC236}">
                  <a16:creationId xmlns:a16="http://schemas.microsoft.com/office/drawing/2014/main" id="{EA917184-F224-4747-3199-441E29EE18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4038" y="3890962"/>
              <a:ext cx="1651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dirty="0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 dirty="0">
                <a:latin typeface="Times New Roman" charset="0"/>
              </a:endParaRPr>
            </a:p>
          </p:txBody>
        </p:sp>
        <p:sp>
          <p:nvSpPr>
            <p:cNvPr id="86" name="Freeform 37">
              <a:extLst>
                <a:ext uri="{FF2B5EF4-FFF2-40B4-BE49-F238E27FC236}">
                  <a16:creationId xmlns:a16="http://schemas.microsoft.com/office/drawing/2014/main" id="{854348D9-E635-87D2-95CD-4315B39CC6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6625" y="3032125"/>
              <a:ext cx="68263" cy="138113"/>
            </a:xfrm>
            <a:custGeom>
              <a:avLst/>
              <a:gdLst>
                <a:gd name="T0" fmla="*/ 0 w 86"/>
                <a:gd name="T1" fmla="*/ 0 h 172"/>
                <a:gd name="T2" fmla="*/ 1 w 86"/>
                <a:gd name="T3" fmla="*/ 1 h 172"/>
                <a:gd name="T4" fmla="*/ 1 w 86"/>
                <a:gd name="T5" fmla="*/ 0 h 172"/>
                <a:gd name="T6" fmla="*/ 1 w 86"/>
                <a:gd name="T7" fmla="*/ 0 h 172"/>
                <a:gd name="T8" fmla="*/ 0 w 86"/>
                <a:gd name="T9" fmla="*/ 0 h 1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"/>
                <a:gd name="T16" fmla="*/ 0 h 172"/>
                <a:gd name="T17" fmla="*/ 86 w 86"/>
                <a:gd name="T18" fmla="*/ 172 h 1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" h="172">
                  <a:moveTo>
                    <a:pt x="0" y="0"/>
                  </a:moveTo>
                  <a:lnTo>
                    <a:pt x="29" y="172"/>
                  </a:lnTo>
                  <a:lnTo>
                    <a:pt x="86" y="0"/>
                  </a:lnTo>
                  <a:lnTo>
                    <a:pt x="2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Line 38">
              <a:extLst>
                <a:ext uri="{FF2B5EF4-FFF2-40B4-BE49-F238E27FC236}">
                  <a16:creationId xmlns:a16="http://schemas.microsoft.com/office/drawing/2014/main" id="{C0D1EEE2-5162-743A-B087-816F0B1EE1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8850" y="2736850"/>
              <a:ext cx="1588" cy="295275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Rectangle 39">
              <a:extLst>
                <a:ext uri="{FF2B5EF4-FFF2-40B4-BE49-F238E27FC236}">
                  <a16:creationId xmlns:a16="http://schemas.microsoft.com/office/drawing/2014/main" id="{DE6BEDB4-0FFF-2883-07D9-BB2C3961CD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088" y="3886200"/>
              <a:ext cx="90488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1700" dirty="0">
                  <a:solidFill>
                    <a:srgbClr val="000000"/>
                  </a:solidFill>
                  <a:latin typeface="Symbol" charset="0"/>
                </a:rPr>
                <a:t>¤ </a:t>
              </a:r>
              <a:endParaRPr kumimoji="0" lang="en-US" sz="2400" dirty="0">
                <a:latin typeface="Times New Roman" charset="0"/>
              </a:endParaRPr>
            </a:p>
          </p:txBody>
        </p:sp>
        <p:sp>
          <p:nvSpPr>
            <p:cNvPr id="89" name="Rectangle 40">
              <a:extLst>
                <a:ext uri="{FF2B5EF4-FFF2-40B4-BE49-F238E27FC236}">
                  <a16:creationId xmlns:a16="http://schemas.microsoft.com/office/drawing/2014/main" id="{82B6C174-7196-3C84-739C-8A349BD69B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5013" y="2438400"/>
              <a:ext cx="50323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Reset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90" name="Rectangle 41">
              <a:extLst>
                <a:ext uri="{FF2B5EF4-FFF2-40B4-BE49-F238E27FC236}">
                  <a16:creationId xmlns:a16="http://schemas.microsoft.com/office/drawing/2014/main" id="{6F9EC42A-DD5F-0424-A3B3-62278B6983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7950" y="2752725"/>
              <a:ext cx="18573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91" name="Rectangle 42">
              <a:extLst>
                <a:ext uri="{FF2B5EF4-FFF2-40B4-BE49-F238E27FC236}">
                  <a16:creationId xmlns:a16="http://schemas.microsoft.com/office/drawing/2014/main" id="{B7DAC624-96B7-4838-4063-10F5955B6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475" y="2752725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92" name="Rectangle 43">
              <a:extLst>
                <a:ext uri="{FF2B5EF4-FFF2-40B4-BE49-F238E27FC236}">
                  <a16:creationId xmlns:a16="http://schemas.microsoft.com/office/drawing/2014/main" id="{402831E2-FE07-CE6A-0027-43F58B3D18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2738" y="2752725"/>
              <a:ext cx="1651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93" name="Rectangle 44">
              <a:extLst>
                <a:ext uri="{FF2B5EF4-FFF2-40B4-BE49-F238E27FC236}">
                  <a16:creationId xmlns:a16="http://schemas.microsoft.com/office/drawing/2014/main" id="{1BA4B243-0645-C3D1-377A-9E25C4527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8188" y="2752725"/>
              <a:ext cx="13017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i="1">
                  <a:solidFill>
                    <a:srgbClr val="000000"/>
                  </a:solidFill>
                  <a:latin typeface="Times-Roman" charset="0"/>
                </a:rPr>
                <a:t>z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94" name="Rectangle 45">
              <a:extLst>
                <a:ext uri="{FF2B5EF4-FFF2-40B4-BE49-F238E27FC236}">
                  <a16:creationId xmlns:a16="http://schemas.microsoft.com/office/drawing/2014/main" id="{F659C86E-19DC-6FA5-2DC9-CA03306DE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9975" y="2752725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dirty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kumimoji="0" lang="en-US" sz="2400" dirty="0">
                <a:latin typeface="Times New Roman" charset="0"/>
              </a:endParaRPr>
            </a:p>
          </p:txBody>
        </p:sp>
        <p:sp>
          <p:nvSpPr>
            <p:cNvPr id="95" name="Rectangle 46">
              <a:extLst>
                <a:ext uri="{FF2B5EF4-FFF2-40B4-BE49-F238E27FC236}">
                  <a16:creationId xmlns:a16="http://schemas.microsoft.com/office/drawing/2014/main" id="{426BE7FC-C0D8-52AE-DD4A-C940B2E12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5825" y="2752725"/>
              <a:ext cx="1651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>
                  <a:solidFill>
                    <a:srgbClr val="000000"/>
                  </a:solidFill>
                  <a:latin typeface="Times-Roman" charset="0"/>
                </a:rPr>
                <a:t>= </a:t>
              </a:r>
              <a:endParaRPr kumimoji="0" lang="en-US" sz="2400">
                <a:latin typeface="Times New Roman" charset="0"/>
              </a:endParaRPr>
            </a:p>
          </p:txBody>
        </p:sp>
        <p:sp>
          <p:nvSpPr>
            <p:cNvPr id="96" name="Rectangle 47">
              <a:extLst>
                <a:ext uri="{FF2B5EF4-FFF2-40B4-BE49-F238E27FC236}">
                  <a16:creationId xmlns:a16="http://schemas.microsoft.com/office/drawing/2014/main" id="{07A82B83-0644-03FB-CE56-8AC1A198E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2463" y="2747963"/>
              <a:ext cx="90488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  <a:buClrTx/>
              </a:pPr>
              <a:r>
                <a:rPr kumimoji="0" lang="en-US" sz="1700">
                  <a:solidFill>
                    <a:srgbClr val="000000"/>
                  </a:solidFill>
                  <a:latin typeface="Symbol" charset="0"/>
                </a:rPr>
                <a:t>¤ </a:t>
              </a:r>
              <a:endParaRPr kumimoji="0" lang="en-US" sz="2400">
                <a:latin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30108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ASM: Summary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916353"/>
            <a:ext cx="10954214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ASM Chart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Flowchart-like diagram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same information as a state diagram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descriptive, better for complex description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ASM block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state block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or more optional decision boxes:</a:t>
            </a:r>
          </a:p>
          <a:p>
            <a:pPr lvl="1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with T (1) or F (0) exit path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or more conditional output boxes:</a:t>
            </a:r>
          </a:p>
          <a:p>
            <a:pPr lvl="1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for Mealy output</a:t>
            </a:r>
          </a:p>
        </p:txBody>
      </p:sp>
    </p:spTree>
    <p:extLst>
      <p:ext uri="{BB962C8B-B14F-4D97-AF65-F5344CB8AC3E}">
        <p14:creationId xmlns:p14="http://schemas.microsoft.com/office/powerpoint/2010/main" val="14214249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ASM: Summary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25DB783E-C677-9BB1-32FC-950F38470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100" y="895599"/>
            <a:ext cx="5819774" cy="5554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22113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ASM: Chart Rules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916353"/>
            <a:ext cx="1095421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a regular flowchart and an ASM chart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governed by clock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occurs between ASM blocks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rules: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given input combination, there is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unique exit path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current ASM block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closed loop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an ASM chart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include a state box.</a:t>
            </a:r>
          </a:p>
        </p:txBody>
      </p:sp>
    </p:spTree>
    <p:extLst>
      <p:ext uri="{BB962C8B-B14F-4D97-AF65-F5344CB8AC3E}">
        <p14:creationId xmlns:p14="http://schemas.microsoft.com/office/powerpoint/2010/main" val="373961420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ASM: Incorrect ASM Chart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FBAAEEDF-E659-1655-C83B-9F451C830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428750"/>
            <a:ext cx="8382000" cy="432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46891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ASM: Incorrect ASM Chart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953A63-9742-EB66-BAE2-689248803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402" y="876134"/>
            <a:ext cx="5541195" cy="547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5021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ASM: Example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C21000-77FD-48CB-9804-FF113B305C0D}"/>
                  </a:ext>
                </a:extLst>
              </p:cNvPr>
              <p:cNvSpPr txBox="1"/>
              <p:nvPr/>
            </p:nvSpPr>
            <p:spPr>
              <a:xfrm>
                <a:off x="827479" y="916353"/>
                <a:ext cx="10954214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Design a circuit that counts the number of bits set to 1 in an n-bit input </a:t>
                </a: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−2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…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  <a:endParaRPr lang="en-US" altLang="en-US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C21000-77FD-48CB-9804-FF113B305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479" y="916353"/>
                <a:ext cx="10954214" cy="1077218"/>
              </a:xfrm>
              <a:prstGeom prst="rect">
                <a:avLst/>
              </a:prstGeom>
              <a:blipFill>
                <a:blip r:embed="rId2"/>
                <a:stretch>
                  <a:fillRect l="-1280" t="-7910" b="-16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E5E1C81-8B2C-FDB2-9D9D-F60ABC2CC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697" y="2129475"/>
            <a:ext cx="4774417" cy="41787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54D6FB-706A-EFD0-8984-6E04E68A7513}"/>
              </a:ext>
            </a:extLst>
          </p:cNvPr>
          <p:cNvSpPr txBox="1"/>
          <p:nvPr/>
        </p:nvSpPr>
        <p:spPr>
          <a:xfrm>
            <a:off x="9735672" y="5254957"/>
            <a:ext cx="24563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Is any problem with this design?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2A6613-BE1C-09DE-3CC2-EC9CC2AACC53}"/>
              </a:ext>
            </a:extLst>
          </p:cNvPr>
          <p:cNvSpPr txBox="1"/>
          <p:nvPr/>
        </p:nvSpPr>
        <p:spPr>
          <a:xfrm>
            <a:off x="979879" y="2129475"/>
            <a:ext cx="383689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initial state,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= 0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data is loaded into a register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until a start signal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is asserted.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ASM chart then transitions to state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it increments the result to count the number of 1’s in register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register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equal to 0 the ASM chart transitions to state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it sets an output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 = 1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waits for the signal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deasserted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10970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ASM: Example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916353"/>
            <a:ext cx="109542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circuit that produces the 2n-bit product of two n-bit numbers placed on the Multiplier and Multiplicand inputs</a:t>
            </a: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2A6613-BE1C-09DE-3CC2-EC9CC2AACC53}"/>
              </a:ext>
            </a:extLst>
          </p:cNvPr>
          <p:cNvSpPr txBox="1"/>
          <p:nvPr/>
        </p:nvSpPr>
        <p:spPr>
          <a:xfrm>
            <a:off x="979879" y="1993571"/>
            <a:ext cx="383689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Multiplication is initiated by the first clock pulse that occurs after the “Go” input is set HI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output IDLE= 1, the circuit is not busy, i.e. ready to multiply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a multiply operation is taking place, IDLE = 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two signals (IDLE and Go) may be used to coordinate the timing of the binary multiplier with the external user. This is known as “handshaking”.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F33473-854D-6CFE-79A7-E84BAF7FA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758" y="2793487"/>
            <a:ext cx="4228571" cy="22571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C4528A-C7F5-9F8F-7A4F-8177F27EC1E0}"/>
              </a:ext>
            </a:extLst>
          </p:cNvPr>
          <p:cNvSpPr txBox="1"/>
          <p:nvPr/>
        </p:nvSpPr>
        <p:spPr>
          <a:xfrm>
            <a:off x="8547821" y="3233214"/>
            <a:ext cx="355864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Reset input is used to force the circuit (asynchronously) to the IDLE state at any time (such as at power-up)</a:t>
            </a:r>
          </a:p>
        </p:txBody>
      </p:sp>
    </p:spTree>
    <p:extLst>
      <p:ext uri="{BB962C8B-B14F-4D97-AF65-F5344CB8AC3E}">
        <p14:creationId xmlns:p14="http://schemas.microsoft.com/office/powerpoint/2010/main" val="1780888504"/>
      </p:ext>
    </p:extLst>
  </p:cSld>
  <p:clrMapOvr>
    <a:masterClrMapping/>
  </p:clrMapOvr>
</p:sld>
</file>

<file path=ppt/theme/theme1.xml><?xml version="1.0" encoding="utf-8"?>
<a:theme xmlns:a="http://schemas.openxmlformats.org/drawingml/2006/main" name="Vicostone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u thuyet trình cong ty Vicostone" id="{123813FF-2186-4307-88AB-E52DC4E764C5}" vid="{7A2E833A-1ED4-4E30-9CFE-D6481D7B3B5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MauDH Thanh Tay</Template>
  <TotalTime>34330</TotalTime>
  <Words>3561</Words>
  <Application>Microsoft Office PowerPoint</Application>
  <PresentationFormat>Widescreen</PresentationFormat>
  <Paragraphs>811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3" baseType="lpstr">
      <vt:lpstr>Arial</vt:lpstr>
      <vt:lpstr>Calibri</vt:lpstr>
      <vt:lpstr>Cambria Math</vt:lpstr>
      <vt:lpstr>Lucida Console</vt:lpstr>
      <vt:lpstr>Lucida Sans Typewriter</vt:lpstr>
      <vt:lpstr>Symbol</vt:lpstr>
      <vt:lpstr>Times New Roman</vt:lpstr>
      <vt:lpstr>Times-Roman</vt:lpstr>
      <vt:lpstr>UTM Avo</vt:lpstr>
      <vt:lpstr>Wingdings</vt:lpstr>
      <vt:lpstr>Vicostone Template</vt:lpstr>
      <vt:lpstr>CHAPTER 7: Finite State Machine (FSM) Principle</vt:lpstr>
      <vt:lpstr>Syllabus</vt:lpstr>
      <vt:lpstr>Content</vt:lpstr>
      <vt:lpstr>1. Overview of FSM</vt:lpstr>
      <vt:lpstr>1. Overview of FSM (Datapath – Execution Unit)</vt:lpstr>
      <vt:lpstr>1. Overview of FSM (Controller Unit)</vt:lpstr>
      <vt:lpstr>1. Overview of FSM (Controller Unit)</vt:lpstr>
      <vt:lpstr>1. Overview of FSM</vt:lpstr>
      <vt:lpstr>1. Overview of FSM (Step of Design Process)</vt:lpstr>
      <vt:lpstr>2. FSMs</vt:lpstr>
      <vt:lpstr>2. FSMs (Moore FSM)</vt:lpstr>
      <vt:lpstr>2. FSMs (Mealy FSM)</vt:lpstr>
      <vt:lpstr>2. FSMs (State Diagrams)</vt:lpstr>
      <vt:lpstr>2. FSMs (State Diagrams)</vt:lpstr>
      <vt:lpstr>2. FSMs (Example 1)</vt:lpstr>
      <vt:lpstr>2. FSMs (Example 1)</vt:lpstr>
      <vt:lpstr>2. FSMs (Example 1)</vt:lpstr>
      <vt:lpstr>2. FSMs (Moore vs. Mealy FSM)</vt:lpstr>
      <vt:lpstr>2. FSMs (Moore vs. Mealy FSM)</vt:lpstr>
      <vt:lpstr>3. FSMs in VHDL</vt:lpstr>
      <vt:lpstr>3. FSMs in VHDL (Moore FSM)</vt:lpstr>
      <vt:lpstr>3. FSMs in VHDL (Mealy FSM)</vt:lpstr>
      <vt:lpstr>3. FSMs in VHDL (Moore FSM – Example 1)</vt:lpstr>
      <vt:lpstr>3. FSMs in VHDL (Moore FSM – Example 1)</vt:lpstr>
      <vt:lpstr>3. FSMs in VHDL (Moore FSM – Example 1)</vt:lpstr>
      <vt:lpstr>3. FSMs in VHDL (Mealy FSM – Example 1)</vt:lpstr>
      <vt:lpstr>3. FSMs in VHDL (Mealy FSM – Example 1)</vt:lpstr>
      <vt:lpstr>3. FSMs in VHDL (Mealy FSM – Example 1)</vt:lpstr>
      <vt:lpstr>3. FSMs in VHDL</vt:lpstr>
      <vt:lpstr>4. Example: Control Unit – Arbiter</vt:lpstr>
      <vt:lpstr>4. Example: Control Unit – Arbiter</vt:lpstr>
      <vt:lpstr>4. Example: Control Unit – Arbiter</vt:lpstr>
      <vt:lpstr>4. Example: Control Unit – Arbiter</vt:lpstr>
      <vt:lpstr>4. Example: Control Unit – Arbiter</vt:lpstr>
      <vt:lpstr>4. Example: Control Unit – Arbiter</vt:lpstr>
      <vt:lpstr>4. Example: Fibonacci Number</vt:lpstr>
      <vt:lpstr>4. Example: Fibonacci Number</vt:lpstr>
      <vt:lpstr>Differences: Signals vs. Variables</vt:lpstr>
      <vt:lpstr>Differences: Signals vs. Variables</vt:lpstr>
      <vt:lpstr>Differences: Signals vs. Variables</vt:lpstr>
      <vt:lpstr>5. Algorithmic State Machine (ASM)</vt:lpstr>
      <vt:lpstr>5. ASM: State Box</vt:lpstr>
      <vt:lpstr>5. ASM: Decision Box</vt:lpstr>
      <vt:lpstr>5. ASM: Conditional Output Box</vt:lpstr>
      <vt:lpstr>5. ASM: Moore FSM Example</vt:lpstr>
      <vt:lpstr>5. ASM: Moore FSM Example</vt:lpstr>
      <vt:lpstr>5. ASM: Moore FSM Example</vt:lpstr>
      <vt:lpstr>5. ASM: Moore FSM Example</vt:lpstr>
      <vt:lpstr>5. ASM: Moore FSM Example</vt:lpstr>
      <vt:lpstr>5. ASM: Moore FSM Example</vt:lpstr>
      <vt:lpstr>5. ASM: Mealy FSM Example</vt:lpstr>
      <vt:lpstr>5. ASM: Mealy FSM Example</vt:lpstr>
      <vt:lpstr>5. ASM: Mealy FSM Example</vt:lpstr>
      <vt:lpstr>5. ASM: Mealy FSM Example</vt:lpstr>
      <vt:lpstr>5. ASM: Mealy FSM Example</vt:lpstr>
      <vt:lpstr>5. ASM: Summary</vt:lpstr>
      <vt:lpstr>5. ASM: Summary</vt:lpstr>
      <vt:lpstr>5. ASM: Chart Rules</vt:lpstr>
      <vt:lpstr>5. ASM: Incorrect ASM Chart</vt:lpstr>
      <vt:lpstr>5. ASM: Incorrect ASM Chart</vt:lpstr>
      <vt:lpstr>5. ASM: Example</vt:lpstr>
      <vt:lpstr>5. ASM: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Transistors BTJ</dc:title>
  <cp:lastModifiedBy>Le Van Thuan</cp:lastModifiedBy>
  <cp:revision>308</cp:revision>
  <cp:lastPrinted>2022-05-19T08:53:56Z</cp:lastPrinted>
  <dcterms:created xsi:type="dcterms:W3CDTF">2018-07-24T06:18:10Z</dcterms:created>
  <dcterms:modified xsi:type="dcterms:W3CDTF">2024-06-04T12:02:58Z</dcterms:modified>
</cp:coreProperties>
</file>